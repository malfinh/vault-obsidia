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0"/>
  </p:notesMasterIdLst>
  <p:sldIdLst>
    <p:sldId id="303" r:id="rId2"/>
    <p:sldId id="306" r:id="rId3"/>
    <p:sldId id="305" r:id="rId4"/>
    <p:sldId id="288" r:id="rId5"/>
    <p:sldId id="299" r:id="rId6"/>
    <p:sldId id="300" r:id="rId7"/>
    <p:sldId id="301" r:id="rId8"/>
    <p:sldId id="296" r:id="rId9"/>
    <p:sldId id="295" r:id="rId10"/>
    <p:sldId id="297" r:id="rId11"/>
    <p:sldId id="298" r:id="rId12"/>
    <p:sldId id="302" r:id="rId13"/>
    <p:sldId id="304" r:id="rId14"/>
    <p:sldId id="308" r:id="rId15"/>
    <p:sldId id="309" r:id="rId16"/>
    <p:sldId id="310" r:id="rId17"/>
    <p:sldId id="311" r:id="rId18"/>
    <p:sldId id="277" r:id="rId1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575"/>
    <p:restoredTop sz="94694"/>
  </p:normalViewPr>
  <p:slideViewPr>
    <p:cSldViewPr>
      <p:cViewPr varScale="1">
        <p:scale>
          <a:sx n="75" d="100"/>
          <a:sy n="75" d="100"/>
        </p:scale>
        <p:origin x="1272" y="4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if Rohmadi" userId="7ac86e76-d45a-43aa-833d-7b563e006102" providerId="ADAL" clId="{24B13542-0F0A-42E5-ADA6-1D3977E57E1F}"/>
    <pc:docChg chg="modSld">
      <pc:chgData name="Arif Rohmadi" userId="7ac86e76-d45a-43aa-833d-7b563e006102" providerId="ADAL" clId="{24B13542-0F0A-42E5-ADA6-1D3977E57E1F}" dt="2026-03-14T23:17:43.856" v="1" actId="20577"/>
      <pc:docMkLst>
        <pc:docMk/>
      </pc:docMkLst>
      <pc:sldChg chg="modSp mod">
        <pc:chgData name="Arif Rohmadi" userId="7ac86e76-d45a-43aa-833d-7b563e006102" providerId="ADAL" clId="{24B13542-0F0A-42E5-ADA6-1D3977E57E1F}" dt="2026-03-14T23:17:43.856" v="1" actId="20577"/>
        <pc:sldMkLst>
          <pc:docMk/>
          <pc:sldMk cId="1444300398" sldId="303"/>
        </pc:sldMkLst>
        <pc:spChg chg="mod">
          <ac:chgData name="Arif Rohmadi" userId="7ac86e76-d45a-43aa-833d-7b563e006102" providerId="ADAL" clId="{24B13542-0F0A-42E5-ADA6-1D3977E57E1F}" dt="2026-03-14T23:17:43.856" v="1" actId="20577"/>
          <ac:spMkLst>
            <pc:docMk/>
            <pc:sldMk cId="1444300398" sldId="303"/>
            <ac:spMk id="10" creationId="{809AB27F-46C3-2B81-4A5D-FB3A57413D12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A79719-90EE-4DEE-97EC-5DE16BF9FCC6}" type="datetimeFigureOut">
              <a:rPr lang="en-ID" smtClean="0"/>
              <a:t>15/03/2026</a:t>
            </a:fld>
            <a:endParaRPr lang="en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C38FFF-A32B-4D5B-A182-D7C887EB8034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778358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Aras </a:t>
            </a:r>
            <a:r>
              <a:rPr lang="en-US" dirty="0" err="1"/>
              <a:t>rendah</a:t>
            </a:r>
            <a:r>
              <a:rPr lang="en-US" dirty="0"/>
              <a:t>- low level programming </a:t>
            </a:r>
            <a:r>
              <a:rPr lang="en-US" dirty="0" err="1"/>
              <a:t>languagae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C38FFF-A32B-4D5B-A182-D7C887EB8034}" type="slidenum">
              <a:rPr lang="en-ID" smtClean="0"/>
              <a:t>6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7971935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F533BE-0F87-D7F2-6C2D-B0DF5A93C8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CC8E7E-646F-968F-48BD-3AB9541799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B2F40B-160C-D579-29E6-558146BE8E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C644E6-8902-614E-BD44-1CF03CA075E7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AB81B7-4B1A-28C3-4244-AA77F91277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0E7DFB-BEB0-5212-AD90-E9069805F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E0B9F7-92C1-8644-A2B1-EE75CC9919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34036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550BAB-2367-6830-BD93-4673EAD99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20C7D-1C02-9162-077D-8FD8B0673C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2A38A2-5A71-86EA-E682-A79467D2F1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C644E6-8902-614E-BD44-1CF03CA075E7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C7F8A6-F797-39BC-9593-519E425AFD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373FFE-FAA0-A451-8977-290905905A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E0B9F7-92C1-8644-A2B1-EE75CC9919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49568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79C4D-835F-657A-94FB-F012C9DFC5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7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BE5705-F55B-919C-FC07-178D9104CE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7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309F4E-C7A8-A5DF-EA38-4C33982966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587EC-4A3E-4030-BABC-5E0C0236501C}" type="datetimeFigureOut">
              <a:rPr lang="ko-KR" altLang="en-US" smtClean="0"/>
              <a:t>2026-03-15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8026A8-AA64-1057-0A06-9F5B388F0C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F810E9-0023-A3DC-3166-DA8A8BEC76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B9519-C8B1-4E82-966F-744A36AA8B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85900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319319-1907-4B93-B209-939084CEAD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46F773-FE51-D8FA-4F7A-13EF40DAD0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57FA86-F595-2DAD-E4D4-FFD62D72DF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3C34A5-514D-DD96-44C3-166EF1F94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587EC-4A3E-4030-BABC-5E0C0236501C}" type="datetimeFigureOut">
              <a:rPr lang="ko-KR" altLang="en-US" smtClean="0"/>
              <a:t>2026-03-15</a:t>
            </a:fld>
            <a:endParaRPr lang="ko-KR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0663D5-AF87-676D-C233-9857A5963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FC8C5A-7785-ABB3-DE7A-74251CC282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B9519-C8B1-4E82-966F-744A36AA8B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20032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449DCE-DA3F-E2C1-06C2-C6883D926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028032-D4E5-AB4A-E3F7-37CB0F7B69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644F98-314F-6187-70E3-B07AD3242F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CF89EE7-E4EE-3688-9860-62CEC453F4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1C6C06D-5A80-997C-7B6D-CAB89FE145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860E616-A62B-0584-2B68-F17106171C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587EC-4A3E-4030-BABC-5E0C0236501C}" type="datetimeFigureOut">
              <a:rPr lang="ko-KR" altLang="en-US" smtClean="0"/>
              <a:t>2026-03-15</a:t>
            </a:fld>
            <a:endParaRPr lang="ko-KR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F1EDB15-A9F1-897F-CE6D-6B4F520A7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7AA7496-DAE5-51EF-C994-A4DCF3B244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B9519-C8B1-4E82-966F-744A36AA8B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72755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289F8F-EA6B-FDD8-D28C-0489F75AE3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53BEF1B-DD8A-22B8-C78A-270931AFCC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587EC-4A3E-4030-BABC-5E0C0236501C}" type="datetimeFigureOut">
              <a:rPr lang="ko-KR" altLang="en-US" smtClean="0"/>
              <a:t>2026-03-15</a:t>
            </a:fld>
            <a:endParaRPr lang="ko-KR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069671-3B92-6C0A-FBD6-A00021FFD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7D4416-111D-362F-888C-67CB9F0B0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B9519-C8B1-4E82-966F-744A36AA8B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79542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E216A17-9C27-ADB4-8279-8F2D6CECAC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587EC-4A3E-4030-BABC-5E0C0236501C}" type="datetimeFigureOut">
              <a:rPr lang="ko-KR" altLang="en-US" smtClean="0"/>
              <a:t>2026-03-15</a:t>
            </a:fld>
            <a:endParaRPr lang="ko-KR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1F450E-44F8-A4DD-A2D8-099C61F527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5BF1ED-6818-3EBC-0F0F-7AAA3FD53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B9519-C8B1-4E82-966F-744A36AA8B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06764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FB3CD9-00E7-8A8F-BD14-EB68F50630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CE3447-6F77-2394-7E92-EB330C421A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7FA9C1-4058-CB0E-9D3F-57F97E1B66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D36326-A4AF-FDC3-7E95-1C80117AA5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587EC-4A3E-4030-BABC-5E0C0236501C}" type="datetimeFigureOut">
              <a:rPr lang="ko-KR" altLang="en-US" smtClean="0"/>
              <a:t>2026-03-15</a:t>
            </a:fld>
            <a:endParaRPr lang="ko-KR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39216E-3492-1BBD-89D6-7FB670C8AE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EED1F2-9154-DA76-3341-233E7F81D8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B9519-C8B1-4E82-966F-744A36AA8B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25541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20C222-AA42-EFE9-5AAF-6AC42492D4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F0CFE16-0AE8-D975-69E0-A44520405CD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BDF69A-A9B7-D284-4905-33CC0EB5E5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F868FA-959B-26B3-D01B-DE7B34A8DD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587EC-4A3E-4030-BABC-5E0C0236501C}" type="datetimeFigureOut">
              <a:rPr lang="ko-KR" altLang="en-US" smtClean="0"/>
              <a:t>2026-03-15</a:t>
            </a:fld>
            <a:endParaRPr lang="ko-KR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A121E6-F4DD-E30C-1190-D0FFAF26B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05B8AA-B868-C2EF-D090-24CC62904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B9519-C8B1-4E82-966F-744A36AA8B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03676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F5574-5F57-1F0D-3E09-18A84C868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58F8C3-B1B2-EBEE-B0A1-8B520EAD60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8DA0D8-C007-2E4E-9729-D522D0417E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587EC-4A3E-4030-BABC-5E0C0236501C}" type="datetimeFigureOut">
              <a:rPr lang="ko-KR" altLang="en-US" smtClean="0"/>
              <a:t>2026-03-15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5B345D-B1C9-90BE-993A-F358D0A05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A08C71-FE69-FEA4-6662-D326DC28B8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B9519-C8B1-4E82-966F-744A36AA8B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12503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B223173-B8A1-51CA-4CC6-3F6E56DD74B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5E2D10-75FA-F5EF-2F1F-A52D746DC1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3AB98C-EA5E-8A8B-1972-2CFF81E9C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587EC-4A3E-4030-BABC-5E0C0236501C}" type="datetimeFigureOut">
              <a:rPr lang="ko-KR" altLang="en-US" smtClean="0"/>
              <a:t>2026-03-15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FA1D17-D579-57CA-E7EC-5BEB912FA6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8D154A-3CD5-8276-82DC-1C8BD9931C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B9519-C8B1-4E82-966F-744A36AA8B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50146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D89A70-3359-99AC-EE6D-2BE4098849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CD2531-9D9C-70E7-B0CB-97143377C5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DAE7E1-7608-43CE-7137-D77440B36F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C644E6-8902-614E-BD44-1CF03CA075E7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2EBBA3-C920-381F-4652-B07AD840E5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080DA5-F03D-1E52-7B46-FE3B3DBE8A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E0B9F7-92C1-8644-A2B1-EE75CC9919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83910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appinventor.mit.edu/" TargetMode="External"/><Relationship Id="rId2" Type="http://schemas.openxmlformats.org/officeDocument/2006/relationships/hyperlink" Target="https://thunkable.com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github.com/Solido/awesome-flutter" TargetMode="External"/><Relationship Id="rId4" Type="http://schemas.openxmlformats.org/officeDocument/2006/relationships/hyperlink" Target="https://docs.flutter.dev/get-started/install" TargetMode="Externa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1.png">
            <a:extLst>
              <a:ext uri="{FF2B5EF4-FFF2-40B4-BE49-F238E27FC236}">
                <a16:creationId xmlns:a16="http://schemas.microsoft.com/office/drawing/2014/main" id="{B0EC2E57-4F8E-653C-4E40-3CB11A707159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79512" y="145785"/>
            <a:ext cx="2009637" cy="576065"/>
          </a:xfrm>
          <a:prstGeom prst="rect">
            <a:avLst/>
          </a:prstGeom>
        </p:spPr>
      </p:pic>
      <p:sp>
        <p:nvSpPr>
          <p:cNvPr id="9" name="TextBox 1">
            <a:extLst>
              <a:ext uri="{FF2B5EF4-FFF2-40B4-BE49-F238E27FC236}">
                <a16:creationId xmlns:a16="http://schemas.microsoft.com/office/drawing/2014/main" id="{2AB51E00-C641-8789-B929-9D0D2B9261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3952" y="1052736"/>
            <a:ext cx="5436096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altLang="ko-KR" sz="3600" b="1" dirty="0">
                <a:latin typeface="Arial" pitchFamily="34" charset="0"/>
                <a:ea typeface="맑은 고딕" pitchFamily="50" charset="-127"/>
                <a:cs typeface="Arial" pitchFamily="34" charset="0"/>
              </a:rPr>
              <a:t>PENGEMBANGAN APLIKASI BERGERAK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09AB27F-46C3-2B81-4A5D-FB3A57413D12}"/>
              </a:ext>
            </a:extLst>
          </p:cNvPr>
          <p:cNvSpPr txBox="1"/>
          <p:nvPr/>
        </p:nvSpPr>
        <p:spPr>
          <a:xfrm>
            <a:off x="5802723" y="5446965"/>
            <a:ext cx="316835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ko-KR" b="1" dirty="0" err="1">
                <a:latin typeface="Arial" pitchFamily="34" charset="0"/>
                <a:cs typeface="Arial" pitchFamily="34" charset="0"/>
              </a:rPr>
              <a:t>Brilyan</a:t>
            </a:r>
            <a:r>
              <a:rPr lang="en-US" altLang="ko-KR" b="1" dirty="0">
                <a:latin typeface="Arial" pitchFamily="34" charset="0"/>
                <a:cs typeface="Arial" pitchFamily="34" charset="0"/>
              </a:rPr>
              <a:t> </a:t>
            </a:r>
            <a:r>
              <a:rPr lang="en-US" altLang="ko-KR" b="1" dirty="0" err="1">
                <a:latin typeface="Arial" pitchFamily="34" charset="0"/>
                <a:cs typeface="Arial" pitchFamily="34" charset="0"/>
              </a:rPr>
              <a:t>Hendrasuryawan</a:t>
            </a:r>
            <a:br>
              <a:rPr lang="en-US" altLang="ko-KR" b="1" dirty="0">
                <a:latin typeface="Arial" pitchFamily="34" charset="0"/>
                <a:cs typeface="Arial" pitchFamily="34" charset="0"/>
              </a:rPr>
            </a:br>
            <a:r>
              <a:rPr lang="en-US" altLang="ko-KR" b="1" dirty="0">
                <a:latin typeface="Arial" pitchFamily="34" charset="0"/>
                <a:cs typeface="Arial" pitchFamily="34" charset="0"/>
              </a:rPr>
              <a:t>Arif Rohmadi</a:t>
            </a:r>
            <a:br>
              <a:rPr lang="en-US" altLang="ko-KR" b="1" dirty="0">
                <a:latin typeface="Arial" pitchFamily="34" charset="0"/>
                <a:cs typeface="Arial" pitchFamily="34" charset="0"/>
              </a:rPr>
            </a:br>
            <a:r>
              <a:rPr lang="en-US" altLang="ko-KR" b="1" dirty="0" err="1">
                <a:latin typeface="Arial" pitchFamily="34" charset="0"/>
                <a:cs typeface="Arial" pitchFamily="34" charset="0"/>
              </a:rPr>
              <a:t>Akhmad</a:t>
            </a:r>
            <a:r>
              <a:rPr lang="en-US" altLang="ko-KR" b="1" dirty="0">
                <a:latin typeface="Arial" pitchFamily="34" charset="0"/>
                <a:cs typeface="Arial" pitchFamily="34" charset="0"/>
              </a:rPr>
              <a:t> </a:t>
            </a:r>
            <a:r>
              <a:rPr lang="en-US" altLang="ko-KR" b="1" dirty="0" err="1">
                <a:latin typeface="Arial" pitchFamily="34" charset="0"/>
                <a:cs typeface="Arial" pitchFamily="34" charset="0"/>
              </a:rPr>
              <a:t>Syaifuddin</a:t>
            </a:r>
            <a:endParaRPr lang="en-US" altLang="ko-KR" b="1" dirty="0">
              <a:latin typeface="Arial" pitchFamily="34" charset="0"/>
              <a:cs typeface="Arial" pitchFamily="34" charset="0"/>
            </a:endParaRPr>
          </a:p>
          <a:p>
            <a:pPr>
              <a:defRPr/>
            </a:pPr>
            <a:r>
              <a:rPr lang="en-US" altLang="ko-KR" b="1">
                <a:latin typeface="Arial" pitchFamily="34" charset="0"/>
                <a:cs typeface="Arial" pitchFamily="34" charset="0"/>
              </a:rPr>
              <a:t>2026</a:t>
            </a:r>
            <a:endParaRPr lang="en-US" altLang="ko-KR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6B610B1-9FDC-0FB6-C7B2-8AB7D845EC32}"/>
              </a:ext>
            </a:extLst>
          </p:cNvPr>
          <p:cNvSpPr txBox="1"/>
          <p:nvPr/>
        </p:nvSpPr>
        <p:spPr>
          <a:xfrm>
            <a:off x="191181" y="6277962"/>
            <a:ext cx="19979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b="1" dirty="0" err="1">
                <a:latin typeface="Arial" pitchFamily="34" charset="0"/>
                <a:cs typeface="Arial" pitchFamily="34" charset="0"/>
              </a:rPr>
              <a:t>Pertemuan</a:t>
            </a:r>
            <a:r>
              <a:rPr lang="en-US" altLang="ko-KR" b="1" dirty="0">
                <a:latin typeface="Arial" pitchFamily="34" charset="0"/>
                <a:cs typeface="Arial" pitchFamily="34" charset="0"/>
              </a:rPr>
              <a:t> 4</a:t>
            </a:r>
            <a:endParaRPr kumimoji="0" lang="en-US" altLang="ko-KR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BFAF895-F53E-08FC-7E92-877D9C43D959}"/>
              </a:ext>
            </a:extLst>
          </p:cNvPr>
          <p:cNvSpPr txBox="1"/>
          <p:nvPr/>
        </p:nvSpPr>
        <p:spPr>
          <a:xfrm>
            <a:off x="3172610" y="3284984"/>
            <a:ext cx="279878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err="1"/>
              <a:t>Aplikasi</a:t>
            </a:r>
            <a:r>
              <a:rPr lang="en-US" sz="2800" b="1" dirty="0"/>
              <a:t> Hybrid</a:t>
            </a:r>
            <a:endParaRPr lang="id-ID" sz="2800" b="1" dirty="0"/>
          </a:p>
        </p:txBody>
      </p:sp>
    </p:spTree>
    <p:extLst>
      <p:ext uri="{BB962C8B-B14F-4D97-AF65-F5344CB8AC3E}">
        <p14:creationId xmlns:p14="http://schemas.microsoft.com/office/powerpoint/2010/main" val="14443003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CDEDBA-5F71-76B8-34B8-9469D62ECD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F44DA3-3EAC-EDEB-35AD-7BE3228098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Outline </a:t>
            </a:r>
            <a:r>
              <a:rPr lang="en-US" dirty="0" err="1"/>
              <a:t>Materi</a:t>
            </a:r>
            <a:endParaRPr lang="id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FF6300-45F7-9F33-B37D-9145571BEF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dirty="0" err="1"/>
              <a:t>Aplikasi</a:t>
            </a:r>
            <a:r>
              <a:rPr lang="en-US" sz="1800" dirty="0"/>
              <a:t> Hybrid</a:t>
            </a:r>
          </a:p>
          <a:p>
            <a:r>
              <a:rPr lang="en-US" sz="1800" dirty="0" err="1"/>
              <a:t>Arsitektur</a:t>
            </a:r>
            <a:r>
              <a:rPr lang="en-US" sz="1800" dirty="0"/>
              <a:t> </a:t>
            </a:r>
            <a:r>
              <a:rPr lang="en-US" sz="1800" dirty="0" err="1"/>
              <a:t>Aplikasi</a:t>
            </a:r>
            <a:r>
              <a:rPr lang="en-US" sz="1800" dirty="0"/>
              <a:t> Hybrid</a:t>
            </a:r>
          </a:p>
          <a:p>
            <a:r>
              <a:rPr lang="en-US" sz="1800" dirty="0" err="1"/>
              <a:t>Kelebihan</a:t>
            </a:r>
            <a:r>
              <a:rPr lang="en-US" sz="1800" dirty="0"/>
              <a:t> dan </a:t>
            </a:r>
            <a:r>
              <a:rPr lang="en-US" sz="1800" dirty="0" err="1"/>
              <a:t>kekurangan</a:t>
            </a:r>
            <a:r>
              <a:rPr lang="en-US" sz="1800" dirty="0"/>
              <a:t> </a:t>
            </a:r>
            <a:r>
              <a:rPr lang="en-US" sz="1800" dirty="0" err="1"/>
              <a:t>aplikasi</a:t>
            </a:r>
            <a:r>
              <a:rPr lang="en-US" sz="1800" dirty="0"/>
              <a:t> Hybrid</a:t>
            </a:r>
          </a:p>
          <a:p>
            <a:r>
              <a:rPr lang="en-US" sz="1800" dirty="0" err="1"/>
              <a:t>Karakteristik</a:t>
            </a:r>
            <a:r>
              <a:rPr lang="en-US" sz="1800" dirty="0"/>
              <a:t> </a:t>
            </a:r>
            <a:r>
              <a:rPr lang="en-US" sz="1800" dirty="0" err="1"/>
              <a:t>Aplikasi</a:t>
            </a:r>
            <a:r>
              <a:rPr lang="en-US" sz="1800" dirty="0"/>
              <a:t> Hybrid</a:t>
            </a:r>
          </a:p>
          <a:p>
            <a:r>
              <a:rPr lang="en-US" sz="1800" dirty="0"/>
              <a:t>Framework </a:t>
            </a:r>
            <a:r>
              <a:rPr lang="en-US" sz="1800" dirty="0" err="1"/>
              <a:t>Aplikasi</a:t>
            </a:r>
            <a:r>
              <a:rPr lang="en-US" sz="1800" dirty="0"/>
              <a:t> Hybrid</a:t>
            </a:r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9987531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49EAC2-5472-699F-62DF-C88F947B79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4">
            <a:extLst>
              <a:ext uri="{FF2B5EF4-FFF2-40B4-BE49-F238E27FC236}">
                <a16:creationId xmlns:a16="http://schemas.microsoft.com/office/drawing/2014/main" id="{BE174CB5-EE66-B8B9-526E-E5314CA814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 dirty="0" err="1"/>
              <a:t>Aplikasi</a:t>
            </a:r>
            <a:r>
              <a:rPr lang="en-US" sz="3200" dirty="0"/>
              <a:t> Hybrid</a:t>
            </a:r>
            <a:endParaRPr lang="en-ID" sz="3200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07AD39B-DE80-6A91-BE11-E28FE360B8DA}"/>
              </a:ext>
            </a:extLst>
          </p:cNvPr>
          <p:cNvSpPr txBox="1">
            <a:spLocks/>
          </p:cNvSpPr>
          <p:nvPr/>
        </p:nvSpPr>
        <p:spPr>
          <a:xfrm>
            <a:off x="480931" y="1556792"/>
            <a:ext cx="8676456" cy="333103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4000" b="1" kern="1200" baseline="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br>
              <a:rPr lang="id-ID" sz="2400" dirty="0"/>
            </a:br>
            <a:endParaRPr lang="id-ID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E6C5FB-FB8E-3657-3FFA-2F632A066682}"/>
              </a:ext>
            </a:extLst>
          </p:cNvPr>
          <p:cNvSpPr txBox="1">
            <a:spLocks/>
          </p:cNvSpPr>
          <p:nvPr/>
        </p:nvSpPr>
        <p:spPr>
          <a:xfrm>
            <a:off x="464501" y="2187665"/>
            <a:ext cx="8483557" cy="24826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just">
              <a:buClr>
                <a:srgbClr val="30ACEC">
                  <a:lumMod val="75000"/>
                </a:srgbClr>
              </a:buClr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2A65036-1482-269F-B1B8-46AF2E647973}"/>
              </a:ext>
            </a:extLst>
          </p:cNvPr>
          <p:cNvSpPr txBox="1">
            <a:spLocks/>
          </p:cNvSpPr>
          <p:nvPr/>
        </p:nvSpPr>
        <p:spPr>
          <a:xfrm>
            <a:off x="330221" y="1067155"/>
            <a:ext cx="8483557" cy="24826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just">
              <a:buClr>
                <a:srgbClr val="30ACEC">
                  <a:lumMod val="75000"/>
                </a:srgbClr>
              </a:buClr>
              <a:buFont typeface="Wingdings" panose="05000000000000000000" pitchFamily="2" charset="2"/>
              <a:buChar char="§"/>
            </a:pPr>
            <a:r>
              <a:rPr kumimoji="0" lang="en-US" sz="180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Aplikasi</a:t>
            </a:r>
            <a:r>
              <a:rPr kumimoji="0" lang="en-US" sz="180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yang </a:t>
            </a:r>
            <a:r>
              <a:rPr kumimoji="0" lang="en-US" sz="180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mengkombinasikan</a:t>
            </a:r>
            <a:r>
              <a:rPr kumimoji="0" lang="en-US" sz="180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antara</a:t>
            </a:r>
            <a:r>
              <a:rPr lang="en-US" sz="18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800" dirty="0" err="1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aplikasi</a:t>
            </a:r>
            <a:r>
              <a:rPr lang="en-US" sz="18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native dan </a:t>
            </a:r>
            <a:r>
              <a:rPr lang="en-US" sz="1800" dirty="0" err="1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aplikasi</a:t>
            </a:r>
            <a:r>
              <a:rPr lang="en-US" sz="18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web.</a:t>
            </a:r>
          </a:p>
          <a:p>
            <a:pPr algn="just">
              <a:buClr>
                <a:srgbClr val="30ACEC">
                  <a:lumMod val="75000"/>
                </a:srgbClr>
              </a:buClr>
              <a:buFont typeface="Wingdings" panose="05000000000000000000" pitchFamily="2" charset="2"/>
              <a:buChar char="§"/>
            </a:pPr>
            <a:r>
              <a:rPr lang="en-ID" sz="1800" dirty="0" err="1">
                <a:latin typeface="Arial" panose="020B0604020202020204" pitchFamily="34" charset="0"/>
                <a:cs typeface="Arial" panose="020B0604020202020204" pitchFamily="34" charset="0"/>
              </a:rPr>
              <a:t>Aplikasi</a:t>
            </a:r>
            <a:r>
              <a:rPr lang="en-ID" sz="1800" dirty="0">
                <a:latin typeface="Arial" panose="020B0604020202020204" pitchFamily="34" charset="0"/>
                <a:cs typeface="Arial" panose="020B0604020202020204" pitchFamily="34" charset="0"/>
              </a:rPr>
              <a:t> yang </a:t>
            </a:r>
            <a:r>
              <a:rPr lang="en-ID" sz="1800" dirty="0" err="1">
                <a:latin typeface="Arial" panose="020B0604020202020204" pitchFamily="34" charset="0"/>
                <a:cs typeface="Arial" panose="020B0604020202020204" pitchFamily="34" charset="0"/>
              </a:rPr>
              <a:t>dikembangkan</a:t>
            </a:r>
            <a:r>
              <a:rPr lang="en-ID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800" dirty="0" err="1">
                <a:latin typeface="Arial" panose="020B0604020202020204" pitchFamily="34" charset="0"/>
                <a:cs typeface="Arial" panose="020B0604020202020204" pitchFamily="34" charset="0"/>
              </a:rPr>
              <a:t>menggunakan</a:t>
            </a:r>
            <a:r>
              <a:rPr lang="en-ID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800" dirty="0" err="1">
                <a:latin typeface="Arial" panose="020B0604020202020204" pitchFamily="34" charset="0"/>
                <a:cs typeface="Arial" panose="020B0604020202020204" pitchFamily="34" charset="0"/>
              </a:rPr>
              <a:t>teknologi</a:t>
            </a:r>
            <a:r>
              <a:rPr lang="en-ID" sz="1800" dirty="0">
                <a:latin typeface="Arial" panose="020B0604020202020204" pitchFamily="34" charset="0"/>
                <a:cs typeface="Arial" panose="020B0604020202020204" pitchFamily="34" charset="0"/>
              </a:rPr>
              <a:t> web dan </a:t>
            </a:r>
            <a:r>
              <a:rPr lang="en-ID" sz="1800" dirty="0" err="1">
                <a:latin typeface="Arial" panose="020B0604020202020204" pitchFamily="34" charset="0"/>
                <a:cs typeface="Arial" panose="020B0604020202020204" pitchFamily="34" charset="0"/>
              </a:rPr>
              <a:t>dapat</a:t>
            </a:r>
            <a:r>
              <a:rPr lang="en-ID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800" dirty="0" err="1">
                <a:latin typeface="Arial" panose="020B0604020202020204" pitchFamily="34" charset="0"/>
                <a:cs typeface="Arial" panose="020B0604020202020204" pitchFamily="34" charset="0"/>
              </a:rPr>
              <a:t>diinstal</a:t>
            </a:r>
            <a:r>
              <a:rPr lang="en-ID" sz="1800" dirty="0">
                <a:latin typeface="Arial" panose="020B0604020202020204" pitchFamily="34" charset="0"/>
                <a:cs typeface="Arial" panose="020B0604020202020204" pitchFamily="34" charset="0"/>
              </a:rPr>
              <a:t> di </a:t>
            </a:r>
            <a:r>
              <a:rPr lang="en-ID" sz="1800" dirty="0" err="1">
                <a:latin typeface="Arial" panose="020B0604020202020204" pitchFamily="34" charset="0"/>
                <a:cs typeface="Arial" panose="020B0604020202020204" pitchFamily="34" charset="0"/>
              </a:rPr>
              <a:t>perangkat</a:t>
            </a:r>
            <a:r>
              <a:rPr lang="en-ID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800" dirty="0" err="1">
                <a:latin typeface="Arial" panose="020B0604020202020204" pitchFamily="34" charset="0"/>
                <a:cs typeface="Arial" panose="020B0604020202020204" pitchFamily="34" charset="0"/>
              </a:rPr>
              <a:t>seluler</a:t>
            </a:r>
            <a:r>
              <a:rPr lang="en-ID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800" dirty="0" err="1">
                <a:latin typeface="Arial" panose="020B0604020202020204" pitchFamily="34" charset="0"/>
                <a:cs typeface="Arial" panose="020B0604020202020204" pitchFamily="34" charset="0"/>
              </a:rPr>
              <a:t>dengan</a:t>
            </a:r>
            <a:r>
              <a:rPr lang="en-ID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800" dirty="0" err="1">
                <a:latin typeface="Arial" panose="020B0604020202020204" pitchFamily="34" charset="0"/>
                <a:cs typeface="Arial" panose="020B0604020202020204" pitchFamily="34" charset="0"/>
              </a:rPr>
              <a:t>sistem</a:t>
            </a:r>
            <a:r>
              <a:rPr lang="en-ID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800" dirty="0" err="1">
                <a:latin typeface="Arial" panose="020B0604020202020204" pitchFamily="34" charset="0"/>
                <a:cs typeface="Arial" panose="020B0604020202020204" pitchFamily="34" charset="0"/>
              </a:rPr>
              <a:t>operasi</a:t>
            </a:r>
            <a:r>
              <a:rPr lang="en-ID" sz="1800" dirty="0">
                <a:latin typeface="Arial" panose="020B0604020202020204" pitchFamily="34" charset="0"/>
                <a:cs typeface="Arial" panose="020B0604020202020204" pitchFamily="34" charset="0"/>
              </a:rPr>
              <a:t> yang </a:t>
            </a:r>
            <a:r>
              <a:rPr lang="en-ID" sz="1800" dirty="0" err="1">
                <a:latin typeface="Arial" panose="020B0604020202020204" pitchFamily="34" charset="0"/>
                <a:cs typeface="Arial" panose="020B0604020202020204" pitchFamily="34" charset="0"/>
              </a:rPr>
              <a:t>berbeda</a:t>
            </a:r>
            <a:r>
              <a:rPr lang="en-ID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D" sz="1800" dirty="0" err="1">
                <a:latin typeface="Arial" panose="020B0604020202020204" pitchFamily="34" charset="0"/>
                <a:cs typeface="Arial" panose="020B0604020202020204" pitchFamily="34" charset="0"/>
              </a:rPr>
              <a:t>seperti</a:t>
            </a:r>
            <a:r>
              <a:rPr lang="en-ID" sz="1800" dirty="0">
                <a:latin typeface="Arial" panose="020B0604020202020204" pitchFamily="34" charset="0"/>
                <a:cs typeface="Arial" panose="020B0604020202020204" pitchFamily="34" charset="0"/>
              </a:rPr>
              <a:t> iOS dan Android. </a:t>
            </a:r>
            <a:r>
              <a:rPr lang="en-US" sz="18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kumimoji="0" lang="en-US" sz="180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plikasi</a:t>
            </a:r>
            <a:r>
              <a:rPr kumimoji="0" lang="en-US" sz="180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sz="180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tersebut</a:t>
            </a:r>
            <a:r>
              <a:rPr kumimoji="0" lang="en-US" sz="180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sz="180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dijalankan</a:t>
            </a:r>
            <a:r>
              <a:rPr kumimoji="0" lang="en-US" sz="180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sz="180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dengan</a:t>
            </a:r>
            <a:r>
              <a:rPr kumimoji="0" lang="en-US" sz="180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sz="180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menggunakan</a:t>
            </a:r>
            <a:r>
              <a:rPr kumimoji="0" lang="en-US" sz="180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sz="180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fitur</a:t>
            </a:r>
            <a:r>
              <a:rPr kumimoji="0" lang="en-US" sz="180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WebView</a:t>
            </a:r>
            <a:endParaRPr lang="en-ID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09BB56B-7F5F-6156-6994-17089D6722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37"/>
          <a:stretch/>
        </p:blipFill>
        <p:spPr>
          <a:xfrm>
            <a:off x="2652307" y="3068960"/>
            <a:ext cx="4107944" cy="3384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83230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B47940-55B1-68A0-0EA5-251F48DBCA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4">
            <a:extLst>
              <a:ext uri="{FF2B5EF4-FFF2-40B4-BE49-F238E27FC236}">
                <a16:creationId xmlns:a16="http://schemas.microsoft.com/office/drawing/2014/main" id="{B13903E3-3599-2477-8128-918C739BD5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 dirty="0" err="1"/>
              <a:t>Aplikasi</a:t>
            </a:r>
            <a:r>
              <a:rPr lang="en-US" sz="3200" dirty="0"/>
              <a:t> Hybrid</a:t>
            </a:r>
            <a:endParaRPr lang="en-ID" sz="3200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38CADBB0-BF37-C9AD-142E-4530584325AB}"/>
              </a:ext>
            </a:extLst>
          </p:cNvPr>
          <p:cNvSpPr txBox="1">
            <a:spLocks/>
          </p:cNvSpPr>
          <p:nvPr/>
        </p:nvSpPr>
        <p:spPr>
          <a:xfrm>
            <a:off x="480931" y="1556792"/>
            <a:ext cx="8676456" cy="333103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4000" b="1" kern="1200" baseline="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br>
              <a:rPr lang="id-ID" sz="2400" dirty="0"/>
            </a:br>
            <a:endParaRPr lang="id-ID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6025FE-F5E9-2415-CFF6-9061C2212A67}"/>
              </a:ext>
            </a:extLst>
          </p:cNvPr>
          <p:cNvSpPr txBox="1">
            <a:spLocks/>
          </p:cNvSpPr>
          <p:nvPr/>
        </p:nvSpPr>
        <p:spPr>
          <a:xfrm>
            <a:off x="464501" y="2187665"/>
            <a:ext cx="8483557" cy="24826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just">
              <a:buClr>
                <a:srgbClr val="30ACEC">
                  <a:lumMod val="75000"/>
                </a:srgbClr>
              </a:buClr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BE48A2A-DEE4-D6B5-2CB9-9125F85A16EB}"/>
              </a:ext>
            </a:extLst>
          </p:cNvPr>
          <p:cNvSpPr txBox="1">
            <a:spLocks/>
          </p:cNvSpPr>
          <p:nvPr/>
        </p:nvSpPr>
        <p:spPr>
          <a:xfrm>
            <a:off x="330221" y="1400257"/>
            <a:ext cx="8483557" cy="41889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342900" lvl="0" indent="-342900" algn="just" defTabSz="914400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sz="1800" dirty="0"/>
              <a:t>Jalan </a:t>
            </a:r>
            <a:r>
              <a:rPr lang="en-US" sz="1800" dirty="0" err="1"/>
              <a:t>tengah</a:t>
            </a:r>
            <a:r>
              <a:rPr lang="en-US" sz="1800" dirty="0"/>
              <a:t>, dan </a:t>
            </a:r>
            <a:r>
              <a:rPr lang="en-US" sz="1800" dirty="0" err="1"/>
              <a:t>untuk</a:t>
            </a:r>
            <a:r>
              <a:rPr lang="en-US" sz="1800" dirty="0"/>
              <a:t> </a:t>
            </a:r>
            <a:r>
              <a:rPr lang="en-US" sz="1800" dirty="0" err="1"/>
              <a:t>aplikasi</a:t>
            </a:r>
            <a:r>
              <a:rPr lang="en-US" sz="1800" dirty="0"/>
              <a:t> </a:t>
            </a:r>
            <a:r>
              <a:rPr lang="en-US" sz="1800" i="1" dirty="0"/>
              <a:t>mobile, </a:t>
            </a:r>
            <a:r>
              <a:rPr lang="en-US" sz="1800" dirty="0"/>
              <a:t>salah </a:t>
            </a:r>
            <a:r>
              <a:rPr lang="en-US" sz="1800" dirty="0" err="1"/>
              <a:t>satu</a:t>
            </a:r>
            <a:r>
              <a:rPr lang="en-US" sz="1800" dirty="0"/>
              <a:t> yang </a:t>
            </a:r>
            <a:r>
              <a:rPr lang="en-US" sz="1800" dirty="0" err="1"/>
              <a:t>populer</a:t>
            </a:r>
            <a:r>
              <a:rPr lang="en-US" sz="1800" dirty="0"/>
              <a:t> </a:t>
            </a:r>
            <a:r>
              <a:rPr lang="en-US" sz="1800" dirty="0" err="1"/>
              <a:t>adalah</a:t>
            </a:r>
            <a:r>
              <a:rPr lang="en-US" sz="1800" dirty="0"/>
              <a:t> </a:t>
            </a:r>
            <a:r>
              <a:rPr lang="en-US" sz="1800" dirty="0" err="1"/>
              <a:t>menggunakan</a:t>
            </a:r>
            <a:r>
              <a:rPr lang="en-US" sz="1800" dirty="0"/>
              <a:t> </a:t>
            </a:r>
            <a:r>
              <a:rPr lang="en-US" sz="1800" dirty="0" err="1"/>
              <a:t>pendekatan</a:t>
            </a:r>
            <a:r>
              <a:rPr lang="en-US" sz="1800" dirty="0"/>
              <a:t> </a:t>
            </a:r>
            <a:r>
              <a:rPr lang="en-US" sz="1800" i="1" dirty="0"/>
              <a:t>hybrid</a:t>
            </a:r>
          </a:p>
          <a:p>
            <a:pPr marL="342900" lvl="0" indent="-342900" algn="just" defTabSz="914400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sz="1800" dirty="0" err="1"/>
              <a:t>Aplikasi</a:t>
            </a:r>
            <a:r>
              <a:rPr lang="en-US" sz="1800" dirty="0"/>
              <a:t> Hybrid </a:t>
            </a:r>
            <a:r>
              <a:rPr lang="en-US" sz="1800" dirty="0" err="1"/>
              <a:t>dapat</a:t>
            </a:r>
            <a:r>
              <a:rPr lang="en-US" sz="1800" dirty="0"/>
              <a:t> </a:t>
            </a:r>
            <a:r>
              <a:rPr lang="en-US" sz="1800" dirty="0" err="1"/>
              <a:t>berjalan</a:t>
            </a:r>
            <a:r>
              <a:rPr lang="en-US" sz="1800" dirty="0"/>
              <a:t> di </a:t>
            </a:r>
            <a:r>
              <a:rPr lang="en-US" sz="1800" dirty="0" err="1"/>
              <a:t>berbagai</a:t>
            </a:r>
            <a:r>
              <a:rPr lang="en-US" sz="1800" dirty="0"/>
              <a:t> </a:t>
            </a:r>
            <a:r>
              <a:rPr lang="en-US" sz="1800" dirty="0" err="1"/>
              <a:t>sistem</a:t>
            </a:r>
            <a:r>
              <a:rPr lang="en-US" sz="1800" dirty="0"/>
              <a:t> </a:t>
            </a:r>
            <a:r>
              <a:rPr lang="en-US" sz="1800" dirty="0" err="1"/>
              <a:t>operasi</a:t>
            </a:r>
            <a:r>
              <a:rPr lang="en-US" sz="1800" dirty="0"/>
              <a:t> </a:t>
            </a:r>
            <a:r>
              <a:rPr lang="en-US" sz="1800" dirty="0" err="1"/>
              <a:t>namun</a:t>
            </a:r>
            <a:r>
              <a:rPr lang="en-US" sz="1800" dirty="0"/>
              <a:t> </a:t>
            </a:r>
            <a:r>
              <a:rPr lang="en-US" sz="1800" dirty="0" err="1"/>
              <a:t>biasanya</a:t>
            </a:r>
            <a:r>
              <a:rPr lang="en-US" sz="1800" dirty="0"/>
              <a:t> </a:t>
            </a:r>
            <a:r>
              <a:rPr lang="en-US" sz="1800" dirty="0" err="1"/>
              <a:t>tampilan</a:t>
            </a:r>
            <a:r>
              <a:rPr lang="en-US" sz="1800" dirty="0"/>
              <a:t> </a:t>
            </a:r>
            <a:r>
              <a:rPr lang="en-US" sz="1800" dirty="0" err="1"/>
              <a:t>dari</a:t>
            </a:r>
            <a:r>
              <a:rPr lang="en-US" sz="1800" dirty="0"/>
              <a:t> </a:t>
            </a:r>
            <a:r>
              <a:rPr lang="en-US" sz="1800" dirty="0" err="1"/>
              <a:t>aplikasi</a:t>
            </a:r>
            <a:r>
              <a:rPr lang="en-US" sz="1800" dirty="0"/>
              <a:t> </a:t>
            </a:r>
            <a:r>
              <a:rPr lang="en-US" sz="1800" dirty="0" err="1"/>
              <a:t>akan</a:t>
            </a:r>
            <a:r>
              <a:rPr lang="en-US" sz="1800" dirty="0"/>
              <a:t> </a:t>
            </a:r>
            <a:r>
              <a:rPr lang="en-US" sz="1800" dirty="0" err="1"/>
              <a:t>sama</a:t>
            </a:r>
            <a:r>
              <a:rPr lang="en-US" sz="1800" dirty="0"/>
              <a:t> </a:t>
            </a:r>
            <a:r>
              <a:rPr lang="en-US" sz="1800" dirty="0" err="1"/>
              <a:t>persis</a:t>
            </a:r>
            <a:r>
              <a:rPr lang="en-US" sz="1800" dirty="0"/>
              <a:t> </a:t>
            </a:r>
            <a:r>
              <a:rPr lang="en-US" sz="1800" dirty="0" err="1"/>
              <a:t>sehingga</a:t>
            </a:r>
            <a:r>
              <a:rPr lang="en-US" sz="1800" dirty="0"/>
              <a:t> </a:t>
            </a:r>
            <a:r>
              <a:rPr lang="en-US" sz="1800" dirty="0" err="1"/>
              <a:t>tidak</a:t>
            </a:r>
            <a:r>
              <a:rPr lang="en-US" sz="1800" dirty="0"/>
              <a:t> </a:t>
            </a:r>
            <a:r>
              <a:rPr lang="en-US" sz="1800" dirty="0" err="1"/>
              <a:t>ada</a:t>
            </a:r>
            <a:r>
              <a:rPr lang="en-US" sz="1800" dirty="0"/>
              <a:t> </a:t>
            </a:r>
            <a:r>
              <a:rPr lang="en-US" sz="1800" dirty="0" err="1"/>
              <a:t>perbedaan</a:t>
            </a:r>
            <a:r>
              <a:rPr lang="en-US" sz="1800" dirty="0"/>
              <a:t> yang </a:t>
            </a:r>
            <a:r>
              <a:rPr lang="en-US" sz="1800" dirty="0" err="1"/>
              <a:t>mencolok</a:t>
            </a:r>
            <a:r>
              <a:rPr lang="en-US" sz="1800" dirty="0"/>
              <a:t> </a:t>
            </a:r>
            <a:r>
              <a:rPr lang="en-US" sz="1800" dirty="0" err="1"/>
              <a:t>ketika</a:t>
            </a:r>
            <a:r>
              <a:rPr lang="en-US" sz="1800" dirty="0"/>
              <a:t> </a:t>
            </a:r>
            <a:r>
              <a:rPr lang="en-US" sz="1800" dirty="0" err="1"/>
              <a:t>dijalankan</a:t>
            </a:r>
            <a:r>
              <a:rPr lang="en-US" sz="1800" dirty="0"/>
              <a:t> di device yang </a:t>
            </a:r>
            <a:r>
              <a:rPr lang="en-US" sz="1800" dirty="0" err="1"/>
              <a:t>berbeda</a:t>
            </a:r>
            <a:endParaRPr lang="en-US" sz="1800" dirty="0"/>
          </a:p>
          <a:p>
            <a:pPr marL="342900" indent="-342900" algn="just" defTabSz="914400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sz="1800" dirty="0" err="1"/>
              <a:t>Kadang</a:t>
            </a:r>
            <a:r>
              <a:rPr lang="en-US" sz="1800" dirty="0"/>
              <a:t> </a:t>
            </a:r>
            <a:r>
              <a:rPr lang="en-US" sz="1800" dirty="0" err="1"/>
              <a:t>konsistensi</a:t>
            </a:r>
            <a:r>
              <a:rPr lang="en-US" sz="1800" dirty="0"/>
              <a:t> </a:t>
            </a:r>
            <a:r>
              <a:rPr lang="en-US" sz="1800" dirty="0" err="1"/>
              <a:t>ini</a:t>
            </a:r>
            <a:r>
              <a:rPr lang="en-US" sz="1800" dirty="0"/>
              <a:t> </a:t>
            </a:r>
            <a:r>
              <a:rPr lang="en-US" sz="1800" dirty="0" err="1"/>
              <a:t>baik</a:t>
            </a:r>
            <a:r>
              <a:rPr lang="en-US" sz="1800" dirty="0"/>
              <a:t> dan </a:t>
            </a:r>
            <a:r>
              <a:rPr lang="en-US" sz="1800" dirty="0" err="1"/>
              <a:t>memang</a:t>
            </a:r>
            <a:r>
              <a:rPr lang="en-US" sz="1800" dirty="0"/>
              <a:t> </a:t>
            </a:r>
            <a:r>
              <a:rPr lang="en-US" sz="1800" dirty="0" err="1"/>
              <a:t>diinginkan</a:t>
            </a:r>
            <a:r>
              <a:rPr lang="en-US" sz="1800" dirty="0"/>
              <a:t> </a:t>
            </a:r>
            <a:r>
              <a:rPr lang="en-US" sz="1800" dirty="0" err="1"/>
              <a:t>tapi</a:t>
            </a:r>
            <a:r>
              <a:rPr lang="en-US" sz="1800" dirty="0"/>
              <a:t> </a:t>
            </a:r>
            <a:r>
              <a:rPr lang="en-US" sz="1800" dirty="0" err="1"/>
              <a:t>kadang</a:t>
            </a:r>
            <a:r>
              <a:rPr lang="en-US" sz="1800" dirty="0"/>
              <a:t> </a:t>
            </a:r>
            <a:r>
              <a:rPr lang="en-US" sz="1800" dirty="0" err="1"/>
              <a:t>tiap</a:t>
            </a:r>
            <a:r>
              <a:rPr lang="en-US" sz="1800" dirty="0"/>
              <a:t> platform </a:t>
            </a:r>
            <a:r>
              <a:rPr lang="en-US" sz="1800" dirty="0" err="1"/>
              <a:t>memiliki</a:t>
            </a:r>
            <a:r>
              <a:rPr lang="en-US" sz="1800" dirty="0"/>
              <a:t> “design language”-</a:t>
            </a:r>
            <a:r>
              <a:rPr lang="en-US" sz="1800" dirty="0" err="1"/>
              <a:t>nya</a:t>
            </a:r>
            <a:r>
              <a:rPr lang="en-US" sz="1800" dirty="0"/>
              <a:t> masing-masing </a:t>
            </a:r>
            <a:r>
              <a:rPr lang="en-US" sz="1800" dirty="0" err="1"/>
              <a:t>sehingga</a:t>
            </a:r>
            <a:r>
              <a:rPr lang="en-US" sz="1800" dirty="0"/>
              <a:t> “</a:t>
            </a:r>
            <a:r>
              <a:rPr lang="en-US" sz="1800" dirty="0" err="1"/>
              <a:t>sama</a:t>
            </a:r>
            <a:r>
              <a:rPr lang="en-US" sz="1800" dirty="0"/>
              <a:t>” </a:t>
            </a:r>
            <a:r>
              <a:rPr lang="en-US" sz="1800" dirty="0" err="1"/>
              <a:t>tidak</a:t>
            </a:r>
            <a:r>
              <a:rPr lang="en-US" sz="1800" dirty="0"/>
              <a:t> </a:t>
            </a:r>
            <a:r>
              <a:rPr lang="en-US" sz="1800" dirty="0" err="1"/>
              <a:t>selalu</a:t>
            </a:r>
            <a:r>
              <a:rPr lang="en-US" sz="1800" dirty="0"/>
              <a:t> </a:t>
            </a:r>
            <a:r>
              <a:rPr lang="en-US" sz="1800" dirty="0" err="1"/>
              <a:t>berarti</a:t>
            </a:r>
            <a:r>
              <a:rPr lang="en-US" sz="1800" dirty="0"/>
              <a:t> “</a:t>
            </a:r>
            <a:r>
              <a:rPr lang="en-US" sz="1800" dirty="0" err="1"/>
              <a:t>bagus</a:t>
            </a:r>
            <a:r>
              <a:rPr lang="en-US" sz="1800" dirty="0"/>
              <a:t>”. </a:t>
            </a:r>
            <a:r>
              <a:rPr lang="en-US" sz="1800" dirty="0" err="1"/>
              <a:t>Sebagai</a:t>
            </a:r>
            <a:r>
              <a:rPr lang="en-US" sz="1800" dirty="0"/>
              <a:t> </a:t>
            </a:r>
            <a:r>
              <a:rPr lang="en-US" sz="1800" dirty="0" err="1"/>
              <a:t>contoh</a:t>
            </a:r>
            <a:r>
              <a:rPr lang="en-US" sz="1800" dirty="0"/>
              <a:t> Apple </a:t>
            </a:r>
            <a:r>
              <a:rPr lang="en-US" sz="1800" dirty="0" err="1"/>
              <a:t>dengan</a:t>
            </a:r>
            <a:r>
              <a:rPr lang="en-US" sz="1800" dirty="0"/>
              <a:t> Flat Design, Google </a:t>
            </a:r>
            <a:r>
              <a:rPr lang="en-US" sz="1800" dirty="0" err="1"/>
              <a:t>dengan</a:t>
            </a:r>
            <a:r>
              <a:rPr lang="en-US" sz="1800" dirty="0"/>
              <a:t> Material Design, </a:t>
            </a:r>
            <a:r>
              <a:rPr lang="en-US" sz="1800" dirty="0" err="1"/>
              <a:t>meskipun</a:t>
            </a:r>
            <a:r>
              <a:rPr lang="en-US" sz="1800" dirty="0"/>
              <a:t> </a:t>
            </a:r>
            <a:r>
              <a:rPr lang="en-US" sz="1800" dirty="0" err="1"/>
              <a:t>tergolong</a:t>
            </a:r>
            <a:r>
              <a:rPr lang="en-US" sz="1800" dirty="0"/>
              <a:t> </a:t>
            </a:r>
            <a:r>
              <a:rPr lang="en-US" sz="1800" dirty="0" err="1"/>
              <a:t>sama-sama</a:t>
            </a:r>
            <a:r>
              <a:rPr lang="en-US" sz="1800" dirty="0"/>
              <a:t> non-</a:t>
            </a:r>
            <a:r>
              <a:rPr lang="en-US" sz="1800" dirty="0" err="1"/>
              <a:t>skeumorphic</a:t>
            </a:r>
            <a:r>
              <a:rPr lang="en-US" sz="1800" dirty="0"/>
              <a:t> design, </a:t>
            </a:r>
            <a:r>
              <a:rPr lang="en-US" sz="1800" dirty="0" err="1"/>
              <a:t>tetap</a:t>
            </a:r>
            <a:r>
              <a:rPr lang="en-US" sz="1800" dirty="0"/>
              <a:t> </a:t>
            </a:r>
            <a:r>
              <a:rPr lang="en-US" sz="1800" dirty="0" err="1"/>
              <a:t>saja</a:t>
            </a:r>
            <a:r>
              <a:rPr lang="en-US" sz="1800" dirty="0"/>
              <a:t> </a:t>
            </a:r>
            <a:r>
              <a:rPr lang="en-US" sz="1800" dirty="0" err="1"/>
              <a:t>ada</a:t>
            </a:r>
            <a:r>
              <a:rPr lang="en-US" sz="1800" dirty="0"/>
              <a:t> </a:t>
            </a:r>
            <a:r>
              <a:rPr lang="en-US" sz="1800" dirty="0" err="1"/>
              <a:t>aspek</a:t>
            </a:r>
            <a:r>
              <a:rPr lang="en-US" sz="1800" dirty="0"/>
              <a:t> </a:t>
            </a:r>
            <a:r>
              <a:rPr lang="en-US" sz="1800" dirty="0" err="1"/>
              <a:t>spesifik</a:t>
            </a:r>
            <a:r>
              <a:rPr lang="en-US" sz="1800" dirty="0"/>
              <a:t> </a:t>
            </a:r>
            <a:r>
              <a:rPr lang="en-US" sz="1800" dirty="0" err="1"/>
              <a:t>dari</a:t>
            </a:r>
            <a:r>
              <a:rPr lang="en-US" sz="1800" dirty="0"/>
              <a:t> masing-masing platform </a:t>
            </a:r>
            <a:r>
              <a:rPr lang="en-US" sz="1800" dirty="0" err="1"/>
              <a:t>untuk</a:t>
            </a:r>
            <a:r>
              <a:rPr lang="en-US" sz="1800" dirty="0"/>
              <a:t> </a:t>
            </a:r>
            <a:r>
              <a:rPr lang="en-US" sz="1800" dirty="0" err="1"/>
              <a:t>memberikan</a:t>
            </a:r>
            <a:r>
              <a:rPr lang="en-US" sz="1800" dirty="0"/>
              <a:t> </a:t>
            </a:r>
            <a:r>
              <a:rPr lang="en-US" sz="1800" dirty="0" err="1"/>
              <a:t>pengalaman</a:t>
            </a:r>
            <a:r>
              <a:rPr lang="en-US" sz="1800" dirty="0"/>
              <a:t> </a:t>
            </a:r>
            <a:r>
              <a:rPr lang="en-US" sz="1800" dirty="0" err="1"/>
              <a:t>terbaik</a:t>
            </a:r>
            <a:r>
              <a:rPr lang="en-US" sz="1800" dirty="0"/>
              <a:t> </a:t>
            </a:r>
            <a:r>
              <a:rPr lang="en-US" sz="1800" dirty="0" err="1"/>
              <a:t>menggunakan</a:t>
            </a:r>
            <a:r>
              <a:rPr lang="en-US" sz="1800" dirty="0"/>
              <a:t> </a:t>
            </a:r>
            <a:r>
              <a:rPr lang="en-US" sz="1800" dirty="0" err="1"/>
              <a:t>sistem</a:t>
            </a:r>
            <a:r>
              <a:rPr lang="en-US" sz="1800" dirty="0"/>
              <a:t> </a:t>
            </a:r>
            <a:r>
              <a:rPr lang="en-US" sz="1800" dirty="0" err="1"/>
              <a:t>operasi</a:t>
            </a:r>
            <a:r>
              <a:rPr lang="en-US" sz="1800" dirty="0"/>
              <a:t> yang </a:t>
            </a:r>
            <a:r>
              <a:rPr lang="en-US" sz="1800" dirty="0" err="1"/>
              <a:t>ada</a:t>
            </a:r>
            <a:r>
              <a:rPr lang="en-US" sz="1800" dirty="0"/>
              <a:t> di </a:t>
            </a:r>
            <a:r>
              <a:rPr lang="en-US" sz="1800" dirty="0" err="1"/>
              <a:t>dalam</a:t>
            </a:r>
            <a:r>
              <a:rPr lang="en-US" sz="1800" dirty="0"/>
              <a:t> </a:t>
            </a:r>
            <a:r>
              <a:rPr lang="en-US" sz="1800" dirty="0" err="1"/>
              <a:t>perangkat</a:t>
            </a:r>
            <a:r>
              <a:rPr lang="en-US" sz="1800" dirty="0"/>
              <a:t>.</a:t>
            </a:r>
          </a:p>
          <a:p>
            <a:pPr marL="342900" lvl="0" indent="-342900" algn="just" defTabSz="914400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endParaRPr lang="en-US" sz="1800" i="1" dirty="0"/>
          </a:p>
        </p:txBody>
      </p:sp>
    </p:spTree>
    <p:extLst>
      <p:ext uri="{BB962C8B-B14F-4D97-AF65-F5344CB8AC3E}">
        <p14:creationId xmlns:p14="http://schemas.microsoft.com/office/powerpoint/2010/main" val="23921296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B47940-55B1-68A0-0EA5-251F48DBCA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4">
            <a:extLst>
              <a:ext uri="{FF2B5EF4-FFF2-40B4-BE49-F238E27FC236}">
                <a16:creationId xmlns:a16="http://schemas.microsoft.com/office/drawing/2014/main" id="{B13903E3-3599-2477-8128-918C739BD5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 dirty="0" err="1"/>
              <a:t>Aplikasi</a:t>
            </a:r>
            <a:r>
              <a:rPr lang="en-US" sz="3200" dirty="0"/>
              <a:t> Hybrid</a:t>
            </a:r>
            <a:endParaRPr lang="en-ID" sz="3200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38CADBB0-BF37-C9AD-142E-4530584325AB}"/>
              </a:ext>
            </a:extLst>
          </p:cNvPr>
          <p:cNvSpPr txBox="1">
            <a:spLocks/>
          </p:cNvSpPr>
          <p:nvPr/>
        </p:nvSpPr>
        <p:spPr>
          <a:xfrm>
            <a:off x="480931" y="1556792"/>
            <a:ext cx="8676456" cy="333103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4000" b="1" kern="1200" baseline="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br>
              <a:rPr lang="id-ID" sz="2400" dirty="0"/>
            </a:br>
            <a:endParaRPr lang="id-ID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6025FE-F5E9-2415-CFF6-9061C2212A67}"/>
              </a:ext>
            </a:extLst>
          </p:cNvPr>
          <p:cNvSpPr txBox="1">
            <a:spLocks/>
          </p:cNvSpPr>
          <p:nvPr/>
        </p:nvSpPr>
        <p:spPr>
          <a:xfrm>
            <a:off x="464501" y="2187665"/>
            <a:ext cx="8483557" cy="24826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just">
              <a:buClr>
                <a:srgbClr val="30ACEC">
                  <a:lumMod val="75000"/>
                </a:srgbClr>
              </a:buClr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BE48A2A-DEE4-D6B5-2CB9-9125F85A16EB}"/>
              </a:ext>
            </a:extLst>
          </p:cNvPr>
          <p:cNvSpPr txBox="1">
            <a:spLocks/>
          </p:cNvSpPr>
          <p:nvPr/>
        </p:nvSpPr>
        <p:spPr>
          <a:xfrm>
            <a:off x="330221" y="2060848"/>
            <a:ext cx="8483557" cy="24826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14000"/>
              </a:lnSpc>
              <a:buClr>
                <a:srgbClr val="30ACEC">
                  <a:lumMod val="75000"/>
                </a:srgbClr>
              </a:buClr>
              <a:buFont typeface="Wingdings" panose="05000000000000000000" pitchFamily="2" charset="2"/>
              <a:buChar char="§"/>
            </a:pPr>
            <a:r>
              <a:rPr kumimoji="0" lang="en-US" sz="180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Suatu</a:t>
            </a:r>
            <a:r>
              <a:rPr kumimoji="0" lang="en-US" sz="180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sz="180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aplikasi</a:t>
            </a:r>
            <a:r>
              <a:rPr kumimoji="0" lang="en-US" sz="180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hybrid </a:t>
            </a:r>
            <a:r>
              <a:rPr kumimoji="0" lang="en-US" sz="180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memerlukan</a:t>
            </a:r>
            <a:r>
              <a:rPr kumimoji="0" lang="en-US" sz="180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sz="180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suatu</a:t>
            </a:r>
            <a:r>
              <a:rPr kumimoji="0" lang="en-US" sz="180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software lain yang </a:t>
            </a:r>
            <a:r>
              <a:rPr kumimoji="0" lang="en-US" sz="180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akan</a:t>
            </a:r>
            <a:r>
              <a:rPr kumimoji="0" lang="en-US" sz="180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sz="180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dimasukkan</a:t>
            </a:r>
            <a:r>
              <a:rPr kumimoji="0" lang="en-US" sz="180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sz="180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ke</a:t>
            </a:r>
            <a:r>
              <a:rPr kumimoji="0" lang="en-US" sz="180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sz="180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dalam</a:t>
            </a:r>
            <a:r>
              <a:rPr kumimoji="0" lang="en-US" sz="180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sz="180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suatu</a:t>
            </a:r>
            <a:r>
              <a:rPr kumimoji="0" lang="en-US" sz="180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sz="180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aplikasi</a:t>
            </a:r>
            <a:r>
              <a:rPr kumimoji="0" lang="en-US" sz="180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sz="180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yaitu</a:t>
            </a:r>
            <a:r>
              <a:rPr kumimoji="0" lang="en-US" sz="180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sz="180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teknologi</a:t>
            </a:r>
            <a:r>
              <a:rPr kumimoji="0" lang="en-US" sz="180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browser. Browser </a:t>
            </a:r>
            <a:r>
              <a:rPr kumimoji="0" lang="en-US" sz="180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akan</a:t>
            </a:r>
            <a:r>
              <a:rPr kumimoji="0" lang="en-US" sz="180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sz="180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dimasukkan</a:t>
            </a:r>
            <a:r>
              <a:rPr kumimoji="0" lang="en-US" sz="180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sz="180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sebagai</a:t>
            </a:r>
            <a:r>
              <a:rPr kumimoji="0" lang="en-US" sz="180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engine </a:t>
            </a:r>
            <a:r>
              <a:rPr kumimoji="0" lang="en-US" sz="180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dari</a:t>
            </a:r>
            <a:r>
              <a:rPr kumimoji="0" lang="en-US" sz="180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sz="180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suatu</a:t>
            </a:r>
            <a:r>
              <a:rPr kumimoji="0" lang="en-US" sz="180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sz="180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aplikasi</a:t>
            </a:r>
            <a:r>
              <a:rPr kumimoji="0" lang="en-US" sz="180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dan </a:t>
            </a:r>
            <a:r>
              <a:rPr kumimoji="0" lang="en-US" sz="180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memungkinkan</a:t>
            </a:r>
            <a:r>
              <a:rPr kumimoji="0" lang="en-US" sz="180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sz="180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aplikasi</a:t>
            </a:r>
            <a:r>
              <a:rPr kumimoji="0" lang="en-US" sz="180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yang </a:t>
            </a:r>
            <a:r>
              <a:rPr kumimoji="0" lang="en-US" sz="180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dibangun</a:t>
            </a:r>
            <a:r>
              <a:rPr kumimoji="0" lang="en-US" sz="180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sz="180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dapat</a:t>
            </a:r>
            <a:r>
              <a:rPr kumimoji="0" lang="en-US" sz="180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sz="180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menggunakan</a:t>
            </a:r>
            <a:r>
              <a:rPr kumimoji="0" lang="en-US" sz="180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sz="180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standar</a:t>
            </a:r>
            <a:r>
              <a:rPr kumimoji="0" lang="en-US" sz="180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Web (HTML, CSS, JavaScript) </a:t>
            </a:r>
            <a:r>
              <a:rPr kumimoji="0" lang="en-US" sz="180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sebagai</a:t>
            </a:r>
            <a:r>
              <a:rPr kumimoji="0" lang="en-US" sz="180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sz="180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sarana</a:t>
            </a:r>
            <a:r>
              <a:rPr kumimoji="0" lang="en-US" sz="180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sz="180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antarmukanya</a:t>
            </a:r>
            <a:r>
              <a:rPr kumimoji="0" lang="en-US" sz="180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kumimoji="0" lang="en-US" sz="180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Secara</a:t>
            </a:r>
            <a:r>
              <a:rPr kumimoji="0" lang="en-US" sz="180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default, </a:t>
            </a:r>
            <a:r>
              <a:rPr kumimoji="0" lang="en-US" sz="180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seperti</a:t>
            </a:r>
            <a:r>
              <a:rPr kumimoji="0" lang="en-US" sz="180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sz="180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halnya</a:t>
            </a:r>
            <a:r>
              <a:rPr kumimoji="0" lang="en-US" sz="180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sz="180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aplikasi</a:t>
            </a:r>
            <a:r>
              <a:rPr kumimoji="0" lang="en-US" sz="180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Web pada </a:t>
            </a:r>
            <a:r>
              <a:rPr kumimoji="0" lang="en-US" sz="180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perangkat</a:t>
            </a:r>
            <a:r>
              <a:rPr kumimoji="0" lang="en-US" sz="180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sz="180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bukan</a:t>
            </a:r>
            <a:r>
              <a:rPr kumimoji="0" lang="en-US" sz="180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mobile; </a:t>
            </a:r>
            <a:r>
              <a:rPr kumimoji="0" lang="en-US" sz="180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suatu</a:t>
            </a:r>
            <a:r>
              <a:rPr kumimoji="0" lang="en-US" sz="180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sz="180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aplikasi</a:t>
            </a:r>
            <a:r>
              <a:rPr kumimoji="0" lang="en-US" sz="180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Web </a:t>
            </a:r>
            <a:r>
              <a:rPr kumimoji="0" lang="en-US" sz="180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tidak</a:t>
            </a:r>
            <a:r>
              <a:rPr kumimoji="0" lang="en-US" sz="180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sz="180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memungkinkan</a:t>
            </a:r>
            <a:r>
              <a:rPr kumimoji="0" lang="en-US" sz="180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kumimoji="0" lang="en-US" sz="180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mengizinkan</a:t>
            </a:r>
            <a:r>
              <a:rPr kumimoji="0" lang="en-US" sz="180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sz="180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aplikasi</a:t>
            </a:r>
            <a:r>
              <a:rPr kumimoji="0" lang="en-US" sz="180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sz="180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untuk</a:t>
            </a:r>
            <a:r>
              <a:rPr kumimoji="0" lang="en-US" sz="180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sz="180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dapat</a:t>
            </a:r>
            <a:r>
              <a:rPr kumimoji="0" lang="en-US" sz="180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sz="180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mengakses</a:t>
            </a:r>
            <a:r>
              <a:rPr lang="en-US" sz="18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sz="180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fasilitas</a:t>
            </a:r>
            <a:r>
              <a:rPr kumimoji="0" lang="en-US" sz="180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level </a:t>
            </a:r>
            <a:r>
              <a:rPr kumimoji="0" lang="en-US" sz="180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rendah</a:t>
            </a:r>
            <a:r>
              <a:rPr kumimoji="0" lang="en-US" sz="180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kumimoji="0" lang="en-US" sz="180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mesin</a:t>
            </a:r>
            <a:r>
              <a:rPr kumimoji="0" lang="en-US" sz="180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sz="180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secara</a:t>
            </a:r>
            <a:r>
              <a:rPr kumimoji="0" lang="en-US" sz="180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sz="180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langsung</a:t>
            </a:r>
            <a:r>
              <a:rPr kumimoji="0" lang="en-US" sz="180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kumimoji="0" lang="en-US" sz="180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Untuk</a:t>
            </a:r>
            <a:r>
              <a:rPr kumimoji="0" lang="en-US" sz="180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sz="180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keperluan</a:t>
            </a:r>
            <a:r>
              <a:rPr kumimoji="0" lang="en-US" sz="180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sz="180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tersebut</a:t>
            </a:r>
            <a:r>
              <a:rPr kumimoji="0" lang="en-US" sz="180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kumimoji="0" lang="en-US" sz="180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digunakan</a:t>
            </a:r>
            <a:r>
              <a:rPr kumimoji="0" lang="en-US" sz="180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sz="180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perangkat</a:t>
            </a:r>
            <a:r>
              <a:rPr kumimoji="0" lang="en-US" sz="180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software lain yang </a:t>
            </a:r>
            <a:r>
              <a:rPr kumimoji="0" lang="en-US" sz="180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berfungsi</a:t>
            </a:r>
            <a:r>
              <a:rPr kumimoji="0" lang="en-US" sz="180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sz="180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untuk</a:t>
            </a:r>
            <a:r>
              <a:rPr kumimoji="0" lang="en-US" sz="180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sz="180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menyediakan</a:t>
            </a:r>
            <a:r>
              <a:rPr kumimoji="0" lang="en-US" sz="180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sz="180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jembatan</a:t>
            </a:r>
            <a:r>
              <a:rPr kumimoji="0" lang="en-US" sz="180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sz="180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bagi</a:t>
            </a:r>
            <a:r>
              <a:rPr kumimoji="0" lang="en-US" sz="180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sz="180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aplikasi</a:t>
            </a:r>
            <a:r>
              <a:rPr kumimoji="0" lang="en-US" sz="180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Web </a:t>
            </a:r>
            <a:r>
              <a:rPr kumimoji="0" lang="en-US" sz="180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dengan</a:t>
            </a:r>
            <a:r>
              <a:rPr kumimoji="0" lang="en-US" sz="180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sz="180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akses</a:t>
            </a:r>
            <a:r>
              <a:rPr kumimoji="0" lang="en-US" sz="180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level </a:t>
            </a:r>
            <a:r>
              <a:rPr kumimoji="0" lang="en-US" sz="180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rendah</a:t>
            </a:r>
            <a:endParaRPr kumimoji="0" lang="en-US" sz="180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73419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B47940-55B1-68A0-0EA5-251F48DBCA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4">
            <a:extLst>
              <a:ext uri="{FF2B5EF4-FFF2-40B4-BE49-F238E27FC236}">
                <a16:creationId xmlns:a16="http://schemas.microsoft.com/office/drawing/2014/main" id="{B13903E3-3599-2477-8128-918C739BD5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 dirty="0" err="1"/>
              <a:t>Aplikasi</a:t>
            </a:r>
            <a:r>
              <a:rPr lang="en-US" sz="3200" dirty="0"/>
              <a:t> Hybrid</a:t>
            </a:r>
            <a:endParaRPr lang="en-ID" sz="3200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38CADBB0-BF37-C9AD-142E-4530584325AB}"/>
              </a:ext>
            </a:extLst>
          </p:cNvPr>
          <p:cNvSpPr txBox="1">
            <a:spLocks/>
          </p:cNvSpPr>
          <p:nvPr/>
        </p:nvSpPr>
        <p:spPr>
          <a:xfrm>
            <a:off x="480931" y="1556792"/>
            <a:ext cx="8676456" cy="333103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4000" b="1" kern="1200" baseline="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br>
              <a:rPr lang="id-ID" sz="2400" dirty="0"/>
            </a:br>
            <a:endParaRPr lang="id-ID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6025FE-F5E9-2415-CFF6-9061C2212A67}"/>
              </a:ext>
            </a:extLst>
          </p:cNvPr>
          <p:cNvSpPr txBox="1">
            <a:spLocks/>
          </p:cNvSpPr>
          <p:nvPr/>
        </p:nvSpPr>
        <p:spPr>
          <a:xfrm>
            <a:off x="464501" y="2187665"/>
            <a:ext cx="8483557" cy="24826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just">
              <a:buClr>
                <a:srgbClr val="30ACEC">
                  <a:lumMod val="75000"/>
                </a:srgbClr>
              </a:buClr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BE48A2A-DEE4-D6B5-2CB9-9125F85A16EB}"/>
              </a:ext>
            </a:extLst>
          </p:cNvPr>
          <p:cNvSpPr txBox="1">
            <a:spLocks/>
          </p:cNvSpPr>
          <p:nvPr/>
        </p:nvSpPr>
        <p:spPr>
          <a:xfrm>
            <a:off x="464500" y="1438376"/>
            <a:ext cx="8483557" cy="7200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  <a:buClr>
                <a:srgbClr val="30ACEC">
                  <a:lumMod val="75000"/>
                </a:srgbClr>
              </a:buClr>
              <a:buFont typeface="Wingdings" panose="05000000000000000000" pitchFamily="2" charset="2"/>
              <a:buChar char="§"/>
            </a:pPr>
            <a:r>
              <a:rPr kumimoji="0" lang="en-US" sz="180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Arsitektur</a:t>
            </a:r>
            <a:r>
              <a:rPr kumimoji="0" lang="en-US" sz="180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sz="180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Aplikasi</a:t>
            </a:r>
            <a:r>
              <a:rPr kumimoji="0" lang="en-US" sz="180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Hybrid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A1DE66E-5F1E-4401-BD91-9A0C0A46E5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9712" y="2316786"/>
            <a:ext cx="5447157" cy="3365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85565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B47940-55B1-68A0-0EA5-251F48DBCA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4">
            <a:extLst>
              <a:ext uri="{FF2B5EF4-FFF2-40B4-BE49-F238E27FC236}">
                <a16:creationId xmlns:a16="http://schemas.microsoft.com/office/drawing/2014/main" id="{B13903E3-3599-2477-8128-918C739BD5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 dirty="0" err="1"/>
              <a:t>Aplikasi</a:t>
            </a:r>
            <a:r>
              <a:rPr lang="en-US" sz="3200" dirty="0"/>
              <a:t> Hybrid</a:t>
            </a:r>
            <a:endParaRPr lang="en-ID" sz="3200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38CADBB0-BF37-C9AD-142E-4530584325AB}"/>
              </a:ext>
            </a:extLst>
          </p:cNvPr>
          <p:cNvSpPr txBox="1">
            <a:spLocks/>
          </p:cNvSpPr>
          <p:nvPr/>
        </p:nvSpPr>
        <p:spPr>
          <a:xfrm>
            <a:off x="480931" y="1556792"/>
            <a:ext cx="8676456" cy="333103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4000" b="1" kern="1200" baseline="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br>
              <a:rPr lang="id-ID" sz="2400" dirty="0"/>
            </a:br>
            <a:endParaRPr lang="id-ID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6025FE-F5E9-2415-CFF6-9061C2212A67}"/>
              </a:ext>
            </a:extLst>
          </p:cNvPr>
          <p:cNvSpPr txBox="1">
            <a:spLocks/>
          </p:cNvSpPr>
          <p:nvPr/>
        </p:nvSpPr>
        <p:spPr>
          <a:xfrm>
            <a:off x="464501" y="2187665"/>
            <a:ext cx="8483557" cy="24826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just">
              <a:buClr>
                <a:srgbClr val="30ACEC">
                  <a:lumMod val="75000"/>
                </a:srgbClr>
              </a:buClr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BE48A2A-DEE4-D6B5-2CB9-9125F85A16EB}"/>
              </a:ext>
            </a:extLst>
          </p:cNvPr>
          <p:cNvSpPr txBox="1">
            <a:spLocks/>
          </p:cNvSpPr>
          <p:nvPr/>
        </p:nvSpPr>
        <p:spPr>
          <a:xfrm>
            <a:off x="330221" y="2060848"/>
            <a:ext cx="8483557" cy="24826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14000"/>
              </a:lnSpc>
              <a:buClr>
                <a:srgbClr val="30ACEC">
                  <a:lumMod val="75000"/>
                </a:srgbClr>
              </a:buClr>
              <a:buFont typeface="Wingdings" panose="05000000000000000000" pitchFamily="2" charset="2"/>
              <a:buChar char="§"/>
            </a:pPr>
            <a:r>
              <a:rPr kumimoji="0" lang="en-US" sz="180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Terdapat</a:t>
            </a:r>
            <a:r>
              <a:rPr kumimoji="0" lang="en-US" sz="180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2 </a:t>
            </a:r>
            <a:r>
              <a:rPr kumimoji="0" lang="en-US" sz="180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komponen</a:t>
            </a:r>
            <a:r>
              <a:rPr kumimoji="0" lang="en-US" sz="180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sz="180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utama</a:t>
            </a:r>
            <a:r>
              <a:rPr kumimoji="0" lang="en-US" sz="180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sz="180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dari</a:t>
            </a:r>
            <a:r>
              <a:rPr kumimoji="0" lang="en-US" sz="180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sz="180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suatu</a:t>
            </a:r>
            <a:r>
              <a:rPr kumimoji="0" lang="en-US" sz="180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sz="180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aplikasi</a:t>
            </a:r>
            <a:r>
              <a:rPr kumimoji="0" lang="en-US" sz="180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hybrid, </a:t>
            </a:r>
            <a:r>
              <a:rPr kumimoji="0" lang="en-US" sz="180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yaitu</a:t>
            </a:r>
            <a:r>
              <a:rPr kumimoji="0" lang="en-US" sz="180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sz="180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komponen</a:t>
            </a:r>
            <a:r>
              <a:rPr kumimoji="0" lang="en-US" sz="180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sz="180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untuk</a:t>
            </a:r>
            <a:r>
              <a:rPr kumimoji="0" lang="en-US" sz="180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sz="180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tampilan</a:t>
            </a:r>
            <a:r>
              <a:rPr kumimoji="0" lang="en-US" sz="180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dan </a:t>
            </a:r>
            <a:r>
              <a:rPr kumimoji="0" lang="en-US" sz="180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komponen</a:t>
            </a:r>
            <a:r>
              <a:rPr kumimoji="0" lang="en-US" sz="180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sz="180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untuk</a:t>
            </a:r>
            <a:r>
              <a:rPr kumimoji="0" lang="en-US" sz="180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sz="180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akses</a:t>
            </a:r>
            <a:r>
              <a:rPr kumimoji="0" lang="en-US" sz="180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sz="180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pustaka</a:t>
            </a:r>
            <a:r>
              <a:rPr kumimoji="0" lang="en-US" sz="180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native. Jika </a:t>
            </a:r>
            <a:r>
              <a:rPr kumimoji="0" lang="en-US" sz="180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aplikasi</a:t>
            </a:r>
            <a:r>
              <a:rPr kumimoji="0" lang="en-US" sz="180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sz="180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tidak</a:t>
            </a:r>
            <a:r>
              <a:rPr kumimoji="0" lang="en-US" sz="180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sz="180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menggunakan</a:t>
            </a:r>
            <a:r>
              <a:rPr lang="en-US" sz="18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sz="180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fasilitas</a:t>
            </a:r>
            <a:r>
              <a:rPr kumimoji="0" lang="en-US" sz="180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native, </a:t>
            </a:r>
            <a:r>
              <a:rPr kumimoji="0" lang="en-US" sz="180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maka</a:t>
            </a:r>
            <a:r>
              <a:rPr kumimoji="0" lang="en-US" sz="180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sz="180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tidak</a:t>
            </a:r>
            <a:r>
              <a:rPr kumimoji="0" lang="en-US" sz="180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sz="180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diperlukan</a:t>
            </a:r>
            <a:r>
              <a:rPr kumimoji="0" lang="en-US" sz="180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native API plugins. </a:t>
            </a:r>
            <a:r>
              <a:rPr kumimoji="0" lang="en-US" sz="180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Namun</a:t>
            </a:r>
            <a:r>
              <a:rPr kumimoji="0" lang="en-US" sz="180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sz="180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apabila</a:t>
            </a:r>
            <a:r>
              <a:rPr kumimoji="0" lang="en-US" sz="180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sz="180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aplikasi</a:t>
            </a:r>
            <a:r>
              <a:rPr lang="en-US" sz="18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sz="180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memerlukan</a:t>
            </a:r>
            <a:r>
              <a:rPr kumimoji="0" lang="en-US" sz="180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sz="180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akses</a:t>
            </a:r>
            <a:r>
              <a:rPr kumimoji="0" lang="en-US" sz="180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sz="180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ke</a:t>
            </a:r>
            <a:r>
              <a:rPr kumimoji="0" lang="en-US" sz="180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level </a:t>
            </a:r>
            <a:r>
              <a:rPr kumimoji="0" lang="en-US" sz="180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rendah</a:t>
            </a:r>
            <a:r>
              <a:rPr kumimoji="0" lang="en-US" sz="180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- </a:t>
            </a:r>
            <a:r>
              <a:rPr kumimoji="0" lang="en-US" sz="180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misalnya</a:t>
            </a:r>
            <a:r>
              <a:rPr kumimoji="0" lang="en-US" sz="180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sz="180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untuk</a:t>
            </a:r>
            <a:r>
              <a:rPr kumimoji="0" lang="en-US" sz="180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sz="180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mengaktifkan</a:t>
            </a:r>
            <a:r>
              <a:rPr kumimoji="0" lang="en-US" sz="180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sz="180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kamera</a:t>
            </a:r>
            <a:r>
              <a:rPr kumimoji="0" lang="en-US" sz="180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, geolocation, dan lain-lain, </a:t>
            </a:r>
            <a:r>
              <a:rPr kumimoji="0" lang="en-US" sz="180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maka</a:t>
            </a:r>
            <a:r>
              <a:rPr kumimoji="0" lang="en-US" sz="180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sz="180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diperlukan</a:t>
            </a:r>
            <a:r>
              <a:rPr kumimoji="0" lang="en-US" sz="180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native API plugins </a:t>
            </a:r>
            <a:r>
              <a:rPr kumimoji="0" lang="en-US" sz="180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untuk</a:t>
            </a:r>
            <a:r>
              <a:rPr kumimoji="0" lang="en-US" sz="180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sz="180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fungsi</a:t>
            </a:r>
            <a:r>
              <a:rPr kumimoji="0" lang="en-US" sz="180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sz="180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tersebut</a:t>
            </a:r>
            <a:r>
              <a:rPr kumimoji="0" lang="en-US" sz="180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. WebView </a:t>
            </a:r>
            <a:r>
              <a:rPr kumimoji="0" lang="en-US" sz="180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dijalankan</a:t>
            </a:r>
            <a:r>
              <a:rPr kumimoji="0" lang="en-US" sz="180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oleh ART dan </a:t>
            </a:r>
            <a:r>
              <a:rPr kumimoji="0" lang="en-US" sz="180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kemudian</a:t>
            </a:r>
            <a:r>
              <a:rPr kumimoji="0" lang="en-US" sz="180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sz="180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menghasilkan</a:t>
            </a:r>
            <a:r>
              <a:rPr kumimoji="0" lang="en-US" sz="180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sz="180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suatu</a:t>
            </a:r>
            <a:r>
              <a:rPr kumimoji="0" lang="en-US" sz="180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sz="180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tampilan</a:t>
            </a:r>
            <a:r>
              <a:rPr kumimoji="0" lang="en-US" sz="180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. WebView juga </a:t>
            </a:r>
            <a:r>
              <a:rPr kumimoji="0" lang="en-US" sz="180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menyediakan</a:t>
            </a:r>
            <a:r>
              <a:rPr kumimoji="0" lang="en-US" sz="180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engine JavaScript yang </a:t>
            </a:r>
            <a:r>
              <a:rPr kumimoji="0" lang="en-US" sz="180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memungkinkan</a:t>
            </a:r>
            <a:r>
              <a:rPr kumimoji="0" lang="en-US" sz="180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sz="180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penggunaan</a:t>
            </a:r>
            <a:r>
              <a:rPr kumimoji="0" lang="en-US" sz="180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JavaScript </a:t>
            </a:r>
            <a:r>
              <a:rPr kumimoji="0" lang="en-US" sz="180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sebagai</a:t>
            </a:r>
            <a:r>
              <a:rPr lang="en-US" sz="1800" dirty="0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sz="180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bahasa</a:t>
            </a:r>
            <a:r>
              <a:rPr kumimoji="0" lang="en-US" sz="180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sz="180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pemrograman</a:t>
            </a:r>
            <a:r>
              <a:rPr kumimoji="0" lang="en-US" sz="180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sz="180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untuk</a:t>
            </a:r>
            <a:r>
              <a:rPr kumimoji="0" lang="en-US" sz="180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sz="180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mengimplementasikan</a:t>
            </a:r>
            <a:r>
              <a:rPr kumimoji="0" lang="en-US" sz="180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business logic </a:t>
            </a:r>
            <a:r>
              <a:rPr kumimoji="0" lang="en-US" sz="180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dari</a:t>
            </a:r>
            <a:r>
              <a:rPr kumimoji="0" lang="en-US" sz="180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sz="180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aplikasi</a:t>
            </a:r>
            <a:r>
              <a:rPr kumimoji="0" lang="en-US" sz="180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sz="180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tersebut</a:t>
            </a:r>
            <a:endParaRPr kumimoji="0" lang="en-US" sz="180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3606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B47940-55B1-68A0-0EA5-251F48DBCA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4">
            <a:extLst>
              <a:ext uri="{FF2B5EF4-FFF2-40B4-BE49-F238E27FC236}">
                <a16:creationId xmlns:a16="http://schemas.microsoft.com/office/drawing/2014/main" id="{B13903E3-3599-2477-8128-918C739BD5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 dirty="0" err="1"/>
              <a:t>Aplikasi</a:t>
            </a:r>
            <a:r>
              <a:rPr lang="en-US" sz="3200" dirty="0"/>
              <a:t> Hybrid</a:t>
            </a:r>
            <a:endParaRPr lang="en-ID" sz="3200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38CADBB0-BF37-C9AD-142E-4530584325AB}"/>
              </a:ext>
            </a:extLst>
          </p:cNvPr>
          <p:cNvSpPr txBox="1">
            <a:spLocks/>
          </p:cNvSpPr>
          <p:nvPr/>
        </p:nvSpPr>
        <p:spPr>
          <a:xfrm>
            <a:off x="628649" y="1196752"/>
            <a:ext cx="7886700" cy="5112568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4000" b="1" kern="1200" baseline="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pPr algn="just"/>
            <a:r>
              <a:rPr lang="id-ID" sz="1800" dirty="0">
                <a:effectLst/>
                <a:ea typeface="Roboto" panose="02000000000000000000" pitchFamily="2" charset="0"/>
              </a:rPr>
              <a:t>Karakteristik</a:t>
            </a:r>
            <a:r>
              <a:rPr lang="id-ID" sz="1800" spc="400" dirty="0">
                <a:effectLst/>
                <a:ea typeface="Roboto" panose="02000000000000000000" pitchFamily="2" charset="0"/>
              </a:rPr>
              <a:t> </a:t>
            </a:r>
            <a:r>
              <a:rPr lang="en-US" sz="1800" dirty="0" err="1">
                <a:effectLst/>
                <a:ea typeface="Roboto" panose="02000000000000000000" pitchFamily="2" charset="0"/>
              </a:rPr>
              <a:t>Aplikasi</a:t>
            </a:r>
            <a:r>
              <a:rPr lang="en-US" sz="1800" dirty="0">
                <a:effectLst/>
                <a:ea typeface="Roboto" panose="02000000000000000000" pitchFamily="2" charset="0"/>
              </a:rPr>
              <a:t> Hybrid</a:t>
            </a:r>
          </a:p>
          <a:p>
            <a:pPr algn="just"/>
            <a:endParaRPr lang="en-US" sz="1800" b="0" dirty="0">
              <a:ea typeface="Roboto" panose="02000000000000000000" pitchFamily="2" charset="0"/>
            </a:endParaRP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ID" sz="1800" b="0" dirty="0" err="1">
                <a:effectLst/>
              </a:rPr>
              <a:t>Aplikasi</a:t>
            </a:r>
            <a:r>
              <a:rPr lang="en-ID" sz="1800" b="0" dirty="0">
                <a:effectLst/>
              </a:rPr>
              <a:t> hybrid </a:t>
            </a:r>
            <a:r>
              <a:rPr lang="en-ID" sz="1800" b="0" dirty="0" err="1">
                <a:effectLst/>
              </a:rPr>
              <a:t>memerlukan</a:t>
            </a:r>
            <a:r>
              <a:rPr lang="en-ID" sz="1800" b="0" dirty="0">
                <a:effectLst/>
              </a:rPr>
              <a:t> </a:t>
            </a:r>
            <a:r>
              <a:rPr lang="en-ID" sz="1800" b="0" dirty="0" err="1">
                <a:effectLst/>
              </a:rPr>
              <a:t>integrasi</a:t>
            </a:r>
            <a:r>
              <a:rPr lang="en-ID" sz="1800" b="0" dirty="0">
                <a:effectLst/>
              </a:rPr>
              <a:t> </a:t>
            </a:r>
            <a:r>
              <a:rPr lang="en-ID" sz="1800" b="0" dirty="0" err="1">
                <a:effectLst/>
              </a:rPr>
              <a:t>dengan</a:t>
            </a:r>
            <a:r>
              <a:rPr lang="en-ID" sz="1800" b="0" dirty="0">
                <a:effectLst/>
              </a:rPr>
              <a:t> </a:t>
            </a:r>
            <a:r>
              <a:rPr lang="en-ID" sz="1800" b="0" dirty="0" err="1">
                <a:effectLst/>
              </a:rPr>
              <a:t>layanan</a:t>
            </a:r>
            <a:r>
              <a:rPr lang="en-ID" sz="1800" b="0" dirty="0">
                <a:effectLst/>
              </a:rPr>
              <a:t> </a:t>
            </a:r>
            <a:r>
              <a:rPr lang="en-ID" sz="1800" b="0" dirty="0" err="1">
                <a:effectLst/>
              </a:rPr>
              <a:t>berbasis</a:t>
            </a:r>
            <a:r>
              <a:rPr lang="en-ID" sz="1800" b="0" dirty="0">
                <a:effectLst/>
              </a:rPr>
              <a:t> web.</a:t>
            </a:r>
            <a:endParaRPr lang="en-ID" sz="1800" b="0" dirty="0"/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ID" sz="1800" b="0" dirty="0" err="1">
                <a:effectLst/>
              </a:rPr>
              <a:t>Aplikasi</a:t>
            </a:r>
            <a:r>
              <a:rPr lang="en-ID" sz="1800" b="0" dirty="0">
                <a:effectLst/>
              </a:rPr>
              <a:t> hybrid </a:t>
            </a:r>
            <a:r>
              <a:rPr lang="en-ID" sz="1800" b="0" dirty="0" err="1">
                <a:effectLst/>
              </a:rPr>
              <a:t>menyertakan</a:t>
            </a:r>
            <a:r>
              <a:rPr lang="en-ID" sz="1800" b="0" dirty="0">
                <a:effectLst/>
              </a:rPr>
              <a:t> browser </a:t>
            </a:r>
            <a:r>
              <a:rPr lang="en-ID" sz="1800" b="0" dirty="0" err="1">
                <a:effectLst/>
              </a:rPr>
              <a:t>tertanam</a:t>
            </a:r>
            <a:r>
              <a:rPr lang="en-ID" sz="1800" b="0" dirty="0">
                <a:effectLst/>
              </a:rPr>
              <a:t> </a:t>
            </a:r>
            <a:r>
              <a:rPr lang="en-ID" sz="1800" b="0" dirty="0" err="1">
                <a:effectLst/>
              </a:rPr>
              <a:t>untuk</a:t>
            </a:r>
            <a:r>
              <a:rPr lang="en-ID" sz="1800" b="0" dirty="0">
                <a:effectLst/>
              </a:rPr>
              <a:t> </a:t>
            </a:r>
            <a:r>
              <a:rPr lang="en-ID" sz="1800" b="0" dirty="0" err="1">
                <a:effectLst/>
              </a:rPr>
              <a:t>meningkatkan</a:t>
            </a:r>
            <a:r>
              <a:rPr lang="en-ID" sz="1800" b="0" dirty="0">
                <a:effectLst/>
              </a:rPr>
              <a:t> </a:t>
            </a:r>
            <a:r>
              <a:rPr lang="en-ID" sz="1800" b="0" dirty="0" err="1">
                <a:effectLst/>
              </a:rPr>
              <a:t>akses</a:t>
            </a:r>
            <a:r>
              <a:rPr lang="en-ID" sz="1800" b="0" dirty="0">
                <a:effectLst/>
              </a:rPr>
              <a:t> </a:t>
            </a:r>
            <a:r>
              <a:rPr lang="en-ID" sz="1800" b="0" dirty="0" err="1">
                <a:effectLst/>
              </a:rPr>
              <a:t>ke</a:t>
            </a:r>
            <a:r>
              <a:rPr lang="en-ID" sz="1800" b="0" dirty="0"/>
              <a:t> </a:t>
            </a:r>
            <a:r>
              <a:rPr lang="en-ID" sz="1800" b="0" dirty="0" err="1">
                <a:effectLst/>
              </a:rPr>
              <a:t>konten</a:t>
            </a:r>
            <a:r>
              <a:rPr lang="en-ID" sz="1800" b="0" dirty="0">
                <a:effectLst/>
              </a:rPr>
              <a:t> situs web </a:t>
            </a:r>
            <a:r>
              <a:rPr lang="en-ID" sz="1800" b="0" dirty="0" err="1">
                <a:effectLst/>
              </a:rPr>
              <a:t>dinamis</a:t>
            </a:r>
            <a:r>
              <a:rPr lang="en-ID" sz="1800" b="0" dirty="0">
                <a:effectLst/>
              </a:rPr>
              <a:t>.</a:t>
            </a:r>
            <a:endParaRPr lang="en-ID" sz="1800" b="0" dirty="0"/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ID" sz="1800" b="0" dirty="0" err="1">
                <a:effectLst/>
              </a:rPr>
              <a:t>Aplikasi</a:t>
            </a:r>
            <a:r>
              <a:rPr lang="en-ID" sz="1800" b="0" dirty="0">
                <a:effectLst/>
              </a:rPr>
              <a:t> hybrid </a:t>
            </a:r>
            <a:r>
              <a:rPr lang="en-ID" sz="1800" b="0" dirty="0" err="1">
                <a:effectLst/>
              </a:rPr>
              <a:t>dapat</a:t>
            </a:r>
            <a:r>
              <a:rPr lang="en-ID" sz="1800" b="0" dirty="0">
                <a:effectLst/>
              </a:rPr>
              <a:t> </a:t>
            </a:r>
            <a:r>
              <a:rPr lang="en-ID" sz="1800" b="0" dirty="0" err="1">
                <a:effectLst/>
              </a:rPr>
              <a:t>dikembangkan</a:t>
            </a:r>
            <a:r>
              <a:rPr lang="en-ID" sz="1800" b="0" dirty="0">
                <a:effectLst/>
              </a:rPr>
              <a:t> </a:t>
            </a:r>
            <a:r>
              <a:rPr lang="en-ID" sz="1800" b="0" dirty="0" err="1">
                <a:effectLst/>
              </a:rPr>
              <a:t>dengan</a:t>
            </a:r>
            <a:r>
              <a:rPr lang="en-ID" sz="1800" b="0" dirty="0">
                <a:effectLst/>
              </a:rPr>
              <a:t> </a:t>
            </a:r>
            <a:r>
              <a:rPr lang="en-ID" sz="1800" b="0" dirty="0" err="1">
                <a:effectLst/>
              </a:rPr>
              <a:t>lebih</a:t>
            </a:r>
            <a:r>
              <a:rPr lang="en-ID" sz="1800" b="0" dirty="0">
                <a:effectLst/>
              </a:rPr>
              <a:t> </a:t>
            </a:r>
            <a:r>
              <a:rPr lang="en-ID" sz="1800" b="0" dirty="0" err="1">
                <a:effectLst/>
              </a:rPr>
              <a:t>cepat</a:t>
            </a:r>
            <a:r>
              <a:rPr lang="en-ID" sz="1800" b="0" dirty="0">
                <a:effectLst/>
              </a:rPr>
              <a:t> dan </a:t>
            </a:r>
            <a:r>
              <a:rPr lang="en-ID" sz="1800" b="0" dirty="0" err="1">
                <a:effectLst/>
              </a:rPr>
              <a:t>memerlukan</a:t>
            </a:r>
            <a:r>
              <a:rPr lang="en-ID" sz="1800" b="0" dirty="0">
                <a:effectLst/>
              </a:rPr>
              <a:t> </a:t>
            </a:r>
            <a:r>
              <a:rPr lang="en-ID" sz="1800" b="0" dirty="0" err="1">
                <a:effectLst/>
              </a:rPr>
              <a:t>biaya</a:t>
            </a:r>
            <a:r>
              <a:rPr lang="en-ID" sz="1800" b="0" dirty="0">
                <a:effectLst/>
              </a:rPr>
              <a:t> </a:t>
            </a:r>
            <a:r>
              <a:rPr lang="en-ID" sz="1800" b="0" dirty="0" err="1">
                <a:effectLst/>
              </a:rPr>
              <a:t>pengembangan</a:t>
            </a:r>
            <a:r>
              <a:rPr lang="en-ID" sz="1800" b="0" dirty="0">
                <a:effectLst/>
              </a:rPr>
              <a:t> dan </a:t>
            </a:r>
            <a:r>
              <a:rPr lang="en-ID" sz="1800" b="0" dirty="0" err="1">
                <a:effectLst/>
              </a:rPr>
              <a:t>pemeliharaan</a:t>
            </a:r>
            <a:r>
              <a:rPr lang="en-ID" sz="1800" b="0" dirty="0">
                <a:effectLst/>
              </a:rPr>
              <a:t> yang </a:t>
            </a:r>
            <a:r>
              <a:rPr lang="en-ID" sz="1800" b="0" dirty="0" err="1">
                <a:effectLst/>
              </a:rPr>
              <a:t>lebih</a:t>
            </a:r>
            <a:r>
              <a:rPr lang="en-ID" sz="1800" b="0" dirty="0">
                <a:effectLst/>
              </a:rPr>
              <a:t> </a:t>
            </a:r>
            <a:r>
              <a:rPr lang="en-ID" sz="1800" b="0" dirty="0" err="1">
                <a:effectLst/>
              </a:rPr>
              <a:t>rendah</a:t>
            </a:r>
            <a:r>
              <a:rPr lang="en-ID" sz="1800" b="0" dirty="0">
                <a:effectLst/>
              </a:rPr>
              <a:t>.</a:t>
            </a:r>
            <a:endParaRPr lang="en-ID" sz="1800" b="0" dirty="0"/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ID" sz="1800" b="0" dirty="0" err="1">
                <a:effectLst/>
              </a:rPr>
              <a:t>Aplikasi</a:t>
            </a:r>
            <a:r>
              <a:rPr lang="en-ID" sz="1800" b="0" dirty="0">
                <a:effectLst/>
              </a:rPr>
              <a:t> hybrid </a:t>
            </a:r>
            <a:r>
              <a:rPr lang="en-ID" sz="1800" b="0" dirty="0" err="1">
                <a:effectLst/>
              </a:rPr>
              <a:t>sederhana</a:t>
            </a:r>
            <a:r>
              <a:rPr lang="en-ID" sz="1800" b="0" dirty="0">
                <a:effectLst/>
              </a:rPr>
              <a:t> dan </a:t>
            </a:r>
            <a:r>
              <a:rPr lang="en-ID" sz="1800" b="0" dirty="0" err="1">
                <a:effectLst/>
              </a:rPr>
              <a:t>dapat</a:t>
            </a:r>
            <a:r>
              <a:rPr lang="en-ID" sz="1800" b="0" dirty="0">
                <a:effectLst/>
              </a:rPr>
              <a:t> </a:t>
            </a:r>
            <a:r>
              <a:rPr lang="en-ID" sz="1800" b="0" dirty="0" err="1">
                <a:effectLst/>
              </a:rPr>
              <a:t>dikelola</a:t>
            </a:r>
            <a:r>
              <a:rPr lang="en-ID" sz="1800" b="0" dirty="0">
                <a:effectLst/>
              </a:rPr>
              <a:t> </a:t>
            </a:r>
            <a:r>
              <a:rPr lang="en-ID" sz="1800" b="0" dirty="0" err="1">
                <a:effectLst/>
              </a:rPr>
              <a:t>dengan</a:t>
            </a:r>
            <a:r>
              <a:rPr lang="en-ID" sz="1800" b="0" dirty="0">
                <a:effectLst/>
              </a:rPr>
              <a:t> </a:t>
            </a:r>
            <a:r>
              <a:rPr lang="en-ID" sz="1800" b="0" dirty="0" err="1">
                <a:effectLst/>
              </a:rPr>
              <a:t>sedikit</a:t>
            </a:r>
            <a:r>
              <a:rPr lang="en-ID" sz="1800" b="0" dirty="0">
                <a:effectLst/>
              </a:rPr>
              <a:t> </a:t>
            </a:r>
            <a:r>
              <a:rPr lang="en-ID" sz="1800" b="0" dirty="0" err="1">
                <a:effectLst/>
              </a:rPr>
              <a:t>usaha</a:t>
            </a:r>
            <a:r>
              <a:rPr lang="en-ID" sz="1800" b="0" dirty="0">
                <a:effectLst/>
              </a:rPr>
              <a:t>.</a:t>
            </a:r>
            <a:endParaRPr lang="en-ID" sz="1800" b="0" dirty="0"/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ID" sz="1800" b="0" dirty="0" err="1">
                <a:effectLst/>
              </a:rPr>
              <a:t>Aplikasi</a:t>
            </a:r>
            <a:r>
              <a:rPr lang="en-ID" sz="1800" b="0" dirty="0">
                <a:effectLst/>
              </a:rPr>
              <a:t> hybrid </a:t>
            </a:r>
            <a:r>
              <a:rPr lang="en-ID" sz="1800" b="0" dirty="0" err="1">
                <a:effectLst/>
              </a:rPr>
              <a:t>memiliki</a:t>
            </a:r>
            <a:r>
              <a:rPr lang="en-ID" sz="1800" b="0" dirty="0">
                <a:effectLst/>
              </a:rPr>
              <a:t> UI </a:t>
            </a:r>
            <a:r>
              <a:rPr lang="en-ID" sz="1800" b="0" dirty="0" err="1">
                <a:effectLst/>
              </a:rPr>
              <a:t>lintas</a:t>
            </a:r>
            <a:r>
              <a:rPr lang="en-ID" sz="1800" b="0" dirty="0">
                <a:effectLst/>
              </a:rPr>
              <a:t> platform.</a:t>
            </a:r>
            <a:endParaRPr lang="en-ID" sz="1800" b="0" dirty="0"/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ID" sz="1800" b="0" dirty="0" err="1">
                <a:effectLst/>
              </a:rPr>
              <a:t>Aplikasi</a:t>
            </a:r>
            <a:r>
              <a:rPr lang="en-ID" sz="1800" b="0" dirty="0">
                <a:effectLst/>
              </a:rPr>
              <a:t> hybrid </a:t>
            </a:r>
            <a:r>
              <a:rPr lang="en-ID" sz="1800" b="0" dirty="0" err="1">
                <a:effectLst/>
              </a:rPr>
              <a:t>memiliki</a:t>
            </a:r>
            <a:r>
              <a:rPr lang="en-ID" sz="1800" b="0" dirty="0">
                <a:effectLst/>
              </a:rPr>
              <a:t> basis </a:t>
            </a:r>
            <a:r>
              <a:rPr lang="en-ID" sz="1800" b="0" dirty="0" err="1">
                <a:effectLst/>
              </a:rPr>
              <a:t>kode</a:t>
            </a:r>
            <a:r>
              <a:rPr lang="en-ID" sz="1800" b="0" dirty="0">
                <a:effectLst/>
              </a:rPr>
              <a:t> </a:t>
            </a:r>
            <a:r>
              <a:rPr lang="en-ID" sz="1800" b="0" dirty="0" err="1">
                <a:effectLst/>
              </a:rPr>
              <a:t>tunggal</a:t>
            </a:r>
            <a:r>
              <a:rPr lang="en-ID" sz="1800" b="0" dirty="0">
                <a:effectLst/>
              </a:rPr>
              <a:t> </a:t>
            </a:r>
            <a:r>
              <a:rPr lang="en-ID" sz="1800" b="0" dirty="0" err="1">
                <a:effectLst/>
              </a:rPr>
              <a:t>untuk</a:t>
            </a:r>
            <a:r>
              <a:rPr lang="en-ID" sz="1800" b="0" dirty="0">
                <a:effectLst/>
              </a:rPr>
              <a:t> </a:t>
            </a:r>
            <a:r>
              <a:rPr lang="en-ID" sz="1800" b="0" dirty="0" err="1">
                <a:effectLst/>
              </a:rPr>
              <a:t>semua</a:t>
            </a:r>
            <a:r>
              <a:rPr lang="en-ID" sz="1800" b="0" dirty="0">
                <a:effectLst/>
              </a:rPr>
              <a:t> platform, </a:t>
            </a:r>
            <a:r>
              <a:rPr lang="en-ID" sz="1800" b="0" dirty="0" err="1">
                <a:effectLst/>
              </a:rPr>
              <a:t>sehingga</a:t>
            </a:r>
            <a:r>
              <a:rPr lang="en-ID" sz="1800" b="0" dirty="0">
                <a:effectLst/>
              </a:rPr>
              <a:t> </a:t>
            </a:r>
            <a:r>
              <a:rPr lang="en-ID" sz="1800" b="0" dirty="0" err="1">
                <a:effectLst/>
              </a:rPr>
              <a:t>lebih</a:t>
            </a:r>
            <a:r>
              <a:rPr lang="en-ID" sz="1800" b="0" dirty="0">
                <a:effectLst/>
              </a:rPr>
              <a:t> </a:t>
            </a:r>
            <a:r>
              <a:rPr lang="en-ID" sz="1800" b="0" dirty="0" err="1">
                <a:effectLst/>
              </a:rPr>
              <a:t>mudah</a:t>
            </a:r>
            <a:r>
              <a:rPr lang="en-ID" sz="1800" b="0" dirty="0">
                <a:effectLst/>
              </a:rPr>
              <a:t> </a:t>
            </a:r>
            <a:r>
              <a:rPr lang="en-ID" sz="1800" b="0" dirty="0" err="1">
                <a:effectLst/>
              </a:rPr>
              <a:t>dikelola</a:t>
            </a:r>
            <a:r>
              <a:rPr lang="en-ID" sz="1800" b="0" dirty="0">
                <a:effectLst/>
              </a:rPr>
              <a:t>.</a:t>
            </a:r>
            <a:endParaRPr lang="en-ID" sz="1800" b="0" dirty="0"/>
          </a:p>
          <a:p>
            <a:pPr algn="just"/>
            <a:endParaRPr lang="en-US" sz="1800" dirty="0"/>
          </a:p>
          <a:p>
            <a:pPr algn="just"/>
            <a:endParaRPr lang="en-US" sz="1800" b="0" dirty="0"/>
          </a:p>
          <a:p>
            <a:pPr marL="342900" indent="-342900" algn="just">
              <a:buAutoNum type="arabicPeriod"/>
            </a:pPr>
            <a:endParaRPr lang="id-ID" sz="1800" b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6025FE-F5E9-2415-CFF6-9061C2212A67}"/>
              </a:ext>
            </a:extLst>
          </p:cNvPr>
          <p:cNvSpPr txBox="1">
            <a:spLocks/>
          </p:cNvSpPr>
          <p:nvPr/>
        </p:nvSpPr>
        <p:spPr>
          <a:xfrm>
            <a:off x="464501" y="2187665"/>
            <a:ext cx="8483557" cy="24826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just">
              <a:buClr>
                <a:srgbClr val="30ACEC">
                  <a:lumMod val="75000"/>
                </a:srgbClr>
              </a:buClr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00910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B47940-55B1-68A0-0EA5-251F48DBCA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4">
            <a:extLst>
              <a:ext uri="{FF2B5EF4-FFF2-40B4-BE49-F238E27FC236}">
                <a16:creationId xmlns:a16="http://schemas.microsoft.com/office/drawing/2014/main" id="{B13903E3-3599-2477-8128-918C739BD5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 dirty="0" err="1"/>
              <a:t>Aplikasi</a:t>
            </a:r>
            <a:r>
              <a:rPr lang="en-US" sz="3200" dirty="0"/>
              <a:t> Hybrid</a:t>
            </a:r>
            <a:endParaRPr lang="en-ID" sz="3200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38CADBB0-BF37-C9AD-142E-4530584325AB}"/>
              </a:ext>
            </a:extLst>
          </p:cNvPr>
          <p:cNvSpPr txBox="1">
            <a:spLocks/>
          </p:cNvSpPr>
          <p:nvPr/>
        </p:nvSpPr>
        <p:spPr>
          <a:xfrm>
            <a:off x="464501" y="1484784"/>
            <a:ext cx="8427979" cy="4824536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4000" b="1" kern="1200" baseline="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pPr algn="just"/>
            <a:r>
              <a:rPr lang="en-US" sz="1600" dirty="0" err="1">
                <a:effectLst/>
                <a:ea typeface="Roboto" panose="02000000000000000000" pitchFamily="2" charset="0"/>
              </a:rPr>
              <a:t>Kelebihan</a:t>
            </a:r>
            <a:r>
              <a:rPr lang="id-ID" sz="1600" spc="400" dirty="0">
                <a:effectLst/>
                <a:ea typeface="Roboto" panose="02000000000000000000" pitchFamily="2" charset="0"/>
              </a:rPr>
              <a:t> </a:t>
            </a:r>
            <a:r>
              <a:rPr lang="en-US" sz="1600" dirty="0" err="1">
                <a:effectLst/>
                <a:ea typeface="Roboto" panose="02000000000000000000" pitchFamily="2" charset="0"/>
              </a:rPr>
              <a:t>Aplikasi</a:t>
            </a:r>
            <a:r>
              <a:rPr lang="en-US" sz="1600" dirty="0">
                <a:effectLst/>
                <a:ea typeface="Roboto" panose="02000000000000000000" pitchFamily="2" charset="0"/>
              </a:rPr>
              <a:t> Hybrid</a:t>
            </a:r>
          </a:p>
          <a:p>
            <a:pPr algn="just"/>
            <a:endParaRPr lang="en-US" sz="1600" dirty="0">
              <a:ea typeface="Roboto" panose="02000000000000000000" pitchFamily="2" charset="0"/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ID" sz="1600" b="0" dirty="0" err="1"/>
              <a:t>Pengembangan</a:t>
            </a:r>
            <a:r>
              <a:rPr lang="en-ID" sz="1600" b="0" dirty="0"/>
              <a:t> yang </a:t>
            </a:r>
            <a:r>
              <a:rPr lang="en-ID" sz="1600" b="0" dirty="0" err="1"/>
              <a:t>lebih</a:t>
            </a:r>
            <a:r>
              <a:rPr lang="en-ID" sz="1600" b="0" dirty="0"/>
              <a:t> </a:t>
            </a:r>
            <a:r>
              <a:rPr lang="en-ID" sz="1600" b="0" dirty="0" err="1"/>
              <a:t>cepat</a:t>
            </a:r>
            <a:r>
              <a:rPr lang="en-ID" sz="1600" b="0" dirty="0"/>
              <a:t> </a:t>
            </a:r>
            <a:r>
              <a:rPr lang="en-ID" sz="1600" b="0" dirty="0" err="1"/>
              <a:t>dengan</a:t>
            </a:r>
            <a:r>
              <a:rPr lang="en-ID" sz="1600" b="0" dirty="0"/>
              <a:t> </a:t>
            </a:r>
            <a:r>
              <a:rPr lang="en-ID" sz="1600" b="0" dirty="0" err="1"/>
              <a:t>menggunakan</a:t>
            </a:r>
            <a:r>
              <a:rPr lang="en-ID" sz="1600" b="0" dirty="0"/>
              <a:t> </a:t>
            </a:r>
            <a:r>
              <a:rPr lang="en-ID" sz="1600" b="0" dirty="0" err="1"/>
              <a:t>teknologi</a:t>
            </a:r>
            <a:r>
              <a:rPr lang="en-ID" sz="1600" b="0" dirty="0"/>
              <a:t> web </a:t>
            </a:r>
            <a:r>
              <a:rPr lang="en-ID" sz="1600" b="0" dirty="0" err="1"/>
              <a:t>karena</a:t>
            </a:r>
            <a:r>
              <a:rPr lang="en-ID" sz="1600" b="0" dirty="0"/>
              <a:t> </a:t>
            </a:r>
            <a:r>
              <a:rPr lang="en-ID" sz="1600" b="0" dirty="0" err="1"/>
              <a:t>aplikasi</a:t>
            </a:r>
            <a:r>
              <a:rPr lang="en-ID" sz="1600" b="0" dirty="0"/>
              <a:t> yang </a:t>
            </a:r>
            <a:r>
              <a:rPr lang="en-ID" sz="1600" b="0" dirty="0" err="1"/>
              <a:t>dikembangakan</a:t>
            </a:r>
            <a:r>
              <a:rPr lang="en-ID" sz="1600" b="0" dirty="0"/>
              <a:t> </a:t>
            </a:r>
            <a:r>
              <a:rPr lang="en-ID" sz="1600" b="0" dirty="0" err="1"/>
              <a:t>dapat</a:t>
            </a:r>
            <a:r>
              <a:rPr lang="en-ID" sz="1600" b="0" dirty="0"/>
              <a:t> </a:t>
            </a:r>
            <a:r>
              <a:rPr lang="en-ID" sz="1600" b="0" dirty="0" err="1"/>
              <a:t>berbagi</a:t>
            </a:r>
            <a:r>
              <a:rPr lang="en-ID" sz="1600" b="0" dirty="0"/>
              <a:t> </a:t>
            </a:r>
            <a:r>
              <a:rPr lang="en-ID" sz="1600" b="0" dirty="0" err="1"/>
              <a:t>kode</a:t>
            </a:r>
            <a:r>
              <a:rPr lang="en-ID" sz="1600" b="0" dirty="0"/>
              <a:t> </a:t>
            </a:r>
            <a:r>
              <a:rPr lang="en-ID" sz="1600" b="0" dirty="0" err="1"/>
              <a:t>lintas</a:t>
            </a:r>
            <a:r>
              <a:rPr lang="en-ID" sz="1600" b="0" dirty="0"/>
              <a:t> platform</a:t>
            </a:r>
            <a:r>
              <a:rPr lang="en-ID" sz="1600" dirty="0"/>
              <a:t>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ID" sz="1600" b="0" dirty="0" err="1"/>
              <a:t>Biaya</a:t>
            </a:r>
            <a:r>
              <a:rPr lang="en-ID" sz="1600" b="0" dirty="0"/>
              <a:t> yang </a:t>
            </a:r>
            <a:r>
              <a:rPr lang="en-ID" sz="1600" b="0" dirty="0" err="1"/>
              <a:t>lebih</a:t>
            </a:r>
            <a:r>
              <a:rPr lang="en-ID" sz="1600" b="0" dirty="0"/>
              <a:t> </a:t>
            </a:r>
            <a:r>
              <a:rPr lang="en-ID" sz="1600" b="0" dirty="0" err="1"/>
              <a:t>rendah</a:t>
            </a:r>
            <a:r>
              <a:rPr lang="en-ID" sz="1600" b="0" dirty="0"/>
              <a:t> </a:t>
            </a:r>
            <a:r>
              <a:rPr lang="en-ID" sz="1600" b="0" dirty="0" err="1"/>
              <a:t>karena</a:t>
            </a:r>
            <a:r>
              <a:rPr lang="en-ID" sz="1600" b="0" dirty="0"/>
              <a:t> </a:t>
            </a:r>
            <a:r>
              <a:rPr lang="en-ID" sz="1600" b="0" dirty="0" err="1"/>
              <a:t>hanya</a:t>
            </a:r>
            <a:r>
              <a:rPr lang="en-ID" sz="1600" b="0" dirty="0"/>
              <a:t> </a:t>
            </a:r>
            <a:r>
              <a:rPr lang="en-ID" sz="1600" b="0" dirty="0" err="1"/>
              <a:t>butuh</a:t>
            </a:r>
            <a:r>
              <a:rPr lang="en-ID" sz="1600" b="0" dirty="0"/>
              <a:t> </a:t>
            </a:r>
            <a:r>
              <a:rPr lang="en-ID" sz="1600" b="0" dirty="0" err="1"/>
              <a:t>satu</a:t>
            </a:r>
            <a:r>
              <a:rPr lang="en-ID" sz="1600" b="0" dirty="0"/>
              <a:t> </a:t>
            </a:r>
            <a:r>
              <a:rPr lang="en-ID" sz="1600" b="0" dirty="0" err="1"/>
              <a:t>aplikasi</a:t>
            </a:r>
            <a:r>
              <a:rPr lang="en-ID" sz="1600" b="0" dirty="0"/>
              <a:t> </a:t>
            </a:r>
            <a:r>
              <a:rPr lang="en-ID" sz="1600" b="0" dirty="0" err="1"/>
              <a:t>untuk</a:t>
            </a:r>
            <a:r>
              <a:rPr lang="en-ID" sz="1600" b="0" dirty="0"/>
              <a:t> </a:t>
            </a:r>
            <a:r>
              <a:rPr lang="en-ID" sz="1600" b="0" dirty="0" err="1"/>
              <a:t>beberapa</a:t>
            </a:r>
            <a:r>
              <a:rPr lang="en-ID" sz="1600" b="0" dirty="0"/>
              <a:t> platform, </a:t>
            </a:r>
            <a:r>
              <a:rPr lang="en-ID" sz="1600" b="0" dirty="0" err="1"/>
              <a:t>sehingga</a:t>
            </a:r>
            <a:r>
              <a:rPr lang="en-ID" sz="1600" b="0" dirty="0"/>
              <a:t> </a:t>
            </a:r>
            <a:r>
              <a:rPr lang="en-ID" sz="1600" b="0" dirty="0" err="1"/>
              <a:t>biaya</a:t>
            </a:r>
            <a:r>
              <a:rPr lang="en-ID" sz="1600" b="0" dirty="0"/>
              <a:t> </a:t>
            </a:r>
            <a:r>
              <a:rPr lang="en-ID" sz="1600" b="0" dirty="0" err="1"/>
              <a:t>pengembangan</a:t>
            </a:r>
            <a:r>
              <a:rPr lang="en-ID" sz="1600" b="0" dirty="0"/>
              <a:t> </a:t>
            </a:r>
            <a:r>
              <a:rPr lang="en-ID" sz="1600" b="0" dirty="0" err="1"/>
              <a:t>cenderung</a:t>
            </a:r>
            <a:r>
              <a:rPr lang="en-ID" sz="1600" b="0" dirty="0"/>
              <a:t> </a:t>
            </a:r>
            <a:r>
              <a:rPr lang="en-ID" sz="1600" b="0" dirty="0" err="1"/>
              <a:t>lebih</a:t>
            </a:r>
            <a:r>
              <a:rPr lang="en-ID" sz="1600" b="0" dirty="0"/>
              <a:t> </a:t>
            </a:r>
            <a:r>
              <a:rPr lang="en-ID" sz="1600" b="0" dirty="0" err="1"/>
              <a:t>rendah</a:t>
            </a:r>
            <a:r>
              <a:rPr lang="en-ID" sz="1600" b="0" dirty="0"/>
              <a:t>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sv-SE" sz="1600" b="0" dirty="0"/>
              <a:t>Maintenance lebih efisien karena hanya perlu memperbarui satu kode sumber untuk semua platform</a:t>
            </a:r>
            <a:endParaRPr lang="en-US" sz="1600" b="0" dirty="0"/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1600" b="0" dirty="0"/>
              <a:t>Embed </a:t>
            </a:r>
            <a:r>
              <a:rPr lang="en-US" sz="1600" b="0" dirty="0" err="1"/>
              <a:t>dengan</a:t>
            </a:r>
            <a:r>
              <a:rPr lang="en-US" sz="1600" b="0" dirty="0"/>
              <a:t> browser </a:t>
            </a:r>
            <a:r>
              <a:rPr lang="en-US" sz="1600" b="0" dirty="0" err="1"/>
              <a:t>untuk</a:t>
            </a:r>
            <a:r>
              <a:rPr lang="en-US" sz="1600" b="0" dirty="0"/>
              <a:t> </a:t>
            </a:r>
            <a:r>
              <a:rPr lang="en-US" sz="1600" b="0" dirty="0" err="1"/>
              <a:t>meningkatkan</a:t>
            </a:r>
            <a:r>
              <a:rPr lang="en-US" sz="1600" b="0" dirty="0"/>
              <a:t> </a:t>
            </a:r>
            <a:r>
              <a:rPr lang="en-US" sz="1600" b="0" dirty="0" err="1"/>
              <a:t>akses</a:t>
            </a:r>
            <a:r>
              <a:rPr lang="en-US" sz="1600" b="0" dirty="0"/>
              <a:t> </a:t>
            </a:r>
            <a:r>
              <a:rPr lang="en-US" sz="1600" b="0" dirty="0" err="1"/>
              <a:t>ke</a:t>
            </a:r>
            <a:r>
              <a:rPr lang="en-US" sz="1600" b="0" dirty="0"/>
              <a:t> </a:t>
            </a:r>
            <a:r>
              <a:rPr lang="en-US" sz="1600" b="0" dirty="0" err="1"/>
              <a:t>konten</a:t>
            </a:r>
            <a:r>
              <a:rPr lang="en-US" sz="1600" b="0" dirty="0"/>
              <a:t> online </a:t>
            </a:r>
            <a:r>
              <a:rPr lang="en-US" sz="1600" b="0" dirty="0" err="1"/>
              <a:t>secara</a:t>
            </a:r>
            <a:r>
              <a:rPr lang="en-US" sz="1600" b="0" dirty="0"/>
              <a:t> </a:t>
            </a:r>
            <a:r>
              <a:rPr lang="en-US" sz="1600" b="0" dirty="0" err="1"/>
              <a:t>dinamis</a:t>
            </a:r>
            <a:r>
              <a:rPr lang="en-US" sz="1600" b="0" dirty="0"/>
              <a:t>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en-US" sz="1600" b="0" dirty="0"/>
          </a:p>
          <a:p>
            <a:pPr algn="just"/>
            <a:r>
              <a:rPr lang="en-US" sz="1600" dirty="0" err="1"/>
              <a:t>Kekurangan</a:t>
            </a:r>
            <a:r>
              <a:rPr lang="en-US" sz="1600" dirty="0"/>
              <a:t> </a:t>
            </a:r>
            <a:r>
              <a:rPr lang="en-US" sz="1600" dirty="0" err="1"/>
              <a:t>Aplikasi</a:t>
            </a:r>
            <a:r>
              <a:rPr lang="en-US" sz="1600" dirty="0"/>
              <a:t> Hybrid</a:t>
            </a:r>
          </a:p>
          <a:p>
            <a:pPr algn="just"/>
            <a:endParaRPr lang="en-US" sz="1600" dirty="0"/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1600" b="0" dirty="0" err="1"/>
              <a:t>Pengembangan</a:t>
            </a:r>
            <a:r>
              <a:rPr lang="en-US" sz="1600" b="0" dirty="0"/>
              <a:t> </a:t>
            </a:r>
            <a:r>
              <a:rPr lang="en-US" sz="1600" b="0" dirty="0" err="1"/>
              <a:t>aplikasi</a:t>
            </a:r>
            <a:r>
              <a:rPr lang="en-US" sz="1600" b="0" dirty="0"/>
              <a:t> hybrid </a:t>
            </a:r>
            <a:r>
              <a:rPr lang="en-US" sz="1600" b="0" dirty="0" err="1"/>
              <a:t>harus</a:t>
            </a:r>
            <a:r>
              <a:rPr lang="en-US" sz="1600" b="0" dirty="0"/>
              <a:t> </a:t>
            </a:r>
            <a:r>
              <a:rPr lang="en-US" sz="1600" b="0" dirty="0" err="1"/>
              <a:t>menggunakan</a:t>
            </a:r>
            <a:r>
              <a:rPr lang="en-US" sz="1600" b="0" dirty="0"/>
              <a:t> framework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ID" sz="1600" b="0" dirty="0" err="1"/>
              <a:t>Tidak</a:t>
            </a:r>
            <a:r>
              <a:rPr lang="en-ID" sz="1600" b="0" dirty="0"/>
              <a:t> </a:t>
            </a:r>
            <a:r>
              <a:rPr lang="en-ID" sz="1600" b="0" dirty="0" err="1"/>
              <a:t>memiliki</a:t>
            </a:r>
            <a:r>
              <a:rPr lang="en-ID" sz="1600" b="0" dirty="0"/>
              <a:t> </a:t>
            </a:r>
            <a:r>
              <a:rPr lang="en-ID" sz="1600" b="0" dirty="0" err="1"/>
              <a:t>akses</a:t>
            </a:r>
            <a:r>
              <a:rPr lang="en-ID" sz="1600" b="0" dirty="0"/>
              <a:t> </a:t>
            </a:r>
            <a:r>
              <a:rPr lang="en-ID" sz="1600" b="0" dirty="0" err="1"/>
              <a:t>penuh</a:t>
            </a:r>
            <a:r>
              <a:rPr lang="en-ID" sz="1600" b="0" dirty="0"/>
              <a:t> </a:t>
            </a:r>
            <a:r>
              <a:rPr lang="en-ID" sz="1600" b="0" dirty="0" err="1"/>
              <a:t>ke</a:t>
            </a:r>
            <a:r>
              <a:rPr lang="en-ID" sz="1600" b="0" dirty="0"/>
              <a:t> Fitur </a:t>
            </a:r>
            <a:r>
              <a:rPr lang="en-ID" sz="1600" b="0" dirty="0" err="1"/>
              <a:t>karena</a:t>
            </a:r>
            <a:r>
              <a:rPr lang="en-ID" sz="1600" b="0" dirty="0"/>
              <a:t> </a:t>
            </a:r>
            <a:r>
              <a:rPr lang="en-ID" sz="1600" b="0" dirty="0" err="1"/>
              <a:t>karakteristik</a:t>
            </a:r>
            <a:r>
              <a:rPr lang="en-ID" sz="1600" b="0" dirty="0"/>
              <a:t> yang </a:t>
            </a:r>
            <a:r>
              <a:rPr lang="en-ID" sz="1600" b="0" dirty="0" err="1"/>
              <a:t>berbeda</a:t>
            </a:r>
            <a:r>
              <a:rPr lang="en-ID" sz="1600" b="0" dirty="0"/>
              <a:t> </a:t>
            </a:r>
            <a:r>
              <a:rPr lang="en-ID" sz="1600" b="0" dirty="0" err="1"/>
              <a:t>dari</a:t>
            </a:r>
            <a:r>
              <a:rPr lang="en-ID" sz="1600" b="0" dirty="0"/>
              <a:t> masing - masing framework </a:t>
            </a:r>
            <a:r>
              <a:rPr lang="en-ID" sz="1600" b="0" dirty="0" err="1"/>
              <a:t>akses</a:t>
            </a:r>
            <a:r>
              <a:rPr lang="en-ID" sz="1600" b="0" dirty="0"/>
              <a:t> </a:t>
            </a:r>
            <a:r>
              <a:rPr lang="en-ID" sz="1600" b="0" dirty="0" err="1"/>
              <a:t>ke</a:t>
            </a:r>
            <a:r>
              <a:rPr lang="en-ID" sz="1600" b="0" dirty="0"/>
              <a:t> API </a:t>
            </a:r>
            <a:r>
              <a:rPr lang="en-ID" sz="1600" b="0" dirty="0" err="1"/>
              <a:t>perangkat</a:t>
            </a:r>
            <a:r>
              <a:rPr lang="en-ID" sz="1600" b="0" dirty="0"/>
              <a:t>, </a:t>
            </a:r>
            <a:r>
              <a:rPr lang="en-ID" sz="1600" b="0" dirty="0" err="1"/>
              <a:t>belum</a:t>
            </a:r>
            <a:r>
              <a:rPr lang="en-ID" sz="1600" b="0" dirty="0"/>
              <a:t> </a:t>
            </a:r>
            <a:r>
              <a:rPr lang="en-ID" sz="1600" b="0" dirty="0" err="1"/>
              <a:t>tentu</a:t>
            </a:r>
            <a:r>
              <a:rPr lang="en-ID" sz="1600" b="0" dirty="0"/>
              <a:t> </a:t>
            </a:r>
            <a:r>
              <a:rPr lang="en-ID" sz="1600" b="0" dirty="0" err="1"/>
              <a:t>semua</a:t>
            </a:r>
            <a:r>
              <a:rPr lang="en-ID" sz="1600" b="0" dirty="0"/>
              <a:t> </a:t>
            </a:r>
            <a:r>
              <a:rPr lang="en-ID" sz="1600" b="0" dirty="0" err="1"/>
              <a:t>fitur</a:t>
            </a:r>
            <a:r>
              <a:rPr lang="en-ID" sz="1600" b="0" dirty="0"/>
              <a:t> </a:t>
            </a:r>
            <a:r>
              <a:rPr lang="en-ID" sz="1600" b="0" dirty="0" err="1"/>
              <a:t>perangkat</a:t>
            </a:r>
            <a:r>
              <a:rPr lang="en-ID" sz="1600" b="0" dirty="0"/>
              <a:t> </a:t>
            </a:r>
            <a:r>
              <a:rPr lang="en-ID" sz="1600" b="0" dirty="0" err="1"/>
              <a:t>seluler</a:t>
            </a:r>
            <a:r>
              <a:rPr lang="en-ID" sz="1600" b="0" dirty="0"/>
              <a:t> </a:t>
            </a:r>
            <a:r>
              <a:rPr lang="en-ID" sz="1600" b="0" dirty="0" err="1"/>
              <a:t>dapat</a:t>
            </a:r>
            <a:r>
              <a:rPr lang="en-ID" sz="1600" b="0" dirty="0"/>
              <a:t> </a:t>
            </a:r>
            <a:r>
              <a:rPr lang="en-ID" sz="1600" b="0" dirty="0" err="1"/>
              <a:t>diakses</a:t>
            </a:r>
            <a:r>
              <a:rPr lang="en-ID" sz="1600" b="0" dirty="0"/>
              <a:t>.</a:t>
            </a:r>
            <a:endParaRPr lang="en-US" sz="1600" b="0" dirty="0"/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1600" b="0" dirty="0"/>
              <a:t>Sisi </a:t>
            </a:r>
            <a:r>
              <a:rPr lang="en-US" sz="1600" b="0" dirty="0" err="1"/>
              <a:t>performa</a:t>
            </a:r>
            <a:r>
              <a:rPr lang="en-US" sz="1600" b="0" dirty="0"/>
              <a:t> </a:t>
            </a:r>
            <a:r>
              <a:rPr lang="en-US" sz="1600" b="0" dirty="0" err="1"/>
              <a:t>masih</a:t>
            </a:r>
            <a:r>
              <a:rPr lang="en-US" sz="1600" b="0" dirty="0"/>
              <a:t> </a:t>
            </a:r>
            <a:r>
              <a:rPr lang="en-US" sz="1600" b="0" dirty="0" err="1"/>
              <a:t>belum</a:t>
            </a:r>
            <a:r>
              <a:rPr lang="en-US" sz="1600" b="0" dirty="0"/>
              <a:t> </a:t>
            </a:r>
            <a:r>
              <a:rPr lang="en-US" sz="1600" b="0" dirty="0" err="1"/>
              <a:t>bisa</a:t>
            </a:r>
            <a:r>
              <a:rPr lang="en-US" sz="1600" b="0" dirty="0"/>
              <a:t> </a:t>
            </a:r>
            <a:r>
              <a:rPr lang="en-US" sz="1600" b="0" dirty="0" err="1"/>
              <a:t>melewati</a:t>
            </a:r>
            <a:r>
              <a:rPr lang="en-US" sz="1600" b="0" dirty="0"/>
              <a:t> </a:t>
            </a:r>
            <a:r>
              <a:rPr lang="en-US" sz="1600" b="0" dirty="0" err="1"/>
              <a:t>aplikasi</a:t>
            </a:r>
            <a:r>
              <a:rPr lang="en-US" sz="1600" b="0" dirty="0"/>
              <a:t> native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ID" sz="1600" b="0" dirty="0"/>
              <a:t>User Interface </a:t>
            </a:r>
            <a:r>
              <a:rPr lang="en-ID" sz="1600" b="0" dirty="0" err="1"/>
              <a:t>kurang</a:t>
            </a:r>
            <a:r>
              <a:rPr lang="en-ID" sz="1600" b="0" dirty="0"/>
              <a:t> </a:t>
            </a:r>
            <a:r>
              <a:rPr lang="en-ID" sz="1600" b="0" dirty="0" err="1"/>
              <a:t>mengikuti</a:t>
            </a:r>
            <a:r>
              <a:rPr lang="en-ID" sz="1600" b="0" dirty="0"/>
              <a:t> </a:t>
            </a:r>
            <a:r>
              <a:rPr lang="en-ID" sz="1600" b="0" dirty="0" err="1"/>
              <a:t>pedoman</a:t>
            </a:r>
            <a:r>
              <a:rPr lang="en-ID" sz="1600" b="0" dirty="0"/>
              <a:t> </a:t>
            </a:r>
            <a:r>
              <a:rPr lang="en-ID" sz="1600" b="0" dirty="0" err="1"/>
              <a:t>desain</a:t>
            </a:r>
            <a:r>
              <a:rPr lang="en-ID" sz="1600" b="0" dirty="0"/>
              <a:t> platform, </a:t>
            </a:r>
            <a:r>
              <a:rPr lang="en-ID" sz="1600" b="0" dirty="0" err="1"/>
              <a:t>sehingga</a:t>
            </a:r>
            <a:r>
              <a:rPr lang="en-ID" sz="1600" b="0" dirty="0"/>
              <a:t> </a:t>
            </a:r>
            <a:r>
              <a:rPr lang="en-ID" sz="1600" b="0" dirty="0" err="1"/>
              <a:t>dapat</a:t>
            </a:r>
            <a:r>
              <a:rPr lang="en-ID" sz="1600" b="0" dirty="0"/>
              <a:t> </a:t>
            </a:r>
            <a:r>
              <a:rPr lang="en-ID" sz="1600" b="0" dirty="0" err="1"/>
              <a:t>menghasilkan</a:t>
            </a:r>
            <a:r>
              <a:rPr lang="en-ID" sz="1600" b="0" dirty="0"/>
              <a:t> </a:t>
            </a:r>
            <a:r>
              <a:rPr lang="en-ID" sz="1600" b="0" dirty="0" err="1"/>
              <a:t>pengalaman</a:t>
            </a:r>
            <a:r>
              <a:rPr lang="en-ID" sz="1600" b="0" dirty="0"/>
              <a:t> </a:t>
            </a:r>
            <a:r>
              <a:rPr lang="en-ID" sz="1600" b="0" dirty="0" err="1"/>
              <a:t>pengguna</a:t>
            </a:r>
            <a:r>
              <a:rPr lang="en-ID" sz="1600" b="0" dirty="0"/>
              <a:t> yang </a:t>
            </a:r>
            <a:r>
              <a:rPr lang="en-ID" sz="1600" b="0" dirty="0" err="1"/>
              <a:t>tidak</a:t>
            </a:r>
            <a:r>
              <a:rPr lang="en-ID" sz="1600" b="0" dirty="0"/>
              <a:t> </a:t>
            </a:r>
            <a:r>
              <a:rPr lang="en-ID" sz="1600" b="0" dirty="0" err="1"/>
              <a:t>konsisten</a:t>
            </a:r>
            <a:r>
              <a:rPr lang="en-ID" sz="1600" b="0" dirty="0"/>
              <a:t>.</a:t>
            </a:r>
            <a:endParaRPr lang="en-US" sz="1600" b="0" dirty="0"/>
          </a:p>
          <a:p>
            <a:pPr algn="just"/>
            <a:endParaRPr lang="en-US" sz="1600" b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6025FE-F5E9-2415-CFF6-9061C2212A67}"/>
              </a:ext>
            </a:extLst>
          </p:cNvPr>
          <p:cNvSpPr txBox="1">
            <a:spLocks/>
          </p:cNvSpPr>
          <p:nvPr/>
        </p:nvSpPr>
        <p:spPr>
          <a:xfrm>
            <a:off x="464501" y="2187665"/>
            <a:ext cx="8483557" cy="24826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just">
              <a:buClr>
                <a:srgbClr val="30ACEC">
                  <a:lumMod val="75000"/>
                </a:srgbClr>
              </a:buClr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13425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B47940-55B1-68A0-0EA5-251F48DBCA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4">
            <a:extLst>
              <a:ext uri="{FF2B5EF4-FFF2-40B4-BE49-F238E27FC236}">
                <a16:creationId xmlns:a16="http://schemas.microsoft.com/office/drawing/2014/main" id="{B13903E3-3599-2477-8128-918C739BD5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 dirty="0" err="1"/>
              <a:t>Aplikasi</a:t>
            </a:r>
            <a:r>
              <a:rPr lang="en-US" sz="3200" dirty="0"/>
              <a:t> Hybrid</a:t>
            </a:r>
            <a:endParaRPr lang="en-ID" sz="3200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38CADBB0-BF37-C9AD-142E-4530584325AB}"/>
              </a:ext>
            </a:extLst>
          </p:cNvPr>
          <p:cNvSpPr txBox="1">
            <a:spLocks/>
          </p:cNvSpPr>
          <p:nvPr/>
        </p:nvSpPr>
        <p:spPr>
          <a:xfrm>
            <a:off x="610038" y="1988840"/>
            <a:ext cx="8352928" cy="360040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4000" b="1" kern="1200" baseline="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pPr algn="just"/>
            <a:r>
              <a:rPr lang="en-ID" sz="2000" b="1" dirty="0" err="1">
                <a:effectLst/>
              </a:rPr>
              <a:t>Perangkat</a:t>
            </a:r>
            <a:r>
              <a:rPr lang="en-ID" sz="2000" b="1" dirty="0">
                <a:effectLst/>
              </a:rPr>
              <a:t> </a:t>
            </a:r>
            <a:r>
              <a:rPr lang="en-ID" sz="2000" b="1" dirty="0" err="1">
                <a:effectLst/>
              </a:rPr>
              <a:t>Pengembangan</a:t>
            </a:r>
            <a:r>
              <a:rPr lang="en-ID" sz="2000" b="1" dirty="0">
                <a:effectLst/>
              </a:rPr>
              <a:t> dan Framework </a:t>
            </a:r>
            <a:r>
              <a:rPr lang="en-ID" sz="2000" b="1" dirty="0" err="1">
                <a:effectLst/>
              </a:rPr>
              <a:t>untuk</a:t>
            </a:r>
            <a:r>
              <a:rPr lang="en-ID" sz="2000" b="1" dirty="0">
                <a:effectLst/>
              </a:rPr>
              <a:t> </a:t>
            </a:r>
            <a:r>
              <a:rPr lang="en-ID" sz="2000" b="1" dirty="0" err="1">
                <a:effectLst/>
              </a:rPr>
              <a:t>Aplikasi</a:t>
            </a:r>
            <a:r>
              <a:rPr lang="en-ID" sz="2000" b="1" dirty="0">
                <a:effectLst/>
              </a:rPr>
              <a:t> Hybrid</a:t>
            </a:r>
            <a:endParaRPr lang="en-ID" sz="2000" dirty="0"/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en-ID" sz="2000" b="1" dirty="0"/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en-ID" sz="2000" b="1" dirty="0"/>
          </a:p>
          <a:p>
            <a:pPr algn="just"/>
            <a:endParaRPr lang="en-US" sz="1800" dirty="0"/>
          </a:p>
          <a:p>
            <a:pPr algn="just"/>
            <a:endParaRPr lang="en-US" sz="1800" dirty="0"/>
          </a:p>
          <a:p>
            <a:pPr algn="just"/>
            <a:endParaRPr lang="en-US" sz="1800" b="0" dirty="0"/>
          </a:p>
          <a:p>
            <a:pPr marL="342900" indent="-342900" algn="just">
              <a:buAutoNum type="arabicPeriod"/>
            </a:pPr>
            <a:endParaRPr lang="id-ID" sz="1800" b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6025FE-F5E9-2415-CFF6-9061C2212A67}"/>
              </a:ext>
            </a:extLst>
          </p:cNvPr>
          <p:cNvSpPr txBox="1">
            <a:spLocks/>
          </p:cNvSpPr>
          <p:nvPr/>
        </p:nvSpPr>
        <p:spPr>
          <a:xfrm>
            <a:off x="464501" y="2187665"/>
            <a:ext cx="8644003" cy="24826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Clr>
                <a:srgbClr val="30ACEC">
                  <a:lumMod val="75000"/>
                </a:srgbClr>
              </a:buClr>
              <a:buNone/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90FCB40-E3DF-8F58-15F1-980B2BA0E9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5258990"/>
              </p:ext>
            </p:extLst>
          </p:nvPr>
        </p:nvGraphicFramePr>
        <p:xfrm>
          <a:off x="181034" y="2135861"/>
          <a:ext cx="8781930" cy="212126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84277">
                  <a:extLst>
                    <a:ext uri="{9D8B030D-6E8A-4147-A177-3AD203B41FA5}">
                      <a16:colId xmlns:a16="http://schemas.microsoft.com/office/drawing/2014/main" val="781923249"/>
                    </a:ext>
                  </a:extLst>
                </a:gridCol>
                <a:gridCol w="2228658">
                  <a:extLst>
                    <a:ext uri="{9D8B030D-6E8A-4147-A177-3AD203B41FA5}">
                      <a16:colId xmlns:a16="http://schemas.microsoft.com/office/drawing/2014/main" val="2903579877"/>
                    </a:ext>
                  </a:extLst>
                </a:gridCol>
                <a:gridCol w="1880458">
                  <a:extLst>
                    <a:ext uri="{9D8B030D-6E8A-4147-A177-3AD203B41FA5}">
                      <a16:colId xmlns:a16="http://schemas.microsoft.com/office/drawing/2014/main" val="2875017525"/>
                    </a:ext>
                  </a:extLst>
                </a:gridCol>
                <a:gridCol w="2888537">
                  <a:extLst>
                    <a:ext uri="{9D8B030D-6E8A-4147-A177-3AD203B41FA5}">
                      <a16:colId xmlns:a16="http://schemas.microsoft.com/office/drawing/2014/main" val="469117938"/>
                    </a:ext>
                  </a:extLst>
                </a:gridCol>
              </a:tblGrid>
              <a:tr h="429043">
                <a:tc>
                  <a:txBody>
                    <a:bodyPr/>
                    <a:lstStyle/>
                    <a:p>
                      <a:pPr algn="l" fontAlgn="b"/>
                      <a:r>
                        <a:rPr lang="id-ID" sz="1600" b="1" u="none" strike="noStrike" dirty="0">
                          <a:effectLst/>
                        </a:rPr>
                        <a:t>Nama</a:t>
                      </a:r>
                      <a:endParaRPr lang="en-US" sz="1600" b="1" u="none" strike="noStrike" dirty="0">
                        <a:effectLst/>
                      </a:endParaRPr>
                    </a:p>
                    <a:p>
                      <a:pPr algn="l" fontAlgn="b"/>
                      <a:endParaRPr lang="id-ID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66" marR="11266" marT="11266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d-ID" sz="1600" b="1" u="none" strike="noStrike" dirty="0">
                          <a:effectLst/>
                        </a:rPr>
                        <a:t>Bahasa Pemrograman</a:t>
                      </a:r>
                      <a:endParaRPr lang="en-US" sz="1600" b="1" u="none" strike="noStrike" dirty="0">
                        <a:effectLst/>
                      </a:endParaRPr>
                    </a:p>
                    <a:p>
                      <a:pPr algn="l" fontAlgn="b"/>
                      <a:endParaRPr lang="id-ID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66" marR="11266" marT="11266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d-ID" sz="1600" b="1" u="none" strike="noStrike" dirty="0">
                          <a:effectLst/>
                        </a:rPr>
                        <a:t>Teknologi</a:t>
                      </a:r>
                      <a:endParaRPr lang="en-US" sz="1600" b="1" u="none" strike="noStrike" dirty="0">
                        <a:effectLst/>
                      </a:endParaRPr>
                    </a:p>
                    <a:p>
                      <a:pPr algn="l" fontAlgn="b"/>
                      <a:endParaRPr lang="id-ID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66" marR="11266" marT="11266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d-ID" sz="1600" b="1" u="none" strike="noStrike" dirty="0" err="1">
                          <a:effectLst/>
                        </a:rPr>
                        <a:t>Cross</a:t>
                      </a:r>
                      <a:r>
                        <a:rPr lang="id-ID" sz="1600" b="1" u="none" strike="noStrike" dirty="0">
                          <a:effectLst/>
                        </a:rPr>
                        <a:t> Platform Android – iOS</a:t>
                      </a:r>
                      <a:endParaRPr lang="en-US" sz="1600" b="1" u="none" strike="noStrike" dirty="0">
                        <a:effectLst/>
                      </a:endParaRPr>
                    </a:p>
                    <a:p>
                      <a:pPr algn="l" fontAlgn="b"/>
                      <a:endParaRPr lang="id-ID" sz="16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66" marR="11266" marT="11266" marB="0" anchor="b"/>
                </a:tc>
                <a:extLst>
                  <a:ext uri="{0D108BD9-81ED-4DB2-BD59-A6C34878D82A}">
                    <a16:rowId xmlns:a16="http://schemas.microsoft.com/office/drawing/2014/main" val="3576360342"/>
                  </a:ext>
                </a:extLst>
              </a:tr>
              <a:tr h="270386">
                <a:tc>
                  <a:txBody>
                    <a:bodyPr/>
                    <a:lstStyle/>
                    <a:p>
                      <a:pPr algn="l" fontAlgn="b"/>
                      <a:r>
                        <a:rPr lang="id-ID" sz="1600" u="none" strike="noStrike">
                          <a:effectLst/>
                        </a:rPr>
                        <a:t>Xamarin</a:t>
                      </a:r>
                      <a:endParaRPr lang="id-ID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66" marR="11266" marT="11266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d-ID" sz="1600" u="none" strike="noStrike">
                          <a:effectLst/>
                        </a:rPr>
                        <a:t>C#</a:t>
                      </a:r>
                      <a:endParaRPr lang="id-ID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66" marR="11266" marT="1126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d-ID" sz="1600" u="none" strike="noStrike" dirty="0" err="1">
                          <a:effectLst/>
                        </a:rPr>
                        <a:t>Native</a:t>
                      </a:r>
                      <a:endParaRPr lang="id-ID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66" marR="11266" marT="1126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d-ID" sz="1600" u="none" strike="noStrike" dirty="0">
                          <a:effectLst/>
                        </a:rPr>
                        <a:t>Ya</a:t>
                      </a:r>
                      <a:endParaRPr lang="id-ID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66" marR="11266" marT="11266" marB="0" anchor="b"/>
                </a:tc>
                <a:extLst>
                  <a:ext uri="{0D108BD9-81ED-4DB2-BD59-A6C34878D82A}">
                    <a16:rowId xmlns:a16="http://schemas.microsoft.com/office/drawing/2014/main" val="55874804"/>
                  </a:ext>
                </a:extLst>
              </a:tr>
              <a:tr h="270386">
                <a:tc>
                  <a:txBody>
                    <a:bodyPr/>
                    <a:lstStyle/>
                    <a:p>
                      <a:pPr algn="l" fontAlgn="b"/>
                      <a:r>
                        <a:rPr lang="id-ID" sz="1600" u="none" strike="noStrike">
                          <a:effectLst/>
                        </a:rPr>
                        <a:t>Ionic Framework</a:t>
                      </a:r>
                      <a:endParaRPr lang="id-ID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66" marR="11266" marT="11266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d-ID" sz="1600" u="none" strike="noStrike" dirty="0" err="1">
                          <a:effectLst/>
                        </a:rPr>
                        <a:t>JavaScript</a:t>
                      </a:r>
                      <a:r>
                        <a:rPr lang="id-ID" sz="1600" u="none" strike="noStrike" dirty="0">
                          <a:effectLst/>
                        </a:rPr>
                        <a:t>/</a:t>
                      </a:r>
                      <a:r>
                        <a:rPr lang="id-ID" sz="1600" u="none" strike="noStrike" dirty="0" err="1">
                          <a:effectLst/>
                        </a:rPr>
                        <a:t>TypeScript</a:t>
                      </a:r>
                      <a:endParaRPr lang="id-ID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66" marR="11266" marT="1126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d-ID" sz="1600" u="none" strike="noStrike">
                          <a:effectLst/>
                        </a:rPr>
                        <a:t>Hybrid</a:t>
                      </a:r>
                      <a:endParaRPr lang="id-ID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66" marR="11266" marT="1126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d-ID" sz="1600" u="none" strike="noStrike" dirty="0">
                          <a:effectLst/>
                        </a:rPr>
                        <a:t>Ya</a:t>
                      </a:r>
                      <a:endParaRPr lang="id-ID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66" marR="11266" marT="11266" marB="0" anchor="b"/>
                </a:tc>
                <a:extLst>
                  <a:ext uri="{0D108BD9-81ED-4DB2-BD59-A6C34878D82A}">
                    <a16:rowId xmlns:a16="http://schemas.microsoft.com/office/drawing/2014/main" val="2709008254"/>
                  </a:ext>
                </a:extLst>
              </a:tr>
              <a:tr h="270386">
                <a:tc>
                  <a:txBody>
                    <a:bodyPr/>
                    <a:lstStyle/>
                    <a:p>
                      <a:pPr algn="l" fontAlgn="b"/>
                      <a:r>
                        <a:rPr lang="id-ID" sz="1600" u="none" strike="noStrike">
                          <a:effectLst/>
                        </a:rPr>
                        <a:t>Quasar Framework</a:t>
                      </a:r>
                      <a:endParaRPr lang="id-ID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66" marR="11266" marT="11266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d-ID" sz="1600" u="none" strike="noStrike">
                          <a:effectLst/>
                        </a:rPr>
                        <a:t>JavaScript/TypeScript</a:t>
                      </a:r>
                      <a:endParaRPr lang="id-ID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66" marR="11266" marT="1126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d-ID" sz="1600" u="none" strike="noStrike">
                          <a:effectLst/>
                        </a:rPr>
                        <a:t>Hybrid</a:t>
                      </a:r>
                      <a:endParaRPr lang="id-ID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66" marR="11266" marT="1126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d-ID" sz="1600" u="none" strike="noStrike" dirty="0">
                          <a:effectLst/>
                        </a:rPr>
                        <a:t>Ya</a:t>
                      </a:r>
                      <a:endParaRPr lang="id-ID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66" marR="11266" marT="11266" marB="0" anchor="b"/>
                </a:tc>
                <a:extLst>
                  <a:ext uri="{0D108BD9-81ED-4DB2-BD59-A6C34878D82A}">
                    <a16:rowId xmlns:a16="http://schemas.microsoft.com/office/drawing/2014/main" val="1809793333"/>
                  </a:ext>
                </a:extLst>
              </a:tr>
              <a:tr h="270386">
                <a:tc>
                  <a:txBody>
                    <a:bodyPr/>
                    <a:lstStyle/>
                    <a:p>
                      <a:pPr algn="l" fontAlgn="b"/>
                      <a:r>
                        <a:rPr lang="id-ID" sz="1600" u="none" strike="noStrike">
                          <a:effectLst/>
                        </a:rPr>
                        <a:t>React Native</a:t>
                      </a:r>
                      <a:endParaRPr lang="id-ID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66" marR="11266" marT="11266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d-ID" sz="1600" u="none" strike="noStrike">
                          <a:effectLst/>
                        </a:rPr>
                        <a:t>JavasScript</a:t>
                      </a:r>
                      <a:endParaRPr lang="id-ID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66" marR="11266" marT="1126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d-ID" sz="1600" u="none" strike="noStrike">
                          <a:effectLst/>
                        </a:rPr>
                        <a:t>Native</a:t>
                      </a:r>
                      <a:endParaRPr lang="id-ID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66" marR="11266" marT="1126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d-ID" sz="1600" u="none" strike="noStrike" dirty="0">
                          <a:effectLst/>
                        </a:rPr>
                        <a:t>Ya</a:t>
                      </a:r>
                      <a:endParaRPr lang="id-ID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66" marR="11266" marT="11266" marB="0" anchor="b"/>
                </a:tc>
                <a:extLst>
                  <a:ext uri="{0D108BD9-81ED-4DB2-BD59-A6C34878D82A}">
                    <a16:rowId xmlns:a16="http://schemas.microsoft.com/office/drawing/2014/main" val="2683291401"/>
                  </a:ext>
                </a:extLst>
              </a:tr>
              <a:tr h="270386">
                <a:tc>
                  <a:txBody>
                    <a:bodyPr/>
                    <a:lstStyle/>
                    <a:p>
                      <a:pPr algn="l" fontAlgn="b"/>
                      <a:r>
                        <a:rPr lang="id-ID" sz="1600" u="none" strike="noStrike">
                          <a:effectLst/>
                        </a:rPr>
                        <a:t>Flutter</a:t>
                      </a:r>
                      <a:endParaRPr lang="id-ID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66" marR="11266" marT="11266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d-ID" sz="1600" u="none" strike="noStrike">
                          <a:effectLst/>
                        </a:rPr>
                        <a:t>Dart</a:t>
                      </a:r>
                      <a:endParaRPr lang="id-ID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66" marR="11266" marT="1126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d-ID" sz="1600" u="none" strike="noStrike">
                          <a:effectLst/>
                        </a:rPr>
                        <a:t>Hybrid</a:t>
                      </a:r>
                      <a:endParaRPr lang="id-ID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66" marR="11266" marT="1126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d-ID" sz="1600" u="none" strike="noStrike" dirty="0">
                          <a:effectLst/>
                        </a:rPr>
                        <a:t>Ya</a:t>
                      </a:r>
                      <a:endParaRPr lang="id-ID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66" marR="11266" marT="11266" marB="0" anchor="b"/>
                </a:tc>
                <a:extLst>
                  <a:ext uri="{0D108BD9-81ED-4DB2-BD59-A6C34878D82A}">
                    <a16:rowId xmlns:a16="http://schemas.microsoft.com/office/drawing/2014/main" val="2996097345"/>
                  </a:ext>
                </a:extLst>
              </a:tr>
              <a:tr h="270386">
                <a:tc>
                  <a:txBody>
                    <a:bodyPr/>
                    <a:lstStyle/>
                    <a:p>
                      <a:pPr algn="l" fontAlgn="b"/>
                      <a:r>
                        <a:rPr lang="id-ID" sz="1600" u="none" strike="noStrike">
                          <a:effectLst/>
                        </a:rPr>
                        <a:t>Framework7</a:t>
                      </a:r>
                      <a:endParaRPr lang="id-ID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66" marR="11266" marT="11266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d-ID" sz="1600" u="none" strike="noStrike">
                          <a:effectLst/>
                        </a:rPr>
                        <a:t>JavaScript/TypeScript</a:t>
                      </a:r>
                      <a:endParaRPr lang="id-ID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66" marR="11266" marT="1126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d-ID" sz="1600" u="none" strike="noStrike" dirty="0" err="1">
                          <a:effectLst/>
                        </a:rPr>
                        <a:t>Hybrid</a:t>
                      </a:r>
                      <a:endParaRPr lang="id-ID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66" marR="11266" marT="11266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d-ID" sz="1600" u="none" strike="noStrike" dirty="0">
                          <a:effectLst/>
                        </a:rPr>
                        <a:t>Ya</a:t>
                      </a:r>
                      <a:endParaRPr lang="id-ID" sz="16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1266" marR="11266" marT="11266" marB="0" anchor="b"/>
                </a:tc>
                <a:extLst>
                  <a:ext uri="{0D108BD9-81ED-4DB2-BD59-A6C34878D82A}">
                    <a16:rowId xmlns:a16="http://schemas.microsoft.com/office/drawing/2014/main" val="39574964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920372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B47940-55B1-68A0-0EA5-251F48DBCA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4">
            <a:extLst>
              <a:ext uri="{FF2B5EF4-FFF2-40B4-BE49-F238E27FC236}">
                <a16:creationId xmlns:a16="http://schemas.microsoft.com/office/drawing/2014/main" id="{B13903E3-3599-2477-8128-918C739BD5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 dirty="0" err="1"/>
              <a:t>Aplikasi</a:t>
            </a:r>
            <a:r>
              <a:rPr lang="en-US" sz="3200" dirty="0"/>
              <a:t> Hybrid</a:t>
            </a:r>
            <a:endParaRPr lang="en-ID" sz="3200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38CADBB0-BF37-C9AD-142E-4530584325AB}"/>
              </a:ext>
            </a:extLst>
          </p:cNvPr>
          <p:cNvSpPr txBox="1">
            <a:spLocks/>
          </p:cNvSpPr>
          <p:nvPr/>
        </p:nvSpPr>
        <p:spPr>
          <a:xfrm>
            <a:off x="464501" y="1412776"/>
            <a:ext cx="8498465" cy="5112568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4000" b="1" kern="1200" baseline="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pPr algn="just"/>
            <a:endParaRPr lang="en-ID" sz="1800" b="0" dirty="0">
              <a:effectLst/>
            </a:endParaRPr>
          </a:p>
          <a:p>
            <a:pPr algn="just"/>
            <a:r>
              <a:rPr lang="en-ID" sz="1800" dirty="0">
                <a:effectLst/>
              </a:rPr>
              <a:t>Xamarin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ID" sz="1800" b="0" i="1" dirty="0">
                <a:effectLst/>
              </a:rPr>
              <a:t>Framework open source </a:t>
            </a:r>
            <a:r>
              <a:rPr lang="en-ID" sz="1800" b="0" dirty="0">
                <a:effectLst/>
              </a:rPr>
              <a:t>yang </a:t>
            </a:r>
            <a:r>
              <a:rPr lang="en-ID" sz="1800" b="0" dirty="0" err="1">
                <a:effectLst/>
              </a:rPr>
              <a:t>didukung</a:t>
            </a:r>
            <a:r>
              <a:rPr lang="en-ID" sz="1800" b="0" dirty="0">
                <a:effectLst/>
              </a:rPr>
              <a:t> dan </a:t>
            </a:r>
            <a:r>
              <a:rPr lang="en-ID" sz="1800" b="0" dirty="0" err="1">
                <a:effectLst/>
              </a:rPr>
              <a:t>dikelola</a:t>
            </a:r>
            <a:r>
              <a:rPr lang="en-ID" sz="1800" b="0" dirty="0">
                <a:effectLst/>
              </a:rPr>
              <a:t> oleh Microsoft. Hal </a:t>
            </a:r>
            <a:r>
              <a:rPr lang="en-ID" sz="1800" b="0" dirty="0" err="1">
                <a:effectLst/>
              </a:rPr>
              <a:t>ini</a:t>
            </a:r>
            <a:r>
              <a:rPr lang="en-ID" sz="1800" b="0" dirty="0">
                <a:effectLst/>
              </a:rPr>
              <a:t> </a:t>
            </a:r>
            <a:r>
              <a:rPr lang="en-ID" sz="1800" b="0" dirty="0" err="1">
                <a:effectLst/>
              </a:rPr>
              <a:t>memungkinkan</a:t>
            </a:r>
            <a:r>
              <a:rPr lang="en-ID" sz="1800" b="0" dirty="0">
                <a:effectLst/>
              </a:rPr>
              <a:t> </a:t>
            </a:r>
            <a:r>
              <a:rPr lang="en-ID" sz="1800" b="0" dirty="0" err="1">
                <a:effectLst/>
              </a:rPr>
              <a:t>aksesibilitas</a:t>
            </a:r>
            <a:r>
              <a:rPr lang="en-ID" sz="1800" b="0" dirty="0">
                <a:effectLst/>
              </a:rPr>
              <a:t> </a:t>
            </a:r>
            <a:r>
              <a:rPr lang="en-ID" sz="1800" b="0" dirty="0" err="1">
                <a:effectLst/>
              </a:rPr>
              <a:t>kode</a:t>
            </a:r>
            <a:r>
              <a:rPr lang="en-ID" sz="1800" b="0" dirty="0">
                <a:effectLst/>
              </a:rPr>
              <a:t> di </a:t>
            </a:r>
            <a:r>
              <a:rPr lang="en-ID" sz="1800" b="0" dirty="0" err="1">
                <a:effectLst/>
              </a:rPr>
              <a:t>berbagai</a:t>
            </a:r>
            <a:r>
              <a:rPr lang="en-ID" sz="1800" b="0" dirty="0">
                <a:effectLst/>
              </a:rPr>
              <a:t> platform. Xamarin </a:t>
            </a:r>
            <a:r>
              <a:rPr lang="en-ID" sz="1800" b="0" dirty="0" err="1">
                <a:effectLst/>
              </a:rPr>
              <a:t>membantu</a:t>
            </a:r>
            <a:r>
              <a:rPr lang="en-ID" sz="1800" b="0" dirty="0">
                <a:effectLst/>
              </a:rPr>
              <a:t> </a:t>
            </a:r>
            <a:r>
              <a:rPr lang="en-ID" sz="1800" b="0" dirty="0" err="1">
                <a:effectLst/>
              </a:rPr>
              <a:t>meningkatkan</a:t>
            </a:r>
            <a:r>
              <a:rPr lang="en-ID" sz="1800" b="0" dirty="0">
                <a:effectLst/>
              </a:rPr>
              <a:t> </a:t>
            </a:r>
            <a:r>
              <a:rPr lang="en-ID" sz="1800" b="0" dirty="0" err="1">
                <a:effectLst/>
              </a:rPr>
              <a:t>kecepatan</a:t>
            </a:r>
            <a:r>
              <a:rPr lang="en-ID" sz="1800" b="0" dirty="0">
                <a:effectLst/>
              </a:rPr>
              <a:t> </a:t>
            </a:r>
            <a:r>
              <a:rPr lang="en-ID" sz="1800" b="0" dirty="0" err="1">
                <a:effectLst/>
              </a:rPr>
              <a:t>pengembangan</a:t>
            </a:r>
            <a:r>
              <a:rPr lang="en-ID" sz="1800" b="0" dirty="0">
                <a:effectLst/>
              </a:rPr>
              <a:t> dan juga </a:t>
            </a:r>
            <a:r>
              <a:rPr lang="en-ID" sz="1800" b="0" dirty="0" err="1">
                <a:effectLst/>
              </a:rPr>
              <a:t>menyederhanakan</a:t>
            </a:r>
            <a:r>
              <a:rPr lang="en-ID" sz="1800" b="0" dirty="0">
                <a:effectLst/>
              </a:rPr>
              <a:t> </a:t>
            </a:r>
            <a:r>
              <a:rPr lang="en-ID" sz="1800" b="0" dirty="0" err="1">
                <a:effectLst/>
              </a:rPr>
              <a:t>pemeliharaan</a:t>
            </a:r>
            <a:r>
              <a:rPr lang="en-ID" sz="1800" b="0" dirty="0">
                <a:effectLst/>
              </a:rPr>
              <a:t>. Xamarin </a:t>
            </a:r>
            <a:r>
              <a:rPr lang="en-ID" sz="1800" b="0" dirty="0" err="1">
                <a:effectLst/>
              </a:rPr>
              <a:t>cocok</a:t>
            </a:r>
            <a:r>
              <a:rPr lang="en-ID" sz="1800" b="0" dirty="0">
                <a:effectLst/>
              </a:rPr>
              <a:t> </a:t>
            </a:r>
            <a:r>
              <a:rPr lang="en-ID" sz="1800" b="0" dirty="0" err="1">
                <a:effectLst/>
              </a:rPr>
              <a:t>untuk</a:t>
            </a:r>
            <a:r>
              <a:rPr lang="en-ID" sz="1800" b="0" dirty="0">
                <a:effectLst/>
              </a:rPr>
              <a:t> </a:t>
            </a:r>
            <a:r>
              <a:rPr lang="en-ID" sz="1800" b="0" dirty="0" err="1">
                <a:effectLst/>
              </a:rPr>
              <a:t>aplikasi</a:t>
            </a:r>
            <a:r>
              <a:rPr lang="en-ID" sz="1800" b="0" dirty="0">
                <a:effectLst/>
              </a:rPr>
              <a:t> </a:t>
            </a:r>
            <a:r>
              <a:rPr lang="en-ID" sz="1800" b="0" dirty="0" err="1">
                <a:effectLst/>
              </a:rPr>
              <a:t>sederhana</a:t>
            </a:r>
            <a:r>
              <a:rPr lang="en-ID" sz="1800" b="0" dirty="0">
                <a:effectLst/>
              </a:rPr>
              <a:t> dan </a:t>
            </a:r>
            <a:r>
              <a:rPr lang="en-ID" sz="1800" b="0" dirty="0" err="1">
                <a:effectLst/>
              </a:rPr>
              <a:t>biasanya</a:t>
            </a:r>
            <a:r>
              <a:rPr lang="en-ID" sz="1800" b="0" dirty="0">
                <a:effectLst/>
              </a:rPr>
              <a:t> </a:t>
            </a:r>
            <a:r>
              <a:rPr lang="en-ID" sz="1800" b="0" dirty="0" err="1">
                <a:effectLst/>
              </a:rPr>
              <a:t>dipilih</a:t>
            </a:r>
            <a:r>
              <a:rPr lang="en-ID" sz="1800" b="0" dirty="0">
                <a:effectLst/>
              </a:rPr>
              <a:t> </a:t>
            </a:r>
            <a:r>
              <a:rPr lang="en-ID" sz="1800" b="0" dirty="0" err="1">
                <a:effectLst/>
              </a:rPr>
              <a:t>untuk</a:t>
            </a:r>
            <a:r>
              <a:rPr lang="en-ID" sz="1800" b="0" dirty="0">
                <a:effectLst/>
              </a:rPr>
              <a:t> </a:t>
            </a:r>
            <a:r>
              <a:rPr lang="en-ID" sz="1800" b="0" dirty="0" err="1">
                <a:effectLst/>
              </a:rPr>
              <a:t>proyek</a:t>
            </a:r>
            <a:r>
              <a:rPr lang="en-ID" sz="1800" b="0" dirty="0">
                <a:effectLst/>
              </a:rPr>
              <a:t> yang </a:t>
            </a:r>
            <a:r>
              <a:rPr lang="en-ID" sz="1800" b="0" dirty="0" err="1">
                <a:effectLst/>
              </a:rPr>
              <a:t>ditujukan</a:t>
            </a:r>
            <a:r>
              <a:rPr lang="en-ID" sz="1800" b="0" dirty="0">
                <a:effectLst/>
              </a:rPr>
              <a:t> </a:t>
            </a:r>
            <a:r>
              <a:rPr lang="en-ID" sz="1800" b="0" dirty="0" err="1">
                <a:effectLst/>
              </a:rPr>
              <a:t>untuk</a:t>
            </a:r>
            <a:r>
              <a:rPr lang="en-ID" sz="1800" b="0" dirty="0">
                <a:effectLst/>
              </a:rPr>
              <a:t> </a:t>
            </a:r>
            <a:r>
              <a:rPr lang="en-ID" sz="1800" b="0" dirty="0" err="1">
                <a:effectLst/>
              </a:rPr>
              <a:t>bisnis</a:t>
            </a:r>
            <a:r>
              <a:rPr lang="en-ID" sz="1800" b="0" dirty="0">
                <a:effectLst/>
              </a:rPr>
              <a:t>. Xamarin </a:t>
            </a:r>
            <a:r>
              <a:rPr lang="en-ID" sz="1800" b="0" dirty="0" err="1">
                <a:effectLst/>
              </a:rPr>
              <a:t>menghentikan</a:t>
            </a:r>
            <a:r>
              <a:rPr lang="en-ID" sz="1800" b="0" dirty="0">
                <a:effectLst/>
              </a:rPr>
              <a:t> support pada Mei 2024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endParaRPr lang="en-ID" sz="1800" b="0" dirty="0"/>
          </a:p>
          <a:p>
            <a:pPr algn="just"/>
            <a:r>
              <a:rPr lang="en-ID" sz="1800" dirty="0"/>
              <a:t>Ionic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ID" sz="1800" b="0" i="1" dirty="0"/>
              <a:t>F</a:t>
            </a:r>
            <a:r>
              <a:rPr lang="en-ID" sz="1800" b="0" i="1" dirty="0">
                <a:effectLst/>
              </a:rPr>
              <a:t>ramework open source </a:t>
            </a:r>
            <a:r>
              <a:rPr lang="en-ID" sz="1800" b="0" dirty="0">
                <a:effectLst/>
              </a:rPr>
              <a:t>yang </a:t>
            </a:r>
            <a:r>
              <a:rPr lang="en-ID" sz="1800" b="0" dirty="0" err="1">
                <a:effectLst/>
              </a:rPr>
              <a:t>menghasilkan</a:t>
            </a:r>
            <a:r>
              <a:rPr lang="en-ID" sz="1800" b="0" dirty="0">
                <a:effectLst/>
              </a:rPr>
              <a:t> </a:t>
            </a:r>
            <a:r>
              <a:rPr lang="en-ID" sz="1800" b="0" dirty="0" err="1">
                <a:effectLst/>
              </a:rPr>
              <a:t>aplikasi</a:t>
            </a:r>
            <a:r>
              <a:rPr lang="en-ID" sz="1800" b="0" dirty="0">
                <a:effectLst/>
              </a:rPr>
              <a:t> mobile </a:t>
            </a:r>
            <a:r>
              <a:rPr lang="en-ID" sz="1800" b="0" dirty="0" err="1">
                <a:effectLst/>
              </a:rPr>
              <a:t>dengan</a:t>
            </a:r>
            <a:r>
              <a:rPr lang="en-ID" sz="1800" b="0" dirty="0">
                <a:effectLst/>
              </a:rPr>
              <a:t> </a:t>
            </a:r>
            <a:r>
              <a:rPr lang="en-ID" sz="1800" b="0" dirty="0" err="1">
                <a:effectLst/>
              </a:rPr>
              <a:t>teknologi</a:t>
            </a:r>
            <a:r>
              <a:rPr lang="en-ID" sz="1800" b="0" dirty="0">
                <a:effectLst/>
              </a:rPr>
              <a:t> web </a:t>
            </a:r>
            <a:r>
              <a:rPr lang="en-ID" sz="1800" b="0" dirty="0" err="1">
                <a:effectLst/>
              </a:rPr>
              <a:t>standar</a:t>
            </a:r>
            <a:r>
              <a:rPr lang="en-ID" sz="1800" b="0" dirty="0">
                <a:effectLst/>
              </a:rPr>
              <a:t>, </a:t>
            </a:r>
            <a:r>
              <a:rPr lang="en-ID" sz="1800" b="0" dirty="0" err="1">
                <a:effectLst/>
              </a:rPr>
              <a:t>seperti</a:t>
            </a:r>
            <a:r>
              <a:rPr lang="en-ID" sz="1800" b="0" dirty="0">
                <a:effectLst/>
              </a:rPr>
              <a:t> JavaScript, CSS, HTML. Developer juga </a:t>
            </a:r>
            <a:r>
              <a:rPr lang="en-ID" sz="1800" b="0" dirty="0" err="1">
                <a:effectLst/>
              </a:rPr>
              <a:t>memiliki</a:t>
            </a:r>
            <a:r>
              <a:rPr lang="en-ID" sz="1800" b="0" dirty="0">
                <a:effectLst/>
              </a:rPr>
              <a:t> </a:t>
            </a:r>
            <a:r>
              <a:rPr lang="en-ID" sz="1800" b="0" dirty="0" err="1">
                <a:effectLst/>
              </a:rPr>
              <a:t>akses</a:t>
            </a:r>
            <a:r>
              <a:rPr lang="en-ID" sz="1800" b="0" dirty="0">
                <a:effectLst/>
              </a:rPr>
              <a:t> </a:t>
            </a:r>
            <a:r>
              <a:rPr lang="en-ID" sz="1800" b="0" dirty="0" err="1">
                <a:effectLst/>
              </a:rPr>
              <a:t>ke</a:t>
            </a:r>
            <a:r>
              <a:rPr lang="en-ID" sz="1800" b="0" dirty="0">
                <a:effectLst/>
              </a:rPr>
              <a:t> </a:t>
            </a:r>
            <a:r>
              <a:rPr lang="en-ID" sz="1800" b="0" dirty="0" err="1">
                <a:effectLst/>
              </a:rPr>
              <a:t>banyak</a:t>
            </a:r>
            <a:r>
              <a:rPr lang="en-ID" sz="1800" b="0" dirty="0">
                <a:effectLst/>
              </a:rPr>
              <a:t> </a:t>
            </a:r>
            <a:r>
              <a:rPr lang="en-ID" sz="1800" b="0" dirty="0" err="1">
                <a:effectLst/>
              </a:rPr>
              <a:t>komponen</a:t>
            </a:r>
            <a:r>
              <a:rPr lang="en-ID" sz="1800" b="0" dirty="0">
                <a:effectLst/>
              </a:rPr>
              <a:t> UI </a:t>
            </a:r>
            <a:r>
              <a:rPr lang="en-ID" sz="1800" b="0" dirty="0" err="1">
                <a:effectLst/>
              </a:rPr>
              <a:t>sederhana</a:t>
            </a:r>
            <a:r>
              <a:rPr lang="en-ID" sz="1800" b="0" dirty="0">
                <a:effectLst/>
              </a:rPr>
              <a:t>. Waktu </a:t>
            </a:r>
            <a:r>
              <a:rPr lang="en-ID" sz="1800" b="0" dirty="0" err="1">
                <a:effectLst/>
              </a:rPr>
              <a:t>pengembangan</a:t>
            </a:r>
            <a:r>
              <a:rPr lang="en-ID" sz="1800" b="0" dirty="0">
                <a:effectLst/>
              </a:rPr>
              <a:t> juga </a:t>
            </a:r>
            <a:r>
              <a:rPr lang="en-ID" sz="1800" b="0" dirty="0" err="1">
                <a:effectLst/>
              </a:rPr>
              <a:t>sama</a:t>
            </a:r>
            <a:r>
              <a:rPr lang="en-ID" sz="1800" b="0" dirty="0">
                <a:effectLst/>
              </a:rPr>
              <a:t> </a:t>
            </a:r>
            <a:r>
              <a:rPr lang="en-ID" sz="1800" b="0" dirty="0" err="1">
                <a:effectLst/>
              </a:rPr>
              <a:t>baiknya</a:t>
            </a:r>
            <a:r>
              <a:rPr lang="en-ID" sz="1800" b="0" dirty="0">
                <a:effectLst/>
              </a:rPr>
              <a:t> </a:t>
            </a:r>
            <a:r>
              <a:rPr lang="en-ID" sz="1800" b="0" dirty="0" err="1">
                <a:effectLst/>
              </a:rPr>
              <a:t>dengan</a:t>
            </a:r>
            <a:r>
              <a:rPr lang="en-ID" sz="1800" b="0" dirty="0">
                <a:effectLst/>
              </a:rPr>
              <a:t> framework lain. </a:t>
            </a:r>
            <a:r>
              <a:rPr lang="en-ID" sz="1800" b="0" dirty="0" err="1">
                <a:effectLst/>
              </a:rPr>
              <a:t>Namun</a:t>
            </a:r>
            <a:r>
              <a:rPr lang="en-ID" sz="1800" b="0" dirty="0">
                <a:effectLst/>
              </a:rPr>
              <a:t> </a:t>
            </a:r>
            <a:r>
              <a:rPr lang="en-ID" sz="1800" b="0" dirty="0" err="1">
                <a:effectLst/>
              </a:rPr>
              <a:t>pemeliharaannya</a:t>
            </a:r>
            <a:r>
              <a:rPr lang="en-ID" sz="1800" b="0" dirty="0"/>
              <a:t> </a:t>
            </a:r>
            <a:r>
              <a:rPr lang="en-ID" sz="1800" b="0" dirty="0" err="1">
                <a:effectLst/>
              </a:rPr>
              <a:t>lebih</a:t>
            </a:r>
            <a:r>
              <a:rPr lang="en-ID" sz="1800" b="0" dirty="0">
                <a:effectLst/>
              </a:rPr>
              <a:t> </a:t>
            </a:r>
            <a:r>
              <a:rPr lang="en-ID" sz="1800" b="0" dirty="0" err="1">
                <a:effectLst/>
              </a:rPr>
              <a:t>sulit</a:t>
            </a:r>
            <a:r>
              <a:rPr lang="en-ID" sz="1800" b="0" dirty="0">
                <a:effectLst/>
              </a:rPr>
              <a:t>. Ionic </a:t>
            </a:r>
            <a:r>
              <a:rPr lang="en-ID" sz="1800" b="0" dirty="0" err="1">
                <a:effectLst/>
              </a:rPr>
              <a:t>menawarkan</a:t>
            </a:r>
            <a:r>
              <a:rPr lang="en-ID" sz="1800" b="0" dirty="0">
                <a:effectLst/>
              </a:rPr>
              <a:t> </a:t>
            </a:r>
            <a:r>
              <a:rPr lang="en-ID" sz="1800" b="0" dirty="0" err="1">
                <a:effectLst/>
              </a:rPr>
              <a:t>banyak</a:t>
            </a:r>
            <a:r>
              <a:rPr lang="en-ID" sz="1800" b="0" dirty="0">
                <a:effectLst/>
              </a:rPr>
              <a:t> plugin, </a:t>
            </a:r>
            <a:r>
              <a:rPr lang="en-ID" sz="1800" b="0" dirty="0" err="1">
                <a:effectLst/>
              </a:rPr>
              <a:t>sehingga</a:t>
            </a:r>
            <a:r>
              <a:rPr lang="en-ID" sz="1800" b="0" dirty="0">
                <a:effectLst/>
              </a:rPr>
              <a:t> </a:t>
            </a:r>
            <a:r>
              <a:rPr lang="en-ID" sz="1800" b="0" dirty="0" err="1">
                <a:effectLst/>
              </a:rPr>
              <a:t>perbaikan</a:t>
            </a:r>
            <a:r>
              <a:rPr lang="en-ID" sz="1800" b="0" dirty="0">
                <a:effectLst/>
              </a:rPr>
              <a:t> bug </a:t>
            </a:r>
            <a:r>
              <a:rPr lang="en-ID" sz="1800" b="0" dirty="0" err="1">
                <a:effectLst/>
              </a:rPr>
              <a:t>dimungkinkan</a:t>
            </a:r>
            <a:r>
              <a:rPr lang="en-ID" sz="1800" b="0" dirty="0">
                <a:effectLst/>
              </a:rPr>
              <a:t> </a:t>
            </a:r>
            <a:r>
              <a:rPr lang="en-ID" sz="1800" b="0" dirty="0" err="1">
                <a:effectLst/>
              </a:rPr>
              <a:t>memerlukan</a:t>
            </a:r>
            <a:r>
              <a:rPr lang="en-ID" sz="1800" b="0" dirty="0">
                <a:effectLst/>
              </a:rPr>
              <a:t> </a:t>
            </a:r>
            <a:r>
              <a:rPr lang="en-ID" sz="1800" b="0" dirty="0" err="1">
                <a:effectLst/>
              </a:rPr>
              <a:t>pekerjaan</a:t>
            </a:r>
            <a:r>
              <a:rPr lang="en-ID" sz="1800" b="0" dirty="0">
                <a:effectLst/>
              </a:rPr>
              <a:t> manual </a:t>
            </a:r>
            <a:r>
              <a:rPr lang="en-ID" sz="1800" b="0" dirty="0" err="1">
                <a:effectLst/>
              </a:rPr>
              <a:t>ekstra</a:t>
            </a:r>
            <a:r>
              <a:rPr lang="en-ID" sz="1800" b="0" dirty="0">
                <a:effectLst/>
              </a:rPr>
              <a:t>.</a:t>
            </a:r>
            <a:endParaRPr lang="en-ID" sz="1800" b="0" dirty="0"/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en-ID" sz="2000" b="1" dirty="0"/>
          </a:p>
          <a:p>
            <a:pPr algn="just"/>
            <a:endParaRPr lang="en-US" sz="1800" dirty="0"/>
          </a:p>
          <a:p>
            <a:pPr algn="just"/>
            <a:endParaRPr lang="en-US" sz="1800" dirty="0"/>
          </a:p>
          <a:p>
            <a:pPr algn="just"/>
            <a:endParaRPr lang="en-US" sz="1800" b="0" dirty="0"/>
          </a:p>
          <a:p>
            <a:pPr marL="342900" indent="-342900" algn="just">
              <a:buAutoNum type="arabicPeriod"/>
            </a:pPr>
            <a:endParaRPr lang="id-ID" sz="1800" b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6025FE-F5E9-2415-CFF6-9061C2212A67}"/>
              </a:ext>
            </a:extLst>
          </p:cNvPr>
          <p:cNvSpPr txBox="1">
            <a:spLocks/>
          </p:cNvSpPr>
          <p:nvPr/>
        </p:nvSpPr>
        <p:spPr>
          <a:xfrm>
            <a:off x="464501" y="2187665"/>
            <a:ext cx="8644003" cy="24826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Clr>
                <a:srgbClr val="30ACEC">
                  <a:lumMod val="75000"/>
                </a:srgbClr>
              </a:buClr>
              <a:buNone/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25748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B47940-55B1-68A0-0EA5-251F48DBCA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4">
            <a:extLst>
              <a:ext uri="{FF2B5EF4-FFF2-40B4-BE49-F238E27FC236}">
                <a16:creationId xmlns:a16="http://schemas.microsoft.com/office/drawing/2014/main" id="{B13903E3-3599-2477-8128-918C739BD5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 dirty="0" err="1"/>
              <a:t>Aplikasi</a:t>
            </a:r>
            <a:r>
              <a:rPr lang="en-US" sz="3200" dirty="0"/>
              <a:t> Hybrid</a:t>
            </a:r>
            <a:endParaRPr lang="en-ID" sz="3200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38CADBB0-BF37-C9AD-142E-4530584325AB}"/>
              </a:ext>
            </a:extLst>
          </p:cNvPr>
          <p:cNvSpPr txBox="1">
            <a:spLocks/>
          </p:cNvSpPr>
          <p:nvPr/>
        </p:nvSpPr>
        <p:spPr>
          <a:xfrm>
            <a:off x="464501" y="1988840"/>
            <a:ext cx="8498465" cy="3024336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sz="4000" b="1" kern="1200" baseline="0">
                <a:solidFill>
                  <a:schemeClr val="tx1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pPr algn="just"/>
            <a:r>
              <a:rPr lang="en-ID" sz="1800" dirty="0"/>
              <a:t>React Native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ID" sz="1800" b="0" i="1" dirty="0">
                <a:effectLst/>
              </a:rPr>
              <a:t>Framework</a:t>
            </a:r>
            <a:r>
              <a:rPr lang="en-ID" sz="1800" b="0" dirty="0">
                <a:effectLst/>
              </a:rPr>
              <a:t> </a:t>
            </a:r>
            <a:r>
              <a:rPr lang="en-ID" sz="1800" b="0" i="1" dirty="0">
                <a:effectLst/>
              </a:rPr>
              <a:t>open source </a:t>
            </a:r>
            <a:r>
              <a:rPr lang="en-ID" sz="1800" b="0" dirty="0">
                <a:effectLst/>
              </a:rPr>
              <a:t>yang </a:t>
            </a:r>
            <a:r>
              <a:rPr lang="en-ID" sz="1800" b="0" dirty="0" err="1">
                <a:effectLst/>
              </a:rPr>
              <a:t>dibuat</a:t>
            </a:r>
            <a:r>
              <a:rPr lang="en-ID" sz="1800" b="0" dirty="0">
                <a:effectLst/>
              </a:rPr>
              <a:t> oleh Facebook (Meta </a:t>
            </a:r>
            <a:r>
              <a:rPr lang="en-ID" sz="1800" b="0" dirty="0" err="1">
                <a:effectLst/>
              </a:rPr>
              <a:t>Paltform</a:t>
            </a:r>
            <a:r>
              <a:rPr lang="en-ID" sz="1800" b="0" dirty="0">
                <a:effectLst/>
              </a:rPr>
              <a:t>), </a:t>
            </a:r>
            <a:r>
              <a:rPr lang="en-ID" sz="1800" b="0" dirty="0" err="1">
                <a:effectLst/>
              </a:rPr>
              <a:t>untuk</a:t>
            </a:r>
            <a:r>
              <a:rPr lang="en-ID" sz="1800" b="0" dirty="0">
                <a:effectLst/>
              </a:rPr>
              <a:t> </a:t>
            </a:r>
            <a:r>
              <a:rPr lang="en-ID" sz="1800" b="0" dirty="0" err="1">
                <a:effectLst/>
              </a:rPr>
              <a:t>kompatibilitas</a:t>
            </a:r>
            <a:r>
              <a:rPr lang="en-ID" sz="1800" b="0" dirty="0">
                <a:effectLst/>
              </a:rPr>
              <a:t> </a:t>
            </a:r>
            <a:r>
              <a:rPr lang="en-ID" sz="1800" b="0" dirty="0" err="1">
                <a:effectLst/>
              </a:rPr>
              <a:t>lintas</a:t>
            </a:r>
            <a:r>
              <a:rPr lang="en-ID" sz="1800" b="0" dirty="0">
                <a:effectLst/>
              </a:rPr>
              <a:t> platform. React Native </a:t>
            </a:r>
            <a:r>
              <a:rPr lang="en-ID" sz="1800" b="0" dirty="0" err="1">
                <a:effectLst/>
              </a:rPr>
              <a:t>banyak</a:t>
            </a:r>
            <a:r>
              <a:rPr lang="en-ID" sz="1800" b="0" dirty="0">
                <a:effectLst/>
              </a:rPr>
              <a:t> </a:t>
            </a:r>
            <a:r>
              <a:rPr lang="en-ID" sz="1800" b="0" dirty="0" err="1">
                <a:effectLst/>
              </a:rPr>
              <a:t>digunakan</a:t>
            </a:r>
            <a:r>
              <a:rPr lang="en-ID" sz="1800" b="0" dirty="0">
                <a:effectLst/>
              </a:rPr>
              <a:t> </a:t>
            </a:r>
            <a:r>
              <a:rPr lang="en-ID" sz="1800" b="0" dirty="0" err="1">
                <a:effectLst/>
              </a:rPr>
              <a:t>karena</a:t>
            </a:r>
            <a:r>
              <a:rPr lang="en-ID" sz="1800" b="0" dirty="0">
                <a:effectLst/>
              </a:rPr>
              <a:t> </a:t>
            </a:r>
            <a:r>
              <a:rPr lang="en-ID" sz="1800" b="0" dirty="0" err="1">
                <a:effectLst/>
              </a:rPr>
              <a:t>waktu</a:t>
            </a:r>
            <a:r>
              <a:rPr lang="en-ID" sz="1800" b="0" dirty="0">
                <a:effectLst/>
              </a:rPr>
              <a:t> </a:t>
            </a:r>
            <a:r>
              <a:rPr lang="en-ID" sz="1800" b="0" dirty="0" err="1">
                <a:effectLst/>
              </a:rPr>
              <a:t>pengembangan</a:t>
            </a:r>
            <a:r>
              <a:rPr lang="en-ID" sz="1800" b="0" dirty="0">
                <a:effectLst/>
              </a:rPr>
              <a:t> yang </a:t>
            </a:r>
            <a:r>
              <a:rPr lang="en-ID" sz="1800" b="0" dirty="0" err="1">
                <a:effectLst/>
              </a:rPr>
              <a:t>singkat</a:t>
            </a:r>
            <a:r>
              <a:rPr lang="en-ID" sz="1800" b="0" dirty="0">
                <a:effectLst/>
              </a:rPr>
              <a:t>. Dimana UI yang </a:t>
            </a:r>
            <a:r>
              <a:rPr lang="en-ID" sz="1800" b="0" dirty="0" err="1">
                <a:effectLst/>
              </a:rPr>
              <a:t>disederhanakan</a:t>
            </a:r>
            <a:r>
              <a:rPr lang="en-ID" sz="1800" b="0" dirty="0">
                <a:effectLst/>
              </a:rPr>
              <a:t> </a:t>
            </a:r>
            <a:r>
              <a:rPr lang="en-ID" sz="1800" b="0" dirty="0" err="1">
                <a:effectLst/>
              </a:rPr>
              <a:t>sehingga</a:t>
            </a:r>
            <a:r>
              <a:rPr lang="en-ID" sz="1800" b="0" dirty="0">
                <a:effectLst/>
              </a:rPr>
              <a:t> </a:t>
            </a:r>
            <a:r>
              <a:rPr lang="en-ID" sz="1800" b="0" dirty="0" err="1">
                <a:effectLst/>
              </a:rPr>
              <a:t>meningkatkan</a:t>
            </a:r>
            <a:r>
              <a:rPr lang="en-ID" sz="1800" b="0" dirty="0">
                <a:effectLst/>
              </a:rPr>
              <a:t> </a:t>
            </a:r>
            <a:r>
              <a:rPr lang="en-ID" sz="1800" b="0" dirty="0" err="1">
                <a:effectLst/>
              </a:rPr>
              <a:t>kinerja</a:t>
            </a:r>
            <a:r>
              <a:rPr lang="en-ID" sz="1800" b="0" dirty="0">
                <a:effectLst/>
              </a:rPr>
              <a:t> </a:t>
            </a:r>
            <a:r>
              <a:rPr lang="en-ID" sz="1800" b="0" dirty="0" err="1">
                <a:effectLst/>
              </a:rPr>
              <a:t>secara</a:t>
            </a:r>
            <a:r>
              <a:rPr lang="en-ID" sz="1800" b="0" dirty="0">
                <a:effectLst/>
              </a:rPr>
              <a:t> </a:t>
            </a:r>
            <a:r>
              <a:rPr lang="en-ID" sz="1800" b="0" dirty="0" err="1">
                <a:effectLst/>
              </a:rPr>
              <a:t>signifikan</a:t>
            </a:r>
            <a:r>
              <a:rPr lang="en-ID" sz="1800" b="0" dirty="0">
                <a:effectLst/>
              </a:rPr>
              <a:t>, </a:t>
            </a:r>
            <a:r>
              <a:rPr lang="en-ID" sz="1800" b="0" dirty="0" err="1">
                <a:effectLst/>
              </a:rPr>
              <a:t>seperti</a:t>
            </a:r>
            <a:r>
              <a:rPr lang="en-ID" sz="1800" b="0" dirty="0">
                <a:effectLst/>
              </a:rPr>
              <a:t> </a:t>
            </a:r>
            <a:r>
              <a:rPr lang="en-ID" sz="1800" b="0" dirty="0" err="1">
                <a:effectLst/>
              </a:rPr>
              <a:t>waktu</a:t>
            </a:r>
            <a:r>
              <a:rPr lang="en-ID" sz="1800" b="0" dirty="0">
                <a:effectLst/>
              </a:rPr>
              <a:t> </a:t>
            </a:r>
            <a:r>
              <a:rPr lang="en-ID" sz="1800" b="0" dirty="0" err="1">
                <a:effectLst/>
              </a:rPr>
              <a:t>muat</a:t>
            </a:r>
            <a:r>
              <a:rPr lang="en-ID" sz="1800" b="0" dirty="0">
                <a:effectLst/>
              </a:rPr>
              <a:t> </a:t>
            </a:r>
            <a:r>
              <a:rPr lang="en-ID" sz="1800" b="0" dirty="0" err="1">
                <a:effectLst/>
              </a:rPr>
              <a:t>ulang</a:t>
            </a:r>
            <a:endParaRPr lang="en-ID" sz="1800" b="0" dirty="0"/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en-ID" sz="2000" b="1" dirty="0"/>
          </a:p>
          <a:p>
            <a:pPr algn="just"/>
            <a:r>
              <a:rPr lang="en-US" sz="1800" dirty="0"/>
              <a:t>Flutter</a:t>
            </a:r>
            <a:endParaRPr lang="en-US" sz="1800" b="0" dirty="0"/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1800" b="0" dirty="0"/>
              <a:t>Flutter </a:t>
            </a:r>
            <a:r>
              <a:rPr lang="en-US" sz="1800" b="0" dirty="0" err="1"/>
              <a:t>merupakan</a:t>
            </a:r>
            <a:r>
              <a:rPr lang="en-US" sz="1800" b="0" dirty="0"/>
              <a:t> framework open source yang </a:t>
            </a:r>
            <a:r>
              <a:rPr lang="en-US" sz="1800" b="0" dirty="0" err="1"/>
              <a:t>dapat</a:t>
            </a:r>
            <a:r>
              <a:rPr lang="en-US" sz="1800" b="0" dirty="0"/>
              <a:t> </a:t>
            </a:r>
            <a:r>
              <a:rPr lang="en-US" sz="1800" b="0" dirty="0" err="1"/>
              <a:t>digunakan</a:t>
            </a:r>
            <a:r>
              <a:rPr lang="en-US" sz="1800" b="0" dirty="0"/>
              <a:t> </a:t>
            </a:r>
            <a:r>
              <a:rPr lang="en-US" sz="1800" b="0" dirty="0" err="1"/>
              <a:t>untuk</a:t>
            </a:r>
            <a:r>
              <a:rPr lang="en-US" sz="1800" b="0" dirty="0"/>
              <a:t> </a:t>
            </a:r>
            <a:r>
              <a:rPr lang="en-US" sz="1800" b="0" dirty="0" err="1"/>
              <a:t>mengembangkan</a:t>
            </a:r>
            <a:r>
              <a:rPr lang="en-US" sz="1800" b="0" dirty="0"/>
              <a:t> </a:t>
            </a:r>
            <a:r>
              <a:rPr lang="en-US" sz="1800" b="0" dirty="0" err="1"/>
              <a:t>aplikasi</a:t>
            </a:r>
            <a:r>
              <a:rPr lang="en-US" sz="1800" b="0" dirty="0"/>
              <a:t> multiplatform, </a:t>
            </a:r>
            <a:r>
              <a:rPr lang="en-US" sz="1800" b="0" dirty="0" err="1"/>
              <a:t>seperti</a:t>
            </a:r>
            <a:r>
              <a:rPr lang="en-US" sz="1800" b="0" dirty="0"/>
              <a:t> Android, web, iOS, Windows, MacOS, </a:t>
            </a:r>
            <a:r>
              <a:rPr lang="en-US" sz="1800" b="0" dirty="0" err="1"/>
              <a:t>maupun</a:t>
            </a:r>
            <a:r>
              <a:rPr lang="en-US" sz="1800" b="0" dirty="0"/>
              <a:t> Linux. Framework </a:t>
            </a:r>
            <a:r>
              <a:rPr lang="en-US" sz="1800" b="0" dirty="0" err="1"/>
              <a:t>ini</a:t>
            </a:r>
            <a:r>
              <a:rPr lang="en-US" sz="1800" b="0" dirty="0"/>
              <a:t> </a:t>
            </a:r>
            <a:r>
              <a:rPr lang="en-US" sz="1800" b="0" dirty="0" err="1"/>
              <a:t>pertama</a:t>
            </a:r>
            <a:r>
              <a:rPr lang="en-US" sz="1800" b="0" dirty="0"/>
              <a:t> kali </a:t>
            </a:r>
            <a:r>
              <a:rPr lang="en-US" sz="1800" b="0" dirty="0" err="1"/>
              <a:t>diperkenalkan</a:t>
            </a:r>
            <a:r>
              <a:rPr lang="en-US" sz="1800" b="0" dirty="0"/>
              <a:t> oleh Google pada Mei </a:t>
            </a:r>
            <a:r>
              <a:rPr lang="en-US" sz="1800" b="0" dirty="0" err="1"/>
              <a:t>tahun</a:t>
            </a:r>
            <a:r>
              <a:rPr lang="en-US" sz="1800" b="0" dirty="0"/>
              <a:t> 2017. </a:t>
            </a:r>
            <a:r>
              <a:rPr lang="en-US" sz="1800" b="0" dirty="0" err="1"/>
              <a:t>Dengan</a:t>
            </a:r>
            <a:r>
              <a:rPr lang="en-US" sz="1800" b="0" dirty="0"/>
              <a:t> Flutter, developer </a:t>
            </a:r>
            <a:r>
              <a:rPr lang="en-US" sz="1800" b="0" dirty="0" err="1"/>
              <a:t>dapat</a:t>
            </a:r>
            <a:r>
              <a:rPr lang="en-US" sz="1800" b="0" dirty="0"/>
              <a:t> </a:t>
            </a:r>
            <a:r>
              <a:rPr lang="en-US" sz="1800" b="0" dirty="0" err="1"/>
              <a:t>membuat</a:t>
            </a:r>
            <a:r>
              <a:rPr lang="en-US" sz="1800" b="0" dirty="0"/>
              <a:t> </a:t>
            </a:r>
            <a:r>
              <a:rPr lang="en-US" sz="1800" b="0" dirty="0" err="1"/>
              <a:t>aplikasi</a:t>
            </a:r>
            <a:r>
              <a:rPr lang="en-US" sz="1800" b="0" dirty="0"/>
              <a:t> </a:t>
            </a:r>
            <a:r>
              <a:rPr lang="en-US" sz="1800" b="0" dirty="0" err="1"/>
              <a:t>dengan</a:t>
            </a:r>
            <a:r>
              <a:rPr lang="en-US" sz="1800" b="0" dirty="0"/>
              <a:t> </a:t>
            </a:r>
            <a:r>
              <a:rPr lang="en-US" sz="1800" b="0" dirty="0" err="1"/>
              <a:t>latar</a:t>
            </a:r>
            <a:r>
              <a:rPr lang="en-US" sz="1800" b="0" dirty="0"/>
              <a:t> </a:t>
            </a:r>
            <a:r>
              <a:rPr lang="en-US" sz="1800" b="0" dirty="0" err="1"/>
              <a:t>belakang</a:t>
            </a:r>
            <a:r>
              <a:rPr lang="en-US" sz="1800" b="0" dirty="0"/>
              <a:t> platform yang </a:t>
            </a:r>
            <a:r>
              <a:rPr lang="en-US" sz="1800" b="0" dirty="0" err="1"/>
              <a:t>berbeda</a:t>
            </a:r>
            <a:r>
              <a:rPr lang="en-US" sz="1800" b="0" dirty="0"/>
              <a:t> </a:t>
            </a:r>
            <a:r>
              <a:rPr lang="en-US" sz="1800" b="0" dirty="0" err="1"/>
              <a:t>dari</a:t>
            </a:r>
            <a:r>
              <a:rPr lang="en-US" sz="1800" b="0" dirty="0"/>
              <a:t> basis </a:t>
            </a:r>
            <a:r>
              <a:rPr lang="en-US" sz="1800" b="0" dirty="0" err="1"/>
              <a:t>kode</a:t>
            </a:r>
            <a:r>
              <a:rPr lang="en-US" sz="1800" b="0" dirty="0"/>
              <a:t> yang </a:t>
            </a:r>
            <a:r>
              <a:rPr lang="en-US" sz="1800" b="0" dirty="0" err="1"/>
              <a:t>sama</a:t>
            </a:r>
            <a:r>
              <a:rPr lang="en-US" sz="1800" b="0" dirty="0"/>
              <a:t>.</a:t>
            </a:r>
            <a:endParaRPr lang="en-US" sz="1800" dirty="0"/>
          </a:p>
          <a:p>
            <a:pPr algn="just"/>
            <a:endParaRPr lang="en-US" sz="1800" dirty="0"/>
          </a:p>
          <a:p>
            <a:pPr algn="just"/>
            <a:endParaRPr lang="en-US" sz="1800" b="0" dirty="0"/>
          </a:p>
          <a:p>
            <a:pPr marL="342900" indent="-342900" algn="just">
              <a:buAutoNum type="arabicPeriod"/>
            </a:pPr>
            <a:endParaRPr lang="id-ID" sz="1800" b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6025FE-F5E9-2415-CFF6-9061C2212A67}"/>
              </a:ext>
            </a:extLst>
          </p:cNvPr>
          <p:cNvSpPr txBox="1">
            <a:spLocks/>
          </p:cNvSpPr>
          <p:nvPr/>
        </p:nvSpPr>
        <p:spPr>
          <a:xfrm>
            <a:off x="464501" y="2187665"/>
            <a:ext cx="8644003" cy="24826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2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Clr>
                <a:srgbClr val="30ACEC">
                  <a:lumMod val="75000"/>
                </a:srgbClr>
              </a:buClr>
              <a:buNone/>
            </a:pPr>
            <a:endParaRPr kumimoji="0" lang="id-ID" sz="20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81823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A30E8E-BC2F-C913-BE85-7DCE818CA9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367768-725F-8887-FF5C-8AF87F9B32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id-ID"/>
          </a:p>
        </p:txBody>
      </p:sp>
      <p:pic>
        <p:nvPicPr>
          <p:cNvPr id="2050" name="Picture 2" descr="flutter adalah">
            <a:extLst>
              <a:ext uri="{FF2B5EF4-FFF2-40B4-BE49-F238E27FC236}">
                <a16:creationId xmlns:a16="http://schemas.microsoft.com/office/drawing/2014/main" id="{2B24FA72-73DC-288C-965A-A84C50B57B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534757"/>
            <a:ext cx="8730716" cy="54051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BBE6D20-06EF-5613-87F2-3A6DCD42A564}"/>
              </a:ext>
            </a:extLst>
          </p:cNvPr>
          <p:cNvSpPr txBox="1"/>
          <p:nvPr/>
        </p:nvSpPr>
        <p:spPr>
          <a:xfrm>
            <a:off x="179512" y="6429647"/>
            <a:ext cx="3411656" cy="3142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d-ID" sz="1400" dirty="0"/>
              <a:t>www.dewaweb.com/blog/apa-itu-flutter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14CA6CB-927A-2C94-8146-0B4FC7C90DD0}"/>
              </a:ext>
            </a:extLst>
          </p:cNvPr>
          <p:cNvSpPr txBox="1"/>
          <p:nvPr/>
        </p:nvSpPr>
        <p:spPr>
          <a:xfrm>
            <a:off x="3874181" y="5964580"/>
            <a:ext cx="1409810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dirty="0" err="1"/>
              <a:t>Survei</a:t>
            </a:r>
            <a:r>
              <a:rPr lang="en-US" sz="1500" dirty="0"/>
              <a:t> Statista</a:t>
            </a:r>
            <a:endParaRPr lang="id-ID" sz="1500" dirty="0"/>
          </a:p>
        </p:txBody>
      </p:sp>
    </p:spTree>
    <p:extLst>
      <p:ext uri="{BB962C8B-B14F-4D97-AF65-F5344CB8AC3E}">
        <p14:creationId xmlns:p14="http://schemas.microsoft.com/office/powerpoint/2010/main" val="6655388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B494AF-B502-2F60-1217-167D47DD2C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Kapan </a:t>
            </a:r>
            <a:r>
              <a:rPr lang="en-US" dirty="0" err="1"/>
              <a:t>memilih</a:t>
            </a:r>
            <a:r>
              <a:rPr lang="en-US" dirty="0"/>
              <a:t> </a:t>
            </a:r>
            <a:r>
              <a:rPr lang="en-US" dirty="0" err="1"/>
              <a:t>aplikasi</a:t>
            </a:r>
            <a:r>
              <a:rPr lang="en-US" dirty="0"/>
              <a:t> hybrid?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FC4CE8-EB28-58F2-862E-18652B3C6E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1313" indent="-341313" algn="just">
              <a:buFont typeface="Wingdings" pitchFamily="2" charset="2"/>
              <a:buChar char="q"/>
            </a:pPr>
            <a:r>
              <a:rPr lang="en-US" sz="2400" dirty="0"/>
              <a:t>Perusahaan </a:t>
            </a:r>
            <a:r>
              <a:rPr lang="en-US" sz="2400" dirty="0" err="1"/>
              <a:t>sering</a:t>
            </a:r>
            <a:r>
              <a:rPr lang="en-US" sz="2400" dirty="0"/>
              <a:t> </a:t>
            </a:r>
            <a:r>
              <a:rPr lang="en-US" sz="2400" dirty="0" err="1"/>
              <a:t>memilih</a:t>
            </a:r>
            <a:r>
              <a:rPr lang="en-US" sz="2400" dirty="0"/>
              <a:t> </a:t>
            </a:r>
            <a:r>
              <a:rPr lang="en-US" sz="2400" dirty="0" err="1"/>
              <a:t>aplikasi</a:t>
            </a:r>
            <a:r>
              <a:rPr lang="en-US" sz="2400" dirty="0"/>
              <a:t> hybrid </a:t>
            </a:r>
            <a:r>
              <a:rPr lang="en-US" sz="2400" dirty="0" err="1"/>
              <a:t>ketika</a:t>
            </a:r>
            <a:r>
              <a:rPr lang="en-US" sz="2400" dirty="0"/>
              <a:t> </a:t>
            </a:r>
            <a:r>
              <a:rPr lang="en-US" sz="2400" dirty="0" err="1"/>
              <a:t>ingin</a:t>
            </a:r>
            <a:r>
              <a:rPr lang="en-US" sz="2400" dirty="0"/>
              <a:t> </a:t>
            </a:r>
            <a:r>
              <a:rPr lang="en-US" sz="2400" dirty="0" err="1"/>
              <a:t>mengembangkan</a:t>
            </a:r>
            <a:r>
              <a:rPr lang="en-US" sz="2400" dirty="0"/>
              <a:t> </a:t>
            </a:r>
            <a:r>
              <a:rPr lang="en-US" sz="2400" dirty="0" err="1"/>
              <a:t>jangkauan</a:t>
            </a:r>
            <a:r>
              <a:rPr lang="en-US" sz="2400" dirty="0"/>
              <a:t> </a:t>
            </a:r>
            <a:r>
              <a:rPr lang="en-US" sz="2400" dirty="0" err="1"/>
              <a:t>perangkat</a:t>
            </a:r>
            <a:r>
              <a:rPr lang="en-US" sz="2400" dirty="0"/>
              <a:t>, </a:t>
            </a:r>
            <a:r>
              <a:rPr lang="en-US" sz="2400" dirty="0" err="1"/>
              <a:t>tetapi</a:t>
            </a:r>
            <a:r>
              <a:rPr lang="en-US" sz="2400" dirty="0"/>
              <a:t> juga </a:t>
            </a:r>
            <a:r>
              <a:rPr lang="en-US" sz="2400" dirty="0" err="1"/>
              <a:t>bertujuan</a:t>
            </a:r>
            <a:r>
              <a:rPr lang="en-US" sz="2400" dirty="0"/>
              <a:t> </a:t>
            </a:r>
            <a:r>
              <a:rPr lang="en-US" sz="2400" dirty="0" err="1"/>
              <a:t>untuk</a:t>
            </a:r>
            <a:r>
              <a:rPr lang="en-US" sz="2400" dirty="0"/>
              <a:t> </a:t>
            </a:r>
            <a:r>
              <a:rPr lang="en-US" sz="2400" dirty="0" err="1"/>
              <a:t>memanfaatkan</a:t>
            </a:r>
            <a:r>
              <a:rPr lang="en-US" sz="2400" dirty="0"/>
              <a:t> </a:t>
            </a:r>
            <a:r>
              <a:rPr lang="en-US" sz="2400" dirty="0" err="1"/>
              <a:t>fitur-fitur</a:t>
            </a:r>
            <a:r>
              <a:rPr lang="en-US" sz="2400" dirty="0"/>
              <a:t> </a:t>
            </a:r>
            <a:r>
              <a:rPr lang="en-US" sz="2400" dirty="0" err="1"/>
              <a:t>murni</a:t>
            </a:r>
            <a:r>
              <a:rPr lang="en-US" sz="2400" dirty="0"/>
              <a:t> </a:t>
            </a:r>
            <a:r>
              <a:rPr lang="en-US" sz="2400" dirty="0" err="1"/>
              <a:t>dari</a:t>
            </a:r>
            <a:r>
              <a:rPr lang="en-US" sz="2400" dirty="0"/>
              <a:t> </a:t>
            </a:r>
            <a:r>
              <a:rPr lang="en-US" sz="2400" dirty="0" err="1"/>
              <a:t>aplikasi</a:t>
            </a:r>
            <a:r>
              <a:rPr lang="en-US" sz="2400" dirty="0"/>
              <a:t> web yang </a:t>
            </a:r>
            <a:r>
              <a:rPr lang="en-US" sz="2400" dirty="0" err="1"/>
              <a:t>tidak</a:t>
            </a:r>
            <a:r>
              <a:rPr lang="en-US" sz="2400" dirty="0"/>
              <a:t> </a:t>
            </a:r>
            <a:r>
              <a:rPr lang="en-US" sz="2400" dirty="0" err="1"/>
              <a:t>bisa</a:t>
            </a:r>
            <a:r>
              <a:rPr lang="en-US" sz="2400" dirty="0"/>
              <a:t> </a:t>
            </a:r>
            <a:r>
              <a:rPr lang="en-US" sz="2400" dirty="0" err="1"/>
              <a:t>diakses</a:t>
            </a:r>
            <a:r>
              <a:rPr lang="en-US" sz="2400" dirty="0"/>
              <a:t> oleh </a:t>
            </a:r>
            <a:r>
              <a:rPr lang="en-US" sz="2400" dirty="0" err="1"/>
              <a:t>mereka</a:t>
            </a:r>
            <a:endParaRPr lang="en-US" sz="2400" dirty="0"/>
          </a:p>
          <a:p>
            <a:pPr marL="341313" indent="-341313" algn="just">
              <a:buFont typeface="Wingdings" pitchFamily="2" charset="2"/>
              <a:buChar char="q"/>
            </a:pPr>
            <a:r>
              <a:rPr lang="en-US" sz="2400" dirty="0" err="1"/>
              <a:t>Tampilan</a:t>
            </a:r>
            <a:r>
              <a:rPr lang="en-US" sz="2400" dirty="0"/>
              <a:t> web </a:t>
            </a:r>
            <a:r>
              <a:rPr lang="en-US" sz="2400" dirty="0" err="1"/>
              <a:t>memungkinkan</a:t>
            </a:r>
            <a:r>
              <a:rPr lang="en-US" sz="2400" dirty="0"/>
              <a:t> </a:t>
            </a:r>
            <a:r>
              <a:rPr lang="en-US" sz="2400" dirty="0" err="1"/>
              <a:t>perusahaan</a:t>
            </a:r>
            <a:r>
              <a:rPr lang="en-US" sz="2400" dirty="0"/>
              <a:t> </a:t>
            </a:r>
            <a:r>
              <a:rPr lang="en-US" sz="2400" dirty="0" err="1"/>
              <a:t>untuk</a:t>
            </a:r>
            <a:r>
              <a:rPr lang="en-US" sz="2400" dirty="0"/>
              <a:t> </a:t>
            </a:r>
            <a:r>
              <a:rPr lang="en-US" sz="2400" dirty="0" err="1"/>
              <a:t>menggunakan</a:t>
            </a:r>
            <a:r>
              <a:rPr lang="en-US" sz="2400" dirty="0"/>
              <a:t> </a:t>
            </a:r>
            <a:r>
              <a:rPr lang="en-US" sz="2400" dirty="0" err="1"/>
              <a:t>kembali</a:t>
            </a:r>
            <a:r>
              <a:rPr lang="en-US" sz="2400" dirty="0"/>
              <a:t> </a:t>
            </a:r>
            <a:r>
              <a:rPr lang="en-US" sz="2400" dirty="0" err="1"/>
              <a:t>kode</a:t>
            </a:r>
            <a:r>
              <a:rPr lang="en-US" sz="2400" dirty="0"/>
              <a:t> dan </a:t>
            </a:r>
            <a:r>
              <a:rPr lang="en-US" sz="2400" dirty="0" err="1"/>
              <a:t>konten</a:t>
            </a:r>
            <a:r>
              <a:rPr lang="en-US" sz="2400" dirty="0"/>
              <a:t> yang </a:t>
            </a:r>
            <a:r>
              <a:rPr lang="en-US" sz="2400" dirty="0" err="1"/>
              <a:t>berjalan</a:t>
            </a:r>
            <a:r>
              <a:rPr lang="en-US" sz="2400" dirty="0"/>
              <a:t> di browser </a:t>
            </a:r>
            <a:r>
              <a:rPr lang="en-US" sz="2400" dirty="0" err="1"/>
              <a:t>untuk</a:t>
            </a:r>
            <a:r>
              <a:rPr lang="en-US" sz="2400" dirty="0"/>
              <a:t> iOS, Android, </a:t>
            </a:r>
            <a:r>
              <a:rPr lang="en-US" sz="2400" dirty="0" err="1"/>
              <a:t>atau</a:t>
            </a:r>
            <a:r>
              <a:rPr lang="en-US" sz="2400" dirty="0"/>
              <a:t> </a:t>
            </a:r>
            <a:r>
              <a:rPr lang="en-US" sz="2400" dirty="0" err="1"/>
              <a:t>aplikasi</a:t>
            </a:r>
            <a:r>
              <a:rPr lang="en-US" sz="2400" dirty="0"/>
              <a:t> Windows</a:t>
            </a:r>
          </a:p>
          <a:p>
            <a:pPr marL="341313" indent="-341313" algn="just">
              <a:buFont typeface="Wingdings" pitchFamily="2" charset="2"/>
              <a:buChar char="q"/>
            </a:pPr>
            <a:r>
              <a:rPr lang="en-US" sz="2400" dirty="0"/>
              <a:t>Hanya </a:t>
            </a:r>
            <a:r>
              <a:rPr lang="en-US" sz="2400" dirty="0" err="1"/>
              <a:t>elemen</a:t>
            </a:r>
            <a:r>
              <a:rPr lang="en-US" sz="2400" dirty="0"/>
              <a:t> </a:t>
            </a:r>
            <a:r>
              <a:rPr lang="en-US" sz="2400" dirty="0" err="1"/>
              <a:t>asli</a:t>
            </a:r>
            <a:r>
              <a:rPr lang="en-US" sz="2400" dirty="0"/>
              <a:t> </a:t>
            </a:r>
            <a:r>
              <a:rPr lang="en-US" sz="2400" dirty="0" err="1"/>
              <a:t>aplikasi</a:t>
            </a:r>
            <a:r>
              <a:rPr lang="en-US" sz="2400" dirty="0"/>
              <a:t> hybrid yang </a:t>
            </a:r>
            <a:r>
              <a:rPr lang="en-US" sz="2400" dirty="0" err="1"/>
              <a:t>perlu</a:t>
            </a:r>
            <a:r>
              <a:rPr lang="en-US" sz="2400" dirty="0"/>
              <a:t> </a:t>
            </a:r>
            <a:r>
              <a:rPr lang="en-US" sz="2400" dirty="0" err="1"/>
              <a:t>ditulis</a:t>
            </a:r>
            <a:r>
              <a:rPr lang="en-US" sz="2400" dirty="0"/>
              <a:t> </a:t>
            </a:r>
            <a:r>
              <a:rPr lang="en-US" sz="2400" dirty="0" err="1"/>
              <a:t>ulang</a:t>
            </a:r>
            <a:r>
              <a:rPr lang="en-US" sz="2400" dirty="0"/>
              <a:t> </a:t>
            </a:r>
            <a:r>
              <a:rPr lang="en-US" sz="2400" dirty="0" err="1"/>
              <a:t>untuk</a:t>
            </a:r>
            <a:r>
              <a:rPr lang="en-US" sz="2400" dirty="0"/>
              <a:t> </a:t>
            </a:r>
            <a:r>
              <a:rPr lang="en-US" sz="2400" dirty="0" err="1"/>
              <a:t>setiap</a:t>
            </a:r>
            <a:r>
              <a:rPr lang="en-US" sz="2400" dirty="0"/>
              <a:t> </a:t>
            </a:r>
            <a:r>
              <a:rPr lang="en-US" sz="2400" dirty="0" err="1"/>
              <a:t>operasi</a:t>
            </a:r>
            <a:r>
              <a:rPr lang="en-US" sz="2400" dirty="0"/>
              <a:t> </a:t>
            </a:r>
            <a:r>
              <a:rPr lang="en-US" sz="2400" dirty="0" err="1"/>
              <a:t>aplikasi</a:t>
            </a:r>
            <a:r>
              <a:rPr lang="en-US" sz="2400" dirty="0"/>
              <a:t> </a:t>
            </a:r>
            <a:r>
              <a:rPr lang="en-US" sz="2400" dirty="0" err="1"/>
              <a:t>baru</a:t>
            </a:r>
            <a:r>
              <a:rPr lang="en-US" sz="2400" dirty="0"/>
              <a:t> pada </a:t>
            </a:r>
            <a:r>
              <a:rPr lang="en-US" sz="2400" dirty="0" err="1"/>
              <a:t>sistem</a:t>
            </a:r>
            <a:r>
              <a:rPr lang="en-US" sz="2400" dirty="0"/>
              <a:t>, yang mana </a:t>
            </a:r>
            <a:r>
              <a:rPr lang="en-US" sz="2400" dirty="0" err="1"/>
              <a:t>dapat</a:t>
            </a:r>
            <a:r>
              <a:rPr lang="en-US" sz="2400" dirty="0"/>
              <a:t> </a:t>
            </a:r>
            <a:r>
              <a:rPr lang="en-US" sz="2400" dirty="0" err="1"/>
              <a:t>menghemat</a:t>
            </a:r>
            <a:r>
              <a:rPr lang="en-US" sz="2400" dirty="0"/>
              <a:t> </a:t>
            </a:r>
            <a:r>
              <a:rPr lang="en-US" sz="2400" dirty="0" err="1"/>
              <a:t>biaya</a:t>
            </a:r>
            <a:r>
              <a:rPr lang="en-US" sz="2400" dirty="0"/>
              <a:t> dan </a:t>
            </a:r>
            <a:r>
              <a:rPr lang="en-US" sz="2400" dirty="0" err="1"/>
              <a:t>waktu</a:t>
            </a:r>
            <a:r>
              <a:rPr lang="en-US" sz="2400" dirty="0"/>
              <a:t> yang </a:t>
            </a:r>
            <a:r>
              <a:rPr lang="en-US" sz="2400" dirty="0" err="1"/>
              <a:t>cukup</a:t>
            </a:r>
            <a:r>
              <a:rPr lang="en-US" sz="2400" dirty="0"/>
              <a:t> </a:t>
            </a:r>
            <a:r>
              <a:rPr lang="en-US" sz="2400" dirty="0" err="1"/>
              <a:t>besar</a:t>
            </a:r>
            <a:endParaRPr lang="en-US" sz="24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07000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1A8EA2-6E3D-3836-8EF6-E5493B44C4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F416A1-B517-51A4-F229-145D237AD6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Kapan </a:t>
            </a:r>
            <a:r>
              <a:rPr lang="en-US" dirty="0" err="1"/>
              <a:t>memilih</a:t>
            </a:r>
            <a:r>
              <a:rPr lang="en-US" dirty="0"/>
              <a:t> </a:t>
            </a:r>
            <a:r>
              <a:rPr lang="en-US" dirty="0" err="1"/>
              <a:t>aplikasi</a:t>
            </a:r>
            <a:r>
              <a:rPr lang="en-US" dirty="0"/>
              <a:t> hybrid?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F6F7B9-47A5-2FFD-2F9C-A5E3126182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1313" indent="-341313" algn="just">
              <a:buFont typeface="Wingdings" pitchFamily="2" charset="2"/>
              <a:buChar char="q"/>
            </a:pPr>
            <a:r>
              <a:rPr lang="en-US" sz="2400" dirty="0" err="1"/>
              <a:t>Pilihan</a:t>
            </a:r>
            <a:r>
              <a:rPr lang="en-US" sz="2400" dirty="0"/>
              <a:t> </a:t>
            </a:r>
            <a:r>
              <a:rPr lang="en-US" sz="2400" dirty="0" err="1"/>
              <a:t>untuk</a:t>
            </a:r>
            <a:r>
              <a:rPr lang="en-US" sz="2400" dirty="0"/>
              <a:t> </a:t>
            </a:r>
            <a:r>
              <a:rPr lang="en-US" sz="2400" dirty="0" err="1"/>
              <a:t>mengembangkan</a:t>
            </a:r>
            <a:r>
              <a:rPr lang="en-US" sz="2400" dirty="0"/>
              <a:t> </a:t>
            </a:r>
            <a:r>
              <a:rPr lang="en-US" sz="2400" dirty="0" err="1"/>
              <a:t>aplikasi</a:t>
            </a:r>
            <a:r>
              <a:rPr lang="en-US" sz="2400" dirty="0"/>
              <a:t> hybrid </a:t>
            </a:r>
            <a:r>
              <a:rPr lang="en-US" sz="2400" dirty="0" err="1"/>
              <a:t>mungkin</a:t>
            </a:r>
            <a:r>
              <a:rPr lang="en-US" sz="2400" dirty="0"/>
              <a:t> juga </a:t>
            </a:r>
            <a:r>
              <a:rPr lang="en-US" sz="2400" dirty="0" err="1"/>
              <a:t>ditentukan</a:t>
            </a:r>
            <a:r>
              <a:rPr lang="en-US" sz="2400" dirty="0"/>
              <a:t> oleh </a:t>
            </a:r>
            <a:r>
              <a:rPr lang="en-US" sz="2400" dirty="0" err="1"/>
              <a:t>konten</a:t>
            </a:r>
            <a:r>
              <a:rPr lang="en-US" sz="2400" dirty="0"/>
              <a:t> </a:t>
            </a:r>
            <a:r>
              <a:rPr lang="en-US" sz="2400" dirty="0" err="1"/>
              <a:t>atau</a:t>
            </a:r>
            <a:r>
              <a:rPr lang="en-US" sz="2400" dirty="0"/>
              <a:t> </a:t>
            </a:r>
            <a:r>
              <a:rPr lang="en-US" sz="2400" dirty="0" err="1"/>
              <a:t>fitur</a:t>
            </a:r>
            <a:r>
              <a:rPr lang="en-US" sz="2400" dirty="0"/>
              <a:t> yang </a:t>
            </a:r>
            <a:r>
              <a:rPr lang="en-US" sz="2400" dirty="0" err="1"/>
              <a:t>membutuhkan</a:t>
            </a:r>
            <a:r>
              <a:rPr lang="en-US" sz="2400" dirty="0"/>
              <a:t> </a:t>
            </a:r>
            <a:r>
              <a:rPr lang="en-US" sz="2400" dirty="0" err="1"/>
              <a:t>iterasi</a:t>
            </a:r>
            <a:r>
              <a:rPr lang="en-US" sz="2400" dirty="0"/>
              <a:t>. </a:t>
            </a:r>
            <a:r>
              <a:rPr lang="en-US" sz="2400" dirty="0" err="1"/>
              <a:t>Tampilan</a:t>
            </a:r>
            <a:r>
              <a:rPr lang="en-US" sz="2400" dirty="0"/>
              <a:t> web di </a:t>
            </a:r>
            <a:r>
              <a:rPr lang="en-US" sz="2400" dirty="0" err="1"/>
              <a:t>dalam</a:t>
            </a:r>
            <a:r>
              <a:rPr lang="en-US" sz="2400" dirty="0"/>
              <a:t> </a:t>
            </a:r>
            <a:r>
              <a:rPr lang="en-US" sz="2400" dirty="0" err="1"/>
              <a:t>aplikasi</a:t>
            </a:r>
            <a:r>
              <a:rPr lang="en-US" sz="2400" dirty="0"/>
              <a:t> hybrid </a:t>
            </a:r>
            <a:r>
              <a:rPr lang="en-US" sz="2400" dirty="0" err="1"/>
              <a:t>memungkinkan</a:t>
            </a:r>
            <a:r>
              <a:rPr lang="en-US" sz="2400" dirty="0"/>
              <a:t> </a:t>
            </a:r>
            <a:r>
              <a:rPr lang="en-US" sz="2400" dirty="0" err="1"/>
              <a:t>perusahaan</a:t>
            </a:r>
            <a:r>
              <a:rPr lang="en-US" sz="2400" dirty="0"/>
              <a:t> </a:t>
            </a:r>
            <a:r>
              <a:rPr lang="en-US" sz="2400" dirty="0" err="1"/>
              <a:t>untuk</a:t>
            </a:r>
            <a:r>
              <a:rPr lang="en-US" sz="2400" dirty="0"/>
              <a:t> </a:t>
            </a:r>
            <a:r>
              <a:rPr lang="en-US" sz="2400" dirty="0" err="1"/>
              <a:t>tetap</a:t>
            </a:r>
            <a:r>
              <a:rPr lang="en-US" sz="2400" dirty="0"/>
              <a:t> </a:t>
            </a:r>
            <a:r>
              <a:rPr lang="en-US" sz="2400" dirty="0" err="1"/>
              <a:t>gesit</a:t>
            </a:r>
            <a:r>
              <a:rPr lang="en-US" sz="2400" dirty="0"/>
              <a:t> </a:t>
            </a:r>
            <a:r>
              <a:rPr lang="en-US" sz="2400" dirty="0" err="1"/>
              <a:t>untuk</a:t>
            </a:r>
            <a:r>
              <a:rPr lang="en-US" sz="2400" dirty="0"/>
              <a:t> </a:t>
            </a:r>
            <a:r>
              <a:rPr lang="en-US" sz="2400" dirty="0" err="1"/>
              <a:t>mengutak-atik</a:t>
            </a:r>
            <a:r>
              <a:rPr lang="en-US" sz="2400" dirty="0"/>
              <a:t>, </a:t>
            </a:r>
            <a:r>
              <a:rPr lang="en-US" sz="2400" dirty="0" err="1"/>
              <a:t>mengubah</a:t>
            </a:r>
            <a:r>
              <a:rPr lang="en-US" sz="2400" dirty="0"/>
              <a:t>, dan </a:t>
            </a:r>
            <a:r>
              <a:rPr lang="en-US" sz="2400" dirty="0" err="1"/>
              <a:t>memisahkan</a:t>
            </a:r>
            <a:r>
              <a:rPr lang="en-US" sz="2400" dirty="0"/>
              <a:t> </a:t>
            </a:r>
            <a:r>
              <a:rPr lang="en-US" sz="2400" dirty="0" err="1"/>
              <a:t>pengujian</a:t>
            </a:r>
            <a:r>
              <a:rPr lang="en-US" sz="2400" dirty="0"/>
              <a:t> </a:t>
            </a:r>
            <a:r>
              <a:rPr lang="en-US" sz="2400" dirty="0" err="1"/>
              <a:t>untuk</a:t>
            </a:r>
            <a:r>
              <a:rPr lang="en-US" sz="2400" dirty="0"/>
              <a:t> </a:t>
            </a:r>
            <a:r>
              <a:rPr lang="en-US" sz="2400" dirty="0" err="1"/>
              <a:t>perbaikan</a:t>
            </a:r>
            <a:endParaRPr lang="en-US" sz="2400" dirty="0"/>
          </a:p>
          <a:p>
            <a:pPr marL="341313" indent="-341313" algn="just">
              <a:buFont typeface="Wingdings" pitchFamily="2" charset="2"/>
              <a:buChar char="q"/>
            </a:pPr>
            <a:r>
              <a:rPr lang="en-US" sz="2400" dirty="0" err="1"/>
              <a:t>Sedangkan</a:t>
            </a:r>
            <a:r>
              <a:rPr lang="en-US" sz="2400" dirty="0"/>
              <a:t> </a:t>
            </a:r>
            <a:r>
              <a:rPr lang="en-US" sz="2400" dirty="0" err="1"/>
              <a:t>membuat</a:t>
            </a:r>
            <a:r>
              <a:rPr lang="en-US" sz="2400" dirty="0"/>
              <a:t> </a:t>
            </a:r>
            <a:r>
              <a:rPr lang="en-US" sz="2400" dirty="0" err="1"/>
              <a:t>perubahan</a:t>
            </a:r>
            <a:r>
              <a:rPr lang="en-US" sz="2400" dirty="0"/>
              <a:t> </a:t>
            </a:r>
            <a:r>
              <a:rPr lang="en-US" sz="2400" dirty="0" err="1"/>
              <a:t>dalam</a:t>
            </a:r>
            <a:r>
              <a:rPr lang="en-US" sz="2400" dirty="0"/>
              <a:t> </a:t>
            </a:r>
            <a:r>
              <a:rPr lang="en-US" sz="2400" dirty="0" err="1"/>
              <a:t>kode</a:t>
            </a:r>
            <a:r>
              <a:rPr lang="en-US" sz="2400" dirty="0"/>
              <a:t> </a:t>
            </a:r>
            <a:r>
              <a:rPr lang="en-US" sz="2400" dirty="0" err="1"/>
              <a:t>asli</a:t>
            </a:r>
            <a:r>
              <a:rPr lang="en-US" sz="2400" dirty="0"/>
              <a:t> </a:t>
            </a:r>
            <a:r>
              <a:rPr lang="en-US" sz="2400" dirty="0" err="1"/>
              <a:t>bisa</a:t>
            </a:r>
            <a:r>
              <a:rPr lang="en-US" sz="2400" dirty="0"/>
              <a:t> </a:t>
            </a:r>
            <a:r>
              <a:rPr lang="en-US" sz="2400" dirty="0" err="1"/>
              <a:t>berarti</a:t>
            </a:r>
            <a:r>
              <a:rPr lang="en-US" sz="2400" dirty="0"/>
              <a:t> proses </a:t>
            </a:r>
            <a:r>
              <a:rPr lang="en-US" sz="2400" dirty="0" err="1"/>
              <a:t>panjang</a:t>
            </a:r>
            <a:r>
              <a:rPr lang="en-US" sz="2400" dirty="0"/>
              <a:t> yang </a:t>
            </a:r>
            <a:r>
              <a:rPr lang="en-US" sz="2400" dirty="0" err="1"/>
              <a:t>sulit</a:t>
            </a:r>
            <a:r>
              <a:rPr lang="en-US" sz="2400" dirty="0"/>
              <a:t> </a:t>
            </a:r>
            <a:r>
              <a:rPr lang="en-US" sz="2400" dirty="0" err="1"/>
              <a:t>untuk</a:t>
            </a:r>
            <a:r>
              <a:rPr lang="en-US" sz="2400" dirty="0"/>
              <a:t> </a:t>
            </a:r>
            <a:r>
              <a:rPr lang="en-US" sz="2400" dirty="0" err="1"/>
              <a:t>mengirimkan</a:t>
            </a:r>
            <a:r>
              <a:rPr lang="en-US" sz="2400" dirty="0"/>
              <a:t> </a:t>
            </a:r>
            <a:r>
              <a:rPr lang="en-US" sz="2400" dirty="0" err="1"/>
              <a:t>pembaruan</a:t>
            </a:r>
            <a:r>
              <a:rPr lang="en-US" sz="2400" dirty="0"/>
              <a:t> </a:t>
            </a:r>
            <a:r>
              <a:rPr lang="en-US" sz="2400" dirty="0" err="1"/>
              <a:t>aplikasi</a:t>
            </a:r>
            <a:r>
              <a:rPr lang="en-US" sz="2400" dirty="0"/>
              <a:t> </a:t>
            </a:r>
            <a:r>
              <a:rPr lang="en-US" sz="2400" dirty="0" err="1"/>
              <a:t>bahkan</a:t>
            </a:r>
            <a:r>
              <a:rPr lang="en-US" sz="2400" dirty="0"/>
              <a:t> </a:t>
            </a:r>
            <a:r>
              <a:rPr lang="en-US" sz="2400" dirty="0" err="1"/>
              <a:t>untuk</a:t>
            </a:r>
            <a:r>
              <a:rPr lang="en-US" sz="2400" dirty="0"/>
              <a:t> yang </a:t>
            </a:r>
            <a:r>
              <a:rPr lang="en-US" sz="2400" dirty="0" err="1"/>
              <a:t>perubahan</a:t>
            </a:r>
            <a:r>
              <a:rPr lang="en-US" sz="2400" dirty="0"/>
              <a:t> </a:t>
            </a:r>
            <a:r>
              <a:rPr lang="en-US" sz="2400" dirty="0" err="1"/>
              <a:t>terkecil</a:t>
            </a:r>
            <a:r>
              <a:rPr lang="en-US" sz="2400" dirty="0"/>
              <a:t> </a:t>
            </a:r>
            <a:r>
              <a:rPr lang="en-US" sz="2400" dirty="0" err="1"/>
              <a:t>sekalipun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1127160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F91B2A-0D5E-9023-C2F0-F5B3A9D967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4F56B-ED36-5799-C04C-844E9F062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Kapan </a:t>
            </a:r>
            <a:r>
              <a:rPr lang="en-US" dirty="0" err="1"/>
              <a:t>memilih</a:t>
            </a:r>
            <a:r>
              <a:rPr lang="en-US" dirty="0"/>
              <a:t> </a:t>
            </a:r>
            <a:r>
              <a:rPr lang="en-US" dirty="0" err="1"/>
              <a:t>aplikasi</a:t>
            </a:r>
            <a:r>
              <a:rPr lang="en-US" dirty="0"/>
              <a:t> hybrid?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F759B9-42CA-5334-074A-652F085E68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341313" indent="-341313" algn="just">
              <a:buFont typeface="Wingdings" pitchFamily="2" charset="2"/>
              <a:buChar char="q"/>
            </a:pPr>
            <a:r>
              <a:rPr lang="en-US" sz="2400" dirty="0" err="1"/>
              <a:t>Keterampilan</a:t>
            </a:r>
            <a:r>
              <a:rPr lang="en-US" sz="2400" dirty="0"/>
              <a:t> </a:t>
            </a:r>
            <a:r>
              <a:rPr lang="en-US" sz="2400" dirty="0" err="1"/>
              <a:t>karyawan</a:t>
            </a:r>
            <a:r>
              <a:rPr lang="en-US" sz="2400" dirty="0"/>
              <a:t> juga </a:t>
            </a:r>
            <a:r>
              <a:rPr lang="en-US" sz="2400" dirty="0" err="1"/>
              <a:t>bisa</a:t>
            </a:r>
            <a:r>
              <a:rPr lang="en-US" sz="2400" dirty="0"/>
              <a:t> </a:t>
            </a:r>
            <a:r>
              <a:rPr lang="en-US" sz="2400" dirty="0" err="1"/>
              <a:t>menjadi</a:t>
            </a:r>
            <a:r>
              <a:rPr lang="en-US" sz="2400" dirty="0"/>
              <a:t> </a:t>
            </a:r>
            <a:r>
              <a:rPr lang="en-US" sz="2400" dirty="0" err="1"/>
              <a:t>faktor</a:t>
            </a:r>
            <a:r>
              <a:rPr lang="en-US" sz="2400" dirty="0"/>
              <a:t> </a:t>
            </a:r>
            <a:r>
              <a:rPr lang="en-US" sz="2400" dirty="0" err="1"/>
              <a:t>penentu</a:t>
            </a:r>
            <a:r>
              <a:rPr lang="en-US" sz="2400" dirty="0"/>
              <a:t> </a:t>
            </a:r>
            <a:r>
              <a:rPr lang="en-US" sz="2400" dirty="0" err="1"/>
              <a:t>dalam</a:t>
            </a:r>
            <a:r>
              <a:rPr lang="en-US" sz="2400" dirty="0"/>
              <a:t> </a:t>
            </a:r>
            <a:r>
              <a:rPr lang="en-US" sz="2400" dirty="0" err="1"/>
              <a:t>memilih</a:t>
            </a:r>
            <a:r>
              <a:rPr lang="en-US" sz="2400" dirty="0"/>
              <a:t> </a:t>
            </a:r>
            <a:r>
              <a:rPr lang="en-US" sz="2400" dirty="0" err="1"/>
              <a:t>untuk</a:t>
            </a:r>
            <a:r>
              <a:rPr lang="en-US" sz="2400" dirty="0"/>
              <a:t> </a:t>
            </a:r>
            <a:r>
              <a:rPr lang="en-US" sz="2400" dirty="0" err="1"/>
              <a:t>mengembangkan</a:t>
            </a:r>
            <a:r>
              <a:rPr lang="en-US" sz="2400" dirty="0"/>
              <a:t> </a:t>
            </a:r>
            <a:r>
              <a:rPr lang="en-US" sz="2400" dirty="0" err="1"/>
              <a:t>aplikasi</a:t>
            </a:r>
            <a:r>
              <a:rPr lang="en-US" sz="2400" dirty="0"/>
              <a:t> hybrid. </a:t>
            </a:r>
            <a:r>
              <a:rPr lang="en-US" sz="2400" dirty="0" err="1"/>
              <a:t>Dibandingkan</a:t>
            </a:r>
            <a:r>
              <a:rPr lang="en-US" sz="2400" dirty="0"/>
              <a:t> </a:t>
            </a:r>
            <a:r>
              <a:rPr lang="en-US" sz="2400" dirty="0" err="1"/>
              <a:t>dengan</a:t>
            </a:r>
            <a:r>
              <a:rPr lang="en-US" sz="2400" dirty="0"/>
              <a:t> </a:t>
            </a:r>
            <a:r>
              <a:rPr lang="en-US" sz="2400" dirty="0" err="1"/>
              <a:t>aplikasi</a:t>
            </a:r>
            <a:r>
              <a:rPr lang="en-US" sz="2400" dirty="0"/>
              <a:t> </a:t>
            </a:r>
            <a:r>
              <a:rPr lang="en-US" sz="2400" dirty="0" err="1"/>
              <a:t>asli</a:t>
            </a:r>
            <a:r>
              <a:rPr lang="en-US" sz="2400" dirty="0"/>
              <a:t>, </a:t>
            </a:r>
            <a:r>
              <a:rPr lang="en-US" sz="2400" dirty="0" err="1"/>
              <a:t>aplikasi</a:t>
            </a:r>
            <a:r>
              <a:rPr lang="en-US" sz="2400" dirty="0"/>
              <a:t> hybrid </a:t>
            </a:r>
            <a:r>
              <a:rPr lang="en-US" sz="2400" dirty="0" err="1"/>
              <a:t>memerlukan</a:t>
            </a:r>
            <a:r>
              <a:rPr lang="en-US" sz="2400" dirty="0"/>
              <a:t> </a:t>
            </a:r>
            <a:r>
              <a:rPr lang="en-US" sz="2400" dirty="0" err="1"/>
              <a:t>sedikit</a:t>
            </a:r>
            <a:r>
              <a:rPr lang="en-US" sz="2400" dirty="0"/>
              <a:t> Objective-C dan </a:t>
            </a:r>
            <a:r>
              <a:rPr lang="en-US" sz="2400" dirty="0" err="1"/>
              <a:t>pemrograman</a:t>
            </a:r>
            <a:r>
              <a:rPr lang="en-US" sz="2400" dirty="0"/>
              <a:t> Java.</a:t>
            </a:r>
          </a:p>
          <a:p>
            <a:pPr marL="341313" indent="-341313" algn="just">
              <a:buFont typeface="Wingdings" pitchFamily="2" charset="2"/>
              <a:buChar char="q"/>
            </a:pPr>
            <a:r>
              <a:rPr lang="en-US" sz="2400" dirty="0" err="1"/>
              <a:t>Sebaliknya</a:t>
            </a:r>
            <a:r>
              <a:rPr lang="en-US" sz="2400" dirty="0"/>
              <a:t>, </a:t>
            </a:r>
            <a:r>
              <a:rPr lang="en-US" sz="2400" dirty="0" err="1"/>
              <a:t>banyak</a:t>
            </a:r>
            <a:r>
              <a:rPr lang="en-US" sz="2400" dirty="0"/>
              <a:t> </a:t>
            </a:r>
            <a:r>
              <a:rPr lang="en-US" sz="2400" dirty="0" err="1"/>
              <a:t>aplikasi</a:t>
            </a:r>
            <a:r>
              <a:rPr lang="en-US" sz="2400" dirty="0"/>
              <a:t> </a:t>
            </a:r>
            <a:r>
              <a:rPr lang="en-US" sz="2400" dirty="0" err="1"/>
              <a:t>dapat</a:t>
            </a:r>
            <a:r>
              <a:rPr lang="en-US" sz="2400" dirty="0"/>
              <a:t> </a:t>
            </a:r>
            <a:r>
              <a:rPr lang="en-US" sz="2400" dirty="0" err="1"/>
              <a:t>dikembangkan</a:t>
            </a:r>
            <a:r>
              <a:rPr lang="en-US" sz="2400" dirty="0"/>
              <a:t> </a:t>
            </a:r>
            <a:r>
              <a:rPr lang="en-US" sz="2400" dirty="0" err="1"/>
              <a:t>menggunakan</a:t>
            </a:r>
            <a:r>
              <a:rPr lang="en-US" sz="2400" dirty="0"/>
              <a:t> </a:t>
            </a:r>
            <a:r>
              <a:rPr lang="en-US" sz="2400" dirty="0" err="1"/>
              <a:t>kemampuan</a:t>
            </a:r>
            <a:r>
              <a:rPr lang="en-US" sz="2400" dirty="0"/>
              <a:t> </a:t>
            </a:r>
            <a:r>
              <a:rPr lang="en-US" sz="2400" dirty="0" err="1"/>
              <a:t>pengembangan</a:t>
            </a:r>
            <a:r>
              <a:rPr lang="en-US" sz="2400" dirty="0"/>
              <a:t> front-end yang </a:t>
            </a:r>
            <a:r>
              <a:rPr lang="en-US" sz="2400" dirty="0" err="1"/>
              <a:t>banyak</a:t>
            </a:r>
            <a:r>
              <a:rPr lang="en-US" sz="2400" dirty="0"/>
              <a:t> </a:t>
            </a:r>
            <a:r>
              <a:rPr lang="en-US" sz="2400" dirty="0" err="1"/>
              <a:t>perusahaan</a:t>
            </a:r>
            <a:r>
              <a:rPr lang="en-US" sz="2400" dirty="0"/>
              <a:t> </a:t>
            </a:r>
            <a:r>
              <a:rPr lang="en-US" sz="2400" dirty="0" err="1"/>
              <a:t>umumnya</a:t>
            </a:r>
            <a:r>
              <a:rPr lang="en-US" sz="2400" dirty="0"/>
              <a:t> </a:t>
            </a:r>
            <a:r>
              <a:rPr lang="en-US" sz="2400" dirty="0" err="1"/>
              <a:t>sudah</a:t>
            </a:r>
            <a:r>
              <a:rPr lang="en-US" sz="2400" dirty="0"/>
              <a:t> </a:t>
            </a:r>
            <a:r>
              <a:rPr lang="en-US" sz="2400" dirty="0" err="1"/>
              <a:t>memiliki</a:t>
            </a:r>
            <a:r>
              <a:rPr lang="en-US" sz="2400" dirty="0"/>
              <a:t> </a:t>
            </a:r>
            <a:r>
              <a:rPr lang="en-US" sz="2400" dirty="0" err="1"/>
              <a:t>staf</a:t>
            </a:r>
            <a:r>
              <a:rPr lang="en-US" sz="2400" dirty="0"/>
              <a:t>.</a:t>
            </a:r>
          </a:p>
          <a:p>
            <a:pPr marL="341313" indent="-341313" algn="just">
              <a:buFont typeface="Wingdings" pitchFamily="2" charset="2"/>
              <a:buChar char="q"/>
            </a:pPr>
            <a:r>
              <a:rPr lang="en-US" sz="2400" dirty="0" err="1"/>
              <a:t>Aplikasi</a:t>
            </a:r>
            <a:r>
              <a:rPr lang="en-US" sz="2400" dirty="0"/>
              <a:t> hybrid </a:t>
            </a:r>
            <a:r>
              <a:rPr lang="en-US" sz="2400" dirty="0" err="1"/>
              <a:t>dapat</a:t>
            </a:r>
            <a:r>
              <a:rPr lang="en-US" sz="2400" dirty="0"/>
              <a:t> </a:t>
            </a:r>
            <a:r>
              <a:rPr lang="en-US" sz="2400" dirty="0" err="1"/>
              <a:t>mengurangi</a:t>
            </a:r>
            <a:r>
              <a:rPr lang="en-US" sz="2400" dirty="0"/>
              <a:t> </a:t>
            </a:r>
            <a:r>
              <a:rPr lang="en-US" sz="2400" dirty="0" err="1"/>
              <a:t>masalah</a:t>
            </a:r>
            <a:r>
              <a:rPr lang="en-US" sz="2400" dirty="0"/>
              <a:t> </a:t>
            </a:r>
            <a:r>
              <a:rPr lang="en-US" sz="2400" dirty="0" err="1"/>
              <a:t>integrasi</a:t>
            </a:r>
            <a:r>
              <a:rPr lang="en-US" sz="2400" dirty="0"/>
              <a:t> </a:t>
            </a:r>
            <a:r>
              <a:rPr lang="en-US" sz="2400" i="1" dirty="0"/>
              <a:t>backend</a:t>
            </a:r>
            <a:r>
              <a:rPr lang="en-US" sz="2400" dirty="0"/>
              <a:t> yang </a:t>
            </a:r>
            <a:r>
              <a:rPr lang="en-US" sz="2400" dirty="0" err="1"/>
              <a:t>ada</a:t>
            </a:r>
            <a:r>
              <a:rPr lang="en-US" sz="2400" dirty="0"/>
              <a:t> pada </a:t>
            </a:r>
            <a:r>
              <a:rPr lang="en-US" sz="2400" dirty="0" err="1"/>
              <a:t>aplikasi</a:t>
            </a:r>
            <a:r>
              <a:rPr lang="en-US" sz="2400" dirty="0"/>
              <a:t> </a:t>
            </a:r>
            <a:r>
              <a:rPr lang="en-US" sz="2400" dirty="0" err="1"/>
              <a:t>asli</a:t>
            </a:r>
            <a:r>
              <a:rPr lang="en-US" sz="2400" dirty="0"/>
              <a:t> dan </a:t>
            </a:r>
            <a:r>
              <a:rPr lang="en-US" sz="2400" dirty="0" err="1"/>
              <a:t>menghindari</a:t>
            </a:r>
            <a:r>
              <a:rPr lang="en-US" sz="2400" dirty="0"/>
              <a:t> </a:t>
            </a:r>
            <a:r>
              <a:rPr lang="en-US" sz="2400" dirty="0" err="1"/>
              <a:t>kebutuhan</a:t>
            </a:r>
            <a:r>
              <a:rPr lang="en-US" sz="2400" dirty="0"/>
              <a:t> </a:t>
            </a:r>
            <a:r>
              <a:rPr lang="en-US" sz="2400" dirty="0" err="1"/>
              <a:t>untuk</a:t>
            </a:r>
            <a:r>
              <a:rPr lang="en-US" sz="2400" dirty="0"/>
              <a:t> </a:t>
            </a:r>
            <a:r>
              <a:rPr lang="en-US" sz="2400" dirty="0" err="1"/>
              <a:t>membangun</a:t>
            </a:r>
            <a:r>
              <a:rPr lang="en-US" sz="2400" dirty="0"/>
              <a:t> </a:t>
            </a:r>
            <a:r>
              <a:rPr lang="en-US" sz="2400" i="1" dirty="0"/>
              <a:t>API</a:t>
            </a:r>
            <a:r>
              <a:rPr lang="en-US" sz="2400" dirty="0"/>
              <a:t>. </a:t>
            </a:r>
            <a:r>
              <a:rPr lang="en-US" sz="2400" dirty="0" err="1"/>
              <a:t>Membangun</a:t>
            </a:r>
            <a:r>
              <a:rPr lang="en-US" sz="2400" dirty="0"/>
              <a:t> dan </a:t>
            </a:r>
            <a:r>
              <a:rPr lang="en-US" sz="2400" dirty="0" err="1"/>
              <a:t>mengelola</a:t>
            </a:r>
            <a:r>
              <a:rPr lang="en-US" sz="2400" dirty="0"/>
              <a:t> </a:t>
            </a:r>
            <a:r>
              <a:rPr lang="en-US" sz="2400" i="1" dirty="0"/>
              <a:t>API</a:t>
            </a:r>
            <a:r>
              <a:rPr lang="en-US" sz="2400" dirty="0"/>
              <a:t> </a:t>
            </a:r>
            <a:r>
              <a:rPr lang="en-US" sz="2400" dirty="0" err="1"/>
              <a:t>untuk</a:t>
            </a:r>
            <a:r>
              <a:rPr lang="en-US" sz="2400" dirty="0"/>
              <a:t> </a:t>
            </a:r>
            <a:r>
              <a:rPr lang="en-US" sz="2400" dirty="0" err="1"/>
              <a:t>pengembangan</a:t>
            </a:r>
            <a:r>
              <a:rPr lang="en-US" sz="2400" dirty="0"/>
              <a:t> </a:t>
            </a:r>
            <a:r>
              <a:rPr lang="en-US" sz="2400" dirty="0" err="1"/>
              <a:t>aplikasi</a:t>
            </a:r>
            <a:r>
              <a:rPr lang="en-US" sz="2400" dirty="0"/>
              <a:t> </a:t>
            </a:r>
            <a:r>
              <a:rPr lang="en-US" sz="2400" dirty="0" err="1"/>
              <a:t>dapat</a:t>
            </a:r>
            <a:r>
              <a:rPr lang="en-US" sz="2400" dirty="0"/>
              <a:t> </a:t>
            </a:r>
            <a:r>
              <a:rPr lang="en-US" sz="2400" dirty="0" err="1"/>
              <a:t>menjadi</a:t>
            </a:r>
            <a:r>
              <a:rPr lang="en-US" sz="2400" dirty="0"/>
              <a:t> </a:t>
            </a:r>
            <a:r>
              <a:rPr lang="en-US" sz="2400" dirty="0" err="1"/>
              <a:t>biaya</a:t>
            </a:r>
            <a:r>
              <a:rPr lang="en-US" sz="2400" dirty="0"/>
              <a:t> </a:t>
            </a:r>
            <a:r>
              <a:rPr lang="en-US" sz="2400" dirty="0" err="1"/>
              <a:t>tak</a:t>
            </a:r>
            <a:r>
              <a:rPr lang="en-US" sz="2400" dirty="0"/>
              <a:t> </a:t>
            </a:r>
            <a:r>
              <a:rPr lang="en-US" sz="2400" dirty="0" err="1"/>
              <a:t>terduga</a:t>
            </a:r>
            <a:r>
              <a:rPr lang="en-US" sz="2400" dirty="0"/>
              <a:t> </a:t>
            </a:r>
            <a:r>
              <a:rPr lang="en-US" sz="2400" dirty="0" err="1"/>
              <a:t>untuk</a:t>
            </a:r>
            <a:r>
              <a:rPr lang="en-US" sz="2400" dirty="0"/>
              <a:t> </a:t>
            </a:r>
            <a:r>
              <a:rPr lang="en-US" sz="2400" dirty="0" err="1"/>
              <a:t>mengembangkan</a:t>
            </a:r>
            <a:r>
              <a:rPr lang="en-US" sz="2400" dirty="0"/>
              <a:t> </a:t>
            </a:r>
            <a:r>
              <a:rPr lang="en-US" sz="2400" dirty="0" err="1"/>
              <a:t>aplikasi</a:t>
            </a:r>
            <a:r>
              <a:rPr lang="en-US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163138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F7DCC7-A082-7FFC-9C77-90E8B33C21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Tambahan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A110B1-F8E4-3F2A-8411-8C15C91B97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ID" b="0" i="0" dirty="0">
                <a:solidFill>
                  <a:srgbClr val="656565"/>
                </a:solidFill>
                <a:effectLst/>
                <a:latin typeface="Century Gothic" panose="020B0502020202020204" pitchFamily="34" charset="0"/>
              </a:rPr>
              <a:t>Build mobile app without coding</a:t>
            </a:r>
          </a:p>
          <a:p>
            <a:pPr lvl="1"/>
            <a:r>
              <a:rPr lang="en-ID" b="0" i="0" u="none" strike="noStrike" dirty="0">
                <a:solidFill>
                  <a:srgbClr val="656565"/>
                </a:solidFill>
                <a:effectLst/>
                <a:latin typeface="Century Gothic" panose="020B0502020202020204" pitchFamily="34" charset="0"/>
                <a:hlinkClick r:id="rId2"/>
              </a:rPr>
              <a:t>https://thunkable.com/</a:t>
            </a:r>
            <a:endParaRPr lang="en-ID" b="0" i="0" u="none" strike="noStrike" dirty="0">
              <a:solidFill>
                <a:srgbClr val="656565"/>
              </a:solidFill>
              <a:effectLst/>
              <a:latin typeface="Century Gothic" panose="020B0502020202020204" pitchFamily="34" charset="0"/>
            </a:endParaRPr>
          </a:p>
          <a:p>
            <a:pPr lvl="1"/>
            <a:r>
              <a:rPr lang="en-ID" b="0" i="0" dirty="0">
                <a:solidFill>
                  <a:srgbClr val="656565"/>
                </a:solidFill>
                <a:effectLst/>
                <a:latin typeface="Century Gothic" panose="020B0502020202020204" pitchFamily="34" charset="0"/>
                <a:hlinkClick r:id="rId3"/>
              </a:rPr>
              <a:t>https://appinventor.mit.edu/</a:t>
            </a:r>
            <a:r>
              <a:rPr lang="en-ID" dirty="0">
                <a:solidFill>
                  <a:srgbClr val="656565"/>
                </a:solidFill>
                <a:latin typeface="Century Gothic" panose="020B0502020202020204" pitchFamily="34" charset="0"/>
              </a:rPr>
              <a:t> </a:t>
            </a:r>
            <a:endParaRPr lang="en-ID" b="0" i="0" dirty="0">
              <a:solidFill>
                <a:srgbClr val="656565"/>
              </a:solidFill>
              <a:effectLst/>
              <a:latin typeface="Century Gothic" panose="020B050202020202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ID" b="0" i="0" dirty="0">
                <a:solidFill>
                  <a:srgbClr val="656565"/>
                </a:solidFill>
                <a:effectLst/>
                <a:latin typeface="Century Gothic" panose="020B0502020202020204" pitchFamily="34" charset="0"/>
              </a:rPr>
              <a:t>Build mobile app using flutter </a:t>
            </a:r>
            <a:r>
              <a:rPr lang="en-ID" b="0" i="0" u="none" strike="noStrike" dirty="0">
                <a:solidFill>
                  <a:srgbClr val="656565"/>
                </a:solidFill>
                <a:effectLst/>
                <a:latin typeface="Century Gothic" panose="020B0502020202020204" pitchFamily="34" charset="0"/>
                <a:hlinkClick r:id="rId4"/>
              </a:rPr>
              <a:t>https://docs.flutter.dev/get-started/install</a:t>
            </a:r>
            <a:endParaRPr lang="en-ID" b="0" i="0" dirty="0">
              <a:solidFill>
                <a:srgbClr val="656565"/>
              </a:solidFill>
              <a:effectLst/>
              <a:latin typeface="Century Gothic" panose="020B050202020202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ID" b="0" i="0" dirty="0" err="1">
                <a:solidFill>
                  <a:srgbClr val="656565"/>
                </a:solidFill>
                <a:effectLst/>
                <a:latin typeface="Century Gothic" panose="020B0502020202020204" pitchFamily="34" charset="0"/>
              </a:rPr>
              <a:t>Contoh</a:t>
            </a:r>
            <a:r>
              <a:rPr lang="en-ID" b="0" i="0" dirty="0">
                <a:solidFill>
                  <a:srgbClr val="656565"/>
                </a:solidFill>
                <a:effectLst/>
                <a:latin typeface="Century Gothic" panose="020B0502020202020204" pitchFamily="34" charset="0"/>
              </a:rPr>
              <a:t> </a:t>
            </a:r>
            <a:r>
              <a:rPr lang="en-ID" b="0" i="0" dirty="0" err="1">
                <a:solidFill>
                  <a:srgbClr val="656565"/>
                </a:solidFill>
                <a:effectLst/>
                <a:latin typeface="Century Gothic" panose="020B0502020202020204" pitchFamily="34" charset="0"/>
              </a:rPr>
              <a:t>kode</a:t>
            </a:r>
            <a:r>
              <a:rPr lang="en-ID" b="0" i="0" dirty="0">
                <a:solidFill>
                  <a:srgbClr val="656565"/>
                </a:solidFill>
                <a:effectLst/>
                <a:latin typeface="Century Gothic" panose="020B0502020202020204" pitchFamily="34" charset="0"/>
              </a:rPr>
              <a:t> flutter </a:t>
            </a:r>
            <a:r>
              <a:rPr lang="en-ID" b="0" i="0" u="none" strike="noStrike" dirty="0">
                <a:solidFill>
                  <a:srgbClr val="656565"/>
                </a:solidFill>
                <a:effectLst/>
                <a:latin typeface="Century Gothic" panose="020B0502020202020204" pitchFamily="34" charset="0"/>
                <a:hlinkClick r:id="rId5"/>
              </a:rPr>
              <a:t>https://github.com/Solido/awesome-flutter</a:t>
            </a:r>
            <a:endParaRPr lang="en-ID" b="0" i="0" dirty="0">
              <a:solidFill>
                <a:srgbClr val="656565"/>
              </a:solidFill>
              <a:effectLst/>
              <a:latin typeface="Century Gothic" panose="020B050202020202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420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0FCB574-4F84-6139-CA0D-8EF94565E7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9843" y="1772816"/>
            <a:ext cx="6564313" cy="41056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F8791676-2319-6047-CD74-AC8635E332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48680"/>
            <a:ext cx="9144000" cy="1069975"/>
          </a:xfrm>
        </p:spPr>
        <p:txBody>
          <a:bodyPr/>
          <a:lstStyle/>
          <a:p>
            <a:pPr algn="ctr"/>
            <a:r>
              <a:rPr lang="id-ID" sz="4400" b="1" kern="0" dirty="0">
                <a:solidFill>
                  <a:srgbClr val="4985E8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Terima Kasih</a:t>
            </a:r>
            <a:endParaRPr lang="en-ID" sz="4400" b="1" kern="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algn="ctr"/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9362426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4113</TotalTime>
  <Words>1163</Words>
  <Application>Microsoft Office PowerPoint</Application>
  <PresentationFormat>On-screen Show (4:3)</PresentationFormat>
  <Paragraphs>126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7" baseType="lpstr">
      <vt:lpstr>Aptos</vt:lpstr>
      <vt:lpstr>Aptos Display</vt:lpstr>
      <vt:lpstr>Aptos Narrow</vt:lpstr>
      <vt:lpstr>Arial</vt:lpstr>
      <vt:lpstr>Calibri</vt:lpstr>
      <vt:lpstr>Century Gothic</vt:lpstr>
      <vt:lpstr>Roboto</vt:lpstr>
      <vt:lpstr>Wingdings</vt:lpstr>
      <vt:lpstr>Office Theme</vt:lpstr>
      <vt:lpstr>PowerPoint Presentation</vt:lpstr>
      <vt:lpstr>Outline Materi</vt:lpstr>
      <vt:lpstr>Aplikasi Hybrid</vt:lpstr>
      <vt:lpstr>Aplikasi Hybrid</vt:lpstr>
      <vt:lpstr>Aplikasi Hybrid</vt:lpstr>
      <vt:lpstr>Aplikasi Hybrid</vt:lpstr>
      <vt:lpstr>Aplikasi Hybrid</vt:lpstr>
      <vt:lpstr>Aplikasi Hybrid</vt:lpstr>
      <vt:lpstr>Aplikasi Hybrid</vt:lpstr>
      <vt:lpstr>Aplikasi Hybrid</vt:lpstr>
      <vt:lpstr>Aplikasi Hybrid</vt:lpstr>
      <vt:lpstr>Aplikasi Hybrid</vt:lpstr>
      <vt:lpstr>PowerPoint Presentation</vt:lpstr>
      <vt:lpstr>Kapan memilih aplikasi hybrid?</vt:lpstr>
      <vt:lpstr>Kapan memilih aplikasi hybrid?</vt:lpstr>
      <vt:lpstr>Kapan memilih aplikasi hybrid?</vt:lpstr>
      <vt:lpstr>Tambahan</vt:lpstr>
      <vt:lpstr>Terima Kasih 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Registered User</dc:creator>
  <cp:lastModifiedBy>Arif Rohmadi</cp:lastModifiedBy>
  <cp:revision>119</cp:revision>
  <dcterms:created xsi:type="dcterms:W3CDTF">2014-04-01T16:35:38Z</dcterms:created>
  <dcterms:modified xsi:type="dcterms:W3CDTF">2026-03-14T23:17:44Z</dcterms:modified>
</cp:coreProperties>
</file>