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02" r:id="rId3"/>
    <p:sldId id="287" r:id="rId4"/>
    <p:sldId id="288" r:id="rId5"/>
    <p:sldId id="291" r:id="rId6"/>
    <p:sldId id="296" r:id="rId7"/>
    <p:sldId id="295" r:id="rId8"/>
    <p:sldId id="289" r:id="rId9"/>
    <p:sldId id="294" r:id="rId10"/>
    <p:sldId id="301" r:id="rId11"/>
    <p:sldId id="303" r:id="rId12"/>
    <p:sldId id="300" r:id="rId13"/>
    <p:sldId id="297" r:id="rId14"/>
    <p:sldId id="298" r:id="rId15"/>
    <p:sldId id="305" r:id="rId16"/>
    <p:sldId id="299" r:id="rId17"/>
    <p:sldId id="304" r:id="rId18"/>
    <p:sldId id="278" r:id="rId19"/>
    <p:sldId id="279" r:id="rId20"/>
    <p:sldId id="277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f Rohmadi" userId="7ac86e76-d45a-43aa-833d-7b563e006102" providerId="ADAL" clId="{87EBA653-F0D8-4D0F-8534-B5E29C796222}"/>
    <pc:docChg chg="modSld">
      <pc:chgData name="Arif Rohmadi" userId="7ac86e76-d45a-43aa-833d-7b563e006102" providerId="ADAL" clId="{87EBA653-F0D8-4D0F-8534-B5E29C796222}" dt="2026-03-05T02:56:52.150" v="8" actId="20577"/>
      <pc:docMkLst>
        <pc:docMk/>
      </pc:docMkLst>
      <pc:sldChg chg="modSp mod">
        <pc:chgData name="Arif Rohmadi" userId="7ac86e76-d45a-43aa-833d-7b563e006102" providerId="ADAL" clId="{87EBA653-F0D8-4D0F-8534-B5E29C796222}" dt="2026-03-05T02:42:57.029" v="1" actId="20577"/>
        <pc:sldMkLst>
          <pc:docMk/>
          <pc:sldMk cId="1941221791" sldId="256"/>
        </pc:sldMkLst>
        <pc:spChg chg="mod">
          <ac:chgData name="Arif Rohmadi" userId="7ac86e76-d45a-43aa-833d-7b563e006102" providerId="ADAL" clId="{87EBA653-F0D8-4D0F-8534-B5E29C796222}" dt="2026-03-05T02:42:57.029" v="1" actId="20577"/>
          <ac:spMkLst>
            <pc:docMk/>
            <pc:sldMk cId="1941221791" sldId="256"/>
            <ac:spMk id="9" creationId="{0A7DDDDB-D103-5585-B926-9FC55D8163EC}"/>
          </ac:spMkLst>
        </pc:spChg>
      </pc:sldChg>
      <pc:sldChg chg="modSp mod">
        <pc:chgData name="Arif Rohmadi" userId="7ac86e76-d45a-43aa-833d-7b563e006102" providerId="ADAL" clId="{87EBA653-F0D8-4D0F-8534-B5E29C796222}" dt="2026-03-05T02:52:24.188" v="7" actId="20577"/>
        <pc:sldMkLst>
          <pc:docMk/>
          <pc:sldMk cId="1821342592" sldId="295"/>
        </pc:sldMkLst>
        <pc:spChg chg="mod">
          <ac:chgData name="Arif Rohmadi" userId="7ac86e76-d45a-43aa-833d-7b563e006102" providerId="ADAL" clId="{87EBA653-F0D8-4D0F-8534-B5E29C796222}" dt="2026-03-05T02:52:24.188" v="7" actId="20577"/>
          <ac:spMkLst>
            <pc:docMk/>
            <pc:sldMk cId="1821342592" sldId="295"/>
            <ac:spMk id="8" creationId="{38CADBB0-BF37-C9AD-142E-4530584325AB}"/>
          </ac:spMkLst>
        </pc:spChg>
      </pc:sldChg>
      <pc:sldChg chg="modSp mod">
        <pc:chgData name="Arif Rohmadi" userId="7ac86e76-d45a-43aa-833d-7b563e006102" providerId="ADAL" clId="{87EBA653-F0D8-4D0F-8534-B5E29C796222}" dt="2026-03-05T02:56:52.150" v="8" actId="20577"/>
        <pc:sldMkLst>
          <pc:docMk/>
          <pc:sldMk cId="4142204681" sldId="300"/>
        </pc:sldMkLst>
        <pc:spChg chg="mod">
          <ac:chgData name="Arif Rohmadi" userId="7ac86e76-d45a-43aa-833d-7b563e006102" providerId="ADAL" clId="{87EBA653-F0D8-4D0F-8534-B5E29C796222}" dt="2026-03-05T02:56:52.150" v="8" actId="20577"/>
          <ac:spMkLst>
            <pc:docMk/>
            <pc:sldMk cId="4142204681" sldId="300"/>
            <ac:spMk id="2" creationId="{C705282E-E70B-2F5B-A0EF-32F82254DF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79719-90EE-4DEE-97EC-5DE16BF9FCC6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38FFF-A32B-4D5B-A182-D7C887EB803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783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8FFF-A32B-4D5B-A182-D7C887EB8034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1878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8FFF-A32B-4D5B-A182-D7C887EB8034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3680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9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90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14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738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37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78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06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52736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36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2E587EC-4A3E-4030-BABC-5E0C0236501C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001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.png">
            <a:extLst>
              <a:ext uri="{FF2B5EF4-FFF2-40B4-BE49-F238E27FC236}">
                <a16:creationId xmlns:a16="http://schemas.microsoft.com/office/drawing/2014/main" id="{AABD62F7-89DB-3A76-32B2-AEE7CD274E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4" y="145787"/>
            <a:ext cx="2009637" cy="576065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EE7F7608-BB46-7956-CF79-07A37BBC1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952" y="1052738"/>
            <a:ext cx="543609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PENGEMBANGAN APLIKASI BERGERAK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7DDDDB-D103-5585-B926-9FC55D8163EC}"/>
              </a:ext>
            </a:extLst>
          </p:cNvPr>
          <p:cNvSpPr txBox="1"/>
          <p:nvPr/>
        </p:nvSpPr>
        <p:spPr>
          <a:xfrm>
            <a:off x="6128256" y="5589242"/>
            <a:ext cx="3015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Brilyan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Hendrasuryawan</a:t>
            </a:r>
            <a:br>
              <a:rPr lang="en-US" altLang="ko-KR" b="1" dirty="0">
                <a:latin typeface="Arial" pitchFamily="34" charset="0"/>
                <a:cs typeface="Arial" pitchFamily="34" charset="0"/>
              </a:rPr>
            </a:br>
            <a:r>
              <a:rPr lang="en-US" altLang="ko-KR" b="1" dirty="0">
                <a:latin typeface="Arial" pitchFamily="34" charset="0"/>
                <a:cs typeface="Arial" pitchFamily="34" charset="0"/>
              </a:rPr>
              <a:t>Arif Rohmadi</a:t>
            </a:r>
            <a:br>
              <a:rPr lang="en-US" altLang="ko-KR" b="1" dirty="0">
                <a:latin typeface="Arial" pitchFamily="34" charset="0"/>
                <a:cs typeface="Arial" pitchFamily="34" charset="0"/>
              </a:rPr>
            </a:b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Akhmad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Syaifuddin</a:t>
            </a:r>
            <a:endParaRPr lang="en-US" altLang="ko-KR" b="1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altLang="ko-KR" b="1" dirty="0">
                <a:latin typeface="Arial" pitchFamily="34" charset="0"/>
                <a:cs typeface="Arial" pitchFamily="34" charset="0"/>
              </a:rPr>
              <a:t>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444AE1-967F-6205-3558-5C98E0C0AEAA}"/>
              </a:ext>
            </a:extLst>
          </p:cNvPr>
          <p:cNvSpPr txBox="1"/>
          <p:nvPr/>
        </p:nvSpPr>
        <p:spPr>
          <a:xfrm>
            <a:off x="191181" y="6277962"/>
            <a:ext cx="1997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Pertemuan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02CD97-2116-451E-1C8D-5D0528749A17}"/>
              </a:ext>
            </a:extLst>
          </p:cNvPr>
          <p:cNvSpPr txBox="1"/>
          <p:nvPr/>
        </p:nvSpPr>
        <p:spPr>
          <a:xfrm>
            <a:off x="2531216" y="3284984"/>
            <a:ext cx="408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Aplikasi</a:t>
            </a:r>
            <a:r>
              <a:rPr lang="en-US" sz="2800" b="1" dirty="0"/>
              <a:t> Mobile Device</a:t>
            </a:r>
            <a:endParaRPr lang="id-ID" sz="2800" b="1" dirty="0"/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E795C-43B5-7FCA-35B7-DA30D096F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 </a:t>
            </a:r>
            <a:r>
              <a:rPr lang="en-US" dirty="0" err="1"/>
              <a:t>Materi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7FDC8-3382-5C15-B57E-1A7E042E8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/>
              <a:t>Aplikasi</a:t>
            </a:r>
            <a:r>
              <a:rPr lang="en-US" sz="1800" dirty="0"/>
              <a:t> </a:t>
            </a:r>
            <a:r>
              <a:rPr lang="en-US" sz="1800" dirty="0" err="1"/>
              <a:t>Berbasis</a:t>
            </a:r>
            <a:r>
              <a:rPr lang="en-US" sz="1800" dirty="0"/>
              <a:t> Desktop, Web, dan Mobile</a:t>
            </a:r>
          </a:p>
          <a:p>
            <a:r>
              <a:rPr lang="en-US" sz="1800" dirty="0" err="1"/>
              <a:t>Keuntungan</a:t>
            </a:r>
            <a:r>
              <a:rPr lang="en-US" sz="1800" dirty="0"/>
              <a:t> </a:t>
            </a:r>
            <a:r>
              <a:rPr lang="en-US" sz="1800" dirty="0" err="1"/>
              <a:t>Teknologi</a:t>
            </a:r>
            <a:r>
              <a:rPr lang="en-US" sz="1800" dirty="0"/>
              <a:t> Mobile</a:t>
            </a:r>
          </a:p>
          <a:p>
            <a:r>
              <a:rPr lang="en-US" sz="1800" dirty="0" err="1"/>
              <a:t>Karakteristik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 Mobile</a:t>
            </a:r>
          </a:p>
          <a:p>
            <a:r>
              <a:rPr lang="en-US" sz="1800" dirty="0" err="1"/>
              <a:t>Tipe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 Mobile</a:t>
            </a:r>
          </a:p>
          <a:p>
            <a:r>
              <a:rPr lang="en-US" sz="1800" dirty="0" err="1"/>
              <a:t>Distribusi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 Mobile</a:t>
            </a:r>
          </a:p>
        </p:txBody>
      </p:sp>
    </p:spTree>
    <p:extLst>
      <p:ext uri="{BB962C8B-B14F-4D97-AF65-F5344CB8AC3E}">
        <p14:creationId xmlns:p14="http://schemas.microsoft.com/office/powerpoint/2010/main" val="1444300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80931" y="1556794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>
                <a:ea typeface="Roboto" panose="02000000000000000000" pitchFamily="2" charset="0"/>
              </a:rPr>
              <a:t>A</a:t>
            </a:r>
            <a:r>
              <a:rPr lang="id-ID" sz="2400" dirty="0">
                <a:ea typeface="Roboto" panose="02000000000000000000" pitchFamily="2" charset="0"/>
              </a:rPr>
              <a:t>plikasi</a:t>
            </a:r>
            <a:r>
              <a:rPr lang="id-ID" sz="2400" spc="400" dirty="0">
                <a:ea typeface="Roboto" panose="02000000000000000000" pitchFamily="2" charset="0"/>
              </a:rPr>
              <a:t> </a:t>
            </a:r>
            <a:r>
              <a:rPr lang="id-ID" sz="2400" dirty="0">
                <a:ea typeface="Roboto" panose="02000000000000000000" pitchFamily="2" charset="0"/>
              </a:rPr>
              <a:t>untuk</a:t>
            </a:r>
            <a:r>
              <a:rPr lang="id-ID" sz="2400" spc="400" dirty="0">
                <a:ea typeface="Roboto" panose="02000000000000000000" pitchFamily="2" charset="0"/>
              </a:rPr>
              <a:t> </a:t>
            </a:r>
            <a:r>
              <a:rPr lang="en-US" sz="2400" dirty="0">
                <a:ea typeface="Roboto" panose="02000000000000000000" pitchFamily="2" charset="0"/>
              </a:rPr>
              <a:t>desktop</a:t>
            </a:r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80933" y="1723343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id-ID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uatu aplikasi atau software yang ada pada desktop (PC dan laptop). Umumnya jenis aplikasi ini beroperasi tanpa terhubung dengan koneksi internet atau bisa dijalankan secara offline.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</a:pP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menggunakannya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menginstalnya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terlebih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dahulu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pada laptop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maupun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buClr>
                <a:srgbClr val="30ACEC">
                  <a:lumMod val="75000"/>
                </a:srgbClr>
              </a:buClr>
            </a:pPr>
            <a:r>
              <a:rPr lang="id-ID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Aplikasi desktop bisa dibuat dengan berbagai macam bahasa pemrograman, seperti Java, 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Python, </a:t>
            </a:r>
            <a:r>
              <a:rPr lang="id-ID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d-ID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</a:t>
            </a:r>
            <a:r>
              <a:rPr lang="id-ID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B70B1-5408-B5FC-2644-1BB919786081}"/>
              </a:ext>
            </a:extLst>
          </p:cNvPr>
          <p:cNvSpPr txBox="1"/>
          <p:nvPr/>
        </p:nvSpPr>
        <p:spPr>
          <a:xfrm>
            <a:off x="755576" y="4077072"/>
            <a:ext cx="70567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desktop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lain: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Microsoft Word,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Microsoft Excel,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Microsoft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Notepad,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Adobe Photoshop,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Corel Draw,</a:t>
            </a:r>
          </a:p>
          <a:p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dan lain-lain</a:t>
            </a:r>
          </a:p>
        </p:txBody>
      </p:sp>
    </p:spTree>
    <p:extLst>
      <p:ext uri="{BB962C8B-B14F-4D97-AF65-F5344CB8AC3E}">
        <p14:creationId xmlns:p14="http://schemas.microsoft.com/office/powerpoint/2010/main" val="343523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80931" y="1556794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>
                <a:ea typeface="Roboto" panose="02000000000000000000" pitchFamily="2" charset="0"/>
              </a:rPr>
              <a:t>A</a:t>
            </a:r>
            <a:r>
              <a:rPr lang="id-ID" sz="2400" dirty="0">
                <a:ea typeface="Roboto" panose="02000000000000000000" pitchFamily="2" charset="0"/>
              </a:rPr>
              <a:t>plikasi</a:t>
            </a:r>
            <a:r>
              <a:rPr lang="id-ID" sz="2400" spc="400" dirty="0">
                <a:ea typeface="Roboto" panose="02000000000000000000" pitchFamily="2" charset="0"/>
              </a:rPr>
              <a:t> </a:t>
            </a:r>
            <a:r>
              <a:rPr lang="id-ID" sz="2400" dirty="0">
                <a:ea typeface="Roboto" panose="02000000000000000000" pitchFamily="2" charset="0"/>
              </a:rPr>
              <a:t>untuk</a:t>
            </a:r>
            <a:r>
              <a:rPr lang="id-ID" sz="2400" spc="400" dirty="0">
                <a:ea typeface="Roboto" panose="02000000000000000000" pitchFamily="2" charset="0"/>
              </a:rPr>
              <a:t> </a:t>
            </a:r>
            <a:r>
              <a:rPr lang="en-US" sz="2400" dirty="0">
                <a:ea typeface="Roboto" panose="02000000000000000000" pitchFamily="2" charset="0"/>
              </a:rPr>
              <a:t>web</a:t>
            </a:r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480933" y="1723343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d-ID" sz="1800" dirty="0">
                <a:latin typeface="Arial" panose="020B0604020202020204" pitchFamily="34" charset="0"/>
                <a:cs typeface="Arial" panose="020B0604020202020204" pitchFamily="34" charset="0"/>
              </a:rPr>
              <a:t>plikasi yang mengunakan teknologi browser untuk menjalankan aplikasi dan diakses melalui jaringan komputer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Jadi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d-ID" sz="1800" dirty="0">
                <a:latin typeface="Arial" panose="020B0604020202020204" pitchFamily="34" charset="0"/>
                <a:cs typeface="Arial" panose="020B0604020202020204" pitchFamily="34" charset="0"/>
              </a:rPr>
              <a:t>sebuah program yang disimpan di Server dan dikirim melalui internet dan diakses melalui antarmuka browser.</a:t>
            </a: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</a:pP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Kemudahan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mengakses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ciri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utama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membuat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diminati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diimplementasikan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bidang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kehidupan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umumnya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Bahasa Java, Python, PHP, HTML, CSS, dan JavaScript.</a:t>
            </a:r>
            <a:endParaRPr lang="id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19F5E-F0DC-FC2F-90F0-B86991732729}"/>
              </a:ext>
            </a:extLst>
          </p:cNvPr>
          <p:cNvSpPr txBox="1"/>
          <p:nvPr/>
        </p:nvSpPr>
        <p:spPr>
          <a:xfrm>
            <a:off x="755576" y="4256586"/>
            <a:ext cx="84018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lain: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Gmail,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Trello,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Google Docs,</a:t>
            </a:r>
          </a:p>
          <a:p>
            <a:pPr marL="285750" indent="-285750">
              <a:buFontTx/>
              <a:buChar char="-"/>
            </a:pP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Google Spreadsheet,</a:t>
            </a:r>
          </a:p>
          <a:p>
            <a:pPr marL="285750" indent="-285750">
              <a:buFontTx/>
              <a:buChar char="-"/>
            </a:pP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   dan lain-lain.</a:t>
            </a:r>
          </a:p>
        </p:txBody>
      </p:sp>
    </p:spTree>
    <p:extLst>
      <p:ext uri="{BB962C8B-B14F-4D97-AF65-F5344CB8AC3E}">
        <p14:creationId xmlns:p14="http://schemas.microsoft.com/office/powerpoint/2010/main" val="2392129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6472" y="1069977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r>
              <a:rPr lang="en-US" sz="2400" dirty="0">
                <a:ea typeface="Roboto" panose="02000000000000000000" pitchFamily="2" charset="0"/>
              </a:rPr>
              <a:t>A</a:t>
            </a:r>
            <a:r>
              <a:rPr lang="id-ID" sz="2400" dirty="0">
                <a:ea typeface="Roboto" panose="02000000000000000000" pitchFamily="2" charset="0"/>
              </a:rPr>
              <a:t>plikasi</a:t>
            </a:r>
            <a:r>
              <a:rPr lang="en-US" sz="2400" spc="400" dirty="0">
                <a:ea typeface="Roboto" panose="02000000000000000000" pitchFamily="2" charset="0"/>
              </a:rPr>
              <a:t> </a:t>
            </a:r>
            <a:r>
              <a:rPr lang="id-ID" sz="2400" dirty="0">
                <a:ea typeface="Roboto" panose="02000000000000000000" pitchFamily="2" charset="0"/>
              </a:rPr>
              <a:t>untuk</a:t>
            </a:r>
            <a:r>
              <a:rPr lang="id-ID" sz="2400" spc="400" dirty="0">
                <a:ea typeface="Roboto" panose="02000000000000000000" pitchFamily="2" charset="0"/>
              </a:rPr>
              <a:t> </a:t>
            </a:r>
            <a:r>
              <a:rPr lang="id-ID" sz="2400" dirty="0">
                <a:ea typeface="Roboto" panose="02000000000000000000" pitchFamily="2" charset="0"/>
              </a:rPr>
              <a:t>mobile</a:t>
            </a: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42704" y="3284984"/>
            <a:ext cx="8483557" cy="22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d-ID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plikasi yang dibuat untuk perangkat-perangkat bergerak (Mobile) seperti : Smartphone, SmartWatch, Tablet, dan lainnya. Perangkat lunak atau disebut juga software aplikasi merupakan hasil dari pemrograman mobile yang dirancang menggunakan bahasa pemrograman tertentu.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</a:pP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Perkembangan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mengenai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khusus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diperuntukkan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mobile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semakin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pesat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biasa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membangun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mobile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Kotlin, Java, Objective C, Swift, Dart, JavaScript, dan React Native.</a:t>
            </a: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fi-FI" sz="1800" dirty="0">
                <a:latin typeface="Arial" panose="020B0604020202020204" pitchFamily="34" charset="0"/>
                <a:cs typeface="Arial" panose="020B0604020202020204" pitchFamily="34" charset="0"/>
              </a:rPr>
              <a:t>     Contoh aplikasi mobile antara lain:</a:t>
            </a: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fi-FI" sz="1800" dirty="0">
                <a:latin typeface="Arial" panose="020B0604020202020204" pitchFamily="34" charset="0"/>
                <a:cs typeface="Arial" panose="020B0604020202020204" pitchFamily="34" charset="0"/>
              </a:rPr>
              <a:t>     - WhatsApp,</a:t>
            </a: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fi-FI" sz="1800" dirty="0">
                <a:latin typeface="Arial" panose="020B0604020202020204" pitchFamily="34" charset="0"/>
                <a:cs typeface="Arial" panose="020B0604020202020204" pitchFamily="34" charset="0"/>
              </a:rPr>
              <a:t>     - Grab,</a:t>
            </a: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fi-FI" sz="1800" dirty="0">
                <a:latin typeface="Arial" panose="020B0604020202020204" pitchFamily="34" charset="0"/>
                <a:cs typeface="Arial" panose="020B0604020202020204" pitchFamily="34" charset="0"/>
              </a:rPr>
              <a:t>     - Gojek,</a:t>
            </a: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fi-FI" sz="1800" dirty="0">
                <a:latin typeface="Arial" panose="020B0604020202020204" pitchFamily="34" charset="0"/>
                <a:cs typeface="Arial" panose="020B0604020202020204" pitchFamily="34" charset="0"/>
              </a:rPr>
              <a:t>     - Halodoc,</a:t>
            </a: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fi-FI" sz="1800" dirty="0">
                <a:latin typeface="Arial" panose="020B0604020202020204" pitchFamily="34" charset="0"/>
                <a:cs typeface="Arial" panose="020B0604020202020204" pitchFamily="34" charset="0"/>
              </a:rPr>
              <a:t>     - Instagram,</a:t>
            </a: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fi-FI" sz="1800" dirty="0">
                <a:latin typeface="Arial" panose="020B0604020202020204" pitchFamily="34" charset="0"/>
                <a:cs typeface="Arial" panose="020B0604020202020204" pitchFamily="34" charset="0"/>
              </a:rPr>
              <a:t>     - Twitter, dll</a:t>
            </a: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12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215135" y="1333357"/>
            <a:ext cx="9144000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altLang="x-none" sz="2000" dirty="0" err="1"/>
              <a:t>Keuntungan</a:t>
            </a:r>
            <a:r>
              <a:rPr lang="en-US" altLang="x-none" sz="2000" dirty="0"/>
              <a:t> </a:t>
            </a:r>
            <a:r>
              <a:rPr lang="en-US" altLang="x-none" sz="2000" dirty="0" err="1"/>
              <a:t>Teknologi</a:t>
            </a:r>
            <a:r>
              <a:rPr lang="en-US" altLang="x-none" sz="2000" dirty="0"/>
              <a:t> Mobile</a:t>
            </a:r>
            <a:endParaRPr lang="id-ID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5282E-E70B-2F5B-A0EF-32F82254DF2C}"/>
              </a:ext>
            </a:extLst>
          </p:cNvPr>
          <p:cNvSpPr txBox="1"/>
          <p:nvPr/>
        </p:nvSpPr>
        <p:spPr>
          <a:xfrm>
            <a:off x="215137" y="1840196"/>
            <a:ext cx="8928865" cy="3775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1630" indent="-34163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Extreme Personalization</a:t>
            </a:r>
          </a:p>
          <a:p>
            <a:pPr marL="741680" lvl="1" indent="-28448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Ponsel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diantara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dompet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kunci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motor</a:t>
            </a:r>
          </a:p>
          <a:p>
            <a:pPr marL="741680" lvl="1" indent="-28448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segala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pribadi</a:t>
            </a:r>
            <a:endParaRPr lang="en-US" altLang="x-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630" indent="-34163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Pengaksesan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dimanapun</a:t>
            </a:r>
            <a:endParaRPr lang="en-US" altLang="x-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1680" lvl="1" indent="-28448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kita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bekerja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belanja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bermain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batasan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asal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terhubung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!)</a:t>
            </a:r>
          </a:p>
          <a:p>
            <a:pPr marL="341630" indent="-34163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Mobilitas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kerumitan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kabel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(W-LAN) &amp;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Instalasi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jaringan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endParaRPr lang="en-US" altLang="x-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630" indent="-34163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Kompatible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lain</a:t>
            </a:r>
          </a:p>
          <a:p>
            <a:pPr marL="341630" indent="-34163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Cocok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daerah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belum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infrastruktur</a:t>
            </a:r>
            <a:endParaRPr lang="en-US" altLang="x-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630" indent="-34163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Reduksi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kasus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pemindahan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maupun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perubahan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x-none" dirty="0" err="1">
                <a:latin typeface="Arial" panose="020B0604020202020204" pitchFamily="34" charset="0"/>
                <a:cs typeface="Arial" panose="020B0604020202020204" pitchFamily="34" charset="0"/>
              </a:rPr>
              <a:t>konfigurasi</a:t>
            </a:r>
            <a:r>
              <a:rPr lang="en-US" altLang="x-none" dirty="0">
                <a:latin typeface="Arial" panose="020B0604020202020204" pitchFamily="34" charset="0"/>
                <a:cs typeface="Arial" panose="020B0604020202020204" pitchFamily="34" charset="0"/>
              </a:rPr>
              <a:t> LAN</a:t>
            </a:r>
          </a:p>
          <a:p>
            <a:pPr algn="just">
              <a:lnSpc>
                <a:spcPct val="150000"/>
              </a:lnSpc>
            </a:pP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40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2006"/>
            <a:ext cx="9144000" cy="908718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359531" y="1052736"/>
            <a:ext cx="8483557" cy="505780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endParaRPr lang="en-US" sz="1800" dirty="0">
              <a:ea typeface="Roboto" panose="02000000000000000000" pitchFamily="2" charset="0"/>
            </a:endParaRPr>
          </a:p>
          <a:p>
            <a:r>
              <a:rPr lang="id-ID" sz="1900" dirty="0" err="1">
                <a:ea typeface="Roboto" panose="02000000000000000000" pitchFamily="2" charset="0"/>
              </a:rPr>
              <a:t>Karakteristi</a:t>
            </a:r>
            <a:r>
              <a:rPr lang="en-US" sz="1900" dirty="0">
                <a:ea typeface="Roboto" panose="02000000000000000000" pitchFamily="2" charset="0"/>
              </a:rPr>
              <a:t>k </a:t>
            </a:r>
            <a:r>
              <a:rPr lang="en-US" sz="1900" dirty="0" err="1">
                <a:ea typeface="Roboto" panose="02000000000000000000" pitchFamily="2" charset="0"/>
              </a:rPr>
              <a:t>Aplikasi</a:t>
            </a:r>
            <a:r>
              <a:rPr lang="en-US" sz="1900" dirty="0">
                <a:ea typeface="Roboto" panose="02000000000000000000" pitchFamily="2" charset="0"/>
              </a:rPr>
              <a:t> </a:t>
            </a:r>
            <a:r>
              <a:rPr lang="en-US" sz="1900" dirty="0" err="1">
                <a:ea typeface="Roboto" panose="02000000000000000000" pitchFamily="2" charset="0"/>
              </a:rPr>
              <a:t>untuk</a:t>
            </a:r>
            <a:r>
              <a:rPr lang="en-US" sz="1900" dirty="0">
                <a:ea typeface="Roboto" panose="02000000000000000000" pitchFamily="2" charset="0"/>
              </a:rPr>
              <a:t> Mobile Device</a:t>
            </a:r>
            <a:endParaRPr lang="en-US" sz="1800" dirty="0"/>
          </a:p>
          <a:p>
            <a:pPr marL="342900" indent="-342900" algn="just">
              <a:buAutoNum type="arabicPeriod"/>
            </a:pP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Mudah</a:t>
            </a:r>
            <a:r>
              <a:rPr lang="en-ID" sz="1800" dirty="0"/>
              <a:t> di </a:t>
            </a:r>
            <a:r>
              <a:rPr lang="en-ID" sz="1800" dirty="0" err="1"/>
              <a:t>Akses</a:t>
            </a:r>
            <a:r>
              <a:rPr lang="en-ID" sz="1800" dirty="0"/>
              <a:t> </a:t>
            </a:r>
            <a:r>
              <a:rPr lang="en-ID" sz="1800" b="0" dirty="0"/>
              <a:t>: </a:t>
            </a:r>
            <a:r>
              <a:rPr lang="en-ID" sz="1800" b="0" dirty="0" err="1"/>
              <a:t>Aplikasi</a:t>
            </a:r>
            <a:r>
              <a:rPr lang="en-ID" sz="1800" b="0" dirty="0"/>
              <a:t> mobile </a:t>
            </a:r>
            <a:r>
              <a:rPr lang="en-ID" sz="1800" b="0" dirty="0" err="1"/>
              <a:t>dapat</a:t>
            </a:r>
            <a:r>
              <a:rPr lang="en-ID" sz="1800" b="0" dirty="0"/>
              <a:t> </a:t>
            </a:r>
            <a:r>
              <a:rPr lang="en-ID" sz="1800" b="0" dirty="0" err="1"/>
              <a:t>diakses</a:t>
            </a:r>
            <a:r>
              <a:rPr lang="en-ID" sz="1800" b="0" dirty="0"/>
              <a:t> </a:t>
            </a:r>
            <a:r>
              <a:rPr lang="en-ID" sz="1800" b="0" dirty="0" err="1"/>
              <a:t>lebih</a:t>
            </a:r>
            <a:r>
              <a:rPr lang="en-ID" sz="1800" b="0" dirty="0"/>
              <a:t> </a:t>
            </a:r>
            <a:r>
              <a:rPr lang="en-ID" sz="1800" b="0" dirty="0" err="1"/>
              <a:t>mudah</a:t>
            </a:r>
            <a:r>
              <a:rPr lang="en-ID" sz="1800" b="0" dirty="0"/>
              <a:t>, </a:t>
            </a:r>
            <a:r>
              <a:rPr lang="en-ID" sz="1800" b="0" dirty="0" err="1"/>
              <a:t>karena</a:t>
            </a:r>
            <a:r>
              <a:rPr lang="en-ID" sz="1800" b="0" dirty="0"/>
              <a:t> </a:t>
            </a:r>
            <a:r>
              <a:rPr lang="en-ID" sz="1800" b="0" dirty="0" err="1"/>
              <a:t>dilihat</a:t>
            </a:r>
            <a:r>
              <a:rPr lang="en-ID" sz="1800" b="0" dirty="0"/>
              <a:t> </a:t>
            </a:r>
            <a:r>
              <a:rPr lang="en-ID" sz="1800" b="0" dirty="0" err="1"/>
              <a:t>dari</a:t>
            </a:r>
            <a:r>
              <a:rPr lang="en-ID" sz="1800" b="0" dirty="0"/>
              <a:t> </a:t>
            </a:r>
            <a:r>
              <a:rPr lang="en-ID" sz="1800" b="0" dirty="0" err="1"/>
              <a:t>fisiknya</a:t>
            </a:r>
            <a:r>
              <a:rPr lang="en-ID" sz="1800" b="0" dirty="0"/>
              <a:t> yang sangat </a:t>
            </a:r>
            <a:r>
              <a:rPr lang="en-ID" sz="1800" b="0" dirty="0" err="1"/>
              <a:t>fleksibel</a:t>
            </a:r>
            <a:r>
              <a:rPr lang="en-ID" sz="1800" b="0" dirty="0"/>
              <a:t> dan </a:t>
            </a:r>
            <a:r>
              <a:rPr lang="en-ID" sz="1800" b="0" dirty="0" err="1"/>
              <a:t>mudah</a:t>
            </a:r>
            <a:r>
              <a:rPr lang="en-ID" sz="1800" b="0" dirty="0"/>
              <a:t> </a:t>
            </a:r>
            <a:r>
              <a:rPr lang="en-ID" sz="1800" b="0" dirty="0" err="1"/>
              <a:t>dibawa</a:t>
            </a:r>
            <a:r>
              <a:rPr lang="en-ID" sz="1800" b="0" dirty="0"/>
              <a:t> </a:t>
            </a:r>
            <a:r>
              <a:rPr lang="en-ID" sz="1800" b="0" dirty="0" err="1"/>
              <a:t>kemana</a:t>
            </a:r>
            <a:r>
              <a:rPr lang="en-ID" sz="1800" b="0" dirty="0"/>
              <a:t>-mana,  </a:t>
            </a:r>
            <a:r>
              <a:rPr lang="en-ID" sz="1800" b="0" dirty="0" err="1"/>
              <a:t>Aplikasi</a:t>
            </a:r>
            <a:r>
              <a:rPr lang="en-ID" sz="1800" b="0" dirty="0"/>
              <a:t> mobile </a:t>
            </a:r>
            <a:r>
              <a:rPr lang="en-ID" sz="1800" b="0" dirty="0" err="1"/>
              <a:t>dilengkapi</a:t>
            </a:r>
            <a:r>
              <a:rPr lang="en-ID" sz="1800" b="0" dirty="0"/>
              <a:t> </a:t>
            </a:r>
            <a:r>
              <a:rPr lang="en-ID" sz="1800" b="0" dirty="0" err="1"/>
              <a:t>dengan</a:t>
            </a:r>
            <a:r>
              <a:rPr lang="en-ID" sz="1800" b="0" dirty="0"/>
              <a:t> </a:t>
            </a:r>
            <a:r>
              <a:rPr lang="en-ID" sz="1800" b="0" dirty="0" err="1"/>
              <a:t>perangkat</a:t>
            </a:r>
            <a:r>
              <a:rPr lang="en-ID" sz="1800" b="0" dirty="0"/>
              <a:t> portable yang </a:t>
            </a:r>
            <a:r>
              <a:rPr lang="en-ID" sz="1800" b="0" dirty="0" err="1"/>
              <a:t>memungkinkan</a:t>
            </a:r>
            <a:r>
              <a:rPr lang="en-ID" sz="1800" b="0" dirty="0"/>
              <a:t> user </a:t>
            </a:r>
            <a:r>
              <a:rPr lang="en-ID" sz="1800" b="0" dirty="0" err="1"/>
              <a:t>dapat</a:t>
            </a:r>
            <a:r>
              <a:rPr lang="en-ID" sz="1800" b="0" dirty="0"/>
              <a:t>  </a:t>
            </a:r>
            <a:r>
              <a:rPr lang="en-ID" sz="1800" b="0" dirty="0" err="1"/>
              <a:t>terkoneksi</a:t>
            </a:r>
            <a:r>
              <a:rPr lang="en-ID" sz="1800" b="0" dirty="0"/>
              <a:t> internet </a:t>
            </a:r>
            <a:r>
              <a:rPr lang="en-ID" sz="1800" b="0" dirty="0" err="1"/>
              <a:t>serta</a:t>
            </a:r>
            <a:r>
              <a:rPr lang="en-ID" sz="1800" b="0" dirty="0"/>
              <a:t> </a:t>
            </a:r>
            <a:r>
              <a:rPr lang="en-ID" sz="1800" b="0" dirty="0" err="1"/>
              <a:t>dapat</a:t>
            </a:r>
            <a:r>
              <a:rPr lang="en-ID" sz="1800" b="0" dirty="0"/>
              <a:t> </a:t>
            </a:r>
            <a:r>
              <a:rPr lang="en-ID" sz="1800" b="0" dirty="0" err="1"/>
              <a:t>tehubung</a:t>
            </a:r>
            <a:r>
              <a:rPr lang="en-ID" sz="1800" b="0" dirty="0"/>
              <a:t> </a:t>
            </a:r>
            <a:r>
              <a:rPr lang="en-ID" sz="1800" b="0" dirty="0" err="1"/>
              <a:t>dengan</a:t>
            </a:r>
            <a:r>
              <a:rPr lang="en-ID" sz="1800" b="0" dirty="0"/>
              <a:t> </a:t>
            </a:r>
            <a:r>
              <a:rPr lang="en-ID" sz="1800" b="0" dirty="0" err="1"/>
              <a:t>pengguna</a:t>
            </a:r>
            <a:r>
              <a:rPr lang="en-ID" sz="1800" b="0" dirty="0"/>
              <a:t> lain</a:t>
            </a:r>
            <a:br>
              <a:rPr lang="en-ID" sz="1800" b="0" dirty="0"/>
            </a:br>
            <a:endParaRPr lang="en-ID" sz="1800" b="0" dirty="0"/>
          </a:p>
          <a:p>
            <a:pPr marL="342900" indent="-342900" algn="just">
              <a:buAutoNum type="arabicPeriod"/>
            </a:pPr>
            <a:r>
              <a:rPr lang="en-ID" sz="1800" dirty="0" err="1"/>
              <a:t>Bersifat</a:t>
            </a:r>
            <a:r>
              <a:rPr lang="en-ID" sz="1800" dirty="0"/>
              <a:t> </a:t>
            </a:r>
            <a:r>
              <a:rPr lang="en-ID" sz="1800" dirty="0" err="1"/>
              <a:t>Produktif</a:t>
            </a:r>
            <a:r>
              <a:rPr lang="en-ID" sz="1800" dirty="0"/>
              <a:t> </a:t>
            </a:r>
            <a:r>
              <a:rPr lang="en-ID" sz="1800" b="0" dirty="0"/>
              <a:t>: </a:t>
            </a:r>
            <a:r>
              <a:rPr lang="en-ID" sz="1800" b="0" dirty="0" err="1"/>
              <a:t>Aplikasi</a:t>
            </a:r>
            <a:r>
              <a:rPr lang="en-ID" sz="1800" b="0" dirty="0"/>
              <a:t> mobile </a:t>
            </a:r>
            <a:r>
              <a:rPr lang="en-ID" sz="1800" b="0" dirty="0" err="1"/>
              <a:t>bersifat</a:t>
            </a:r>
            <a:r>
              <a:rPr lang="en-ID" sz="1800" b="0" dirty="0"/>
              <a:t> </a:t>
            </a:r>
            <a:r>
              <a:rPr lang="en-ID" sz="1800" b="0" dirty="0" err="1"/>
              <a:t>produktif</a:t>
            </a:r>
            <a:r>
              <a:rPr lang="en-ID" sz="1800" b="0" dirty="0"/>
              <a:t>, </a:t>
            </a:r>
            <a:r>
              <a:rPr lang="en-ID" sz="1800" b="0" dirty="0" err="1"/>
              <a:t>terbukti</a:t>
            </a:r>
            <a:r>
              <a:rPr lang="en-ID" sz="1800" b="0" dirty="0"/>
              <a:t> </a:t>
            </a:r>
            <a:r>
              <a:rPr lang="en-ID" sz="1800" b="0" dirty="0" err="1"/>
              <a:t>dengan</a:t>
            </a:r>
            <a:r>
              <a:rPr lang="en-ID" sz="1800" b="0" dirty="0"/>
              <a:t> sangat </a:t>
            </a:r>
            <a:r>
              <a:rPr lang="en-ID" sz="1800" b="0" dirty="0" err="1"/>
              <a:t>seringnya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mobile </a:t>
            </a:r>
            <a:r>
              <a:rPr lang="en-ID" sz="1800" b="0" dirty="0" err="1"/>
              <a:t>memberikan</a:t>
            </a:r>
            <a:r>
              <a:rPr lang="en-ID" sz="1800" b="0" dirty="0"/>
              <a:t> </a:t>
            </a:r>
            <a:r>
              <a:rPr lang="en-ID" sz="1800" b="0" dirty="0" err="1"/>
              <a:t>notifikasi</a:t>
            </a:r>
            <a:r>
              <a:rPr lang="en-ID" sz="1800" b="0" dirty="0"/>
              <a:t> </a:t>
            </a:r>
            <a:r>
              <a:rPr lang="en-ID" sz="1800" b="0" dirty="0" err="1"/>
              <a:t>jika</a:t>
            </a:r>
            <a:r>
              <a:rPr lang="en-ID" sz="1800" b="0" dirty="0"/>
              <a:t> </a:t>
            </a:r>
            <a:r>
              <a:rPr lang="en-ID" sz="1800" b="0" dirty="0" err="1"/>
              <a:t>terdapat</a:t>
            </a:r>
            <a:r>
              <a:rPr lang="en-ID" sz="1800" b="0" dirty="0"/>
              <a:t> </a:t>
            </a:r>
            <a:r>
              <a:rPr lang="en-ID" sz="1800" b="0" dirty="0" err="1"/>
              <a:t>pembaruan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. </a:t>
            </a:r>
            <a:r>
              <a:rPr lang="en-ID" sz="1800" b="0" dirty="0" err="1"/>
              <a:t>bisa</a:t>
            </a:r>
            <a:r>
              <a:rPr lang="en-ID" sz="1800" b="0" dirty="0"/>
              <a:t> </a:t>
            </a:r>
            <a:r>
              <a:rPr lang="en-ID" sz="1800" b="0" dirty="0" err="1"/>
              <a:t>saja</a:t>
            </a:r>
            <a:r>
              <a:rPr lang="en-ID" sz="1800" b="0" dirty="0"/>
              <a:t> </a:t>
            </a:r>
            <a:r>
              <a:rPr lang="en-ID" sz="1800" b="0" dirty="0" err="1"/>
              <a:t>semua</a:t>
            </a:r>
            <a:r>
              <a:rPr lang="en-ID" sz="1800" b="0" dirty="0"/>
              <a:t> </a:t>
            </a:r>
            <a:r>
              <a:rPr lang="en-ID" sz="1800" b="0" dirty="0" err="1"/>
              <a:t>fitur</a:t>
            </a:r>
            <a:r>
              <a:rPr lang="en-ID" sz="1800" b="0" dirty="0"/>
              <a:t> yang </a:t>
            </a:r>
            <a:r>
              <a:rPr lang="en-ID" sz="1800" b="0" dirty="0" err="1"/>
              <a:t>terdapat</a:t>
            </a:r>
            <a:r>
              <a:rPr lang="en-ID" sz="1800" b="0" dirty="0"/>
              <a:t> pada </a:t>
            </a:r>
            <a:r>
              <a:rPr lang="en-ID" sz="1800" b="0" dirty="0" err="1"/>
              <a:t>aplikasi</a:t>
            </a:r>
            <a:r>
              <a:rPr lang="en-ID" sz="1800" b="0" dirty="0"/>
              <a:t> web </a:t>
            </a:r>
            <a:r>
              <a:rPr lang="en-ID" sz="1800" b="0" dirty="0" err="1"/>
              <a:t>sudah</a:t>
            </a:r>
            <a:r>
              <a:rPr lang="en-ID" sz="1800" b="0" dirty="0"/>
              <a:t> </a:t>
            </a:r>
            <a:r>
              <a:rPr lang="en-ID" sz="1800" b="0" dirty="0" err="1"/>
              <a:t>terpenuhi</a:t>
            </a:r>
            <a:r>
              <a:rPr lang="en-ID" sz="1800" b="0" dirty="0"/>
              <a:t> </a:t>
            </a:r>
            <a:r>
              <a:rPr lang="en-ID" sz="1800" b="0" dirty="0" err="1"/>
              <a:t>bahkan</a:t>
            </a:r>
            <a:r>
              <a:rPr lang="en-ID" sz="1800" b="0" dirty="0"/>
              <a:t> </a:t>
            </a:r>
            <a:r>
              <a:rPr lang="en-ID" sz="1800" b="0" dirty="0" err="1"/>
              <a:t>lebih</a:t>
            </a:r>
            <a:r>
              <a:rPr lang="en-ID" sz="1800" b="0" dirty="0"/>
              <a:t> </a:t>
            </a:r>
            <a:r>
              <a:rPr lang="en-ID" sz="1800" b="0" dirty="0" err="1"/>
              <a:t>bagus</a:t>
            </a:r>
            <a:r>
              <a:rPr lang="en-ID" sz="1800" b="0" dirty="0"/>
              <a:t> </a:t>
            </a:r>
            <a:r>
              <a:rPr lang="en-ID" sz="1800" b="0" dirty="0" err="1"/>
              <a:t>dari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web.</a:t>
            </a:r>
          </a:p>
          <a:p>
            <a:pPr marL="342900" indent="-342900" algn="just">
              <a:buAutoNum type="arabicPeriod"/>
            </a:pPr>
            <a:endParaRPr lang="en-ID" sz="1800" b="0" dirty="0"/>
          </a:p>
          <a:p>
            <a:pPr marL="342900" indent="-342900" algn="just">
              <a:buAutoNum type="arabicPeriod"/>
            </a:pPr>
            <a:r>
              <a:rPr lang="en-ID" sz="1800" dirty="0" err="1"/>
              <a:t>Tampilan</a:t>
            </a:r>
            <a:r>
              <a:rPr lang="en-ID" sz="1800" dirty="0"/>
              <a:t> Responsive </a:t>
            </a:r>
            <a:r>
              <a:rPr lang="en-ID" sz="1800" b="0" dirty="0"/>
              <a:t>: Pada </a:t>
            </a:r>
            <a:r>
              <a:rPr lang="en-ID" sz="1800" b="0" dirty="0" err="1"/>
              <a:t>Aplikasi</a:t>
            </a:r>
            <a:r>
              <a:rPr lang="en-ID" sz="1800" b="0" dirty="0"/>
              <a:t> mobile, </a:t>
            </a:r>
            <a:r>
              <a:rPr lang="en-ID" sz="1800" b="0" dirty="0" err="1"/>
              <a:t>layar</a:t>
            </a:r>
            <a:r>
              <a:rPr lang="en-ID" sz="1800" b="0" dirty="0"/>
              <a:t> </a:t>
            </a:r>
            <a:r>
              <a:rPr lang="en-ID" sz="1800" b="0" dirty="0" err="1"/>
              <a:t>disesuaikan</a:t>
            </a:r>
            <a:r>
              <a:rPr lang="en-ID" sz="1800" b="0" dirty="0"/>
              <a:t> </a:t>
            </a:r>
            <a:r>
              <a:rPr lang="en-ID" sz="1800" b="0" dirty="0" err="1"/>
              <a:t>dengan</a:t>
            </a:r>
            <a:r>
              <a:rPr lang="en-ID" sz="1800" b="0" dirty="0"/>
              <a:t> gadget </a:t>
            </a:r>
            <a:r>
              <a:rPr lang="en-ID" sz="1800" b="0" dirty="0" err="1"/>
              <a:t>dari</a:t>
            </a:r>
            <a:r>
              <a:rPr lang="en-ID" sz="1800" b="0" dirty="0"/>
              <a:t> </a:t>
            </a:r>
            <a:r>
              <a:rPr lang="en-ID" sz="1800" b="0" dirty="0" err="1"/>
              <a:t>pengguna</a:t>
            </a:r>
            <a:r>
              <a:rPr lang="en-ID" sz="1800" b="0" dirty="0"/>
              <a:t>. </a:t>
            </a:r>
            <a:r>
              <a:rPr lang="en-ID" sz="1800" b="0" dirty="0" err="1"/>
              <a:t>Dibanding</a:t>
            </a:r>
            <a:r>
              <a:rPr lang="en-ID" sz="1800" b="0" dirty="0"/>
              <a:t> </a:t>
            </a:r>
            <a:r>
              <a:rPr lang="en-ID" sz="1800" b="0" dirty="0" err="1"/>
              <a:t>dengan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web, </a:t>
            </a:r>
            <a:r>
              <a:rPr lang="en-ID" sz="1800" b="0" dirty="0" err="1"/>
              <a:t>memang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web </a:t>
            </a:r>
            <a:r>
              <a:rPr lang="en-ID" sz="1800" b="0" dirty="0" err="1"/>
              <a:t>lebih</a:t>
            </a:r>
            <a:r>
              <a:rPr lang="en-ID" sz="1800" b="0" dirty="0"/>
              <a:t> </a:t>
            </a:r>
            <a:r>
              <a:rPr lang="en-ID" sz="1800" b="0" dirty="0" err="1"/>
              <a:t>bagus</a:t>
            </a:r>
            <a:r>
              <a:rPr lang="en-ID" sz="1800" b="0" dirty="0"/>
              <a:t> </a:t>
            </a:r>
            <a:r>
              <a:rPr lang="en-ID" sz="1800" b="0" dirty="0" err="1"/>
              <a:t>secara</a:t>
            </a:r>
            <a:r>
              <a:rPr lang="en-ID" sz="1800" b="0" dirty="0"/>
              <a:t> </a:t>
            </a:r>
            <a:r>
              <a:rPr lang="en-ID" sz="1800" b="0" dirty="0" err="1"/>
              <a:t>grafis</a:t>
            </a:r>
            <a:r>
              <a:rPr lang="en-ID" sz="1800" b="0" dirty="0"/>
              <a:t>. Dan </a:t>
            </a:r>
            <a:r>
              <a:rPr lang="en-ID" sz="1800" b="0" dirty="0" err="1"/>
              <a:t>kebanyakan</a:t>
            </a:r>
            <a:r>
              <a:rPr lang="en-ID" sz="1800" b="0" dirty="0"/>
              <a:t> </a:t>
            </a:r>
            <a:r>
              <a:rPr lang="en-ID" sz="1800" b="0" dirty="0" err="1"/>
              <a:t>pengguna</a:t>
            </a:r>
            <a:r>
              <a:rPr lang="en-ID" sz="1800" b="0" dirty="0"/>
              <a:t> pun </a:t>
            </a:r>
            <a:r>
              <a:rPr lang="en-ID" sz="1800" b="0" dirty="0" err="1"/>
              <a:t>lebih</a:t>
            </a:r>
            <a:r>
              <a:rPr lang="en-ID" sz="1800" b="0" dirty="0"/>
              <a:t> </a:t>
            </a:r>
            <a:r>
              <a:rPr lang="en-ID" sz="1800" b="0" dirty="0" err="1"/>
              <a:t>nyaman</a:t>
            </a:r>
            <a:r>
              <a:rPr lang="en-ID" sz="1800" b="0" dirty="0"/>
              <a:t> </a:t>
            </a:r>
            <a:r>
              <a:rPr lang="en-ID" sz="1800" b="0" dirty="0" err="1"/>
              <a:t>menggunakan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web. </a:t>
            </a:r>
            <a:r>
              <a:rPr lang="en-ID" sz="1800" b="0" dirty="0" err="1"/>
              <a:t>Tetapi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web juga </a:t>
            </a:r>
            <a:r>
              <a:rPr lang="en-ID" sz="1800" b="0" dirty="0" err="1"/>
              <a:t>memiliki</a:t>
            </a:r>
            <a:r>
              <a:rPr lang="en-ID" sz="1800" b="0" dirty="0"/>
              <a:t> </a:t>
            </a:r>
            <a:r>
              <a:rPr lang="en-ID" sz="1800" b="0" dirty="0" err="1"/>
              <a:t>kekurangan</a:t>
            </a:r>
            <a:r>
              <a:rPr lang="en-ID" sz="1800" b="0" dirty="0"/>
              <a:t> salah </a:t>
            </a:r>
            <a:r>
              <a:rPr lang="en-ID" sz="1800" b="0" dirty="0" err="1"/>
              <a:t>satu-nya</a:t>
            </a:r>
            <a:r>
              <a:rPr lang="en-ID" sz="1800" b="0" dirty="0"/>
              <a:t> </a:t>
            </a:r>
            <a:r>
              <a:rPr lang="en-ID" sz="1800" b="0" dirty="0" err="1"/>
              <a:t>tidak</a:t>
            </a:r>
            <a:r>
              <a:rPr lang="en-ID" sz="1800" b="0" dirty="0"/>
              <a:t> </a:t>
            </a:r>
            <a:r>
              <a:rPr lang="en-ID" sz="1800" b="0" dirty="0" err="1"/>
              <a:t>semua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web </a:t>
            </a:r>
            <a:r>
              <a:rPr lang="en-ID" sz="1800" b="0" dirty="0" err="1"/>
              <a:t>bersifat</a:t>
            </a:r>
            <a:r>
              <a:rPr lang="en-ID" sz="1800" b="0" dirty="0"/>
              <a:t> responsive. </a:t>
            </a:r>
          </a:p>
          <a:p>
            <a:pPr marL="342900" indent="-342900" algn="just">
              <a:buAutoNum type="arabicPeriod"/>
            </a:pPr>
            <a:endParaRPr lang="en-ID" sz="1800" b="0" dirty="0"/>
          </a:p>
          <a:p>
            <a:pPr marL="342900" indent="-342900" algn="just">
              <a:buAutoNum type="arabicPeriod"/>
            </a:pPr>
            <a:r>
              <a:rPr lang="en-ID" sz="1800" dirty="0" err="1"/>
              <a:t>Notifikasi</a:t>
            </a:r>
            <a:r>
              <a:rPr lang="en-ID" sz="1800" dirty="0"/>
              <a:t> Yang </a:t>
            </a:r>
            <a:r>
              <a:rPr lang="en-ID" sz="1800" dirty="0" err="1"/>
              <a:t>Cepat</a:t>
            </a:r>
            <a:r>
              <a:rPr lang="en-ID" sz="1800" dirty="0"/>
              <a:t> </a:t>
            </a:r>
            <a:r>
              <a:rPr lang="en-ID" sz="1800" dirty="0" err="1"/>
              <a:t>Tersampaikan</a:t>
            </a:r>
            <a:r>
              <a:rPr lang="en-ID" sz="1800" b="0" dirty="0"/>
              <a:t> : </a:t>
            </a:r>
            <a:r>
              <a:rPr lang="en-ID" sz="1800" b="0" dirty="0" err="1"/>
              <a:t>Aplikasi</a:t>
            </a:r>
            <a:r>
              <a:rPr lang="en-ID" sz="1800" b="0" dirty="0"/>
              <a:t> mobile </a:t>
            </a:r>
            <a:r>
              <a:rPr lang="en-ID" sz="1800" b="0" dirty="0" err="1"/>
              <a:t>unggul</a:t>
            </a:r>
            <a:r>
              <a:rPr lang="en-ID" sz="1800" b="0" dirty="0"/>
              <a:t> </a:t>
            </a:r>
            <a:r>
              <a:rPr lang="en-ID" sz="1800" b="0" dirty="0" err="1"/>
              <a:t>dalam</a:t>
            </a:r>
            <a:r>
              <a:rPr lang="en-ID" sz="1800" b="0" dirty="0"/>
              <a:t> </a:t>
            </a:r>
            <a:r>
              <a:rPr lang="en-ID" sz="1800" b="0" dirty="0" err="1"/>
              <a:t>memberi</a:t>
            </a:r>
            <a:r>
              <a:rPr lang="en-ID" sz="1800" b="0" dirty="0"/>
              <a:t> </a:t>
            </a:r>
            <a:r>
              <a:rPr lang="en-ID" sz="1800" b="0" dirty="0" err="1"/>
              <a:t>notifikasi</a:t>
            </a:r>
            <a:r>
              <a:rPr lang="en-ID" sz="1800" b="0" dirty="0"/>
              <a:t> </a:t>
            </a:r>
            <a:r>
              <a:rPr lang="en-ID" sz="1800" b="0" dirty="0" err="1"/>
              <a:t>berupa</a:t>
            </a:r>
            <a:r>
              <a:rPr lang="en-ID" sz="1800" b="0" dirty="0"/>
              <a:t> </a:t>
            </a:r>
            <a:r>
              <a:rPr lang="en-ID" sz="1800" b="0" dirty="0" err="1"/>
              <a:t>informasi</a:t>
            </a:r>
            <a:r>
              <a:rPr lang="en-ID" sz="1800" b="0" dirty="0"/>
              <a:t> </a:t>
            </a:r>
            <a:r>
              <a:rPr lang="en-ID" sz="1800" b="0" dirty="0" err="1"/>
              <a:t>kepada</a:t>
            </a:r>
            <a:r>
              <a:rPr lang="en-ID" sz="1800" b="0" dirty="0"/>
              <a:t> user. Jika </a:t>
            </a:r>
            <a:r>
              <a:rPr lang="en-ID" sz="1800" b="0" dirty="0" err="1"/>
              <a:t>dibandingkan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web yang </a:t>
            </a:r>
            <a:r>
              <a:rPr lang="en-ID" sz="1800" b="0" dirty="0" err="1"/>
              <a:t>hanya</a:t>
            </a:r>
            <a:r>
              <a:rPr lang="en-ID" sz="1800" b="0" dirty="0"/>
              <a:t> </a:t>
            </a:r>
            <a:r>
              <a:rPr lang="en-ID" sz="1800" b="0" dirty="0" err="1"/>
              <a:t>dapat</a:t>
            </a:r>
            <a:r>
              <a:rPr lang="en-ID" sz="1800" b="0" dirty="0"/>
              <a:t> </a:t>
            </a:r>
            <a:r>
              <a:rPr lang="en-ID" sz="1800" b="0" dirty="0" err="1"/>
              <a:t>memberi</a:t>
            </a:r>
            <a:r>
              <a:rPr lang="en-ID" sz="1800" b="0" dirty="0"/>
              <a:t> </a:t>
            </a:r>
            <a:r>
              <a:rPr lang="en-ID" sz="1800" b="0" dirty="0" err="1"/>
              <a:t>notifikasi</a:t>
            </a:r>
            <a:r>
              <a:rPr lang="en-ID" sz="1800" b="0" dirty="0"/>
              <a:t> </a:t>
            </a:r>
            <a:r>
              <a:rPr lang="en-ID" sz="1800" b="0" dirty="0" err="1"/>
              <a:t>ketika</a:t>
            </a:r>
            <a:r>
              <a:rPr lang="en-ID" sz="1800" b="0" dirty="0"/>
              <a:t> user </a:t>
            </a:r>
            <a:r>
              <a:rPr lang="en-ID" sz="1800" b="0" dirty="0" err="1"/>
              <a:t>mengaksesnya</a:t>
            </a:r>
            <a:r>
              <a:rPr lang="en-ID" sz="1800" b="0" dirty="0"/>
              <a:t> pada </a:t>
            </a:r>
            <a:r>
              <a:rPr lang="en-ID" sz="1800" b="0" dirty="0" err="1"/>
              <a:t>waktu</a:t>
            </a:r>
            <a:r>
              <a:rPr lang="en-ID" sz="1800" b="0" dirty="0"/>
              <a:t> </a:t>
            </a:r>
            <a:r>
              <a:rPr lang="en-ID" sz="1800" b="0" dirty="0" err="1"/>
              <a:t>tertentu</a:t>
            </a:r>
            <a:r>
              <a:rPr lang="en-ID" sz="1800" b="0" dirty="0"/>
              <a:t> </a:t>
            </a:r>
            <a:r>
              <a:rPr lang="en-ID" sz="1800" b="0" dirty="0" err="1"/>
              <a:t>maka</a:t>
            </a:r>
            <a:r>
              <a:rPr lang="en-ID" sz="1800" b="0" dirty="0"/>
              <a:t> </a:t>
            </a:r>
            <a:r>
              <a:rPr lang="en-ID" sz="1800" b="0" dirty="0" err="1"/>
              <a:t>aplikasi</a:t>
            </a:r>
            <a:r>
              <a:rPr lang="en-ID" sz="1800" b="0" dirty="0"/>
              <a:t> mobile </a:t>
            </a:r>
            <a:r>
              <a:rPr lang="en-ID" sz="1800" b="0" dirty="0" err="1"/>
              <a:t>ini</a:t>
            </a:r>
            <a:r>
              <a:rPr lang="en-ID" sz="1800" b="0" dirty="0"/>
              <a:t> </a:t>
            </a:r>
            <a:r>
              <a:rPr lang="en-ID" sz="1800" b="0" dirty="0" err="1"/>
              <a:t>lebih</a:t>
            </a:r>
            <a:r>
              <a:rPr lang="en-ID" sz="1800" b="0" dirty="0"/>
              <a:t> </a:t>
            </a:r>
            <a:r>
              <a:rPr lang="en-ID" sz="1800" b="0" dirty="0" err="1"/>
              <a:t>menguntungkan</a:t>
            </a:r>
            <a:r>
              <a:rPr lang="en-ID" sz="1800" dirty="0"/>
              <a:t>.</a:t>
            </a:r>
            <a:endParaRPr lang="id-ID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4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683568" y="1196754"/>
            <a:ext cx="8424936" cy="106997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r>
              <a:rPr lang="id-ID" sz="1800" dirty="0">
                <a:ea typeface="Roboto" panose="02000000000000000000" pitchFamily="2" charset="0"/>
              </a:rPr>
              <a:t>Karakteristik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r>
              <a:rPr lang="id-ID" sz="1800" dirty="0">
                <a:ea typeface="Roboto" panose="02000000000000000000" pitchFamily="2" charset="0"/>
              </a:rPr>
              <a:t>aplikasi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r>
              <a:rPr lang="id-ID" sz="1800" dirty="0">
                <a:ea typeface="Roboto" panose="02000000000000000000" pitchFamily="2" charset="0"/>
              </a:rPr>
              <a:t>untuk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r>
              <a:rPr lang="id-ID" sz="1800" dirty="0">
                <a:ea typeface="Roboto" panose="02000000000000000000" pitchFamily="2" charset="0"/>
              </a:rPr>
              <a:t>mobile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r>
              <a:rPr lang="id-ID" sz="1800" dirty="0">
                <a:ea typeface="Roboto" panose="02000000000000000000" pitchFamily="2" charset="0"/>
              </a:rPr>
              <a:t>device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endParaRPr lang="en-US" sz="1800" dirty="0"/>
          </a:p>
          <a:p>
            <a:pPr algn="just"/>
            <a:endParaRPr lang="en-ID" sz="1800" b="0" dirty="0"/>
          </a:p>
          <a:p>
            <a:pPr algn="just"/>
            <a:endParaRPr lang="en-ID" sz="1800" b="0" dirty="0"/>
          </a:p>
          <a:p>
            <a:pPr marL="342900" indent="-342900" algn="just">
              <a:buAutoNum type="arabicPeriod"/>
            </a:pPr>
            <a:endParaRPr lang="en-ID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FBCFA-200F-C234-6D4C-EDEF235B2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844824"/>
            <a:ext cx="4968552" cy="466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683568" y="1196752"/>
            <a:ext cx="8424936" cy="151216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r>
              <a:rPr lang="id-ID" sz="1800" dirty="0">
                <a:ea typeface="Roboto" panose="02000000000000000000" pitchFamily="2" charset="0"/>
              </a:rPr>
              <a:t>Karakteristik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r>
              <a:rPr lang="id-ID" sz="1800" dirty="0">
                <a:ea typeface="Roboto" panose="02000000000000000000" pitchFamily="2" charset="0"/>
              </a:rPr>
              <a:t>aplikasi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r>
              <a:rPr lang="id-ID" sz="1800" dirty="0">
                <a:ea typeface="Roboto" panose="02000000000000000000" pitchFamily="2" charset="0"/>
              </a:rPr>
              <a:t>untuk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r>
              <a:rPr lang="id-ID" sz="1800" dirty="0">
                <a:ea typeface="Roboto" panose="02000000000000000000" pitchFamily="2" charset="0"/>
              </a:rPr>
              <a:t>mobile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r>
              <a:rPr lang="id-ID" sz="1800" dirty="0">
                <a:ea typeface="Roboto" panose="02000000000000000000" pitchFamily="2" charset="0"/>
              </a:rPr>
              <a:t>device</a:t>
            </a:r>
            <a:r>
              <a:rPr lang="id-ID" sz="1800" spc="400" dirty="0">
                <a:ea typeface="Roboto" panose="02000000000000000000" pitchFamily="2" charset="0"/>
              </a:rPr>
              <a:t> </a:t>
            </a:r>
            <a:endParaRPr lang="en-US" sz="1800" dirty="0"/>
          </a:p>
          <a:p>
            <a:pPr algn="just"/>
            <a:endParaRPr lang="en-US" sz="1800" b="0" dirty="0"/>
          </a:p>
          <a:p>
            <a:pPr algn="just"/>
            <a:endParaRPr lang="en-ID" sz="1800" b="0" dirty="0"/>
          </a:p>
          <a:p>
            <a:pPr algn="just"/>
            <a:endParaRPr lang="en-ID" sz="1800" b="0" dirty="0"/>
          </a:p>
          <a:p>
            <a:pPr marL="342900" indent="-342900" algn="just">
              <a:buAutoNum type="arabicPeriod"/>
            </a:pPr>
            <a:endParaRPr lang="en-ID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3A983-EB65-7616-FE03-7DE114E39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610" y="1988811"/>
            <a:ext cx="2430780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41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215137" y="1250896"/>
            <a:ext cx="9144000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 sz="2000" dirty="0"/>
              <a:t>Tipe Aplikasi Mobile</a:t>
            </a:r>
            <a:endParaRPr lang="id-ID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5282E-E70B-2F5B-A0EF-32F82254DF2C}"/>
              </a:ext>
            </a:extLst>
          </p:cNvPr>
          <p:cNvSpPr txBox="1"/>
          <p:nvPr/>
        </p:nvSpPr>
        <p:spPr>
          <a:xfrm>
            <a:off x="215137" y="1591237"/>
            <a:ext cx="8732923" cy="5537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Native App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dibangun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spesifik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Maksudnya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Android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di iOS, dan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begitu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pula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sebaliknya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 Native Apps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tentu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performa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user experience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terbaik</a:t>
            </a:r>
            <a:endParaRPr lang="en-ID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Web App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Berbeda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Native App, Web App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browser.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Biasanya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ditulis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HTML 5, JavaScript,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CSS.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menargetkan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browser dan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 Nah, Web App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desain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responsive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tampilannya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fleksibel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menyesuaikan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ukuran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layar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Hybrid App 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Berikutnya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Hybrid App yang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disebut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kombinasi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native dan web.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Yaitu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lang="id-ID" sz="1700" dirty="0">
                <a:latin typeface="Arial" panose="020B0604020202020204" pitchFamily="34" charset="0"/>
                <a:cs typeface="Arial" panose="020B0604020202020204" pitchFamily="34" charset="0"/>
              </a:rPr>
              <a:t>plikasi web yang kemudian ditransformasikan menjadi kode native. Aplikasi jenis ini dapat digunakan pada platform seperti iOS dan Android.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cukup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kecepatan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pemakaian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lambat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tergantung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kecepatan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browser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D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898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EE528D-F2B3-A9B4-CDA8-2A0BCF8133A4}"/>
              </a:ext>
            </a:extLst>
          </p:cNvPr>
          <p:cNvSpPr txBox="1"/>
          <p:nvPr/>
        </p:nvSpPr>
        <p:spPr>
          <a:xfrm>
            <a:off x="251520" y="5733256"/>
            <a:ext cx="258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WhatsApp (Native App)</a:t>
            </a:r>
            <a:endParaRPr lang="id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3598583B-8DFB-FD99-1E4A-8C0F88391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2" y="1166018"/>
            <a:ext cx="2036683" cy="4525963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53A3084-8945-14C7-3361-2FC2A05A0109}"/>
              </a:ext>
            </a:extLst>
          </p:cNvPr>
          <p:cNvGrpSpPr/>
          <p:nvPr/>
        </p:nvGrpSpPr>
        <p:grpSpPr>
          <a:xfrm>
            <a:off x="3103428" y="1166018"/>
            <a:ext cx="2524631" cy="4158372"/>
            <a:chOff x="3309684" y="1166018"/>
            <a:chExt cx="2524631" cy="415837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75CFAC1-9D18-F3D4-0296-AFC2E1072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9684" y="1166018"/>
              <a:ext cx="2524631" cy="378904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53D0CC-4883-35F7-B4D4-588D88D4B6E9}"/>
                </a:ext>
              </a:extLst>
            </p:cNvPr>
            <p:cNvSpPr txBox="1"/>
            <p:nvPr/>
          </p:nvSpPr>
          <p:spPr>
            <a:xfrm>
              <a:off x="3423736" y="4955058"/>
              <a:ext cx="2296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Instagram(Web App)</a:t>
              </a:r>
              <a:endParaRPr lang="id-ID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3D7774-543E-3D7E-617C-CE8EC442B7E1}"/>
              </a:ext>
            </a:extLst>
          </p:cNvPr>
          <p:cNvGrpSpPr/>
          <p:nvPr/>
        </p:nvGrpSpPr>
        <p:grpSpPr>
          <a:xfrm>
            <a:off x="5868144" y="1182641"/>
            <a:ext cx="2800831" cy="5243112"/>
            <a:chOff x="5868144" y="1182641"/>
            <a:chExt cx="2800831" cy="5243112"/>
          </a:xfrm>
        </p:grpSpPr>
        <p:pic>
          <p:nvPicPr>
            <p:cNvPr id="12" name="Picture 11" descr="A screenshot of a cellphone&#10;&#10;Description automatically generated">
              <a:extLst>
                <a:ext uri="{FF2B5EF4-FFF2-40B4-BE49-F238E27FC236}">
                  <a16:creationId xmlns:a16="http://schemas.microsoft.com/office/drawing/2014/main" id="{B9D8AACE-F7CF-516B-BE51-0A025CC72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1928" y="1182641"/>
              <a:ext cx="2036682" cy="452596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CC72EC-E1D1-9323-BCC1-917F8ECD9D25}"/>
                </a:ext>
              </a:extLst>
            </p:cNvPr>
            <p:cNvSpPr txBox="1"/>
            <p:nvPr/>
          </p:nvSpPr>
          <p:spPr>
            <a:xfrm>
              <a:off x="5868144" y="5779422"/>
              <a:ext cx="28008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The New York Times</a:t>
              </a:r>
              <a:b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(Hybrid App using Flutter)</a:t>
              </a:r>
              <a:endParaRPr lang="id-ID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434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5053" y="1448315"/>
            <a:ext cx="8841443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 sz="2000" dirty="0"/>
              <a:t>Kategori Aplikasi Mobile</a:t>
            </a:r>
            <a:endParaRPr lang="id-ID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5282E-E70B-2F5B-A0EF-32F82254DF2C}"/>
              </a:ext>
            </a:extLst>
          </p:cNvPr>
          <p:cNvSpPr txBox="1"/>
          <p:nvPr/>
        </p:nvSpPr>
        <p:spPr>
          <a:xfrm>
            <a:off x="106617" y="1916834"/>
            <a:ext cx="9037385" cy="501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spesifik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mobile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, di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antaranya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Communication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kita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gunakan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berkomunikasi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Education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berisi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konten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seputar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edukasi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materi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rumus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matematika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berhubungan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keuangan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Berita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Majalah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kita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membaca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berita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endParaRPr lang="en-ID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Permainan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/ Game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Supaya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gak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bosan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menjalankan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aktifitas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sempatkan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bermain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game mobile.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Jejaring</a:t>
            </a: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Sosial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agar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terhubung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orang lain 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b="1" dirty="0">
                <a:latin typeface="Arial" panose="020B0604020202020204" pitchFamily="34" charset="0"/>
                <a:cs typeface="Arial" panose="020B0604020202020204" pitchFamily="34" charset="0"/>
              </a:rPr>
              <a:t> Entertainment :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sarana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hiburan</a:t>
            </a:r>
            <a:endParaRPr lang="en-ID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lagi</a:t>
            </a:r>
            <a:r>
              <a:rPr lang="en-ID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700" dirty="0" err="1"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endParaRPr lang="en-ID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204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215921" y="1417446"/>
            <a:ext cx="8532543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 sz="2000" dirty="0"/>
              <a:t>Distribusi Aplikasi Mobile</a:t>
            </a:r>
            <a:endParaRPr lang="id-ID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5282E-E70B-2F5B-A0EF-32F82254DF2C}"/>
              </a:ext>
            </a:extLst>
          </p:cNvPr>
          <p:cNvSpPr txBox="1"/>
          <p:nvPr/>
        </p:nvSpPr>
        <p:spPr>
          <a:xfrm>
            <a:off x="251520" y="1844824"/>
            <a:ext cx="8640959" cy="263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Play Store 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: Play Store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toko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Android. Toko 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oleh Google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sejak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Oktober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2008.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Berdasarkan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update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2024,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tersedia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3,95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juta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dan 97%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bebas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diunduh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sisanya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berbayar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App Store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: App Store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toko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iOS dan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oleh   Perusahaan Apple. Apple App Store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sekitar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2,29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juta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dan games pada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2024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0E5A10-CE20-D55C-F5CB-53CE99D43A1C}"/>
              </a:ext>
            </a:extLst>
          </p:cNvPr>
          <p:cNvGrpSpPr/>
          <p:nvPr/>
        </p:nvGrpSpPr>
        <p:grpSpPr>
          <a:xfrm>
            <a:off x="2788568" y="6165304"/>
            <a:ext cx="6372304" cy="516673"/>
            <a:chOff x="2788568" y="6300386"/>
            <a:chExt cx="6372304" cy="5166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644343-DC26-52C9-868F-97B3CBDC2B16}"/>
                </a:ext>
              </a:extLst>
            </p:cNvPr>
            <p:cNvSpPr txBox="1"/>
            <p:nvPr/>
          </p:nvSpPr>
          <p:spPr>
            <a:xfrm>
              <a:off x="2788568" y="6300386"/>
              <a:ext cx="637230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1500" dirty="0"/>
                <a:t>https://www.bankmycell.com/blog/number-of-google-play-store-apps/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24F1D4-0EC0-3A9D-CB96-CAFB750CE8EA}"/>
                </a:ext>
              </a:extLst>
            </p:cNvPr>
            <p:cNvSpPr txBox="1"/>
            <p:nvPr/>
          </p:nvSpPr>
          <p:spPr>
            <a:xfrm>
              <a:off x="2788568" y="6493894"/>
              <a:ext cx="464312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1500" dirty="0"/>
                <a:t>https://bigohtech.com/apple-app-store-statistics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4963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323528" y="1462270"/>
            <a:ext cx="9144000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 sz="2000" dirty="0"/>
              <a:t>Distribusi Aplikasi Mobile</a:t>
            </a:r>
            <a:endParaRPr lang="id-ID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5282E-E70B-2F5B-A0EF-32F82254DF2C}"/>
              </a:ext>
            </a:extLst>
          </p:cNvPr>
          <p:cNvSpPr txBox="1"/>
          <p:nvPr/>
        </p:nvSpPr>
        <p:spPr>
          <a:xfrm>
            <a:off x="215137" y="1840194"/>
            <a:ext cx="8821361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Play Store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Paling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Populer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Google Play :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game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yang paling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populer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Google Play Store.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menyumbang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71%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total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pendapatan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Google Play Store pada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2025.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Terbesar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Google Play: Instagram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yang paling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diunduh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Google Play Store pada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2024,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total 657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juta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unduhan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Google Play: pada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2025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sebanyak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96,98%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Android gratis,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sementara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3,02%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berbayar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Google Play Store.</a:t>
            </a:r>
            <a:endParaRPr lang="en-ID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F0EB6-4533-0A7A-951F-B3DDD39157B8}"/>
              </a:ext>
            </a:extLst>
          </p:cNvPr>
          <p:cNvSpPr txBox="1"/>
          <p:nvPr/>
        </p:nvSpPr>
        <p:spPr>
          <a:xfrm>
            <a:off x="126699" y="5949280"/>
            <a:ext cx="88213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https://www.statista.com/statistics/1010710/google-play-app-revenue-share-by-category-worldwide/</a:t>
            </a:r>
            <a:br>
              <a:rPr lang="en-US" sz="1400" dirty="0"/>
            </a:br>
            <a:r>
              <a:rPr lang="id-ID" sz="1400" dirty="0"/>
              <a:t>https://www.businessofapps.com/data/most-popular-apps/</a:t>
            </a:r>
            <a:br>
              <a:rPr lang="en-US" sz="1400" dirty="0"/>
            </a:br>
            <a:r>
              <a:rPr lang="en-US" sz="1400" dirty="0"/>
              <a:t>https://www.statista.com/statistics/263797/number-of-applications-for-mobile-phones/</a:t>
            </a:r>
            <a:endParaRPr lang="id-ID" sz="1400" dirty="0"/>
          </a:p>
        </p:txBody>
      </p:sp>
    </p:spTree>
    <p:extLst>
      <p:ext uri="{BB962C8B-B14F-4D97-AF65-F5344CB8AC3E}">
        <p14:creationId xmlns:p14="http://schemas.microsoft.com/office/powerpoint/2010/main" val="349977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2FA66-3764-2D0E-470B-37F08033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5" name="Content Placeholder 4" descr="A graph of blue bars&#10;&#10;Description automatically generated">
            <a:extLst>
              <a:ext uri="{FF2B5EF4-FFF2-40B4-BE49-F238E27FC236}">
                <a16:creationId xmlns:a16="http://schemas.microsoft.com/office/drawing/2014/main" id="{F93C83CF-C7FF-47A1-1746-D72FE40C8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484784"/>
            <a:ext cx="6091471" cy="4525963"/>
          </a:xfrm>
        </p:spPr>
      </p:pic>
    </p:spTree>
    <p:extLst>
      <p:ext uri="{BB962C8B-B14F-4D97-AF65-F5344CB8AC3E}">
        <p14:creationId xmlns:p14="http://schemas.microsoft.com/office/powerpoint/2010/main" val="424339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4501" y="1462270"/>
            <a:ext cx="9144000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it-IT" sz="2000" dirty="0"/>
              <a:t>Distribusi Aplikasi Mobile</a:t>
            </a:r>
            <a:endParaRPr lang="id-ID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3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5282E-E70B-2F5B-A0EF-32F82254DF2C}"/>
              </a:ext>
            </a:extLst>
          </p:cNvPr>
          <p:cNvSpPr txBox="1"/>
          <p:nvPr/>
        </p:nvSpPr>
        <p:spPr>
          <a:xfrm>
            <a:off x="215137" y="1840196"/>
            <a:ext cx="8928865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b="1" dirty="0">
                <a:latin typeface="Arial" panose="020B0604020202020204" pitchFamily="34" charset="0"/>
                <a:cs typeface="Arial" panose="020B0604020202020204" pitchFamily="34" charset="0"/>
              </a:rPr>
              <a:t> App Store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paling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populer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Apple App Store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game, yang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mencakup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11,86%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iOS pada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2024.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game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menyumbang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pendapatan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sebesar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US$ 50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miliar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2022, 57,6%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total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pendapatan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App Store.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Tiktok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yang paling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diinstall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Apple di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dunia pada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2024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sebanyak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186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juta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download.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2025,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sekitar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95,36%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iOS di Apple App Store gratis,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sementara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4,64%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memerlukan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dirty="0" err="1"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ID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12A76-08D2-05F4-0D7B-A5E6A9D4F82F}"/>
              </a:ext>
            </a:extLst>
          </p:cNvPr>
          <p:cNvSpPr txBox="1"/>
          <p:nvPr/>
        </p:nvSpPr>
        <p:spPr>
          <a:xfrm>
            <a:off x="323528" y="6165304"/>
            <a:ext cx="77922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500" dirty="0"/>
              <a:t>https://www.businessofapps.com/data/most-popular-apps/</a:t>
            </a:r>
            <a:br>
              <a:rPr lang="en-US" sz="1500" dirty="0"/>
            </a:br>
            <a:r>
              <a:rPr lang="en-US" sz="1500" dirty="0"/>
              <a:t>https://www.statista.com/statistics/263797/number-of-applications-for-mobile-phones/</a:t>
            </a:r>
            <a:endParaRPr lang="id-ID" sz="1500" dirty="0"/>
          </a:p>
        </p:txBody>
      </p:sp>
    </p:spTree>
    <p:extLst>
      <p:ext uri="{BB962C8B-B14F-4D97-AF65-F5344CB8AC3E}">
        <p14:creationId xmlns:p14="http://schemas.microsoft.com/office/powerpoint/2010/main" val="2518576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89CF-801A-CB59-0F25-A1F3D02A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3E1BC-C922-4EF8-0ABD-8CD60ED6A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9F1AC-CE14-03EE-50E0-EAFA30A6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54" y="534757"/>
            <a:ext cx="7830091" cy="5396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DD09AF-75BF-E71C-9005-29E8A64694ED}"/>
              </a:ext>
            </a:extLst>
          </p:cNvPr>
          <p:cNvSpPr txBox="1"/>
          <p:nvPr/>
        </p:nvSpPr>
        <p:spPr>
          <a:xfrm>
            <a:off x="1115616" y="6166904"/>
            <a:ext cx="6619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popular App Store Categories as of 2</a:t>
            </a:r>
            <a:r>
              <a:rPr lang="en-US" baseline="30000" dirty="0"/>
              <a:t>nd</a:t>
            </a:r>
            <a:r>
              <a:rPr lang="en-US" dirty="0"/>
              <a:t> quarter of 2024</a:t>
            </a:r>
            <a:endParaRPr lang="id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83FAA-E780-987B-1CCE-DE7918DA798E}"/>
              </a:ext>
            </a:extLst>
          </p:cNvPr>
          <p:cNvSpPr txBox="1"/>
          <p:nvPr/>
        </p:nvSpPr>
        <p:spPr>
          <a:xfrm>
            <a:off x="3417744" y="6536236"/>
            <a:ext cx="5726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200" dirty="0"/>
              <a:t>https://www.statista.com/statistics/270291/popular-categories-in-the-app-store/</a:t>
            </a:r>
          </a:p>
        </p:txBody>
      </p:sp>
    </p:spTree>
    <p:extLst>
      <p:ext uri="{BB962C8B-B14F-4D97-AF65-F5344CB8AC3E}">
        <p14:creationId xmlns:p14="http://schemas.microsoft.com/office/powerpoint/2010/main" val="1367691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EA44-122B-B46A-DA9C-EFCD3130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BBB5FD5-7F30-D693-2073-153A83469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9F720AF-49DB-2380-BD26-52F8D06B0432}"/>
              </a:ext>
            </a:extLst>
          </p:cNvPr>
          <p:cNvSpPr txBox="1">
            <a:spLocks/>
          </p:cNvSpPr>
          <p:nvPr/>
        </p:nvSpPr>
        <p:spPr>
          <a:xfrm>
            <a:off x="467544" y="1403364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400" dirty="0" err="1"/>
              <a:t>Tugas</a:t>
            </a:r>
            <a:r>
              <a:rPr lang="en-US" sz="2400" dirty="0"/>
              <a:t> :</a:t>
            </a:r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F708-1967-607E-DBDD-B3A875E0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349" y="1722308"/>
            <a:ext cx="8424936" cy="4525963"/>
          </a:xfrm>
        </p:spPr>
        <p:txBody>
          <a:bodyPr/>
          <a:lstStyle/>
          <a:p>
            <a:pPr marL="0" marR="69850" indent="0" algn="just">
              <a:lnSpc>
                <a:spcPct val="115000"/>
              </a:lnSpc>
              <a:spcBef>
                <a:spcPts val="800"/>
              </a:spcBef>
              <a:buSzPts val="1200"/>
              <a:buNone/>
              <a:tabLst>
                <a:tab pos="243840" algn="l"/>
              </a:tabLst>
            </a:pP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1.	  </a:t>
            </a:r>
            <a:r>
              <a:rPr lang="id-ID" sz="1800" spc="-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Perbedaan</a:t>
            </a:r>
            <a:r>
              <a:rPr lang="id-ID" sz="1800" spc="-3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d-ID" sz="1800" spc="-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aplikasi</a:t>
            </a:r>
            <a:r>
              <a:rPr lang="id-ID" sz="1800" spc="-3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d-ID" sz="1800" spc="-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mobile</a:t>
            </a:r>
            <a:r>
              <a:rPr lang="id-ID" sz="1800" spc="-4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d-ID" sz="1800" spc="-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</a:t>
            </a:r>
            <a:r>
              <a:rPr lang="id-ID" sz="1800" spc="-3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d-ID" sz="1800" spc="-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aplikasi</a:t>
            </a:r>
            <a:r>
              <a:rPr lang="id-ID" sz="1800" spc="-3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d-ID" sz="1800" spc="-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desktop</a:t>
            </a:r>
            <a:r>
              <a:rPr lang="id-ID" sz="1800" spc="-4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d-ID" sz="1800" spc="-5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 aplikasi web-based</a:t>
            </a:r>
            <a:endParaRPr lang="en-ID" sz="1800" spc="-5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69850" indent="0" algn="just">
              <a:lnSpc>
                <a:spcPct val="115000"/>
              </a:lnSpc>
              <a:spcBef>
                <a:spcPts val="800"/>
              </a:spcBef>
              <a:buSzPts val="1200"/>
              <a:buNone/>
              <a:tabLst>
                <a:tab pos="243840" algn="l"/>
              </a:tabLst>
            </a:pPr>
            <a:endParaRPr lang="en-ID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35C1B5-C0D9-589F-8D9F-525136562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069104"/>
              </p:ext>
            </p:extLst>
          </p:nvPr>
        </p:nvGraphicFramePr>
        <p:xfrm>
          <a:off x="899594" y="2224294"/>
          <a:ext cx="7632847" cy="435133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821842">
                  <a:extLst>
                    <a:ext uri="{9D8B030D-6E8A-4147-A177-3AD203B41FA5}">
                      <a16:colId xmlns:a16="http://schemas.microsoft.com/office/drawing/2014/main" val="1818409806"/>
                    </a:ext>
                  </a:extLst>
                </a:gridCol>
                <a:gridCol w="1937901">
                  <a:extLst>
                    <a:ext uri="{9D8B030D-6E8A-4147-A177-3AD203B41FA5}">
                      <a16:colId xmlns:a16="http://schemas.microsoft.com/office/drawing/2014/main" val="3704171309"/>
                    </a:ext>
                  </a:extLst>
                </a:gridCol>
                <a:gridCol w="1935203">
                  <a:extLst>
                    <a:ext uri="{9D8B030D-6E8A-4147-A177-3AD203B41FA5}">
                      <a16:colId xmlns:a16="http://schemas.microsoft.com/office/drawing/2014/main" val="2589376057"/>
                    </a:ext>
                  </a:extLst>
                </a:gridCol>
                <a:gridCol w="1937901">
                  <a:extLst>
                    <a:ext uri="{9D8B030D-6E8A-4147-A177-3AD203B41FA5}">
                      <a16:colId xmlns:a16="http://schemas.microsoft.com/office/drawing/2014/main" val="3790145525"/>
                    </a:ext>
                  </a:extLst>
                </a:gridCol>
              </a:tblGrid>
              <a:tr h="432615">
                <a:tc>
                  <a:txBody>
                    <a:bodyPr/>
                    <a:lstStyle/>
                    <a:p>
                      <a:r>
                        <a:rPr lang="id-ID" sz="14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 dirty="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41935" marR="198120" indent="-3937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id-ID" sz="1400" b="1" spc="-1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Aplikasi mobile</a:t>
                      </a:r>
                      <a:endParaRPr lang="en-ID" sz="1400" dirty="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2565" marR="197485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id-ID" sz="1400" b="1" spc="-1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Aplikasi desktop</a:t>
                      </a:r>
                      <a:endParaRPr lang="en-ID" sz="1400" dirty="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9855" marR="107950" indent="927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id-ID" sz="1400" b="1" spc="-1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Aplikasi web-based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737835"/>
                  </a:ext>
                </a:extLst>
              </a:tr>
              <a:tr h="979208">
                <a:tc>
                  <a:txBody>
                    <a:bodyPr/>
                    <a:lstStyle/>
                    <a:p>
                      <a:pPr>
                        <a:spcBef>
                          <a:spcPts val="980"/>
                        </a:spcBef>
                      </a:pPr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  <a:p>
                      <a:pPr marL="34925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400" spc="-2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Cara </a:t>
                      </a:r>
                      <a:r>
                        <a:rPr lang="id-ID" sz="1400" spc="-1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mengakses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 dirty="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416769"/>
                  </a:ext>
                </a:extLst>
              </a:tr>
              <a:tr h="980468">
                <a:tc>
                  <a:txBody>
                    <a:bodyPr/>
                    <a:lstStyle/>
                    <a:p>
                      <a:pPr>
                        <a:spcBef>
                          <a:spcPts val="980"/>
                        </a:spcBef>
                      </a:pPr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  <a:p>
                      <a:pPr marL="34925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400" spc="-2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Cara </a:t>
                      </a:r>
                      <a:r>
                        <a:rPr lang="id-ID" sz="1400" spc="-1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menginstall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 dirty="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 dirty="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684761"/>
                  </a:ext>
                </a:extLst>
              </a:tr>
              <a:tr h="978579">
                <a:tc>
                  <a:txBody>
                    <a:bodyPr/>
                    <a:lstStyle/>
                    <a:p>
                      <a:pPr>
                        <a:spcBef>
                          <a:spcPts val="980"/>
                        </a:spcBef>
                      </a:pPr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  <a:p>
                      <a:pPr marL="34925" marR="340995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400" spc="-1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Ukuran aplikasi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 dirty="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754761"/>
                  </a:ext>
                </a:extLst>
              </a:tr>
              <a:tr h="980468">
                <a:tc>
                  <a:txBody>
                    <a:bodyPr/>
                    <a:lstStyle/>
                    <a:p>
                      <a:pPr>
                        <a:spcBef>
                          <a:spcPts val="980"/>
                        </a:spcBef>
                      </a:pPr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  <a:p>
                      <a:pPr marL="34925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400" spc="-2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User </a:t>
                      </a:r>
                      <a:r>
                        <a:rPr lang="id-ID" sz="1400" spc="-1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experience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effectLst/>
                          <a:latin typeface="Arial" panose="020B0604020202020204" pitchFamily="34" charset="0"/>
                          <a:ea typeface="Roboto" panose="02000000000000000000" pitchFamily="2" charset="0"/>
                          <a:cs typeface="Arial" panose="020B0604020202020204" pitchFamily="34" charset="0"/>
                        </a:rPr>
                        <a:t> </a:t>
                      </a:r>
                      <a:endParaRPr lang="en-ID" sz="1400" dirty="0">
                        <a:effectLst/>
                        <a:latin typeface="Arial" panose="020B0604020202020204" pitchFamily="34" charset="0"/>
                        <a:ea typeface="Roboto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628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017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42E7-9CFC-015A-A053-6582167C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1B6AFE90-7686-1154-72A6-FC7935BB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9144000" cy="1069975"/>
          </a:xfrm>
        </p:spPr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Mobile Device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DD0D6D8-95E7-9310-112C-C905351EA375}"/>
              </a:ext>
            </a:extLst>
          </p:cNvPr>
          <p:cNvSpPr txBox="1">
            <a:spLocks/>
          </p:cNvSpPr>
          <p:nvPr/>
        </p:nvSpPr>
        <p:spPr>
          <a:xfrm>
            <a:off x="467544" y="1403364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0969E-276C-30CA-5E31-6C3CD7AD2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348" y="1722308"/>
            <a:ext cx="8676456" cy="4525963"/>
          </a:xfrm>
        </p:spPr>
        <p:txBody>
          <a:bodyPr/>
          <a:lstStyle/>
          <a:p>
            <a:pPr marL="0" marR="70485" indent="0" algn="just">
              <a:lnSpc>
                <a:spcPct val="150000"/>
              </a:lnSpc>
              <a:spcBef>
                <a:spcPts val="530"/>
              </a:spcBef>
              <a:buSzPts val="1200"/>
              <a:buNone/>
              <a:tabLst>
                <a:tab pos="243840" algn="l"/>
              </a:tabLst>
            </a:pP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2.  </a:t>
            </a:r>
            <a:r>
              <a:rPr lang="id-ID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Identifikasi dan analisislah kelebihan dan kekurangan aplikasi mobile dibandin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 k</a:t>
            </a:r>
            <a:r>
              <a:rPr lang="id-ID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an jenis aplikasi lainnya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!</a:t>
            </a:r>
          </a:p>
          <a:p>
            <a:pPr marL="0" marR="70485" indent="0" algn="just">
              <a:lnSpc>
                <a:spcPct val="150000"/>
              </a:lnSpc>
              <a:spcBef>
                <a:spcPts val="530"/>
              </a:spcBef>
              <a:buSzPts val="1200"/>
              <a:buNone/>
              <a:tabLst>
                <a:tab pos="243840" algn="l"/>
              </a:tabLst>
            </a:pP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3. 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Carilah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3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buah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aplikasi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mobile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berbasis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Android/iOS (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antar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individu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harus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berbeda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),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kemudian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install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dalam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HP masing-masing. Review dan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jelaskan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aplikasi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sz="1800" spc="-5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tersebut</a:t>
            </a:r>
            <a:r>
              <a:rPr lang="en-US" sz="1800" spc="-5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!</a:t>
            </a:r>
          </a:p>
          <a:p>
            <a:pPr marL="0" indent="0" algn="just">
              <a:buNone/>
            </a:pPr>
            <a:b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D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D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17319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CB574-4F84-6139-CA0D-8EF94565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45" y="1772816"/>
            <a:ext cx="6564313" cy="410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791676-2319-6047-CD74-AC8635E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8682"/>
            <a:ext cx="9144000" cy="1069975"/>
          </a:xfrm>
        </p:spPr>
        <p:txBody>
          <a:bodyPr/>
          <a:lstStyle/>
          <a:p>
            <a:pPr algn="ctr"/>
            <a:r>
              <a:rPr lang="id-ID" sz="4400" kern="0" dirty="0">
                <a:solidFill>
                  <a:srgbClr val="4985E8"/>
                </a:solidFill>
                <a:ea typeface="Arial" panose="020B0604020202020204" pitchFamily="34" charset="0"/>
              </a:rPr>
              <a:t>Terima Kasih</a:t>
            </a:r>
            <a:endParaRPr lang="en-ID" sz="4400" kern="0" dirty="0">
              <a:ea typeface="Arial" panose="020B0604020202020204" pitchFamily="34" charset="0"/>
            </a:endParaRP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3624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2680</TotalTime>
  <Words>1449</Words>
  <Application>Microsoft Office PowerPoint</Application>
  <PresentationFormat>On-screen Show (4:3)</PresentationFormat>
  <Paragraphs>150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Roboto</vt:lpstr>
      <vt:lpstr>Office Theme</vt:lpstr>
      <vt:lpstr>PowerPoint Presentation</vt:lpstr>
      <vt:lpstr>Outline Materi</vt:lpstr>
      <vt:lpstr>Aplikasi Mobile Device</vt:lpstr>
      <vt:lpstr>Aplikasi Mobile Device</vt:lpstr>
      <vt:lpstr>Aplikasi Mobile Device</vt:lpstr>
      <vt:lpstr>Aplikasi Mobile Device</vt:lpstr>
      <vt:lpstr>Aplikasi Mobile Device</vt:lpstr>
      <vt:lpstr>Aplikasi Mobile Device</vt:lpstr>
      <vt:lpstr>Aplikasi Mobile Device</vt:lpstr>
      <vt:lpstr>Aplikasi Mobile Device</vt:lpstr>
      <vt:lpstr>PowerPoint Presentation</vt:lpstr>
      <vt:lpstr>Aplikasi Mobile Device</vt:lpstr>
      <vt:lpstr>Aplikasi Mobile Device</vt:lpstr>
      <vt:lpstr>Aplikasi Mobile Device</vt:lpstr>
      <vt:lpstr>PowerPoint Presentation</vt:lpstr>
      <vt:lpstr>Aplikasi Mobile Device</vt:lpstr>
      <vt:lpstr>PowerPoint Presentation</vt:lpstr>
      <vt:lpstr>Aplikasi Mobile Device</vt:lpstr>
      <vt:lpstr>Aplikasi Mobile Device</vt:lpstr>
      <vt:lpstr>Terima Kasih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Arif Rohmadi</cp:lastModifiedBy>
  <cp:revision>184</cp:revision>
  <dcterms:created xsi:type="dcterms:W3CDTF">2014-04-01T16:35:38Z</dcterms:created>
  <dcterms:modified xsi:type="dcterms:W3CDTF">2026-03-05T02:57:03Z</dcterms:modified>
</cp:coreProperties>
</file>