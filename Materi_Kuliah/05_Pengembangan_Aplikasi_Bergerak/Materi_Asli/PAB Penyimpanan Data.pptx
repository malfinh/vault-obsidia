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9"/>
  </p:notesMasterIdLst>
  <p:sldIdLst>
    <p:sldId id="288" r:id="rId2"/>
    <p:sldId id="338" r:id="rId3"/>
    <p:sldId id="323" r:id="rId4"/>
    <p:sldId id="324" r:id="rId5"/>
    <p:sldId id="325" r:id="rId6"/>
    <p:sldId id="326" r:id="rId7"/>
    <p:sldId id="327" r:id="rId8"/>
    <p:sldId id="328" r:id="rId9"/>
    <p:sldId id="329" r:id="rId10"/>
    <p:sldId id="330" r:id="rId11"/>
    <p:sldId id="331" r:id="rId12"/>
    <p:sldId id="333" r:id="rId13"/>
    <p:sldId id="332" r:id="rId14"/>
    <p:sldId id="334" r:id="rId15"/>
    <p:sldId id="335" r:id="rId16"/>
    <p:sldId id="336" r:id="rId17"/>
    <p:sldId id="277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rilyan Hendrasuryawan" initials="BH" lastIdx="1" clrIdx="0">
    <p:extLst>
      <p:ext uri="{19B8F6BF-5375-455C-9EA6-DF929625EA0E}">
        <p15:presenceInfo xmlns:p15="http://schemas.microsoft.com/office/powerpoint/2012/main" userId="S::brilyan@bpklipi.id::6cc8fdd1-6bb4-48f4-8275-13f4201941f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>
      <p:cViewPr varScale="1">
        <p:scale>
          <a:sx n="117" d="100"/>
          <a:sy n="117" d="100"/>
        </p:scale>
        <p:origin x="808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A79719-90EE-4DEE-97EC-5DE16BF9FCC6}" type="datetimeFigureOut">
              <a:rPr lang="en-ID" smtClean="0"/>
              <a:t>02/05/25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C38FFF-A32B-4D5B-A182-D7C887EB803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77835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6D20E-57BB-6644-982D-24D280FEF52D}" type="datetimeFigureOut">
              <a:rPr lang="en-US" smtClean="0"/>
              <a:t>5/2/25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5DF7B-4B4C-6548-9D40-43A9B6E33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797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6D20E-57BB-6644-982D-24D280FEF52D}" type="datetimeFigureOut">
              <a:rPr lang="en-US" smtClean="0"/>
              <a:t>5/2/25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5DF7B-4B4C-6548-9D40-43A9B6E33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803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587EC-4A3E-4030-BABC-5E0C0236501C}" type="datetimeFigureOut">
              <a:rPr lang="ko-KR" altLang="en-US" smtClean="0"/>
              <a:t>2025. 5. 2.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B9519-C8B1-4E82-966F-744A36AA8B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8947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587EC-4A3E-4030-BABC-5E0C0236501C}" type="datetimeFigureOut">
              <a:rPr lang="ko-KR" altLang="en-US" smtClean="0"/>
              <a:t>2025. 5. 2.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B9519-C8B1-4E82-966F-744A36AA8B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1909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587EC-4A3E-4030-BABC-5E0C0236501C}" type="datetimeFigureOut">
              <a:rPr lang="ko-KR" altLang="en-US" smtClean="0"/>
              <a:t>2025. 5. 2.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B9519-C8B1-4E82-966F-744A36AA8B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7021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587EC-4A3E-4030-BABC-5E0C0236501C}" type="datetimeFigureOut">
              <a:rPr lang="ko-KR" altLang="en-US" smtClean="0"/>
              <a:t>2025. 5. 2.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B9519-C8B1-4E82-966F-744A36AA8B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8231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587EC-4A3E-4030-BABC-5E0C0236501C}" type="datetimeFigureOut">
              <a:rPr lang="ko-KR" altLang="en-US" smtClean="0"/>
              <a:t>2025. 5. 2.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B9519-C8B1-4E82-966F-744A36AA8B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9521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587EC-4A3E-4030-BABC-5E0C0236501C}" type="datetimeFigureOut">
              <a:rPr lang="ko-KR" altLang="en-US" smtClean="0"/>
              <a:t>2025. 5. 2.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B9519-C8B1-4E82-966F-744A36AA8B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8089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587EC-4A3E-4030-BABC-5E0C0236501C}" type="datetimeFigureOut">
              <a:rPr lang="ko-KR" altLang="en-US" smtClean="0"/>
              <a:t>2025. 5. 2.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B9519-C8B1-4E82-966F-744A36AA8B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0979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587EC-4A3E-4030-BABC-5E0C0236501C}" type="datetimeFigureOut">
              <a:rPr lang="ko-KR" altLang="en-US" smtClean="0"/>
              <a:t>2025. 5. 2.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B9519-C8B1-4E82-966F-744A36AA8B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1903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587EC-4A3E-4030-BABC-5E0C0236501C}" type="datetimeFigureOut">
              <a:rPr lang="ko-KR" altLang="en-US" smtClean="0"/>
              <a:t>2025. 5. 2.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B9519-C8B1-4E82-966F-744A36AA8B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9310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D6D20E-57BB-6644-982D-24D280FEF52D}" type="datetimeFigureOut">
              <a:rPr lang="en-US" smtClean="0"/>
              <a:t>5/2/25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15DF7B-4B4C-6548-9D40-43A9B6E33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237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7940-55B1-68A0-0EA5-251F48DBC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8CADBB0-BF37-C9AD-142E-4530584325AB}"/>
              </a:ext>
            </a:extLst>
          </p:cNvPr>
          <p:cNvSpPr txBox="1">
            <a:spLocks/>
          </p:cNvSpPr>
          <p:nvPr/>
        </p:nvSpPr>
        <p:spPr>
          <a:xfrm>
            <a:off x="2004931" y="1556793"/>
            <a:ext cx="8676456" cy="333103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br>
              <a:rPr lang="id-ID" sz="2400" dirty="0"/>
            </a:br>
            <a:endParaRPr lang="id-ID" sz="2400" dirty="0"/>
          </a:p>
        </p:txBody>
      </p:sp>
      <p:pic>
        <p:nvPicPr>
          <p:cNvPr id="9" name="image1.png">
            <a:extLst>
              <a:ext uri="{FF2B5EF4-FFF2-40B4-BE49-F238E27FC236}">
                <a16:creationId xmlns:a16="http://schemas.microsoft.com/office/drawing/2014/main" id="{B31B9CB7-5843-9447-A07D-98945EA3BA5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0112" y="276300"/>
            <a:ext cx="2009637" cy="576065"/>
          </a:xfrm>
          <a:prstGeom prst="rect">
            <a:avLst/>
          </a:prstGeom>
        </p:spPr>
      </p:pic>
      <p:sp>
        <p:nvSpPr>
          <p:cNvPr id="10" name="TextBox 1">
            <a:extLst>
              <a:ext uri="{FF2B5EF4-FFF2-40B4-BE49-F238E27FC236}">
                <a16:creationId xmlns:a16="http://schemas.microsoft.com/office/drawing/2014/main" id="{F2AA7276-313A-5318-E5E9-C0B7AAA474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7952" y="1052737"/>
            <a:ext cx="5436096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36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PENGEMBANGAN APLIKASI BERGERAK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293DA6-DA86-174A-B4F8-973F1A57E850}"/>
              </a:ext>
            </a:extLst>
          </p:cNvPr>
          <p:cNvSpPr txBox="1"/>
          <p:nvPr/>
        </p:nvSpPr>
        <p:spPr>
          <a:xfrm>
            <a:off x="6672064" y="6237312"/>
            <a:ext cx="45419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ko-KR" b="1" dirty="0">
                <a:latin typeface="Arial" pitchFamily="34" charset="0"/>
                <a:cs typeface="Arial" pitchFamily="34" charset="0"/>
              </a:rPr>
              <a:t>Team Teaching</a:t>
            </a:r>
          </a:p>
        </p:txBody>
      </p:sp>
      <p:sp>
        <p:nvSpPr>
          <p:cNvPr id="13" name="Title 4">
            <a:extLst>
              <a:ext uri="{FF2B5EF4-FFF2-40B4-BE49-F238E27FC236}">
                <a16:creationId xmlns:a16="http://schemas.microsoft.com/office/drawing/2014/main" id="{BAB262F4-39ED-A6B6-6343-9D3B52991092}"/>
              </a:ext>
            </a:extLst>
          </p:cNvPr>
          <p:cNvSpPr txBox="1">
            <a:spLocks/>
          </p:cNvSpPr>
          <p:nvPr/>
        </p:nvSpPr>
        <p:spPr>
          <a:xfrm>
            <a:off x="2152650" y="1556793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/>
              <a:t>Penyimpanan Data di Android</a:t>
            </a:r>
            <a:endParaRPr lang="en-ID" sz="3200" dirty="0"/>
          </a:p>
        </p:txBody>
      </p:sp>
    </p:spTree>
    <p:extLst>
      <p:ext uri="{BB962C8B-B14F-4D97-AF65-F5344CB8AC3E}">
        <p14:creationId xmlns:p14="http://schemas.microsoft.com/office/powerpoint/2010/main" val="2392129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925B2-CE39-BD53-3450-F6C9A66D2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3CA1E89D-3952-A48B-7879-AA7A2E644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 err="1"/>
              <a:t>Penyimpanan</a:t>
            </a:r>
            <a:r>
              <a:rPr lang="en-US" sz="3200" dirty="0"/>
              <a:t> Data di Android</a:t>
            </a:r>
            <a:endParaRPr lang="en-ID" sz="3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B4CAC35-2F71-00EA-4C4A-B8CDA01F1E4B}"/>
              </a:ext>
            </a:extLst>
          </p:cNvPr>
          <p:cNvSpPr txBox="1">
            <a:spLocks/>
          </p:cNvSpPr>
          <p:nvPr/>
        </p:nvSpPr>
        <p:spPr>
          <a:xfrm>
            <a:off x="2004931" y="1556793"/>
            <a:ext cx="8676456" cy="333103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br>
              <a:rPr lang="id-ID" sz="2400" dirty="0"/>
            </a:br>
            <a:endParaRPr lang="id-ID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6E7A74-267E-F4D6-4130-D07B40D39F14}"/>
              </a:ext>
            </a:extLst>
          </p:cNvPr>
          <p:cNvSpPr txBox="1">
            <a:spLocks/>
          </p:cNvSpPr>
          <p:nvPr/>
        </p:nvSpPr>
        <p:spPr>
          <a:xfrm>
            <a:off x="1988502" y="2187665"/>
            <a:ext cx="8483557" cy="2482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30ACEC">
                  <a:lumMod val="75000"/>
                </a:srgbClr>
              </a:buClr>
            </a:pPr>
            <a:endParaRPr lang="id-ID" sz="20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C2EB6BB-E5BD-3887-ABA4-B2C63DA9D196}"/>
              </a:ext>
            </a:extLst>
          </p:cNvPr>
          <p:cNvSpPr txBox="1">
            <a:spLocks/>
          </p:cNvSpPr>
          <p:nvPr/>
        </p:nvSpPr>
        <p:spPr>
          <a:xfrm>
            <a:off x="1854222" y="2276872"/>
            <a:ext cx="8483557" cy="24826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30ACEC">
                  <a:lumMod val="75000"/>
                </a:srgbClr>
              </a:buClr>
              <a:buNone/>
            </a:pPr>
            <a:r>
              <a:rPr lang="en-US" sz="1800" dirty="0" err="1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Mekanisme</a:t>
            </a:r>
            <a:r>
              <a:rPr lang="en-US" sz="18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Penyimpanan</a:t>
            </a:r>
            <a:r>
              <a:rPr lang="en-US" sz="18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Data Pada Android :</a:t>
            </a:r>
          </a:p>
          <a:p>
            <a:pPr marL="0" indent="0" algn="just">
              <a:buClr>
                <a:srgbClr val="30ACEC">
                  <a:lumMod val="75000"/>
                </a:srgbClr>
              </a:buClr>
              <a:buNone/>
            </a:pPr>
            <a:r>
              <a:rPr lang="en-US" sz="18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>
              <a:buClr>
                <a:srgbClr val="30ACEC">
                  <a:lumMod val="75000"/>
                </a:srgbClr>
              </a:buClr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Preference</a:t>
            </a:r>
            <a:endParaRPr lang="en-ID" sz="18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rgbClr val="30ACEC">
                  <a:lumMod val="75000"/>
                </a:srgbClr>
              </a:buClr>
              <a:buFont typeface="Wingdings" panose="05000000000000000000" pitchFamily="2" charset="2"/>
              <a:buChar char="q"/>
            </a:pPr>
            <a:r>
              <a:rPr lang="en-ID" sz="18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File ( Internal Storage dan External Storage)</a:t>
            </a:r>
          </a:p>
          <a:p>
            <a:pPr algn="just">
              <a:buClr>
                <a:srgbClr val="30ACEC">
                  <a:lumMod val="75000"/>
                </a:srgbClr>
              </a:buClr>
              <a:buFont typeface="Wingdings" panose="05000000000000000000" pitchFamily="2" charset="2"/>
              <a:buChar char="q"/>
            </a:pPr>
            <a:r>
              <a:rPr lang="en-ID" sz="18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Database</a:t>
            </a:r>
          </a:p>
          <a:p>
            <a:pPr algn="just">
              <a:buClr>
                <a:srgbClr val="30ACEC">
                  <a:lumMod val="75000"/>
                </a:srgbClr>
              </a:buClr>
              <a:buFont typeface="Wingdings" panose="05000000000000000000" pitchFamily="2" charset="2"/>
              <a:buChar char="q"/>
            </a:pPr>
            <a:endParaRPr lang="en-ID" sz="18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rgbClr val="30ACEC">
                  <a:lumMod val="75000"/>
                </a:srgbClr>
              </a:buClr>
              <a:buFont typeface="Wingdings" panose="05000000000000000000" pitchFamily="2" charset="2"/>
              <a:buChar char="§"/>
            </a:pPr>
            <a:endParaRPr lang="en-US" sz="18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1161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7940-55B1-68A0-0EA5-251F48DBC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B13903E3-3599-2477-8128-918C739BD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 err="1"/>
              <a:t>Penyimpanan</a:t>
            </a:r>
            <a:r>
              <a:rPr lang="en-US" sz="3200" dirty="0"/>
              <a:t> Data di Android</a:t>
            </a:r>
            <a:endParaRPr lang="en-ID" sz="32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0CF67D5-7A21-7F6E-2654-A4A23BC063A7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1890528" y="2187666"/>
            <a:ext cx="8229600" cy="45259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id-ID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Preference </a:t>
            </a:r>
            <a:r>
              <a:rPr lang="id-ID" altLang="en-US" sz="1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altLang="en-US" sz="18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mekanisme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penyimpanan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id-ID" altLang="en-US" sz="1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metode tradisional, sederhana, menyimpan data kecil</a:t>
            </a:r>
          </a:p>
          <a:p>
            <a:pPr eaLnBrk="1" hangingPunct="1"/>
            <a:r>
              <a:rPr lang="id-ID" altLang="en-US" sz="1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Menyimpan data tidak di file maupun di database</a:t>
            </a:r>
          </a:p>
          <a:p>
            <a:pPr eaLnBrk="1" hangingPunct="1"/>
            <a:r>
              <a:rPr lang="id-ID" altLang="en-US" sz="1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Contoh: seting ring tone HP, seting ukuran font di HP dll</a:t>
            </a:r>
          </a:p>
          <a:p>
            <a:pPr eaLnBrk="1" hangingPunct="1"/>
            <a:endParaRPr lang="id-ID" alt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8CADBB0-BF37-C9AD-142E-4530584325AB}"/>
              </a:ext>
            </a:extLst>
          </p:cNvPr>
          <p:cNvSpPr txBox="1">
            <a:spLocks/>
          </p:cNvSpPr>
          <p:nvPr/>
        </p:nvSpPr>
        <p:spPr>
          <a:xfrm>
            <a:off x="2004931" y="1556793"/>
            <a:ext cx="8676456" cy="333103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br>
              <a:rPr lang="id-ID" sz="2400" dirty="0"/>
            </a:br>
            <a:endParaRPr lang="id-ID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025FE-F5E9-2415-CFF6-9061C2212A67}"/>
              </a:ext>
            </a:extLst>
          </p:cNvPr>
          <p:cNvSpPr txBox="1">
            <a:spLocks/>
          </p:cNvSpPr>
          <p:nvPr/>
        </p:nvSpPr>
        <p:spPr>
          <a:xfrm>
            <a:off x="1988502" y="2187665"/>
            <a:ext cx="8483557" cy="2482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30ACEC">
                  <a:lumMod val="75000"/>
                </a:srgbClr>
              </a:buClr>
            </a:pPr>
            <a:endParaRPr lang="id-ID" sz="20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BE48A2A-DEE4-D6B5-2CB9-9125F85A16EB}"/>
              </a:ext>
            </a:extLst>
          </p:cNvPr>
          <p:cNvSpPr txBox="1">
            <a:spLocks/>
          </p:cNvSpPr>
          <p:nvPr/>
        </p:nvSpPr>
        <p:spPr>
          <a:xfrm>
            <a:off x="1868015" y="1494666"/>
            <a:ext cx="8483557" cy="10699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30ACEC">
                  <a:lumMod val="75000"/>
                </a:srgbClr>
              </a:buClr>
              <a:buNone/>
            </a:pPr>
            <a:endParaRPr lang="en-US" sz="18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Clr>
                <a:srgbClr val="30ACEC">
                  <a:lumMod val="75000"/>
                </a:srgbClr>
              </a:buClr>
              <a:buNone/>
            </a:pPr>
            <a:r>
              <a:rPr lang="en-US" sz="18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>
              <a:buClr>
                <a:srgbClr val="30ACEC">
                  <a:lumMod val="75000"/>
                </a:srgbClr>
              </a:buClr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Preference</a:t>
            </a:r>
            <a:endParaRPr lang="en-ID" sz="18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Clr>
                <a:srgbClr val="30ACEC">
                  <a:lumMod val="75000"/>
                </a:srgbClr>
              </a:buClr>
              <a:buNone/>
            </a:pPr>
            <a:endParaRPr lang="en-ID" sz="18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rgbClr val="30ACEC">
                  <a:lumMod val="75000"/>
                </a:srgbClr>
              </a:buClr>
              <a:buFont typeface="Wingdings" panose="05000000000000000000" pitchFamily="2" charset="2"/>
              <a:buChar char="§"/>
            </a:pPr>
            <a:endParaRPr lang="en-ID" sz="18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rgbClr val="30ACEC">
                  <a:lumMod val="75000"/>
                </a:srgbClr>
              </a:buClr>
              <a:buFont typeface="Wingdings" panose="05000000000000000000" pitchFamily="2" charset="2"/>
              <a:buChar char="§"/>
            </a:pPr>
            <a:endParaRPr lang="en-US" sz="18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0500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7940-55B1-68A0-0EA5-251F48DBC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B13903E3-3599-2477-8128-918C739BD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 err="1"/>
              <a:t>Penyimpanan</a:t>
            </a:r>
            <a:r>
              <a:rPr lang="en-US" sz="3200" dirty="0"/>
              <a:t> Data di Android</a:t>
            </a:r>
            <a:endParaRPr lang="en-ID" sz="32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A9679C9-3798-00F0-5AA3-D411091AF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3899" y="2187666"/>
            <a:ext cx="8229600" cy="4525963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§"/>
              <a:defRPr/>
            </a:pPr>
            <a:r>
              <a:rPr lang="id-ID" sz="1800" dirty="0">
                <a:latin typeface="Arial" panose="020B0604020202020204" pitchFamily="34" charset="0"/>
                <a:cs typeface="Arial" panose="020B0604020202020204" pitchFamily="34" charset="0"/>
              </a:rPr>
              <a:t>Mengakses preferences</a:t>
            </a:r>
          </a:p>
          <a:p>
            <a:pPr marL="514350" indent="-514350">
              <a:buFontTx/>
              <a:buAutoNum type="arabicPeriod"/>
              <a:defRPr/>
            </a:pPr>
            <a:r>
              <a:rPr lang="id-ID" sz="1800" dirty="0">
                <a:latin typeface="Arial" panose="020B0604020202020204" pitchFamily="34" charset="0"/>
                <a:cs typeface="Arial" panose="020B0604020202020204" pitchFamily="34" charset="0"/>
              </a:rPr>
              <a:t>getPreferences(): mengakses activity spesifik preference</a:t>
            </a:r>
          </a:p>
          <a:p>
            <a:pPr marL="514350" indent="-514350">
              <a:buFontTx/>
              <a:buAutoNum type="arabicPeriod"/>
              <a:defRPr/>
            </a:pPr>
            <a:r>
              <a:rPr lang="id-ID" sz="1800" dirty="0">
                <a:latin typeface="Arial" panose="020B0604020202020204" pitchFamily="34" charset="0"/>
                <a:cs typeface="Arial" panose="020B0604020202020204" pitchFamily="34" charset="0"/>
              </a:rPr>
              <a:t>getSharedPreferences(): mengakses aplikasi level preferences</a:t>
            </a:r>
          </a:p>
          <a:p>
            <a:pPr marL="514350" indent="-514350">
              <a:buFontTx/>
              <a:buAutoNum type="arabicPeriod"/>
              <a:defRPr/>
            </a:pPr>
            <a:r>
              <a:rPr lang="id-ID" sz="1800" dirty="0">
                <a:latin typeface="Arial" panose="020B0604020202020204" pitchFamily="34" charset="0"/>
                <a:cs typeface="Arial" panose="020B0604020202020204" pitchFamily="34" charset="0"/>
              </a:rPr>
              <a:t>getDefaultSharedPreferences():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berfungsi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sebagai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framework preferences Android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secara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keseluruhan</a:t>
            </a:r>
            <a:endParaRPr lang="id-ID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defRPr/>
            </a:pPr>
            <a:endParaRPr lang="id-ID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8CADBB0-BF37-C9AD-142E-4530584325AB}"/>
              </a:ext>
            </a:extLst>
          </p:cNvPr>
          <p:cNvSpPr txBox="1">
            <a:spLocks/>
          </p:cNvSpPr>
          <p:nvPr/>
        </p:nvSpPr>
        <p:spPr>
          <a:xfrm>
            <a:off x="2004931" y="1556793"/>
            <a:ext cx="8676456" cy="333103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br>
              <a:rPr lang="id-ID" sz="2400" dirty="0"/>
            </a:br>
            <a:endParaRPr lang="id-ID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025FE-F5E9-2415-CFF6-9061C2212A67}"/>
              </a:ext>
            </a:extLst>
          </p:cNvPr>
          <p:cNvSpPr txBox="1">
            <a:spLocks/>
          </p:cNvSpPr>
          <p:nvPr/>
        </p:nvSpPr>
        <p:spPr>
          <a:xfrm>
            <a:off x="1988502" y="2187665"/>
            <a:ext cx="8483557" cy="2482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30ACEC">
                  <a:lumMod val="75000"/>
                </a:srgbClr>
              </a:buClr>
            </a:pPr>
            <a:endParaRPr lang="id-ID" sz="20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BE48A2A-DEE4-D6B5-2CB9-9125F85A16EB}"/>
              </a:ext>
            </a:extLst>
          </p:cNvPr>
          <p:cNvSpPr txBox="1">
            <a:spLocks/>
          </p:cNvSpPr>
          <p:nvPr/>
        </p:nvSpPr>
        <p:spPr>
          <a:xfrm>
            <a:off x="1868015" y="1494666"/>
            <a:ext cx="8483557" cy="10699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30ACEC">
                  <a:lumMod val="75000"/>
                </a:srgbClr>
              </a:buClr>
              <a:buNone/>
            </a:pPr>
            <a:endParaRPr lang="en-US" sz="18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Clr>
                <a:srgbClr val="30ACEC">
                  <a:lumMod val="75000"/>
                </a:srgbClr>
              </a:buClr>
              <a:buNone/>
            </a:pPr>
            <a:r>
              <a:rPr lang="en-US" sz="18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>
              <a:buClr>
                <a:srgbClr val="30ACEC">
                  <a:lumMod val="75000"/>
                </a:srgbClr>
              </a:buClr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Preference</a:t>
            </a:r>
            <a:endParaRPr lang="en-ID" sz="18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Clr>
                <a:srgbClr val="30ACEC">
                  <a:lumMod val="75000"/>
                </a:srgbClr>
              </a:buClr>
              <a:buNone/>
            </a:pPr>
            <a:endParaRPr lang="en-ID" sz="18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rgbClr val="30ACEC">
                  <a:lumMod val="75000"/>
                </a:srgbClr>
              </a:buClr>
              <a:buFont typeface="Wingdings" panose="05000000000000000000" pitchFamily="2" charset="2"/>
              <a:buChar char="§"/>
            </a:pPr>
            <a:endParaRPr lang="en-ID" sz="18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rgbClr val="30ACEC">
                  <a:lumMod val="75000"/>
                </a:srgbClr>
              </a:buClr>
              <a:buFont typeface="Wingdings" panose="05000000000000000000" pitchFamily="2" charset="2"/>
              <a:buChar char="§"/>
            </a:pPr>
            <a:endParaRPr lang="en-US" sz="18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6424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7940-55B1-68A0-0EA5-251F48DBC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B13903E3-3599-2477-8128-918C739BD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 err="1"/>
              <a:t>Penyimpanan</a:t>
            </a:r>
            <a:r>
              <a:rPr lang="en-US" sz="3200" dirty="0"/>
              <a:t> Data di Android</a:t>
            </a:r>
            <a:endParaRPr lang="en-ID" sz="3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8CADBB0-BF37-C9AD-142E-4530584325AB}"/>
              </a:ext>
            </a:extLst>
          </p:cNvPr>
          <p:cNvSpPr txBox="1">
            <a:spLocks/>
          </p:cNvSpPr>
          <p:nvPr/>
        </p:nvSpPr>
        <p:spPr>
          <a:xfrm>
            <a:off x="1999860" y="1161563"/>
            <a:ext cx="8676456" cy="333103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br>
              <a:rPr lang="id-ID" sz="2400" dirty="0"/>
            </a:br>
            <a:endParaRPr lang="id-ID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025FE-F5E9-2415-CFF6-9061C2212A67}"/>
              </a:ext>
            </a:extLst>
          </p:cNvPr>
          <p:cNvSpPr txBox="1">
            <a:spLocks/>
          </p:cNvSpPr>
          <p:nvPr/>
        </p:nvSpPr>
        <p:spPr>
          <a:xfrm>
            <a:off x="1988502" y="2187665"/>
            <a:ext cx="8483557" cy="2482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30ACEC">
                  <a:lumMod val="75000"/>
                </a:srgbClr>
              </a:buClr>
            </a:pPr>
            <a:endParaRPr lang="id-ID" sz="20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BE48A2A-DEE4-D6B5-2CB9-9125F85A16EB}"/>
              </a:ext>
            </a:extLst>
          </p:cNvPr>
          <p:cNvSpPr txBox="1">
            <a:spLocks/>
          </p:cNvSpPr>
          <p:nvPr/>
        </p:nvSpPr>
        <p:spPr>
          <a:xfrm>
            <a:off x="1854222" y="1117691"/>
            <a:ext cx="8483557" cy="10699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30ACEC">
                  <a:lumMod val="75000"/>
                </a:srgbClr>
              </a:buClr>
              <a:buNone/>
            </a:pPr>
            <a:endParaRPr lang="en-US" sz="18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Clr>
                <a:srgbClr val="30ACEC">
                  <a:lumMod val="75000"/>
                </a:srgbClr>
              </a:buClr>
              <a:buNone/>
            </a:pPr>
            <a:r>
              <a:rPr lang="en-US" sz="18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>
              <a:buClr>
                <a:srgbClr val="30ACEC">
                  <a:lumMod val="75000"/>
                </a:srgbClr>
              </a:buClr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Preference</a:t>
            </a:r>
            <a:endParaRPr lang="en-ID" sz="18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Clr>
                <a:srgbClr val="30ACEC">
                  <a:lumMod val="75000"/>
                </a:srgbClr>
              </a:buClr>
              <a:buNone/>
            </a:pPr>
            <a:endParaRPr lang="en-ID" sz="18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rgbClr val="30ACEC">
                  <a:lumMod val="75000"/>
                </a:srgbClr>
              </a:buClr>
              <a:buFont typeface="Wingdings" panose="05000000000000000000" pitchFamily="2" charset="2"/>
              <a:buChar char="§"/>
            </a:pPr>
            <a:endParaRPr lang="en-ID" sz="18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rgbClr val="30ACEC">
                  <a:lumMod val="75000"/>
                </a:srgbClr>
              </a:buClr>
              <a:buFont typeface="Wingdings" panose="05000000000000000000" pitchFamily="2" charset="2"/>
              <a:buChar char="§"/>
            </a:pPr>
            <a:endParaRPr lang="en-US" sz="18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E5CC0286-ECE0-9078-7468-8991782F87FE}"/>
              </a:ext>
            </a:extLst>
          </p:cNvPr>
          <p:cNvSpPr txBox="1">
            <a:spLocks/>
          </p:cNvSpPr>
          <p:nvPr/>
        </p:nvSpPr>
        <p:spPr>
          <a:xfrm>
            <a:off x="5781394" y="1969692"/>
            <a:ext cx="4690665" cy="3726746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id-ID" sz="2000" dirty="0">
                <a:latin typeface="Arial" panose="020B0604020202020204" pitchFamily="34" charset="0"/>
                <a:cs typeface="Arial" panose="020B0604020202020204" pitchFamily="34" charset="0"/>
              </a:rPr>
              <a:t>Pada contoh berikut ditampilkan metode penyimpana data dengan preference yaitu tentang pengaturan ukuran font.</a:t>
            </a:r>
          </a:p>
          <a:p>
            <a:pPr algn="just"/>
            <a:endParaRPr lang="id-ID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id-ID" sz="2000" dirty="0">
                <a:latin typeface="Arial" panose="020B0604020202020204" pitchFamily="34" charset="0"/>
                <a:cs typeface="Arial" panose="020B0604020202020204" pitchFamily="34" charset="0"/>
              </a:rPr>
              <a:t>Settingan terakhir menentukan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d-ID" sz="2000" dirty="0">
                <a:latin typeface="Arial" panose="020B0604020202020204" pitchFamily="34" charset="0"/>
                <a:cs typeface="Arial" panose="020B0604020202020204" pitchFamily="34" charset="0"/>
              </a:rPr>
              <a:t>tampilan ukuran font setel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id-ID" sz="2000" dirty="0">
                <a:latin typeface="Arial" panose="020B0604020202020204" pitchFamily="34" charset="0"/>
                <a:cs typeface="Arial" panose="020B0604020202020204" pitchFamily="34" charset="0"/>
              </a:rPr>
              <a:t>h aplikasi dijalankan kembali</a:t>
            </a:r>
          </a:p>
          <a:p>
            <a:pPr algn="just"/>
            <a:endParaRPr lang="id-ID" sz="2800" dirty="0"/>
          </a:p>
        </p:txBody>
      </p:sp>
      <p:pic>
        <p:nvPicPr>
          <p:cNvPr id="4" name="Picture 3" descr="A screenshot of a phone&#10;&#10;AI-generated content may be incorrect.">
            <a:extLst>
              <a:ext uri="{FF2B5EF4-FFF2-40B4-BE49-F238E27FC236}">
                <a16:creationId xmlns:a16="http://schemas.microsoft.com/office/drawing/2014/main" id="{276C99B6-2198-242E-075A-319AB5DA4F4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67608" y="1681493"/>
            <a:ext cx="2521858" cy="4888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445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7940-55B1-68A0-0EA5-251F48DBC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B13903E3-3599-2477-8128-918C739BD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 err="1"/>
              <a:t>Penyimpanan</a:t>
            </a:r>
            <a:r>
              <a:rPr lang="en-US" sz="3200" dirty="0"/>
              <a:t> Data di Android</a:t>
            </a:r>
            <a:endParaRPr lang="en-ID" sz="3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8CADBB0-BF37-C9AD-142E-4530584325AB}"/>
              </a:ext>
            </a:extLst>
          </p:cNvPr>
          <p:cNvSpPr txBox="1">
            <a:spLocks/>
          </p:cNvSpPr>
          <p:nvPr/>
        </p:nvSpPr>
        <p:spPr>
          <a:xfrm>
            <a:off x="1999860" y="1161563"/>
            <a:ext cx="8676456" cy="333103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br>
              <a:rPr lang="id-ID" sz="2400" dirty="0"/>
            </a:br>
            <a:endParaRPr lang="id-ID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025FE-F5E9-2415-CFF6-9061C2212A67}"/>
              </a:ext>
            </a:extLst>
          </p:cNvPr>
          <p:cNvSpPr txBox="1">
            <a:spLocks/>
          </p:cNvSpPr>
          <p:nvPr/>
        </p:nvSpPr>
        <p:spPr>
          <a:xfrm>
            <a:off x="1988502" y="2187665"/>
            <a:ext cx="8483557" cy="2482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30ACEC">
                  <a:lumMod val="75000"/>
                </a:srgbClr>
              </a:buClr>
            </a:pPr>
            <a:endParaRPr lang="id-ID" sz="20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BE48A2A-DEE4-D6B5-2CB9-9125F85A16EB}"/>
              </a:ext>
            </a:extLst>
          </p:cNvPr>
          <p:cNvSpPr txBox="1">
            <a:spLocks/>
          </p:cNvSpPr>
          <p:nvPr/>
        </p:nvSpPr>
        <p:spPr>
          <a:xfrm>
            <a:off x="1854222" y="1117691"/>
            <a:ext cx="8483557" cy="10699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30ACEC">
                  <a:lumMod val="75000"/>
                </a:srgbClr>
              </a:buClr>
              <a:buNone/>
            </a:pPr>
            <a:endParaRPr lang="en-US" sz="18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Clr>
                <a:srgbClr val="30ACEC">
                  <a:lumMod val="75000"/>
                </a:srgbClr>
              </a:buClr>
              <a:buNone/>
            </a:pPr>
            <a:r>
              <a:rPr lang="en-US" sz="18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>
              <a:buClr>
                <a:srgbClr val="30ACEC">
                  <a:lumMod val="75000"/>
                </a:srgbClr>
              </a:buClr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Preference</a:t>
            </a:r>
            <a:endParaRPr lang="en-ID" sz="18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Clr>
                <a:srgbClr val="30ACEC">
                  <a:lumMod val="75000"/>
                </a:srgbClr>
              </a:buClr>
              <a:buNone/>
            </a:pPr>
            <a:endParaRPr lang="en-ID" sz="18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rgbClr val="30ACEC">
                  <a:lumMod val="75000"/>
                </a:srgbClr>
              </a:buClr>
              <a:buFont typeface="Wingdings" panose="05000000000000000000" pitchFamily="2" charset="2"/>
              <a:buChar char="§"/>
            </a:pPr>
            <a:endParaRPr lang="en-ID" sz="18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rgbClr val="30ACEC">
                  <a:lumMod val="75000"/>
                </a:srgbClr>
              </a:buClr>
              <a:buFont typeface="Wingdings" panose="05000000000000000000" pitchFamily="2" charset="2"/>
              <a:buChar char="§"/>
            </a:pPr>
            <a:endParaRPr lang="en-US" sz="18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C75B884D-0CF2-995D-D177-77E1B34979B2}"/>
              </a:ext>
            </a:extLst>
          </p:cNvPr>
          <p:cNvSpPr txBox="1">
            <a:spLocks/>
          </p:cNvSpPr>
          <p:nvPr/>
        </p:nvSpPr>
        <p:spPr>
          <a:xfrm>
            <a:off x="1854221" y="1772816"/>
            <a:ext cx="4643470" cy="6272234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d-ID" sz="24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latin typeface="Arial" panose="020B0604020202020204" pitchFamily="34" charset="0"/>
                <a:cs typeface="Arial" panose="020B0604020202020204" pitchFamily="34" charset="0"/>
              </a:rPr>
              <a:t>Komponen UI</a:t>
            </a:r>
          </a:p>
          <a:p>
            <a:endParaRPr lang="id-ID" sz="1600" dirty="0"/>
          </a:p>
          <a:p>
            <a:pPr marL="0" indent="0">
              <a:buNone/>
            </a:pPr>
            <a:r>
              <a:rPr lang="id-ID" sz="1400" dirty="0"/>
              <a:t>&lt;?xml version=</a:t>
            </a:r>
            <a:r>
              <a:rPr lang="id-ID" sz="1400" i="1" dirty="0"/>
              <a:t>"1.0" encoding="utf-8"?&gt;</a:t>
            </a:r>
          </a:p>
          <a:p>
            <a:pPr marL="0" indent="0">
              <a:buNone/>
            </a:pPr>
            <a:r>
              <a:rPr lang="id-ID" sz="1400" dirty="0"/>
              <a:t>&lt;LinearLayout xmlns:android=</a:t>
            </a:r>
            <a:r>
              <a:rPr lang="id-ID" sz="1400" i="1" dirty="0"/>
              <a:t>"http://schemas.android.com/apk/res/android"</a:t>
            </a:r>
          </a:p>
          <a:p>
            <a:pPr marL="0" indent="0">
              <a:buNone/>
            </a:pPr>
            <a:r>
              <a:rPr lang="en-US" sz="1400" dirty="0"/>
              <a:t>  </a:t>
            </a:r>
            <a:r>
              <a:rPr lang="id-ID" sz="1400" dirty="0"/>
              <a:t>android:orientation=</a:t>
            </a:r>
            <a:r>
              <a:rPr lang="id-ID" sz="1400" i="1" dirty="0"/>
              <a:t>"vertical"</a:t>
            </a:r>
          </a:p>
          <a:p>
            <a:pPr marL="0" indent="0">
              <a:buNone/>
            </a:pPr>
            <a:r>
              <a:rPr lang="en-US" sz="1400" dirty="0"/>
              <a:t>  </a:t>
            </a:r>
            <a:r>
              <a:rPr lang="id-ID" sz="1400" dirty="0"/>
              <a:t>android:layout_width=</a:t>
            </a:r>
            <a:r>
              <a:rPr lang="id-ID" sz="1400" i="1" dirty="0"/>
              <a:t>"fill_parent"</a:t>
            </a:r>
          </a:p>
          <a:p>
            <a:pPr marL="0" indent="0">
              <a:buNone/>
            </a:pPr>
            <a:r>
              <a:rPr lang="en-US" sz="1400" dirty="0"/>
              <a:t>  </a:t>
            </a:r>
            <a:r>
              <a:rPr lang="id-ID" sz="1400" dirty="0"/>
              <a:t>android:layout_height=</a:t>
            </a:r>
            <a:r>
              <a:rPr lang="id-ID" sz="1400" i="1" dirty="0"/>
              <a:t>"fill_parent"</a:t>
            </a:r>
          </a:p>
          <a:p>
            <a:pPr marL="0" indent="0">
              <a:buNone/>
            </a:pPr>
            <a:r>
              <a:rPr lang="en-US" sz="1400" dirty="0"/>
              <a:t>  </a:t>
            </a:r>
            <a:r>
              <a:rPr lang="id-ID" sz="1400" dirty="0"/>
              <a:t>&gt;</a:t>
            </a:r>
          </a:p>
          <a:p>
            <a:pPr marL="0" indent="0">
              <a:buNone/>
            </a:pPr>
            <a:r>
              <a:rPr lang="id-ID" sz="1400" dirty="0"/>
              <a:t>    </a:t>
            </a:r>
          </a:p>
          <a:p>
            <a:pPr marL="0" indent="0">
              <a:buNone/>
            </a:pPr>
            <a:r>
              <a:rPr lang="id-ID" sz="1400" dirty="0"/>
              <a:t>&lt;SeekBar </a:t>
            </a:r>
          </a:p>
          <a:p>
            <a:pPr marL="0" indent="0">
              <a:buNone/>
            </a:pPr>
            <a:r>
              <a:rPr lang="en-US" sz="1400" dirty="0"/>
              <a:t>  </a:t>
            </a:r>
            <a:r>
              <a:rPr lang="id-ID" sz="1400" dirty="0"/>
              <a:t>android:id=</a:t>
            </a:r>
            <a:r>
              <a:rPr lang="id-ID" sz="1400" i="1" dirty="0"/>
              <a:t>"@+id/SeekBar01" </a:t>
            </a:r>
          </a:p>
          <a:p>
            <a:pPr marL="0" indent="0">
              <a:buNone/>
            </a:pPr>
            <a:r>
              <a:rPr lang="en-US" sz="1400" dirty="0"/>
              <a:t>  </a:t>
            </a:r>
            <a:r>
              <a:rPr lang="id-ID" sz="1400" dirty="0"/>
              <a:t>android:layout_width=</a:t>
            </a:r>
            <a:r>
              <a:rPr lang="id-ID" sz="1400" i="1" dirty="0"/>
              <a:t>"fill_parent" </a:t>
            </a:r>
          </a:p>
          <a:p>
            <a:pPr marL="0" indent="0">
              <a:buNone/>
            </a:pPr>
            <a:r>
              <a:rPr lang="en-US" sz="1400" dirty="0"/>
              <a:t>  </a:t>
            </a:r>
            <a:r>
              <a:rPr lang="id-ID" sz="1400" dirty="0"/>
              <a:t>android:layout_height=</a:t>
            </a:r>
            <a:r>
              <a:rPr lang="id-ID" sz="1400" i="1" dirty="0"/>
              <a:t>"wrap_content" /&gt;</a:t>
            </a:r>
          </a:p>
          <a:p>
            <a:pPr marL="0" indent="0">
              <a:buNone/>
            </a:pPr>
            <a:r>
              <a:rPr lang="id-ID" sz="1600" dirty="0"/>
              <a:t>  </a:t>
            </a:r>
          </a:p>
          <a:p>
            <a:endParaRPr lang="id-ID" sz="1600" dirty="0"/>
          </a:p>
          <a:p>
            <a:endParaRPr lang="id-ID" sz="1600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4E8DB16-D51E-1DFB-3243-AF8E33EF88EB}"/>
              </a:ext>
            </a:extLst>
          </p:cNvPr>
          <p:cNvSpPr txBox="1">
            <a:spLocks/>
          </p:cNvSpPr>
          <p:nvPr/>
        </p:nvSpPr>
        <p:spPr>
          <a:xfrm>
            <a:off x="6735756" y="1916832"/>
            <a:ext cx="3932244" cy="4248472"/>
          </a:xfrm>
          <a:prstGeom prst="rect">
            <a:avLst/>
          </a:prstGeom>
        </p:spPr>
        <p:txBody>
          <a:bodyPr vert="horz" tIns="91440" bIns="91440" rtlCol="0" anchor="t">
            <a:noAutofit/>
          </a:bodyPr>
          <a:lstStyle/>
          <a:p>
            <a:pPr>
              <a:spcBef>
                <a:spcPct val="20000"/>
              </a:spcBef>
              <a:defRPr/>
            </a:pPr>
            <a:r>
              <a:rPr lang="id-ID" sz="1100" dirty="0">
                <a:solidFill>
                  <a:schemeClr val="tx2"/>
                </a:solidFill>
              </a:rPr>
              <a:t>    </a:t>
            </a:r>
          </a:p>
          <a:p>
            <a:pPr>
              <a:spcBef>
                <a:spcPct val="20000"/>
              </a:spcBef>
              <a:defRPr/>
            </a:pPr>
            <a:r>
              <a:rPr lang="id-ID" sz="1400" dirty="0">
                <a:solidFill>
                  <a:schemeClr val="tx2"/>
                </a:solidFill>
              </a:rPr>
              <a:t>&lt;TextView  </a:t>
            </a:r>
          </a:p>
          <a:p>
            <a:pPr>
              <a:spcBef>
                <a:spcPct val="20000"/>
              </a:spcBef>
              <a:defRPr/>
            </a:pPr>
            <a:r>
              <a:rPr lang="id-ID" sz="1400" dirty="0">
                <a:solidFill>
                  <a:schemeClr val="tx2"/>
                </a:solidFill>
              </a:rPr>
              <a:t>    android:id=</a:t>
            </a:r>
            <a:r>
              <a:rPr lang="id-ID" sz="1400" i="1" dirty="0">
                <a:solidFill>
                  <a:schemeClr val="tx2"/>
                </a:solidFill>
              </a:rPr>
              <a:t>"@+id/TextView01"    </a:t>
            </a:r>
          </a:p>
          <a:p>
            <a:pPr>
              <a:spcBef>
                <a:spcPct val="20000"/>
              </a:spcBef>
              <a:defRPr/>
            </a:pPr>
            <a:r>
              <a:rPr lang="id-ID" sz="1400" dirty="0">
                <a:solidFill>
                  <a:schemeClr val="tx2"/>
                </a:solidFill>
              </a:rPr>
              <a:t>    android:layout_width=</a:t>
            </a:r>
            <a:r>
              <a:rPr lang="id-ID" sz="1400" i="1" dirty="0">
                <a:solidFill>
                  <a:schemeClr val="tx2"/>
                </a:solidFill>
              </a:rPr>
              <a:t>"fill_parent" </a:t>
            </a:r>
          </a:p>
          <a:p>
            <a:pPr>
              <a:spcBef>
                <a:spcPct val="20000"/>
              </a:spcBef>
              <a:defRPr/>
            </a:pPr>
            <a:r>
              <a:rPr lang="id-ID" sz="1400" dirty="0">
                <a:solidFill>
                  <a:schemeClr val="tx2"/>
                </a:solidFill>
              </a:rPr>
              <a:t>    android:layout_height=</a:t>
            </a:r>
            <a:r>
              <a:rPr lang="id-ID" sz="1400" i="1" dirty="0">
                <a:solidFill>
                  <a:schemeClr val="tx2"/>
                </a:solidFill>
              </a:rPr>
              <a:t>"wrap_content" </a:t>
            </a:r>
          </a:p>
          <a:p>
            <a:pPr>
              <a:spcBef>
                <a:spcPct val="20000"/>
              </a:spcBef>
              <a:defRPr/>
            </a:pPr>
            <a:r>
              <a:rPr lang="id-ID" sz="1400" dirty="0">
                <a:solidFill>
                  <a:schemeClr val="tx2"/>
                </a:solidFill>
              </a:rPr>
              <a:t>    android:text=</a:t>
            </a:r>
            <a:r>
              <a:rPr lang="id-ID" sz="1400" i="1" dirty="0">
                <a:solidFill>
                  <a:schemeClr val="tx2"/>
                </a:solidFill>
              </a:rPr>
              <a:t>"@string/hello" /&gt;</a:t>
            </a:r>
          </a:p>
          <a:p>
            <a:pPr>
              <a:spcBef>
                <a:spcPct val="20000"/>
              </a:spcBef>
              <a:defRPr/>
            </a:pPr>
            <a:r>
              <a:rPr lang="id-ID" sz="1400" dirty="0">
                <a:solidFill>
                  <a:schemeClr val="tx2"/>
                </a:solidFill>
              </a:rPr>
              <a:t>        </a:t>
            </a:r>
          </a:p>
          <a:p>
            <a:pPr>
              <a:spcBef>
                <a:spcPct val="20000"/>
              </a:spcBef>
              <a:defRPr/>
            </a:pPr>
            <a:r>
              <a:rPr lang="id-ID" sz="1400" dirty="0">
                <a:solidFill>
                  <a:schemeClr val="tx2"/>
                </a:solidFill>
              </a:rPr>
              <a:t>&lt;EditText </a:t>
            </a:r>
          </a:p>
          <a:p>
            <a:pPr>
              <a:spcBef>
                <a:spcPct val="20000"/>
              </a:spcBef>
              <a:defRPr/>
            </a:pPr>
            <a:r>
              <a:rPr lang="id-ID" sz="1400" dirty="0">
                <a:solidFill>
                  <a:schemeClr val="tx2"/>
                </a:solidFill>
              </a:rPr>
              <a:t>    android:id=</a:t>
            </a:r>
            <a:r>
              <a:rPr lang="id-ID" sz="1400" i="1" dirty="0">
                <a:solidFill>
                  <a:schemeClr val="tx2"/>
                </a:solidFill>
              </a:rPr>
              <a:t>"@+id/EditText01" </a:t>
            </a:r>
          </a:p>
          <a:p>
            <a:pPr>
              <a:spcBef>
                <a:spcPct val="20000"/>
              </a:spcBef>
              <a:defRPr/>
            </a:pPr>
            <a:r>
              <a:rPr lang="id-ID" sz="1400" dirty="0">
                <a:solidFill>
                  <a:schemeClr val="tx2"/>
                </a:solidFill>
              </a:rPr>
              <a:t>    android:layout_width=</a:t>
            </a:r>
            <a:r>
              <a:rPr lang="id-ID" sz="1400" i="1" dirty="0">
                <a:solidFill>
                  <a:schemeClr val="tx2"/>
                </a:solidFill>
              </a:rPr>
              <a:t>"fill_parent" </a:t>
            </a:r>
          </a:p>
          <a:p>
            <a:pPr>
              <a:spcBef>
                <a:spcPct val="20000"/>
              </a:spcBef>
              <a:defRPr/>
            </a:pPr>
            <a:r>
              <a:rPr lang="id-ID" sz="1400" dirty="0">
                <a:solidFill>
                  <a:schemeClr val="tx2"/>
                </a:solidFill>
              </a:rPr>
              <a:t>    android:layout_height=</a:t>
            </a:r>
            <a:r>
              <a:rPr lang="id-ID" sz="1400" i="1" dirty="0">
                <a:solidFill>
                  <a:schemeClr val="tx2"/>
                </a:solidFill>
              </a:rPr>
              <a:t>"wrap_content" /&gt;</a:t>
            </a:r>
          </a:p>
          <a:p>
            <a:pPr>
              <a:spcBef>
                <a:spcPct val="20000"/>
              </a:spcBef>
              <a:defRPr/>
            </a:pPr>
            <a:r>
              <a:rPr lang="id-ID" sz="1400" dirty="0">
                <a:solidFill>
                  <a:schemeClr val="tx2"/>
                </a:solidFill>
              </a:rPr>
              <a:t>    </a:t>
            </a:r>
          </a:p>
          <a:p>
            <a:pPr>
              <a:spcBef>
                <a:spcPct val="20000"/>
              </a:spcBef>
              <a:defRPr/>
            </a:pPr>
            <a:r>
              <a:rPr lang="id-ID" sz="1400" dirty="0">
                <a:solidFill>
                  <a:schemeClr val="tx2"/>
                </a:solidFill>
              </a:rPr>
              <a:t>&lt;Button </a:t>
            </a:r>
          </a:p>
          <a:p>
            <a:pPr>
              <a:spcBef>
                <a:spcPct val="20000"/>
              </a:spcBef>
              <a:defRPr/>
            </a:pPr>
            <a:r>
              <a:rPr lang="id-ID" sz="1400" dirty="0">
                <a:solidFill>
                  <a:schemeClr val="tx2"/>
                </a:solidFill>
              </a:rPr>
              <a:t>    android:id=</a:t>
            </a:r>
            <a:r>
              <a:rPr lang="id-ID" sz="1400" i="1" dirty="0">
                <a:solidFill>
                  <a:schemeClr val="tx2"/>
                </a:solidFill>
              </a:rPr>
              <a:t>"@+id/btnSave" </a:t>
            </a:r>
          </a:p>
          <a:p>
            <a:pPr>
              <a:spcBef>
                <a:spcPct val="20000"/>
              </a:spcBef>
              <a:defRPr/>
            </a:pPr>
            <a:r>
              <a:rPr lang="id-ID" sz="1400" dirty="0">
                <a:solidFill>
                  <a:schemeClr val="tx2"/>
                </a:solidFill>
              </a:rPr>
              <a:t>    android:text=</a:t>
            </a:r>
            <a:r>
              <a:rPr lang="id-ID" sz="1400" i="1" dirty="0">
                <a:solidFill>
                  <a:schemeClr val="tx2"/>
                </a:solidFill>
              </a:rPr>
              <a:t>"Save"</a:t>
            </a:r>
          </a:p>
          <a:p>
            <a:pPr>
              <a:spcBef>
                <a:spcPct val="20000"/>
              </a:spcBef>
              <a:defRPr/>
            </a:pPr>
            <a:r>
              <a:rPr lang="id-ID" sz="1400" dirty="0">
                <a:solidFill>
                  <a:schemeClr val="tx2"/>
                </a:solidFill>
              </a:rPr>
              <a:t>    android:layout_width=</a:t>
            </a:r>
            <a:r>
              <a:rPr lang="id-ID" sz="1400" i="1" dirty="0">
                <a:solidFill>
                  <a:schemeClr val="tx2"/>
                </a:solidFill>
              </a:rPr>
              <a:t>"wrap_content" </a:t>
            </a:r>
          </a:p>
          <a:p>
            <a:pPr>
              <a:spcBef>
                <a:spcPct val="20000"/>
              </a:spcBef>
              <a:defRPr/>
            </a:pPr>
            <a:r>
              <a:rPr lang="id-ID" sz="1400" dirty="0">
                <a:solidFill>
                  <a:schemeClr val="tx2"/>
                </a:solidFill>
              </a:rPr>
              <a:t>    android:layout_height=</a:t>
            </a:r>
            <a:r>
              <a:rPr lang="id-ID" sz="1400" i="1" dirty="0">
                <a:solidFill>
                  <a:schemeClr val="tx2"/>
                </a:solidFill>
              </a:rPr>
              <a:t>"wrap_content" /&gt;    </a:t>
            </a:r>
          </a:p>
          <a:p>
            <a:pPr>
              <a:spcBef>
                <a:spcPct val="20000"/>
              </a:spcBef>
              <a:defRPr/>
            </a:pPr>
            <a:endParaRPr lang="id-ID" sz="1400" dirty="0">
              <a:solidFill>
                <a:schemeClr val="tx2"/>
              </a:solidFill>
            </a:endParaRPr>
          </a:p>
          <a:p>
            <a:pPr>
              <a:spcBef>
                <a:spcPct val="20000"/>
              </a:spcBef>
              <a:defRPr/>
            </a:pPr>
            <a:r>
              <a:rPr lang="id-ID" sz="1400" dirty="0">
                <a:solidFill>
                  <a:schemeClr val="tx2"/>
                </a:solidFill>
              </a:rPr>
              <a:t>&lt;/LinearLayout&gt;</a:t>
            </a:r>
          </a:p>
          <a:p>
            <a:pPr>
              <a:spcBef>
                <a:spcPct val="20000"/>
              </a:spcBef>
              <a:defRPr/>
            </a:pPr>
            <a:endParaRPr lang="id-ID" sz="11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2260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7940-55B1-68A0-0EA5-251F48DBC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B13903E3-3599-2477-8128-918C739BD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 err="1"/>
              <a:t>Penyimpanan</a:t>
            </a:r>
            <a:r>
              <a:rPr lang="en-US" sz="3200" dirty="0"/>
              <a:t> Data di Android</a:t>
            </a:r>
            <a:endParaRPr lang="en-ID" sz="32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5BBBBD8-5DA3-A319-8889-372F26CC742B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2135560" y="2115186"/>
            <a:ext cx="7072312" cy="45259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buFontTx/>
              <a:buNone/>
            </a:pPr>
            <a:r>
              <a:rPr lang="id-ID" altLang="en-US" sz="2800" dirty="0"/>
              <a:t>Paket yang diperlukan</a:t>
            </a:r>
          </a:p>
          <a:p>
            <a:pPr eaLnBrk="1" hangingPunct="1">
              <a:buFontTx/>
              <a:buNone/>
            </a:pPr>
            <a:r>
              <a:rPr lang="id-ID" altLang="en-US" sz="2000" dirty="0"/>
              <a:t>import android.app.Activity;</a:t>
            </a:r>
          </a:p>
          <a:p>
            <a:pPr eaLnBrk="1" hangingPunct="1">
              <a:buFontTx/>
              <a:buNone/>
            </a:pPr>
            <a:r>
              <a:rPr lang="id-ID" altLang="en-US" sz="2000" dirty="0"/>
              <a:t>import android.content.SharedPreferences;</a:t>
            </a:r>
          </a:p>
          <a:p>
            <a:pPr eaLnBrk="1" hangingPunct="1">
              <a:buFontTx/>
              <a:buNone/>
            </a:pPr>
            <a:r>
              <a:rPr lang="id-ID" altLang="en-US" sz="2000" dirty="0"/>
              <a:t>import android.os.Bundle;</a:t>
            </a:r>
          </a:p>
          <a:p>
            <a:pPr eaLnBrk="1" hangingPunct="1">
              <a:buFontTx/>
              <a:buNone/>
            </a:pPr>
            <a:r>
              <a:rPr lang="id-ID" altLang="en-US" sz="2000" dirty="0"/>
              <a:t>import android.view.View;</a:t>
            </a:r>
          </a:p>
          <a:p>
            <a:pPr eaLnBrk="1" hangingPunct="1">
              <a:buFontTx/>
              <a:buNone/>
            </a:pPr>
            <a:r>
              <a:rPr lang="id-ID" altLang="en-US" sz="2000" dirty="0"/>
              <a:t>import android.widget.Button;</a:t>
            </a:r>
          </a:p>
          <a:p>
            <a:pPr eaLnBrk="1" hangingPunct="1">
              <a:buFontTx/>
              <a:buNone/>
            </a:pPr>
            <a:r>
              <a:rPr lang="id-ID" altLang="en-US" sz="2000" dirty="0"/>
              <a:t>import android.widget.EditText;</a:t>
            </a:r>
          </a:p>
          <a:p>
            <a:pPr eaLnBrk="1" hangingPunct="1">
              <a:buFontTx/>
              <a:buNone/>
            </a:pPr>
            <a:r>
              <a:rPr lang="id-ID" altLang="en-US" sz="2000" dirty="0"/>
              <a:t>import android.widget.SeekBar;</a:t>
            </a:r>
          </a:p>
          <a:p>
            <a:pPr eaLnBrk="1" hangingPunct="1">
              <a:buFontTx/>
              <a:buNone/>
            </a:pPr>
            <a:r>
              <a:rPr lang="id-ID" altLang="en-US" sz="2000" dirty="0"/>
              <a:t>import android.widget.SeekBar.OnSeekBarChangeListener;</a:t>
            </a:r>
          </a:p>
          <a:p>
            <a:pPr eaLnBrk="1" hangingPunct="1">
              <a:buFontTx/>
              <a:buNone/>
            </a:pPr>
            <a:r>
              <a:rPr lang="id-ID" altLang="en-US" sz="2000" dirty="0"/>
              <a:t>import android.widget.Toast;</a:t>
            </a:r>
          </a:p>
          <a:p>
            <a:pPr eaLnBrk="1" hangingPunct="1">
              <a:buFontTx/>
              <a:buNone/>
            </a:pPr>
            <a:endParaRPr lang="id-ID" altLang="en-US" sz="20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8CADBB0-BF37-C9AD-142E-4530584325AB}"/>
              </a:ext>
            </a:extLst>
          </p:cNvPr>
          <p:cNvSpPr txBox="1">
            <a:spLocks/>
          </p:cNvSpPr>
          <p:nvPr/>
        </p:nvSpPr>
        <p:spPr>
          <a:xfrm>
            <a:off x="1999860" y="1161563"/>
            <a:ext cx="8676456" cy="333103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br>
              <a:rPr lang="id-ID" sz="2400" dirty="0"/>
            </a:br>
            <a:endParaRPr lang="id-ID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025FE-F5E9-2415-CFF6-9061C2212A67}"/>
              </a:ext>
            </a:extLst>
          </p:cNvPr>
          <p:cNvSpPr txBox="1">
            <a:spLocks/>
          </p:cNvSpPr>
          <p:nvPr/>
        </p:nvSpPr>
        <p:spPr>
          <a:xfrm>
            <a:off x="1988502" y="2187665"/>
            <a:ext cx="8483557" cy="2482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30ACEC">
                  <a:lumMod val="75000"/>
                </a:srgbClr>
              </a:buClr>
            </a:pPr>
            <a:endParaRPr lang="id-ID" sz="20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8781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7940-55B1-68A0-0EA5-251F48DBC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B13903E3-3599-2477-8128-918C739BD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 err="1"/>
              <a:t>Penyimpanan</a:t>
            </a:r>
            <a:r>
              <a:rPr lang="en-US" sz="3200" dirty="0"/>
              <a:t> Data di Android</a:t>
            </a:r>
            <a:endParaRPr lang="en-ID" sz="3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8CADBB0-BF37-C9AD-142E-4530584325AB}"/>
              </a:ext>
            </a:extLst>
          </p:cNvPr>
          <p:cNvSpPr txBox="1">
            <a:spLocks/>
          </p:cNvSpPr>
          <p:nvPr/>
        </p:nvSpPr>
        <p:spPr>
          <a:xfrm>
            <a:off x="1999860" y="1161563"/>
            <a:ext cx="8676456" cy="333103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br>
              <a:rPr lang="id-ID" sz="2400" dirty="0"/>
            </a:br>
            <a:endParaRPr lang="id-ID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025FE-F5E9-2415-CFF6-9061C2212A67}"/>
              </a:ext>
            </a:extLst>
          </p:cNvPr>
          <p:cNvSpPr txBox="1">
            <a:spLocks/>
          </p:cNvSpPr>
          <p:nvPr/>
        </p:nvSpPr>
        <p:spPr>
          <a:xfrm>
            <a:off x="1988502" y="2187665"/>
            <a:ext cx="8483557" cy="2482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30ACEC">
                  <a:lumMod val="75000"/>
                </a:srgbClr>
              </a:buClr>
            </a:pPr>
            <a:endParaRPr lang="id-ID" sz="20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939E049-12D7-3531-E967-9F4FA2008838}"/>
              </a:ext>
            </a:extLst>
          </p:cNvPr>
          <p:cNvSpPr txBox="1">
            <a:spLocks/>
          </p:cNvSpPr>
          <p:nvPr/>
        </p:nvSpPr>
        <p:spPr bwMode="auto">
          <a:xfrm>
            <a:off x="1881188" y="1161562"/>
            <a:ext cx="8229600" cy="443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Tx/>
              <a:buNone/>
            </a:pPr>
            <a:r>
              <a:rPr lang="id-ID" altLang="en-US" dirty="0" err="1"/>
              <a:t>Dimanakah</a:t>
            </a:r>
            <a:r>
              <a:rPr lang="id-ID" altLang="en-US" dirty="0"/>
              <a:t> informasi disimpan?</a:t>
            </a:r>
          </a:p>
        </p:txBody>
      </p:sp>
      <p:pic>
        <p:nvPicPr>
          <p:cNvPr id="5" name="Picture 3" descr="sharedPreference.jpg">
            <a:extLst>
              <a:ext uri="{FF2B5EF4-FFF2-40B4-BE49-F238E27FC236}">
                <a16:creationId xmlns:a16="http://schemas.microsoft.com/office/drawing/2014/main" id="{3F5B4460-7479-69C9-BC16-BDD1B6D8788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51784" y="1986912"/>
            <a:ext cx="7452320" cy="450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0C22556-89E4-BA90-A525-61CDB4B897E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74494" y="1986912"/>
            <a:ext cx="2367948" cy="4439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5857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7940-55B1-68A0-0EA5-251F48DBC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B13903E3-3599-2477-8128-918C739BD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 err="1"/>
              <a:t>Penyimpanan</a:t>
            </a:r>
            <a:r>
              <a:rPr lang="en-US" sz="3200" dirty="0"/>
              <a:t> Data di Android</a:t>
            </a:r>
            <a:endParaRPr lang="en-ID" sz="3200" dirty="0"/>
          </a:p>
        </p:txBody>
      </p:sp>
      <p:pic>
        <p:nvPicPr>
          <p:cNvPr id="2" name="Content Placeholder 3" descr="sharedPreference2.jpg">
            <a:extLst>
              <a:ext uri="{FF2B5EF4-FFF2-40B4-BE49-F238E27FC236}">
                <a16:creationId xmlns:a16="http://schemas.microsoft.com/office/drawing/2014/main" id="{0FCA9725-C96D-FEB7-A1FC-292345BD5C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96866" y="1825625"/>
            <a:ext cx="10398267" cy="43513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8CADBB0-BF37-C9AD-142E-4530584325AB}"/>
              </a:ext>
            </a:extLst>
          </p:cNvPr>
          <p:cNvSpPr txBox="1">
            <a:spLocks/>
          </p:cNvSpPr>
          <p:nvPr/>
        </p:nvSpPr>
        <p:spPr>
          <a:xfrm>
            <a:off x="1999860" y="1161563"/>
            <a:ext cx="8676456" cy="333103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br>
              <a:rPr lang="id-ID" sz="2400" dirty="0"/>
            </a:br>
            <a:endParaRPr lang="id-ID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025FE-F5E9-2415-CFF6-9061C2212A67}"/>
              </a:ext>
            </a:extLst>
          </p:cNvPr>
          <p:cNvSpPr txBox="1">
            <a:spLocks/>
          </p:cNvSpPr>
          <p:nvPr/>
        </p:nvSpPr>
        <p:spPr>
          <a:xfrm>
            <a:off x="1988502" y="2187665"/>
            <a:ext cx="8483557" cy="2482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30ACEC">
                  <a:lumMod val="75000"/>
                </a:srgbClr>
              </a:buClr>
            </a:pPr>
            <a:endParaRPr lang="id-ID" sz="20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6930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7940-55B1-68A0-0EA5-251F48DBC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B13903E3-3599-2477-8128-918C739BD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 err="1"/>
              <a:t>Penyimpanan</a:t>
            </a:r>
            <a:r>
              <a:rPr lang="en-US" sz="3200" dirty="0"/>
              <a:t> Data di Android</a:t>
            </a:r>
            <a:endParaRPr lang="en-ID" sz="32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C9669EC-E652-83F4-AA22-080BBC6E7541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1994992" y="2403954"/>
            <a:ext cx="8597553" cy="445404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algn="just" eaLnBrk="1" hangingPunct="1"/>
            <a:r>
              <a:rPr lang="id-ID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Android menyediakan metode untuk melakukan penyimpanan di file, dengan </a:t>
            </a:r>
            <a:r>
              <a:rPr lang="id-ID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java.io</a:t>
            </a:r>
            <a:endParaRPr lang="en-US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/>
            <a:r>
              <a:rPr lang="id-ID" altLang="en-US" sz="2000" dirty="0"/>
              <a:t>Untuk menyimpan teks ke dalam file digunakan metode </a:t>
            </a:r>
            <a:r>
              <a:rPr lang="id-ID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FileOutputStream</a:t>
            </a:r>
            <a:r>
              <a:rPr lang="id-ID" altLang="en-US" sz="2000" dirty="0"/>
              <a:t>.</a:t>
            </a:r>
          </a:p>
          <a:p>
            <a:pPr algn="just" eaLnBrk="1" hangingPunct="1"/>
            <a:r>
              <a:rPr lang="id-ID" altLang="en-US" sz="2000" dirty="0"/>
              <a:t>Metode </a:t>
            </a:r>
            <a:r>
              <a:rPr lang="id-ID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openFileOutput</a:t>
            </a:r>
            <a:r>
              <a:rPr lang="id-ID" altLang="en-US" sz="2000" dirty="0"/>
              <a:t> digunakan untuk menulis di file tersebut</a:t>
            </a:r>
          </a:p>
          <a:p>
            <a:pPr eaLnBrk="1" hangingPunct="1">
              <a:buFontTx/>
              <a:buNone/>
            </a:pPr>
            <a:r>
              <a:rPr lang="id-ID" altLang="en-US" sz="2000" dirty="0"/>
              <a:t>		</a:t>
            </a:r>
            <a:r>
              <a:rPr lang="id-ID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FileOutputStream fOut = 	</a:t>
            </a:r>
            <a:endParaRPr lang="en-US" altLang="en-US" sz="18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id-ID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openFileOutput(“textfile.txt”, 	</a:t>
            </a:r>
            <a:endParaRPr lang="en-US" altLang="en-US" sz="18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id-ID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MODE_WORLD_READABLE);</a:t>
            </a:r>
          </a:p>
          <a:p>
            <a:pPr eaLnBrk="1" hangingPunct="1"/>
            <a:endParaRPr lang="id-ID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8CADBB0-BF37-C9AD-142E-4530584325AB}"/>
              </a:ext>
            </a:extLst>
          </p:cNvPr>
          <p:cNvSpPr txBox="1">
            <a:spLocks/>
          </p:cNvSpPr>
          <p:nvPr/>
        </p:nvSpPr>
        <p:spPr>
          <a:xfrm>
            <a:off x="839416" y="1591968"/>
            <a:ext cx="8676456" cy="333103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br>
              <a:rPr lang="id-ID" sz="2400" dirty="0"/>
            </a:br>
            <a:endParaRPr lang="id-ID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025FE-F5E9-2415-CFF6-9061C2212A67}"/>
              </a:ext>
            </a:extLst>
          </p:cNvPr>
          <p:cNvSpPr txBox="1">
            <a:spLocks/>
          </p:cNvSpPr>
          <p:nvPr/>
        </p:nvSpPr>
        <p:spPr>
          <a:xfrm>
            <a:off x="1988502" y="2187665"/>
            <a:ext cx="8483557" cy="2482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30ACEC">
                  <a:lumMod val="75000"/>
                </a:srgbClr>
              </a:buClr>
            </a:pPr>
            <a:endParaRPr lang="id-ID" sz="20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BE48A2A-DEE4-D6B5-2CB9-9125F85A16EB}"/>
              </a:ext>
            </a:extLst>
          </p:cNvPr>
          <p:cNvSpPr txBox="1">
            <a:spLocks/>
          </p:cNvSpPr>
          <p:nvPr/>
        </p:nvSpPr>
        <p:spPr>
          <a:xfrm>
            <a:off x="1868015" y="1494666"/>
            <a:ext cx="8483557" cy="10699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30ACEC">
                  <a:lumMod val="75000"/>
                </a:srgbClr>
              </a:buClr>
              <a:buNone/>
            </a:pPr>
            <a:endParaRPr lang="en-US" sz="18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Clr>
                <a:srgbClr val="30ACEC">
                  <a:lumMod val="75000"/>
                </a:srgbClr>
              </a:buClr>
              <a:buNone/>
            </a:pPr>
            <a:r>
              <a:rPr lang="en-US" sz="18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>
              <a:buClr>
                <a:srgbClr val="30ACEC">
                  <a:lumMod val="75000"/>
                </a:srgbClr>
              </a:buClr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File (Internal Storage dan External Storage)</a:t>
            </a:r>
            <a:endParaRPr lang="en-ID" sz="18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Clr>
                <a:srgbClr val="30ACEC">
                  <a:lumMod val="75000"/>
                </a:srgbClr>
              </a:buClr>
              <a:buNone/>
            </a:pPr>
            <a:endParaRPr lang="en-ID" sz="18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rgbClr val="30ACEC">
                  <a:lumMod val="75000"/>
                </a:srgbClr>
              </a:buClr>
              <a:buFont typeface="Wingdings" panose="05000000000000000000" pitchFamily="2" charset="2"/>
              <a:buChar char="§"/>
            </a:pPr>
            <a:endParaRPr lang="en-ID" sz="18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rgbClr val="30ACEC">
                  <a:lumMod val="75000"/>
                </a:srgbClr>
              </a:buClr>
              <a:buFont typeface="Wingdings" panose="05000000000000000000" pitchFamily="2" charset="2"/>
              <a:buChar char="§"/>
            </a:pPr>
            <a:endParaRPr lang="en-US" sz="18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47770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7940-55B1-68A0-0EA5-251F48DBC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B13903E3-3599-2477-8128-918C739BD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 err="1"/>
              <a:t>Penyimpanan</a:t>
            </a:r>
            <a:r>
              <a:rPr lang="en-US" sz="3200" dirty="0"/>
              <a:t> Data di Android</a:t>
            </a:r>
            <a:endParaRPr lang="en-ID" sz="32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E1FDD84-E592-58A8-ABE7-5ACD88438350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1973899" y="2187666"/>
            <a:ext cx="8229600" cy="45259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1" hangingPunct="1"/>
            <a:r>
              <a:rPr lang="id-ID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Untuk merubah karakter menjadi byte digunakan instanisasi class OutputStreamWriter, </a:t>
            </a:r>
          </a:p>
          <a:p>
            <a:pPr eaLnBrk="1" hangingPunct="1">
              <a:buFontTx/>
              <a:buNone/>
            </a:pPr>
            <a:r>
              <a:rPr lang="id-ID" altLang="en-US" sz="1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OutputStreamWriter osw = new</a:t>
            </a:r>
          </a:p>
          <a:p>
            <a:pPr eaLnBrk="1" hangingPunct="1">
              <a:buFontTx/>
              <a:buNone/>
            </a:pPr>
            <a:r>
              <a:rPr lang="id-ID" altLang="en-US" sz="1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OutputStreamWriter(fOut);</a:t>
            </a:r>
            <a:endParaRPr lang="en-US" altLang="en-US" sz="18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id-ID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Methode write digunakan untuk menuliskan string di file. </a:t>
            </a:r>
          </a:p>
          <a:p>
            <a:pPr eaLnBrk="1" hangingPunct="1"/>
            <a:r>
              <a:rPr lang="id-ID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Untuk memastikan telah ditulis maka digunakan methode flush(). </a:t>
            </a:r>
          </a:p>
          <a:p>
            <a:pPr eaLnBrk="1" hangingPunct="1">
              <a:buFontTx/>
              <a:buNone/>
            </a:pPr>
            <a:r>
              <a:rPr lang="id-ID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id-ID" altLang="en-US" sz="1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osw.write(str);</a:t>
            </a:r>
          </a:p>
          <a:p>
            <a:pPr eaLnBrk="1" hangingPunct="1">
              <a:buFontTx/>
              <a:buNone/>
            </a:pPr>
            <a:r>
              <a:rPr lang="id-ID" altLang="en-US" sz="1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osw.flush();</a:t>
            </a:r>
          </a:p>
          <a:p>
            <a:pPr eaLnBrk="1" hangingPunct="1">
              <a:buFontTx/>
              <a:buNone/>
            </a:pPr>
            <a:r>
              <a:rPr lang="id-ID" altLang="en-US" sz="1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osw.close();</a:t>
            </a:r>
            <a:endParaRPr lang="en-US" altLang="en-US" sz="18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id-ID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Untuk membaca file gunakan class FileInputStream. </a:t>
            </a:r>
          </a:p>
          <a:p>
            <a:pPr eaLnBrk="1" hangingPunct="1">
              <a:buFontTx/>
              <a:buNone/>
            </a:pPr>
            <a:r>
              <a:rPr lang="en-US" altLang="en-US" sz="1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id-ID" altLang="en-US" sz="1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FileInputStream fIn =</a:t>
            </a:r>
          </a:p>
          <a:p>
            <a:pPr eaLnBrk="1" hangingPunct="1">
              <a:buFontTx/>
              <a:buNone/>
            </a:pPr>
            <a:r>
              <a:rPr lang="en-US" altLang="en-US" sz="1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id-ID" altLang="en-US" sz="1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openFileInput(“textfile.txt”);</a:t>
            </a:r>
          </a:p>
          <a:p>
            <a:pPr eaLnBrk="1" hangingPunct="1">
              <a:buFontTx/>
              <a:buNone/>
            </a:pPr>
            <a:r>
              <a:rPr lang="en-US" altLang="en-US" sz="1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id-ID" altLang="en-US" sz="1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InputStreamReader isr = new</a:t>
            </a:r>
          </a:p>
          <a:p>
            <a:pPr eaLnBrk="1" hangingPunct="1">
              <a:buFontTx/>
              <a:buNone/>
            </a:pPr>
            <a:r>
              <a:rPr lang="en-US" altLang="en-US" sz="1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id-ID" altLang="en-US" sz="1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InputStreamReader(fIn);</a:t>
            </a:r>
          </a:p>
          <a:p>
            <a:pPr eaLnBrk="1" hangingPunct="1">
              <a:buFontTx/>
              <a:buNone/>
            </a:pPr>
            <a:endParaRPr lang="id-ID" altLang="en-US" sz="18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endParaRPr lang="id-ID" altLang="en-US" sz="18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8CADBB0-BF37-C9AD-142E-4530584325AB}"/>
              </a:ext>
            </a:extLst>
          </p:cNvPr>
          <p:cNvSpPr txBox="1">
            <a:spLocks/>
          </p:cNvSpPr>
          <p:nvPr/>
        </p:nvSpPr>
        <p:spPr>
          <a:xfrm>
            <a:off x="839416" y="1591968"/>
            <a:ext cx="8676456" cy="333103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br>
              <a:rPr lang="id-ID" sz="2400" dirty="0"/>
            </a:br>
            <a:endParaRPr lang="id-ID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025FE-F5E9-2415-CFF6-9061C2212A67}"/>
              </a:ext>
            </a:extLst>
          </p:cNvPr>
          <p:cNvSpPr txBox="1">
            <a:spLocks/>
          </p:cNvSpPr>
          <p:nvPr/>
        </p:nvSpPr>
        <p:spPr>
          <a:xfrm>
            <a:off x="1988502" y="2187665"/>
            <a:ext cx="8483557" cy="2482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30ACEC">
                  <a:lumMod val="75000"/>
                </a:srgbClr>
              </a:buClr>
            </a:pPr>
            <a:endParaRPr lang="id-ID" sz="20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BE48A2A-DEE4-D6B5-2CB9-9125F85A16EB}"/>
              </a:ext>
            </a:extLst>
          </p:cNvPr>
          <p:cNvSpPr txBox="1">
            <a:spLocks/>
          </p:cNvSpPr>
          <p:nvPr/>
        </p:nvSpPr>
        <p:spPr>
          <a:xfrm>
            <a:off x="1868015" y="1494666"/>
            <a:ext cx="8483557" cy="10699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30ACEC">
                  <a:lumMod val="75000"/>
                </a:srgbClr>
              </a:buClr>
              <a:buNone/>
            </a:pPr>
            <a:endParaRPr lang="en-US" sz="18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Clr>
                <a:srgbClr val="30ACEC">
                  <a:lumMod val="75000"/>
                </a:srgbClr>
              </a:buClr>
              <a:buNone/>
            </a:pPr>
            <a:r>
              <a:rPr lang="en-US" sz="18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>
              <a:buClr>
                <a:srgbClr val="30ACEC">
                  <a:lumMod val="75000"/>
                </a:srgbClr>
              </a:buClr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File (Internal Storage dan External Storage)</a:t>
            </a:r>
            <a:endParaRPr lang="en-ID" sz="18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Clr>
                <a:srgbClr val="30ACEC">
                  <a:lumMod val="75000"/>
                </a:srgbClr>
              </a:buClr>
              <a:buNone/>
            </a:pPr>
            <a:endParaRPr lang="en-ID" sz="18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rgbClr val="30ACEC">
                  <a:lumMod val="75000"/>
                </a:srgbClr>
              </a:buClr>
              <a:buFont typeface="Wingdings" panose="05000000000000000000" pitchFamily="2" charset="2"/>
              <a:buChar char="§"/>
            </a:pPr>
            <a:endParaRPr lang="en-ID" sz="18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rgbClr val="30ACEC">
                  <a:lumMod val="75000"/>
                </a:srgbClr>
              </a:buClr>
              <a:buFont typeface="Wingdings" panose="05000000000000000000" pitchFamily="2" charset="2"/>
              <a:buChar char="§"/>
            </a:pPr>
            <a:endParaRPr lang="en-US" sz="18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31665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7940-55B1-68A0-0EA5-251F48DBC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B13903E3-3599-2477-8128-918C739BD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 err="1"/>
              <a:t>Penyimpanan</a:t>
            </a:r>
            <a:r>
              <a:rPr lang="en-US" sz="3200" dirty="0"/>
              <a:t> Data di Android</a:t>
            </a:r>
            <a:endParaRPr lang="en-ID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025FE-F5E9-2415-CFF6-9061C2212A67}"/>
              </a:ext>
            </a:extLst>
          </p:cNvPr>
          <p:cNvSpPr txBox="1">
            <a:spLocks/>
          </p:cNvSpPr>
          <p:nvPr/>
        </p:nvSpPr>
        <p:spPr>
          <a:xfrm>
            <a:off x="1988502" y="2187665"/>
            <a:ext cx="8483557" cy="2482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30ACEC">
                  <a:lumMod val="75000"/>
                </a:srgbClr>
              </a:buClr>
            </a:pPr>
            <a:endParaRPr lang="id-ID" sz="20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58D78B-EB33-BA91-C2C1-7929A465051C}"/>
              </a:ext>
            </a:extLst>
          </p:cNvPr>
          <p:cNvSpPr txBox="1"/>
          <p:nvPr/>
        </p:nvSpPr>
        <p:spPr>
          <a:xfrm>
            <a:off x="1988501" y="1259468"/>
            <a:ext cx="3500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dirty="0">
                <a:solidFill>
                  <a:schemeClr val="tx2">
                    <a:lumMod val="75000"/>
                  </a:schemeClr>
                </a:solidFill>
              </a:rPr>
              <a:t>Penyimpanan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E611CA-E87B-424B-9509-9F3698948C79}"/>
              </a:ext>
            </a:extLst>
          </p:cNvPr>
          <p:cNvSpPr txBox="1"/>
          <p:nvPr/>
        </p:nvSpPr>
        <p:spPr>
          <a:xfrm>
            <a:off x="6600056" y="1259426"/>
            <a:ext cx="3500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dirty="0">
                <a:solidFill>
                  <a:schemeClr val="tx2">
                    <a:lumMod val="75000"/>
                  </a:schemeClr>
                </a:solidFill>
              </a:rPr>
              <a:t>Menampilkan data</a:t>
            </a:r>
          </a:p>
        </p:txBody>
      </p:sp>
      <p:pic>
        <p:nvPicPr>
          <p:cNvPr id="11" name="Picture 10" descr="pref1.png">
            <a:extLst>
              <a:ext uri="{FF2B5EF4-FFF2-40B4-BE49-F238E27FC236}">
                <a16:creationId xmlns:a16="http://schemas.microsoft.com/office/drawing/2014/main" id="{89F92947-414A-0841-44BA-A0FBAC6D25F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003533" y="1526060"/>
            <a:ext cx="3404685" cy="511145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11" descr="pref1.png">
            <a:extLst>
              <a:ext uri="{FF2B5EF4-FFF2-40B4-BE49-F238E27FC236}">
                <a16:creationId xmlns:a16="http://schemas.microsoft.com/office/drawing/2014/main" id="{4E1A7F51-37F7-6E90-F642-418FCA0F3FC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646554" y="1521885"/>
            <a:ext cx="3407466" cy="511563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9756048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7940-55B1-68A0-0EA5-251F48DBC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B13903E3-3599-2477-8128-918C739BD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 err="1"/>
              <a:t>Penyimpanan</a:t>
            </a:r>
            <a:r>
              <a:rPr lang="en-US" sz="3200" dirty="0"/>
              <a:t> Data di Android</a:t>
            </a:r>
            <a:endParaRPr lang="en-ID" sz="3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8CADBB0-BF37-C9AD-142E-4530584325AB}"/>
              </a:ext>
            </a:extLst>
          </p:cNvPr>
          <p:cNvSpPr txBox="1">
            <a:spLocks/>
          </p:cNvSpPr>
          <p:nvPr/>
        </p:nvSpPr>
        <p:spPr>
          <a:xfrm>
            <a:off x="1999860" y="1161563"/>
            <a:ext cx="8676456" cy="333103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br>
              <a:rPr lang="id-ID" sz="2400" dirty="0"/>
            </a:br>
            <a:endParaRPr lang="id-ID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025FE-F5E9-2415-CFF6-9061C2212A67}"/>
              </a:ext>
            </a:extLst>
          </p:cNvPr>
          <p:cNvSpPr txBox="1">
            <a:spLocks/>
          </p:cNvSpPr>
          <p:nvPr/>
        </p:nvSpPr>
        <p:spPr>
          <a:xfrm>
            <a:off x="1988502" y="2187665"/>
            <a:ext cx="8483557" cy="2482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30ACEC">
                  <a:lumMod val="75000"/>
                </a:srgbClr>
              </a:buClr>
            </a:pPr>
            <a:endParaRPr lang="id-ID" sz="20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BAD8B96-982B-E6B3-CCB8-0F4BEC8F3EB7}"/>
              </a:ext>
            </a:extLst>
          </p:cNvPr>
          <p:cNvSpPr txBox="1">
            <a:spLocks/>
          </p:cNvSpPr>
          <p:nvPr/>
        </p:nvSpPr>
        <p:spPr>
          <a:xfrm>
            <a:off x="7137022" y="3948009"/>
            <a:ext cx="3696124" cy="504046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d-ID" sz="2800" dirty="0"/>
              <a:t>Dimanakah fie disimpan?</a:t>
            </a:r>
          </a:p>
        </p:txBody>
      </p:sp>
      <p:pic>
        <p:nvPicPr>
          <p:cNvPr id="10" name="Picture 9" descr="pref1.png">
            <a:extLst>
              <a:ext uri="{FF2B5EF4-FFF2-40B4-BE49-F238E27FC236}">
                <a16:creationId xmlns:a16="http://schemas.microsoft.com/office/drawing/2014/main" id="{33C60068-D6CA-80B1-5E26-D5A3BCC8FE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7664" y="1690690"/>
            <a:ext cx="5251505" cy="48695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1" name="Picture 10" descr="pref1.png">
            <a:extLst>
              <a:ext uri="{FF2B5EF4-FFF2-40B4-BE49-F238E27FC236}">
                <a16:creationId xmlns:a16="http://schemas.microsoft.com/office/drawing/2014/main" id="{7DA2DB4C-8FB6-D849-7FFE-454568145F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8736" y="4452055"/>
            <a:ext cx="4035496" cy="212315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2" name="Right Arrow 5">
            <a:extLst>
              <a:ext uri="{FF2B5EF4-FFF2-40B4-BE49-F238E27FC236}">
                <a16:creationId xmlns:a16="http://schemas.microsoft.com/office/drawing/2014/main" id="{76C111BC-7CB4-CE5E-E5A3-3122CADE04F4}"/>
              </a:ext>
            </a:extLst>
          </p:cNvPr>
          <p:cNvSpPr/>
          <p:nvPr/>
        </p:nvSpPr>
        <p:spPr>
          <a:xfrm>
            <a:off x="5015880" y="5416146"/>
            <a:ext cx="1785950" cy="285752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2977644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7940-55B1-68A0-0EA5-251F48DBC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B13903E3-3599-2477-8128-918C739BD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 err="1"/>
              <a:t>Penyimpanan</a:t>
            </a:r>
            <a:r>
              <a:rPr lang="en-US" sz="3200" dirty="0"/>
              <a:t> Data di Android</a:t>
            </a:r>
            <a:endParaRPr lang="en-ID" sz="3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8CADBB0-BF37-C9AD-142E-4530584325AB}"/>
              </a:ext>
            </a:extLst>
          </p:cNvPr>
          <p:cNvSpPr txBox="1">
            <a:spLocks/>
          </p:cNvSpPr>
          <p:nvPr/>
        </p:nvSpPr>
        <p:spPr>
          <a:xfrm>
            <a:off x="2004931" y="1556793"/>
            <a:ext cx="8676456" cy="333103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br>
              <a:rPr lang="id-ID" sz="2400" dirty="0"/>
            </a:br>
            <a:endParaRPr lang="id-ID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025FE-F5E9-2415-CFF6-9061C2212A67}"/>
              </a:ext>
            </a:extLst>
          </p:cNvPr>
          <p:cNvSpPr txBox="1">
            <a:spLocks/>
          </p:cNvSpPr>
          <p:nvPr/>
        </p:nvSpPr>
        <p:spPr>
          <a:xfrm>
            <a:off x="1988502" y="2187665"/>
            <a:ext cx="8483557" cy="2482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30ACEC">
                  <a:lumMod val="75000"/>
                </a:srgbClr>
              </a:buClr>
            </a:pPr>
            <a:endParaRPr lang="id-ID" sz="20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BE48A2A-DEE4-D6B5-2CB9-9125F85A16EB}"/>
              </a:ext>
            </a:extLst>
          </p:cNvPr>
          <p:cNvSpPr txBox="1">
            <a:spLocks/>
          </p:cNvSpPr>
          <p:nvPr/>
        </p:nvSpPr>
        <p:spPr>
          <a:xfrm>
            <a:off x="1868015" y="1494666"/>
            <a:ext cx="8483557" cy="10699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30ACEC">
                  <a:lumMod val="75000"/>
                </a:srgbClr>
              </a:buClr>
              <a:buNone/>
            </a:pPr>
            <a:endParaRPr lang="en-US" sz="18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Clr>
                <a:srgbClr val="30ACEC">
                  <a:lumMod val="75000"/>
                </a:srgbClr>
              </a:buClr>
              <a:buNone/>
            </a:pPr>
            <a:r>
              <a:rPr lang="en-US" sz="18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>
              <a:buClr>
                <a:srgbClr val="30ACEC">
                  <a:lumMod val="75000"/>
                </a:srgbClr>
              </a:buClr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Database</a:t>
            </a:r>
            <a:endParaRPr lang="en-ID" sz="18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Clr>
                <a:srgbClr val="30ACEC">
                  <a:lumMod val="75000"/>
                </a:srgbClr>
              </a:buClr>
              <a:buNone/>
            </a:pPr>
            <a:endParaRPr lang="en-ID" sz="18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rgbClr val="30ACEC">
                  <a:lumMod val="75000"/>
                </a:srgbClr>
              </a:buClr>
              <a:buFont typeface="Wingdings" panose="05000000000000000000" pitchFamily="2" charset="2"/>
              <a:buChar char="§"/>
            </a:pPr>
            <a:endParaRPr lang="en-ID" sz="18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rgbClr val="30ACEC">
                  <a:lumMod val="75000"/>
                </a:srgbClr>
              </a:buClr>
              <a:buFont typeface="Wingdings" panose="05000000000000000000" pitchFamily="2" charset="2"/>
              <a:buChar char="§"/>
            </a:pPr>
            <a:endParaRPr lang="en-US" sz="18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6444C1A-07BD-1F83-C4EA-17995EE417BD}"/>
              </a:ext>
            </a:extLst>
          </p:cNvPr>
          <p:cNvSpPr txBox="1">
            <a:spLocks/>
          </p:cNvSpPr>
          <p:nvPr/>
        </p:nvSpPr>
        <p:spPr>
          <a:xfrm>
            <a:off x="1976128" y="1952022"/>
            <a:ext cx="8584368" cy="4786346"/>
          </a:xfrm>
          <a:prstGeom prst="rect">
            <a:avLst/>
          </a:prstGeom>
        </p:spPr>
        <p:txBody>
          <a:bodyPr vert="horz" tIns="91440" bIns="91440" rtlCol="0" anchor="t">
            <a:normAutofit/>
          </a:bodyPr>
          <a:lstStyle/>
          <a:p>
            <a:pPr algn="just"/>
            <a:endParaRPr lang="id-ID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id-ID" sz="2000" dirty="0">
                <a:latin typeface="Arial" panose="020B0604020202020204" pitchFamily="34" charset="0"/>
                <a:cs typeface="Arial" panose="020B0604020202020204" pitchFamily="34" charset="0"/>
              </a:rPr>
              <a:t>SQLite </a:t>
            </a:r>
            <a:r>
              <a:rPr lang="id-ID" sz="2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open source database yang di “tanamkan” ke android. </a:t>
            </a:r>
          </a:p>
          <a:p>
            <a:pPr algn="just"/>
            <a:r>
              <a:rPr lang="id-ID" sz="2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SQLite mendukung standar relasional database seperti sintaks SQL, transaksi.</a:t>
            </a:r>
          </a:p>
          <a:p>
            <a:pPr algn="just"/>
            <a:endParaRPr lang="id-ID" sz="2000" dirty="0"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  <a:p>
            <a:pPr algn="just"/>
            <a:r>
              <a:rPr lang="id-ID" sz="2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Dengan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SQL</a:t>
            </a:r>
            <a:r>
              <a:rPr lang="id-ID" sz="2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ite android tidak memerlukan database lainnya untuk penyimpanan data terstruktur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23389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7940-55B1-68A0-0EA5-251F48DBC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B13903E3-3599-2477-8128-918C739BD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 err="1"/>
              <a:t>Penyimpanan</a:t>
            </a:r>
            <a:r>
              <a:rPr lang="en-US" sz="3200" dirty="0"/>
              <a:t> Data di Android</a:t>
            </a:r>
            <a:endParaRPr lang="en-ID" sz="3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8CADBB0-BF37-C9AD-142E-4530584325AB}"/>
              </a:ext>
            </a:extLst>
          </p:cNvPr>
          <p:cNvSpPr txBox="1">
            <a:spLocks/>
          </p:cNvSpPr>
          <p:nvPr/>
        </p:nvSpPr>
        <p:spPr>
          <a:xfrm>
            <a:off x="1999860" y="1161563"/>
            <a:ext cx="8676456" cy="333103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br>
              <a:rPr lang="id-ID" sz="2400" dirty="0"/>
            </a:br>
            <a:endParaRPr lang="id-ID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025FE-F5E9-2415-CFF6-9061C2212A67}"/>
              </a:ext>
            </a:extLst>
          </p:cNvPr>
          <p:cNvSpPr txBox="1">
            <a:spLocks/>
          </p:cNvSpPr>
          <p:nvPr/>
        </p:nvSpPr>
        <p:spPr>
          <a:xfrm>
            <a:off x="1988502" y="2187665"/>
            <a:ext cx="8483557" cy="2482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30ACEC">
                  <a:lumMod val="75000"/>
                </a:srgbClr>
              </a:buClr>
            </a:pPr>
            <a:endParaRPr lang="id-ID" sz="20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BAD8B96-982B-E6B3-CCB8-0F4BEC8F3EB7}"/>
              </a:ext>
            </a:extLst>
          </p:cNvPr>
          <p:cNvSpPr txBox="1">
            <a:spLocks/>
          </p:cNvSpPr>
          <p:nvPr/>
        </p:nvSpPr>
        <p:spPr>
          <a:xfrm>
            <a:off x="1988501" y="1580944"/>
            <a:ext cx="4305304" cy="70007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d-ID" sz="2000" dirty="0" err="1">
                <a:latin typeface="Arial" panose="020B0604020202020204" pitchFamily="34" charset="0"/>
                <a:cs typeface="Arial" panose="020B0604020202020204" pitchFamily="34" charset="0"/>
              </a:rPr>
              <a:t>Dimanakah</a:t>
            </a:r>
            <a:r>
              <a:rPr lang="id-ID" sz="2000" dirty="0">
                <a:latin typeface="Arial" panose="020B0604020202020204" pitchFamily="34" charset="0"/>
                <a:cs typeface="Arial" panose="020B0604020202020204" pitchFamily="34" charset="0"/>
              </a:rPr>
              <a:t> fie disimpan?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B2D17EC3-D15C-C7F4-F828-9694515022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06562" y="2713918"/>
            <a:ext cx="7974486" cy="3617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0DF8691-7DCB-C171-470D-39C1CFD6E2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9860" y="1956048"/>
            <a:ext cx="8668140" cy="96889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Di android database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disimpan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di </a:t>
            </a:r>
            <a:r>
              <a:rPr lang="en-US" altLang="en-US" sz="2000" b="1" dirty="0">
                <a:solidFill>
                  <a:srgbClr val="C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/data/data/</a:t>
            </a:r>
            <a:r>
              <a:rPr lang="en-US" altLang="en-US" sz="2000" b="1" i="1" dirty="0" err="1">
                <a:solidFill>
                  <a:srgbClr val="C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nama_package</a:t>
            </a:r>
            <a:r>
              <a:rPr lang="en-US" altLang="en-US" sz="2000" b="1" dirty="0">
                <a:solidFill>
                  <a:srgbClr val="C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/databases</a:t>
            </a:r>
          </a:p>
          <a:p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4235925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7940-55B1-68A0-0EA5-251F48DBC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B13903E3-3599-2477-8128-918C739BD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 err="1"/>
              <a:t>Penyimpanan</a:t>
            </a:r>
            <a:r>
              <a:rPr lang="en-US" sz="3200" dirty="0"/>
              <a:t> Data di Android</a:t>
            </a:r>
            <a:endParaRPr lang="en-ID" sz="3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8CADBB0-BF37-C9AD-142E-4530584325AB}"/>
              </a:ext>
            </a:extLst>
          </p:cNvPr>
          <p:cNvSpPr txBox="1">
            <a:spLocks/>
          </p:cNvSpPr>
          <p:nvPr/>
        </p:nvSpPr>
        <p:spPr>
          <a:xfrm>
            <a:off x="1999860" y="1161563"/>
            <a:ext cx="8676456" cy="333103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br>
              <a:rPr lang="id-ID" sz="2400" dirty="0"/>
            </a:br>
            <a:endParaRPr lang="id-ID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025FE-F5E9-2415-CFF6-9061C2212A67}"/>
              </a:ext>
            </a:extLst>
          </p:cNvPr>
          <p:cNvSpPr txBox="1">
            <a:spLocks/>
          </p:cNvSpPr>
          <p:nvPr/>
        </p:nvSpPr>
        <p:spPr>
          <a:xfrm>
            <a:off x="1988502" y="2187665"/>
            <a:ext cx="8483557" cy="2482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30ACEC">
                  <a:lumMod val="75000"/>
                </a:srgbClr>
              </a:buClr>
            </a:pPr>
            <a:endParaRPr lang="id-ID" sz="20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F146C1-E34C-CD5A-BDA2-0DE28F7857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51584" y="1340768"/>
            <a:ext cx="3227541" cy="4908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2EE01E15-2640-1351-9266-945C35BD6D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0718" y="1185091"/>
            <a:ext cx="453134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Class </a:t>
            </a:r>
            <a:r>
              <a:rPr lang="en-US" altLang="en-US" sz="1800" b="1" dirty="0">
                <a:solidFill>
                  <a:srgbClr val="C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toast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akan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menampilkan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isi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database</a:t>
            </a:r>
          </a:p>
        </p:txBody>
      </p:sp>
    </p:spTree>
    <p:extLst>
      <p:ext uri="{BB962C8B-B14F-4D97-AF65-F5344CB8AC3E}">
        <p14:creationId xmlns:p14="http://schemas.microsoft.com/office/powerpoint/2010/main" val="3355634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FCB574-4F84-6139-CA0D-8EF94565E7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813844" y="1772816"/>
            <a:ext cx="6564313" cy="41056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F8791676-2319-6047-CD74-AC8635E33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548681"/>
            <a:ext cx="9144000" cy="1069975"/>
          </a:xfrm>
        </p:spPr>
        <p:txBody>
          <a:bodyPr/>
          <a:lstStyle/>
          <a:p>
            <a:pPr algn="ctr"/>
            <a:r>
              <a:rPr lang="id-ID" sz="4400" b="1" kern="0" dirty="0">
                <a:solidFill>
                  <a:srgbClr val="4985E8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Terima Kasih</a:t>
            </a:r>
            <a:endParaRPr lang="en-ID" sz="4400" b="1" kern="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ctr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9362426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4720</TotalTime>
  <Words>725</Words>
  <Application>Microsoft Macintosh PowerPoint</Application>
  <PresentationFormat>Widescreen</PresentationFormat>
  <Paragraphs>151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Courier New</vt:lpstr>
      <vt:lpstr>Wingdings</vt:lpstr>
      <vt:lpstr>Office Theme</vt:lpstr>
      <vt:lpstr>PowerPoint Presentation</vt:lpstr>
      <vt:lpstr>Penyimpanan Data di Android</vt:lpstr>
      <vt:lpstr>Penyimpanan Data di Android</vt:lpstr>
      <vt:lpstr>Penyimpanan Data di Android</vt:lpstr>
      <vt:lpstr>Penyimpanan Data di Android</vt:lpstr>
      <vt:lpstr>Penyimpanan Data di Android</vt:lpstr>
      <vt:lpstr>Penyimpanan Data di Android</vt:lpstr>
      <vt:lpstr>Penyimpanan Data di Android</vt:lpstr>
      <vt:lpstr>Penyimpanan Data di Android</vt:lpstr>
      <vt:lpstr>Penyimpanan Data di Android</vt:lpstr>
      <vt:lpstr>Penyimpanan Data di Android</vt:lpstr>
      <vt:lpstr>Penyimpanan Data di Android</vt:lpstr>
      <vt:lpstr>Penyimpanan Data di Android</vt:lpstr>
      <vt:lpstr>Penyimpanan Data di Android</vt:lpstr>
      <vt:lpstr>Penyimpanan Data di Android</vt:lpstr>
      <vt:lpstr>Penyimpanan Data di Android</vt:lpstr>
      <vt:lpstr>Terima Kasih 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Registered User</dc:creator>
  <cp:lastModifiedBy>Akhmad Syaifuddin, S.Si., M.Cs.</cp:lastModifiedBy>
  <cp:revision>117</cp:revision>
  <dcterms:created xsi:type="dcterms:W3CDTF">2014-04-01T16:35:38Z</dcterms:created>
  <dcterms:modified xsi:type="dcterms:W3CDTF">2025-05-02T02:14:09Z</dcterms:modified>
</cp:coreProperties>
</file>