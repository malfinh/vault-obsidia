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103" d="100"/>
          <a:sy n="103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2861-B2FF-B54F-B057-A76897744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82488-7CF1-D243-ADF7-A13189827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7B675-FDD8-8F26-46DF-DE9FA8EF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D1C1C-BD46-14B1-DB87-770FF6C8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BB5C0-FA40-EEB1-EAD8-2D95B75F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2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C4E3-EF41-E61B-9814-BAF51CFD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D2182-3D6A-EB81-E15D-8E399FD83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257B5-876E-0676-5E71-8FE4620E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149B-3061-A761-97B4-56825ECA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28A14-725F-7487-C826-E682029B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5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DC727-9459-7604-5483-E457681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F5316-7AB0-21CD-24F3-2EC225D0A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A07EF-9511-71E8-00A8-4ED37005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4186A-0D93-0E0A-9375-9B26F316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BEF3A-A74F-8C06-1BCA-2555F93F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6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B4E9-185A-05B6-B5BF-70854F71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93779-755F-269A-4FC4-FECF5501E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E0B11-0CCC-6C03-23B7-3D28625E2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BC095-4A90-53F8-7EB6-F8F4CB9F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7A186-3E69-7367-D881-8C74FE0E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FFC59-5C0C-05A0-69F8-ABAE4F09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1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77F6-E229-14BF-47E6-A61580F8B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7C33E-72DC-BAF4-6498-B012C4C76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3037C-F39D-D453-8DCE-887E89844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C8E92-6FCC-9A71-9B9A-384E84923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A0107-E01A-3000-360B-675F8B015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6A749-E7FD-4CA1-E734-7B4118F0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C164A-50DF-0D0B-8D15-C7CCEC565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A7ADD-1399-E070-10F4-24C54F4C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7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EC33-AE2B-5074-B0B1-CD4242C1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4AB9B-4465-3168-C55A-F59EFDC5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46F51-6EE4-F79C-9946-0E8DB557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A52B5-3C48-84D9-C9A3-34AA47DF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298EC-75D7-5F5C-7181-5A58DBAB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76D5A-CDEA-C033-9237-FF5F6F23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484E3-A5B1-2FC0-9563-1DC24F42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9079-5377-71AE-2312-95FAE462D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F3838-3C1A-FA90-360D-82577BB0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FBB3F-A69A-7DF9-B78F-79AD225FB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0DF9C-243B-0489-D546-6D83EA2B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29E7B-F791-3BE8-F8E9-27506C45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28124-AF3A-08B7-9913-490BF9C5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1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3F47-6A95-0F49-D5B8-1C0B5429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BD03F-4246-F2E7-36D6-ED6EC47BD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7BF0D-A0C4-AFE0-6155-6058CD95F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E4624-0604-8E83-099E-0341444D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19C42-99DC-215C-3859-E94370B7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84748-55D7-909F-ED47-BC18A8993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6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CDC9-B1A1-907C-48B2-46BAD8AB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BEF92-3562-8F71-7BBB-C1CC23F73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CEBDA-1032-E42C-3E7B-7E9B4F09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6962A-90CC-7FA5-0DD6-7B81B73E0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F99AE-B972-A8BE-4B37-688B5EC5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1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07967D-1894-04A9-743A-347E19297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26E71-5E43-B356-D0C3-A2789C737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6E77C-33B9-9643-18E8-B7E146EB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7822F-D33C-AAC9-514F-D0D95EEE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77286-0F08-5A0E-235D-27A7F619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3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011BF-DDD6-1A2E-28E8-2D13F75B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CFCD4-D979-E913-C89C-09930E034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FA9C2-CEB2-B599-EA21-AE3EE5531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72823-3E6E-4741-A0B0-1E270AF77838}" type="datetimeFigureOut">
              <a:rPr lang="en-US" smtClean="0"/>
              <a:t>4/4/24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A818E-2515-905D-1456-E59710DAF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A698D-2A7A-06F0-FCD9-AFD9C4B3A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9170B-EC73-944A-8EA7-4621E3F7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20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RelativeLayout.LayoutParams?hl=id" TargetMode="External"/><Relationship Id="rId2" Type="http://schemas.openxmlformats.org/officeDocument/2006/relationships/hyperlink" Target="https://developer.android.com/reference/android/widget/RelativeLayout?hl=id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TableRow.LayoutParams?hl=id" TargetMode="External"/><Relationship Id="rId2" Type="http://schemas.openxmlformats.org/officeDocument/2006/relationships/hyperlink" Target="https://developer.android.com/reference/android/widget/TableLayout?hl=id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x/recyclerview/widget/RecyclerView.html" TargetMode="External"/><Relationship Id="rId2" Type="http://schemas.openxmlformats.org/officeDocument/2006/relationships/hyperlink" Target="https://developer.android.com/reference/android/widget/HorizontalScrollVie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android.com/reference/android/widget/List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2C20-59A4-8B48-A9AC-2D30F7E689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Activity dan 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3FB85-C437-9B4E-2997-8176BA393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Winarno</a:t>
            </a:r>
            <a:r>
              <a:rPr lang="en-US" dirty="0"/>
              <a:t>, </a:t>
            </a:r>
            <a:r>
              <a:rPr lang="en-US" dirty="0" err="1"/>
              <a:t>S.Si</a:t>
            </a:r>
            <a:r>
              <a:rPr lang="en-US" dirty="0"/>
              <a:t>., </a:t>
            </a:r>
            <a:r>
              <a:rPr lang="en-US" dirty="0" err="1"/>
              <a:t>M.Eng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41E3-A51B-38D6-B552-64132DA0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D1AF-9755-7F96-72A6-7E29A5F4C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ctivity Lifecycle">
            <a:extLst>
              <a:ext uri="{FF2B5EF4-FFF2-40B4-BE49-F238E27FC236}">
                <a16:creationId xmlns:a16="http://schemas.microsoft.com/office/drawing/2014/main" id="{47F1B1B8-1F9B-AE46-B128-1E904D7FB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722" y="783958"/>
            <a:ext cx="4412078" cy="529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318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9283-530C-EBF3-3873-3A82BF9D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OnCreate</a:t>
            </a:r>
            <a:r>
              <a:rPr lang="en-ID" b="1" dirty="0"/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FEAF-1E42-0A0F-512C-200250F45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Developer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mengimplementasikan</a:t>
            </a:r>
            <a:r>
              <a:rPr lang="en-ID" dirty="0"/>
              <a:t> </a:t>
            </a:r>
            <a:r>
              <a:rPr lang="en-ID" i="1" dirty="0" err="1"/>
              <a:t>callback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dimana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dijalankan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kali </a:t>
            </a:r>
            <a:r>
              <a:rPr lang="en-ID" dirty="0" err="1"/>
              <a:t>membuat</a:t>
            </a:r>
            <a:r>
              <a:rPr lang="en-ID" dirty="0"/>
              <a:t> Activity. </a:t>
            </a:r>
          </a:p>
          <a:p>
            <a:r>
              <a:rPr lang="en-ID" dirty="0"/>
              <a:t>Pada proses </a:t>
            </a:r>
            <a:r>
              <a:rPr lang="en-ID" dirty="0" err="1"/>
              <a:t>membuat</a:t>
            </a:r>
            <a:r>
              <a:rPr lang="en-ID" dirty="0"/>
              <a:t> Activity, activity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memasuki</a:t>
            </a:r>
            <a:r>
              <a:rPr lang="en-ID" dirty="0"/>
              <a:t> pada </a:t>
            </a:r>
            <a:r>
              <a:rPr lang="en-ID" b="1" dirty="0"/>
              <a:t>Created State</a:t>
            </a:r>
            <a:r>
              <a:rPr lang="en-ID" dirty="0"/>
              <a:t>. </a:t>
            </a:r>
          </a:p>
          <a:p>
            <a:r>
              <a:rPr lang="en-ID" dirty="0" err="1"/>
              <a:t>Dalam</a:t>
            </a:r>
            <a:r>
              <a:rPr lang="en-ID" dirty="0"/>
              <a:t> method </a:t>
            </a:r>
            <a:r>
              <a:rPr lang="en-ID" b="1" dirty="0" err="1"/>
              <a:t>onCreate</a:t>
            </a:r>
            <a:r>
              <a:rPr lang="en-ID" b="1" dirty="0"/>
              <a:t>()</a:t>
            </a:r>
            <a:r>
              <a:rPr lang="en-ID" dirty="0"/>
              <a:t>, </a:t>
            </a:r>
            <a:r>
              <a:rPr lang="en-ID" dirty="0" err="1"/>
              <a:t>diisi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start-up logic yang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activity </a:t>
            </a:r>
            <a:r>
              <a:rPr lang="en-ID" dirty="0" err="1"/>
              <a:t>dijalankan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8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7D63-4F66-F0CB-F997-50709974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OnStart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029E-F3CF-B15F-6138-DF5444DA5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Ketika activity </a:t>
            </a:r>
            <a:r>
              <a:rPr lang="en-ID" dirty="0" err="1"/>
              <a:t>memasuki</a:t>
            </a:r>
            <a:r>
              <a:rPr lang="en-ID" dirty="0"/>
              <a:t> state Started,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onStart</a:t>
            </a:r>
            <a:r>
              <a:rPr lang="en-ID" dirty="0"/>
              <a:t>(). </a:t>
            </a:r>
          </a:p>
          <a:p>
            <a:r>
              <a:rPr lang="en-ID" dirty="0" err="1"/>
              <a:t>Panggilan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activity </a:t>
            </a:r>
            <a:r>
              <a:rPr lang="en-ID" dirty="0" err="1"/>
              <a:t>terlihat</a:t>
            </a:r>
            <a:r>
              <a:rPr lang="en-ID" dirty="0"/>
              <a:t> oleh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mempersiapkan</a:t>
            </a:r>
            <a:r>
              <a:rPr lang="en-ID" dirty="0"/>
              <a:t> activity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b="1" dirty="0"/>
              <a:t>foreground</a:t>
            </a:r>
            <a:r>
              <a:rPr lang="en-ID" dirty="0"/>
              <a:t> dan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interaktif</a:t>
            </a:r>
            <a:r>
              <a:rPr lang="en-ID" dirty="0"/>
              <a:t>.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,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mengelola</a:t>
            </a:r>
            <a:r>
              <a:rPr lang="en-ID" dirty="0"/>
              <a:t> UI </a:t>
            </a:r>
            <a:r>
              <a:rPr lang="en-ID" dirty="0" err="1"/>
              <a:t>diinisialisasi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88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1FC0-4E68-4420-04A7-DF94BA32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OnResume</a:t>
            </a:r>
            <a:r>
              <a:rPr lang="en-ID" b="1" dirty="0"/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7EE7-A8C4-3590-8CD3-1424E554D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Ketika activity </a:t>
            </a:r>
            <a:r>
              <a:rPr lang="en-ID" dirty="0" err="1"/>
              <a:t>memasuki</a:t>
            </a:r>
            <a:r>
              <a:rPr lang="en-ID" dirty="0"/>
              <a:t> state </a:t>
            </a:r>
            <a:r>
              <a:rPr lang="en-ID" dirty="0" err="1"/>
              <a:t>OnResume</a:t>
            </a:r>
            <a:r>
              <a:rPr lang="en-ID" dirty="0"/>
              <a:t>, activity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di </a:t>
            </a:r>
            <a:r>
              <a:rPr lang="en-ID" b="1" dirty="0"/>
              <a:t>foreground</a:t>
            </a:r>
            <a:r>
              <a:rPr lang="en-ID" dirty="0"/>
              <a:t>, dan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callback</a:t>
            </a:r>
            <a:r>
              <a:rPr lang="en-ID" dirty="0"/>
              <a:t> </a:t>
            </a:r>
            <a:r>
              <a:rPr lang="en-ID" dirty="0" err="1"/>
              <a:t>onResume</a:t>
            </a:r>
            <a:r>
              <a:rPr lang="en-ID" dirty="0"/>
              <a:t>().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keadaan</a:t>
            </a:r>
            <a:r>
              <a:rPr lang="en-ID" dirty="0"/>
              <a:t> di mana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berinteraksi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 </a:t>
            </a:r>
          </a:p>
          <a:p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status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yang </a:t>
            </a:r>
            <a:r>
              <a:rPr lang="en-ID" dirty="0" err="1"/>
              <a:t>mengalihkan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panggilan</a:t>
            </a:r>
            <a:r>
              <a:rPr lang="en-ID" dirty="0"/>
              <a:t> </a:t>
            </a:r>
            <a:r>
              <a:rPr lang="en-ID" dirty="0" err="1"/>
              <a:t>telepon</a:t>
            </a:r>
            <a:r>
              <a:rPr lang="en-ID" dirty="0"/>
              <a:t>,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menavigasi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activity lain,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layar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mati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9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36E2-6B43-6137-1325-FD5B11F5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onPause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6D07-E48C-A7A0-327B-54D1176AD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indikasi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meninggalkan</a:t>
            </a:r>
            <a:r>
              <a:rPr lang="en-ID" dirty="0"/>
              <a:t> activity,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activity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dihancurkan</a:t>
            </a:r>
            <a:r>
              <a:rPr lang="en-ID" dirty="0"/>
              <a:t>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menandakan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activity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</a:t>
            </a:r>
            <a:r>
              <a:rPr lang="en-ID" b="1" dirty="0"/>
              <a:t>foreground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multi-window mode. Ada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 </a:t>
            </a:r>
            <a:r>
              <a:rPr lang="en-ID" dirty="0" err="1"/>
              <a:t>mengapa</a:t>
            </a:r>
            <a:r>
              <a:rPr lang="en-ID" dirty="0"/>
              <a:t> activity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memasuki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Peristiwa</a:t>
            </a:r>
            <a:r>
              <a:rPr lang="en-ID" dirty="0"/>
              <a:t> yang </a:t>
            </a:r>
            <a:r>
              <a:rPr lang="en-ID" dirty="0" err="1"/>
              <a:t>mengganggu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yang </a:t>
            </a:r>
            <a:r>
              <a:rPr lang="en-ID" dirty="0" err="1"/>
              <a:t>dijelaskan</a:t>
            </a:r>
            <a:r>
              <a:rPr lang="en-ID" dirty="0"/>
              <a:t> di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pemanggilan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onResume</a:t>
            </a:r>
            <a:r>
              <a:rPr lang="en-ID" dirty="0"/>
              <a:t>(), yang </a:t>
            </a:r>
            <a:r>
              <a:rPr lang="en-ID" dirty="0" err="1"/>
              <a:t>menghentikan</a:t>
            </a:r>
            <a:r>
              <a:rPr lang="en-ID" dirty="0"/>
              <a:t> activity yang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yang paling </a:t>
            </a:r>
            <a:r>
              <a:rPr lang="en-ID" dirty="0" err="1"/>
              <a:t>umum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Dalam</a:t>
            </a:r>
            <a:r>
              <a:rPr lang="en-ID" dirty="0"/>
              <a:t> multi-window mode,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, dan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menjeda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Pembukaan</a:t>
            </a:r>
            <a:r>
              <a:rPr lang="en-ID" dirty="0"/>
              <a:t> semi-transparent activity yang </a:t>
            </a:r>
            <a:r>
              <a:rPr lang="en-ID" dirty="0" err="1"/>
              <a:t>baru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dialog,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menjeda</a:t>
            </a:r>
            <a:r>
              <a:rPr lang="en-ID" dirty="0"/>
              <a:t> activity yang </a:t>
            </a:r>
            <a:r>
              <a:rPr lang="en-ID" dirty="0" err="1"/>
              <a:t>ditutupinya</a:t>
            </a:r>
            <a:r>
              <a:rPr lang="en-ID" dirty="0"/>
              <a:t>. </a:t>
            </a:r>
            <a:r>
              <a:rPr lang="en-ID" dirty="0" err="1"/>
              <a:t>Selama</a:t>
            </a:r>
            <a:r>
              <a:rPr lang="en-ID" dirty="0"/>
              <a:t> activity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, activity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dijeda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4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16C8-4F23-073F-062B-D8844A62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onStop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3904-9C90-976F-5846-801C8180D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Ketika activity Anda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oleh </a:t>
            </a:r>
            <a:r>
              <a:rPr lang="en-ID" dirty="0" err="1"/>
              <a:t>pengguna</a:t>
            </a:r>
            <a:r>
              <a:rPr lang="en-ID" dirty="0"/>
              <a:t>, activity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Stopped state, dan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onStop</a:t>
            </a:r>
            <a:r>
              <a:rPr lang="en-ID" dirty="0"/>
              <a:t>(). </a:t>
            </a:r>
          </a:p>
          <a:p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activity yang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diluncurkan</a:t>
            </a:r>
            <a:r>
              <a:rPr lang="en-ID" dirty="0"/>
              <a:t> </a:t>
            </a:r>
            <a:r>
              <a:rPr lang="en-ID" dirty="0" err="1"/>
              <a:t>menutupi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layar</a:t>
            </a:r>
            <a:r>
              <a:rPr lang="en-ID" dirty="0"/>
              <a:t>. </a:t>
            </a:r>
          </a:p>
          <a:p>
            <a:r>
              <a:rPr lang="en-ID" dirty="0" err="1"/>
              <a:t>Sistem</a:t>
            </a:r>
            <a:r>
              <a:rPr lang="en-ID" dirty="0"/>
              <a:t> juga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onStop</a:t>
            </a:r>
            <a:r>
              <a:rPr lang="en-ID" dirty="0"/>
              <a:t>() </a:t>
            </a:r>
            <a:r>
              <a:rPr lang="en-ID" dirty="0" err="1"/>
              <a:t>ketika</a:t>
            </a:r>
            <a:r>
              <a:rPr lang="en-ID" dirty="0"/>
              <a:t> activity </a:t>
            </a:r>
            <a:r>
              <a:rPr lang="en-ID" dirty="0" err="1"/>
              <a:t>selesai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dan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dihentikan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11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1C56-87AD-CB3A-8445-87B3F8428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onDestroy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F93B1-90A7-7036-98A9-32F389747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D" dirty="0" err="1"/>
              <a:t>onDestroy</a:t>
            </a:r>
            <a:r>
              <a:rPr lang="en-ID" dirty="0"/>
              <a:t>() </a:t>
            </a:r>
            <a:r>
              <a:rPr lang="en-ID" dirty="0" err="1"/>
              <a:t>dipanggil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activity </a:t>
            </a:r>
            <a:r>
              <a:rPr lang="en-ID" dirty="0" err="1"/>
              <a:t>dihancurkan</a:t>
            </a:r>
            <a:r>
              <a:rPr lang="en-ID" dirty="0"/>
              <a:t>.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pemanggilan</a:t>
            </a:r>
            <a:r>
              <a:rPr lang="en-ID" dirty="0"/>
              <a:t> </a:t>
            </a:r>
            <a:r>
              <a:rPr lang="en-ID" dirty="0" err="1"/>
              <a:t>balik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dua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Activity </a:t>
            </a:r>
            <a:r>
              <a:rPr lang="en-ID" dirty="0" err="1"/>
              <a:t>selesai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menutup</a:t>
            </a:r>
            <a:r>
              <a:rPr lang="en-ID" dirty="0"/>
              <a:t> activity </a:t>
            </a:r>
            <a:r>
              <a:rPr lang="en-ID" dirty="0" err="1"/>
              <a:t>sepenuhnya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onFinish</a:t>
            </a:r>
            <a:r>
              <a:rPr lang="en-ID" dirty="0"/>
              <a:t>() </a:t>
            </a:r>
            <a:r>
              <a:rPr lang="en-ID" dirty="0" err="1"/>
              <a:t>dipanggil</a:t>
            </a:r>
            <a:r>
              <a:rPr lang="en-ID" dirty="0"/>
              <a:t> pada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menghancurkan</a:t>
            </a:r>
            <a:r>
              <a:rPr lang="en-ID" dirty="0"/>
              <a:t> activity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sementara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konfigurasi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rotasi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multi-window mode. Ketika activity </a:t>
            </a:r>
            <a:r>
              <a:rPr lang="en-ID" dirty="0" err="1"/>
              <a:t>berpindah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destroyed state,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menyadari</a:t>
            </a:r>
            <a:r>
              <a:rPr lang="en-ID" dirty="0"/>
              <a:t> lifecycle yang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lifecycle activity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peristiwa</a:t>
            </a:r>
            <a:r>
              <a:rPr lang="en-ID" dirty="0"/>
              <a:t> ON_DESTROY. Di </a:t>
            </a:r>
            <a:r>
              <a:rPr lang="en-ID" dirty="0" err="1"/>
              <a:t>sinilah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lifecycle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pun yang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activity </a:t>
            </a:r>
            <a:r>
              <a:rPr lang="en-ID" dirty="0" err="1"/>
              <a:t>dihancurkan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71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9B57-DF32-3A2D-709C-9970E113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Saving State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68ED1-DF01-99F2-99B9-7BD1C325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Saving State Activity">
            <a:extLst>
              <a:ext uri="{FF2B5EF4-FFF2-40B4-BE49-F238E27FC236}">
                <a16:creationId xmlns:a16="http://schemas.microsoft.com/office/drawing/2014/main" id="{6BBDA696-6B70-AEF5-169B-B0B4E0BBE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888" y="1731963"/>
            <a:ext cx="78359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945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7D53-21BB-E87C-F6D2-2343B1B7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05CA7-0202-EBD7-1E2B-4A89757A0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onSaveInstanceState</a:t>
            </a:r>
            <a:r>
              <a:rPr lang="en-ID" dirty="0"/>
              <a:t>()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method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siklus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(lifecycle) </a:t>
            </a:r>
            <a:r>
              <a:rPr lang="en-ID" dirty="0" err="1"/>
              <a:t>dari</a:t>
            </a:r>
            <a:r>
              <a:rPr lang="en-ID" dirty="0"/>
              <a:t> activity (Activity) pada platform Android. </a:t>
            </a:r>
          </a:p>
          <a:p>
            <a:r>
              <a:rPr lang="en-ID" dirty="0"/>
              <a:t>Method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menyimpan</a:t>
            </a:r>
            <a:r>
              <a:rPr lang="en-ID" b="1" dirty="0"/>
              <a:t> data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keadaan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activity </a:t>
            </a:r>
            <a:r>
              <a:rPr lang="en-ID" b="1" dirty="0" err="1"/>
              <a:t>ketika</a:t>
            </a:r>
            <a:r>
              <a:rPr lang="en-ID" b="1" dirty="0"/>
              <a:t> activity </a:t>
            </a:r>
            <a:r>
              <a:rPr lang="en-ID" b="1" dirty="0" err="1"/>
              <a:t>tersebut</a:t>
            </a:r>
            <a:r>
              <a:rPr lang="en-ID" b="1" dirty="0"/>
              <a:t> </a:t>
            </a:r>
            <a:r>
              <a:rPr lang="en-ID" b="1" dirty="0" err="1"/>
              <a:t>sedang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proses </a:t>
            </a:r>
            <a:r>
              <a:rPr lang="en-ID" b="1" dirty="0" err="1"/>
              <a:t>onDestroy</a:t>
            </a:r>
            <a:r>
              <a:rPr lang="en-ID" b="1" dirty="0"/>
              <a:t>()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ketika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r>
              <a:rPr lang="en-ID" b="1" dirty="0"/>
              <a:t> Android </a:t>
            </a:r>
            <a:r>
              <a:rPr lang="en-ID" b="1" dirty="0" err="1"/>
              <a:t>memutuskan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menghentikan</a:t>
            </a:r>
            <a:r>
              <a:rPr lang="en-ID" b="1" dirty="0"/>
              <a:t> activity </a:t>
            </a:r>
            <a:r>
              <a:rPr lang="en-ID" b="1" dirty="0" err="1"/>
              <a:t>tersebut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sementara</a:t>
            </a:r>
            <a:r>
              <a:rPr lang="en-ID" b="1" dirty="0"/>
              <a:t> </a:t>
            </a:r>
            <a:r>
              <a:rPr lang="en-ID" b="1" dirty="0" err="1"/>
              <a:t>waktu</a:t>
            </a:r>
            <a:r>
              <a:rPr lang="en-ID" b="1" dirty="0"/>
              <a:t> (</a:t>
            </a:r>
            <a:r>
              <a:rPr lang="en-ID" b="1" dirty="0" err="1"/>
              <a:t>misalnya</a:t>
            </a:r>
            <a:r>
              <a:rPr lang="en-ID" b="1" dirty="0"/>
              <a:t> </a:t>
            </a:r>
            <a:r>
              <a:rPr lang="en-ID" b="1" dirty="0" err="1"/>
              <a:t>saat</a:t>
            </a:r>
            <a:r>
              <a:rPr lang="en-ID" b="1" dirty="0"/>
              <a:t> </a:t>
            </a:r>
            <a:r>
              <a:rPr lang="en-ID" b="1" dirty="0" err="1"/>
              <a:t>rotasi</a:t>
            </a:r>
            <a:r>
              <a:rPr lang="en-ID" b="1" dirty="0"/>
              <a:t> </a:t>
            </a:r>
            <a:r>
              <a:rPr lang="en-ID" b="1" dirty="0" err="1"/>
              <a:t>layar</a:t>
            </a:r>
            <a:r>
              <a:rPr lang="en-ID" b="1" dirty="0"/>
              <a:t>)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24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0A4B-1A5E-A897-69AF-F4203F984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A9037-8461-EA59-817D-D9B95A9C0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6" name="Picture 4" descr="component_viewgroup">
            <a:extLst>
              <a:ext uri="{FF2B5EF4-FFF2-40B4-BE49-F238E27FC236}">
                <a16:creationId xmlns:a16="http://schemas.microsoft.com/office/drawing/2014/main" id="{85BDFC0B-2298-C748-707D-E92C1D94F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86" y="1690688"/>
            <a:ext cx="12192000" cy="598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28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8554-8E3E-E6A7-5C79-E5EFBF10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CE8D7-ED11-2ABC-CD42-A1BAE533C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TextView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berguna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layar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Button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berinteraksi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ditekan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ImageView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daftar </a:t>
            </a:r>
            <a:r>
              <a:rPr lang="en-ID" dirty="0" err="1"/>
              <a:t>atau</a:t>
            </a:r>
            <a:r>
              <a:rPr lang="en-ID" dirty="0"/>
              <a:t>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GridView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grid.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RadioButton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pilihan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pilihan</a:t>
            </a:r>
            <a:r>
              <a:rPr lang="en-ID" dirty="0"/>
              <a:t> yang </a:t>
            </a:r>
            <a:r>
              <a:rPr lang="en-ID" dirty="0" err="1"/>
              <a:t>disediakan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Checkbox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pilihan</a:t>
            </a:r>
            <a:r>
              <a:rPr lang="en-ID" dirty="0"/>
              <a:t> yang </a:t>
            </a:r>
            <a:r>
              <a:rPr lang="en-ID" dirty="0" err="1"/>
              <a:t>tersedia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84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0BEA-F4A2-10E8-E974-2D3B8A7E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14B8-37CC-9849-301B-73DEBAA3D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Linier layout</a:t>
            </a:r>
          </a:p>
          <a:p>
            <a:r>
              <a:rPr lang="en-ID" b="1" dirty="0" err="1"/>
              <a:t>RelativeLayout</a:t>
            </a:r>
            <a:endParaRPr lang="en-ID" b="1" dirty="0"/>
          </a:p>
          <a:p>
            <a:r>
              <a:rPr lang="en-ID" b="1" dirty="0" err="1"/>
              <a:t>ConstraintLayout</a:t>
            </a:r>
            <a:endParaRPr lang="en-ID" b="1" dirty="0"/>
          </a:p>
          <a:p>
            <a:r>
              <a:rPr lang="en-ID" b="1" dirty="0" err="1"/>
              <a:t>FrameLayout</a:t>
            </a:r>
            <a:endParaRPr lang="en-ID" b="1" dirty="0"/>
          </a:p>
          <a:p>
            <a:r>
              <a:rPr lang="en-ID" b="1" dirty="0" err="1"/>
              <a:t>ScrollView</a:t>
            </a:r>
            <a:endParaRPr lang="en-ID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227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97D8-B283-99DE-9997-0E1701A7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Linier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BE437-8C98-8326-4FB0-6C638D460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LinearLayout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menempatkan</a:t>
            </a:r>
            <a:r>
              <a:rPr lang="en-ID" dirty="0"/>
              <a:t> </a:t>
            </a:r>
            <a:r>
              <a:rPr lang="en-ID" dirty="0" err="1"/>
              <a:t>komponen-komponen</a:t>
            </a:r>
            <a:r>
              <a:rPr lang="en-ID" dirty="0"/>
              <a:t> di </a:t>
            </a:r>
            <a:r>
              <a:rPr lang="en-ID" dirty="0" err="1"/>
              <a:t>dalamnya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horizontal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vertikal</a:t>
            </a:r>
            <a:r>
              <a:rPr lang="en-ID" dirty="0"/>
              <a:t>. </a:t>
            </a:r>
          </a:p>
          <a:p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menggunakannya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b="1" dirty="0" err="1"/>
              <a:t>android:orientation</a:t>
            </a:r>
            <a:r>
              <a:rPr lang="en-ID" b="1" dirty="0"/>
              <a:t>=" 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60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C9D7-6E62-5496-0F9D-0BB58CA3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52219-0185-A56A-5080-107AAA769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95104-546D-D769-030A-D949E04E0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029" y="0"/>
            <a:ext cx="7772400" cy="65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1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35C7-C51B-FE13-F9EA-8F2C5086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Linier Layout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7F7EC9-ED42-ED78-A240-AB802382A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746" y="1690688"/>
            <a:ext cx="5040428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B3D3C5-74A8-6F5C-6A48-3F55ADFE0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720" y="0"/>
            <a:ext cx="3532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82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7E4A-637F-AC8C-ACAD-BE02E257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BA92-CE90-F302-EBAB-5238C2154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RelativeLayout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masing-masing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ditentukan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fleksibel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lain, dan juga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mengacu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batas</a:t>
            </a:r>
            <a:r>
              <a:rPr lang="en-ID" dirty="0"/>
              <a:t> </a:t>
            </a:r>
            <a:r>
              <a:rPr lang="en-ID" dirty="0" err="1"/>
              <a:t>layar</a:t>
            </a:r>
            <a:r>
              <a:rPr lang="en-ID" dirty="0"/>
              <a:t>.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A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disebelah</a:t>
            </a:r>
            <a:r>
              <a:rPr lang="en-ID" dirty="0"/>
              <a:t> </a:t>
            </a:r>
            <a:r>
              <a:rPr lang="en-ID" dirty="0" err="1"/>
              <a:t>kanan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B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C </a:t>
            </a:r>
            <a:r>
              <a:rPr lang="en-ID" dirty="0" err="1"/>
              <a:t>berada</a:t>
            </a:r>
            <a:r>
              <a:rPr lang="en-ID" dirty="0"/>
              <a:t> di rata </a:t>
            </a:r>
            <a:r>
              <a:rPr lang="en-ID" dirty="0" err="1"/>
              <a:t>bawa</a:t>
            </a:r>
            <a:r>
              <a:rPr lang="en-ID" dirty="0"/>
              <a:t> </a:t>
            </a:r>
            <a:r>
              <a:rPr lang="en-ID" dirty="0" err="1"/>
              <a:t>tengah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i="1" dirty="0" err="1"/>
              <a:t>parent</a:t>
            </a:r>
            <a:r>
              <a:rPr lang="en-ID" dirty="0" err="1"/>
              <a:t>nya</a:t>
            </a:r>
            <a:endParaRPr lang="en-US" dirty="0"/>
          </a:p>
        </p:txBody>
      </p:sp>
      <p:pic>
        <p:nvPicPr>
          <p:cNvPr id="4098" name="Picture 2" descr="RelativeLayout">
            <a:extLst>
              <a:ext uri="{FF2B5EF4-FFF2-40B4-BE49-F238E27FC236}">
                <a16:creationId xmlns:a16="http://schemas.microsoft.com/office/drawing/2014/main" id="{58E71AA4-9244-9914-AA45-77F9971A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254" y="3885101"/>
            <a:ext cx="4031049" cy="297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541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A726-10D0-9D3D-8EDD-06BD44C08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4BD33-BF97-FAAC-12D9-1D526E078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>
                <a:hlinkClick r:id="rId2"/>
              </a:rPr>
              <a:t>RelativeLayout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turunan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posisinya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induk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sesama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turunan</a:t>
            </a:r>
            <a:r>
              <a:rPr lang="en-ID" dirty="0"/>
              <a:t> (</a:t>
            </a:r>
            <a:r>
              <a:rPr lang="en-ID" dirty="0" err="1"/>
              <a:t>ditentukan</a:t>
            </a:r>
            <a:r>
              <a:rPr lang="en-ID" dirty="0"/>
              <a:t> </a:t>
            </a:r>
            <a:r>
              <a:rPr lang="en-ID" dirty="0" err="1"/>
              <a:t>menurut</a:t>
            </a:r>
            <a:r>
              <a:rPr lang="en-ID" dirty="0"/>
              <a:t> ID). Jadi, Anda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menyejajarkan</a:t>
            </a:r>
            <a:r>
              <a:rPr lang="en-ID" dirty="0"/>
              <a:t> </a:t>
            </a:r>
            <a:r>
              <a:rPr lang="en-ID" dirty="0" err="1"/>
              <a:t>dua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batas</a:t>
            </a:r>
            <a:r>
              <a:rPr lang="en-ID" dirty="0"/>
              <a:t> </a:t>
            </a:r>
            <a:r>
              <a:rPr lang="en-ID" dirty="0" err="1"/>
              <a:t>kanan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memosisikannya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di </a:t>
            </a:r>
            <a:r>
              <a:rPr lang="en-ID" dirty="0" err="1"/>
              <a:t>bawah</a:t>
            </a:r>
            <a:r>
              <a:rPr lang="en-ID" dirty="0"/>
              <a:t> yang lain, di </a:t>
            </a:r>
            <a:r>
              <a:rPr lang="en-ID" dirty="0" err="1"/>
              <a:t>tengah-tengah</a:t>
            </a:r>
            <a:r>
              <a:rPr lang="en-ID" dirty="0"/>
              <a:t> </a:t>
            </a:r>
            <a:r>
              <a:rPr lang="en-ID" dirty="0" err="1"/>
              <a:t>layar</a:t>
            </a:r>
            <a:r>
              <a:rPr lang="en-ID" dirty="0"/>
              <a:t>, di </a:t>
            </a:r>
            <a:r>
              <a:rPr lang="en-ID" dirty="0" err="1"/>
              <a:t>tengah</a:t>
            </a:r>
            <a:r>
              <a:rPr lang="en-ID" dirty="0"/>
              <a:t> </a:t>
            </a:r>
            <a:r>
              <a:rPr lang="en-ID" dirty="0" err="1"/>
              <a:t>kiri</a:t>
            </a:r>
            <a:r>
              <a:rPr lang="en-ID" dirty="0"/>
              <a:t>, dan </a:t>
            </a:r>
            <a:r>
              <a:rPr lang="en-ID" dirty="0" err="1"/>
              <a:t>seterusnya</a:t>
            </a:r>
            <a:r>
              <a:rPr lang="en-ID" dirty="0"/>
              <a:t>. </a:t>
            </a:r>
            <a:r>
              <a:rPr lang="en-ID" dirty="0" err="1"/>
              <a:t>Secara</a:t>
            </a:r>
            <a:r>
              <a:rPr lang="en-ID" dirty="0"/>
              <a:t> default,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turunan</a:t>
            </a:r>
            <a:r>
              <a:rPr lang="en-ID" dirty="0"/>
              <a:t> </a:t>
            </a:r>
            <a:r>
              <a:rPr lang="en-ID" dirty="0" err="1"/>
              <a:t>digambar</a:t>
            </a:r>
            <a:r>
              <a:rPr lang="en-ID" dirty="0"/>
              <a:t> di </a:t>
            </a:r>
            <a:r>
              <a:rPr lang="en-ID" dirty="0" err="1"/>
              <a:t>kiri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tata </a:t>
            </a:r>
            <a:r>
              <a:rPr lang="en-ID" dirty="0" err="1"/>
              <a:t>letak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Anda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properti</a:t>
            </a:r>
            <a:r>
              <a:rPr lang="en-ID" dirty="0"/>
              <a:t> tata </a:t>
            </a:r>
            <a:r>
              <a:rPr lang="en-ID" dirty="0" err="1"/>
              <a:t>letak</a:t>
            </a:r>
            <a:r>
              <a:rPr lang="en-ID" dirty="0"/>
              <a:t> yang </a:t>
            </a:r>
            <a:r>
              <a:rPr lang="en-ID" dirty="0" err="1"/>
              <a:t>tersedia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>
                <a:hlinkClick r:id="rId3"/>
              </a:rPr>
              <a:t>RelativeLayout.LayoutParams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35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2D62-2186-047D-D1EF-84EA299D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BA6002-C888-EDB5-3706-5674434C9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661" y="1690688"/>
            <a:ext cx="4447122" cy="4351338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111B087F-BCE1-5FC4-5732-121E3F13F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339" y="1381126"/>
            <a:ext cx="2794000" cy="466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956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B9C5-512F-5592-7EDE-4359CC79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2FE0D-B12E-6660-C5A6-1B6E564E6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 dirty="0"/>
              <a:t>Layout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layout default yang </a:t>
            </a:r>
            <a:r>
              <a:rPr lang="en-ID" dirty="0" err="1"/>
              <a:t>direkomendasikan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XML.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yang </a:t>
            </a:r>
            <a:r>
              <a:rPr lang="en-ID" dirty="0" err="1"/>
              <a:t>kompleks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lapis </a:t>
            </a:r>
            <a:r>
              <a:rPr lang="en-ID" dirty="0" err="1"/>
              <a:t>hirerarki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, Anda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ConstraintLayout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ConstraintLayout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dan proses </a:t>
            </a:r>
            <a:r>
              <a:rPr lang="en-ID" i="1" dirty="0"/>
              <a:t>rendering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penggunakan</a:t>
            </a:r>
            <a:r>
              <a:rPr lang="en-ID" dirty="0"/>
              <a:t> </a:t>
            </a:r>
            <a:r>
              <a:rPr lang="en-ID" i="1" dirty="0"/>
              <a:t>nested layout</a:t>
            </a:r>
            <a:r>
              <a:rPr lang="en-ID" dirty="0"/>
              <a:t> (layout di </a:t>
            </a:r>
            <a:r>
              <a:rPr lang="en-ID" dirty="0" err="1"/>
              <a:t>dalam</a:t>
            </a:r>
            <a:r>
              <a:rPr lang="en-ID" dirty="0"/>
              <a:t> layout). </a:t>
            </a: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Anda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mendesain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i="1" dirty="0"/>
              <a:t>Relative Positioning:</a:t>
            </a:r>
            <a:r>
              <a:rPr lang="en-ID" dirty="0"/>
              <a:t> </a:t>
            </a:r>
            <a:r>
              <a:rPr lang="en-ID" dirty="0" err="1"/>
              <a:t>memosisikan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lain.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i="1" dirty="0" err="1"/>
              <a:t>Center</a:t>
            </a:r>
            <a:r>
              <a:rPr lang="en-ID" i="1" dirty="0"/>
              <a:t> Positioning &amp; Bias: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alignment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persentase</a:t>
            </a:r>
            <a:r>
              <a:rPr lang="en-ID" dirty="0"/>
              <a:t>, default-</a:t>
            </a:r>
            <a:r>
              <a:rPr lang="en-ID" dirty="0" err="1"/>
              <a:t>nya</a:t>
            </a:r>
            <a:r>
              <a:rPr lang="en-ID" dirty="0"/>
              <a:t> 50%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tengah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i="1" dirty="0"/>
              <a:t>Baseline </a:t>
            </a:r>
            <a:r>
              <a:rPr lang="en-ID" i="1" dirty="0" err="1"/>
              <a:t>alignement</a:t>
            </a:r>
            <a:r>
              <a:rPr lang="en-ID" i="1" dirty="0"/>
              <a:t>: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text pada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sejajar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pada </a:t>
            </a:r>
            <a:r>
              <a:rPr lang="en-ID" dirty="0" err="1"/>
              <a:t>komponen</a:t>
            </a:r>
            <a:r>
              <a:rPr lang="en-ID" dirty="0"/>
              <a:t> lain.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i="1" dirty="0"/>
              <a:t>Guideline: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garis </a:t>
            </a:r>
            <a:r>
              <a:rPr lang="en-ID" dirty="0" err="1"/>
              <a:t>pembantu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oleh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i="1" dirty="0"/>
              <a:t>Barrier: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Guideline,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posisinya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mengkuti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i="1" dirty="0"/>
              <a:t>Chain: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sekumpulan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linear.</a:t>
            </a:r>
          </a:p>
        </p:txBody>
      </p:sp>
    </p:spTree>
    <p:extLst>
      <p:ext uri="{BB962C8B-B14F-4D97-AF65-F5344CB8AC3E}">
        <p14:creationId xmlns:p14="http://schemas.microsoft.com/office/powerpoint/2010/main" val="2818643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475CF-6525-C77C-CFCE-09754A6D7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endParaRPr lang="en-US" sz="4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7FC6-F9B1-0525-70A1-A7F14AEE8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D" sz="1400"/>
              <a:t>Pada gambar 1, tata letak terlihat bagus di editor, tetapi tidak ada batasan vertikal di tampilan C. Saat tata letak ini digambar pada perangkat, tampilan C akan sejajar secara horizontal dengan tepi kiri dan kanan tampilan A, tetapi muncul di bagian atas layar karena tidak memiliki batasan vertikal.</a:t>
            </a:r>
          </a:p>
          <a:p>
            <a:r>
              <a:rPr lang="en-US" sz="1400"/>
              <a:t>Meskipun tidak adanya batasan tidak menyebabkan error kompilasi, Layout Editor akan menunjukkan tidak adanya batasan sebagai error di toolbar. Untuk melihat error dan peringatan lainnya, klik Show Alertss and Errors . Agar Anda tidak kehilangan batasan, Layout Editor akan otomatis menambahkan batasan untuk Anda dengan fitur Autoconnect and infer constraints.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4031E-5DDB-8803-9934-25CA04548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465830"/>
            <a:ext cx="5150277" cy="175109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66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BE51-2372-BCD7-F824-AE61E9AE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4372D-9C6C-EFC7-4210-D1DC1DB47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FrameLayout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kontainer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pondasi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fragment-fragment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activity. Layout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ada</a:t>
            </a:r>
            <a:r>
              <a:rPr lang="en-ID" dirty="0"/>
              <a:t> di </a:t>
            </a:r>
            <a:r>
              <a:rPr lang="en-ID" dirty="0" err="1"/>
              <a:t>dalamnya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menumpuk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menutupi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lain.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menggunakannya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dirty="0"/>
              <a:t>	</a:t>
            </a:r>
            <a:r>
              <a:rPr lang="en-ID" b="1" dirty="0" err="1"/>
              <a:t>android:layout_gravity</a:t>
            </a:r>
            <a:endParaRPr lang="en-US" b="1" dirty="0"/>
          </a:p>
        </p:txBody>
      </p:sp>
      <p:pic>
        <p:nvPicPr>
          <p:cNvPr id="7170" name="Picture 2" descr="FrameLayout">
            <a:extLst>
              <a:ext uri="{FF2B5EF4-FFF2-40B4-BE49-F238E27FC236}">
                <a16:creationId xmlns:a16="http://schemas.microsoft.com/office/drawing/2014/main" id="{97BEDF8F-D7B1-60CA-4981-7EBBED95A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038" y="3825875"/>
            <a:ext cx="5080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417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A0DE-8C34-EB24-5B3B-6925426F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3D0AB-5C5C-9623-368C-7201AF5F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TableLayout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b="1" dirty="0" err="1"/>
              <a:t>ViewGroup</a:t>
            </a:r>
            <a:r>
              <a:rPr lang="en-ID" dirty="0"/>
              <a:t> yang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b="1" dirty="0"/>
              <a:t>View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abris dan </a:t>
            </a:r>
            <a:r>
              <a:rPr lang="en-ID" dirty="0" err="1"/>
              <a:t>kolom</a:t>
            </a:r>
            <a:r>
              <a:rPr lang="en-ID" dirty="0"/>
              <a:t>. Akan </a:t>
            </a:r>
            <a:r>
              <a:rPr lang="en-ID" dirty="0" err="1"/>
              <a:t>tetapi</a:t>
            </a:r>
            <a:r>
              <a:rPr lang="en-ID" dirty="0"/>
              <a:t> layout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garis </a:t>
            </a:r>
            <a:r>
              <a:rPr lang="en-ID" dirty="0" err="1"/>
              <a:t>pembatas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baris,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i="1" dirty="0"/>
              <a:t>cell</a:t>
            </a:r>
            <a:r>
              <a:rPr lang="en-ID" dirty="0"/>
              <a:t>-</a:t>
            </a:r>
            <a:r>
              <a:rPr lang="en-ID" dirty="0" err="1"/>
              <a:t>nya</a:t>
            </a:r>
            <a:endParaRPr lang="en-US" dirty="0"/>
          </a:p>
        </p:txBody>
      </p:sp>
      <p:pic>
        <p:nvPicPr>
          <p:cNvPr id="8194" name="Picture 2" descr="TableLayout">
            <a:extLst>
              <a:ext uri="{FF2B5EF4-FFF2-40B4-BE49-F238E27FC236}">
                <a16:creationId xmlns:a16="http://schemas.microsoft.com/office/drawing/2014/main" id="{8A77CB04-58C9-ACFE-D11E-9A87932B4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43" y="3111500"/>
            <a:ext cx="5080000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64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480A-CA74-023C-F146-5160D7C3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6B8F6-7C80-4CDF-89D6-C0114D49A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>
                <a:hlinkClick r:id="rId2"/>
              </a:rPr>
              <a:t>TableLayout</a:t>
            </a:r>
            <a:r>
              <a:rPr lang="en-ID" dirty="0"/>
              <a:t> </a:t>
            </a:r>
            <a:r>
              <a:rPr lang="en-ID" dirty="0" err="1"/>
              <a:t>menempatkan</a:t>
            </a:r>
            <a:r>
              <a:rPr lang="en-ID" dirty="0"/>
              <a:t> </a:t>
            </a:r>
            <a:r>
              <a:rPr lang="en-ID" dirty="0" err="1"/>
              <a:t>turunannya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baris dan </a:t>
            </a:r>
            <a:r>
              <a:rPr lang="en-ID" dirty="0" err="1"/>
              <a:t>kolom</a:t>
            </a:r>
            <a:r>
              <a:rPr lang="en-ID" dirty="0"/>
              <a:t>. Container </a:t>
            </a:r>
            <a:r>
              <a:rPr lang="en-ID" dirty="0" err="1"/>
              <a:t>TableLayout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garis </a:t>
            </a:r>
            <a:r>
              <a:rPr lang="en-ID" dirty="0" err="1"/>
              <a:t>batas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baris, </a:t>
            </a:r>
            <a:r>
              <a:rPr lang="en-ID" dirty="0" err="1"/>
              <a:t>kolom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selnya</a:t>
            </a:r>
            <a:r>
              <a:rPr lang="en-ID" dirty="0"/>
              <a:t>.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sebanyak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baris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sel</a:t>
            </a:r>
            <a:r>
              <a:rPr lang="en-ID" dirty="0"/>
              <a:t> </a:t>
            </a:r>
            <a:r>
              <a:rPr lang="en-ID" dirty="0" err="1"/>
              <a:t>terbanyak</a:t>
            </a:r>
            <a:r>
              <a:rPr lang="en-ID" dirty="0"/>
              <a:t>.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membiarkan</a:t>
            </a:r>
            <a:r>
              <a:rPr lang="en-ID" dirty="0"/>
              <a:t> </a:t>
            </a:r>
            <a:r>
              <a:rPr lang="en-ID" dirty="0" err="1"/>
              <a:t>sel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. </a:t>
            </a:r>
            <a:r>
              <a:rPr lang="en-ID" dirty="0" err="1"/>
              <a:t>Sel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HTML. Anda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memperluas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span di class </a:t>
            </a:r>
            <a:r>
              <a:rPr lang="en-ID" dirty="0">
                <a:hlinkClick r:id="rId3"/>
              </a:rPr>
              <a:t>TableRow.LayoutParams</a:t>
            </a:r>
            <a:r>
              <a:rPr lang="en-ID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871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8F8A-B188-B1EB-6B4A-25E9FFC7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Table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960FE-1878-5E47-3211-379E72AA2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14E3A-6AF7-F792-C36D-20277B95C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07" y="1825625"/>
            <a:ext cx="6370922" cy="4491117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A03BE284-72CF-7C57-929B-E269E5BBF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486" y="2108200"/>
            <a:ext cx="44450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342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C7AC-4E62-261B-95E9-4607E6D5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Scroll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DEBF0-506E-33D2-4CD0-CF5B46500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dirty="0"/>
              <a:t>Layout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di </a:t>
            </a:r>
            <a:r>
              <a:rPr lang="en-ID" dirty="0" err="1"/>
              <a:t>dalamnya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digulir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digeser</a:t>
            </a:r>
            <a:r>
              <a:rPr lang="en-ID" dirty="0"/>
              <a:t>(</a:t>
            </a:r>
            <a:r>
              <a:rPr lang="en-ID" i="1" dirty="0"/>
              <a:t>scroll</a:t>
            </a:r>
            <a:r>
              <a:rPr lang="en-ID" dirty="0"/>
              <a:t>)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vertikal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horizontal.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ScrollView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diperbolehkan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i="1" dirty="0"/>
              <a:t>parent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yang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; </a:t>
            </a:r>
            <a:r>
              <a:rPr lang="en-ID" dirty="0" err="1"/>
              <a:t>LinearLayout</a:t>
            </a:r>
            <a:r>
              <a:rPr lang="en-ID" dirty="0"/>
              <a:t>, </a:t>
            </a:r>
            <a:r>
              <a:rPr lang="en-ID" dirty="0" err="1"/>
              <a:t>RelativeLayout</a:t>
            </a:r>
            <a:r>
              <a:rPr lang="en-ID" dirty="0"/>
              <a:t>, </a:t>
            </a:r>
            <a:r>
              <a:rPr lang="en-ID" dirty="0" err="1"/>
              <a:t>FrameLayout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TableLayout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/>
              <a:t>Scroll View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pengguliran</a:t>
            </a:r>
            <a:r>
              <a:rPr lang="en-ID" dirty="0"/>
              <a:t> </a:t>
            </a:r>
            <a:r>
              <a:rPr lang="en-ID" dirty="0" err="1"/>
              <a:t>vertikal</a:t>
            </a:r>
            <a:r>
              <a:rPr lang="en-ID" dirty="0"/>
              <a:t>.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pengguliran</a:t>
            </a:r>
            <a:r>
              <a:rPr lang="en-ID" dirty="0"/>
              <a:t> horizontal,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>
                <a:hlinkClick r:id="rId2"/>
              </a:rPr>
              <a:t>HorizontalScrollView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gantinya</a:t>
            </a:r>
            <a:r>
              <a:rPr lang="en-ID" dirty="0"/>
              <a:t>.</a:t>
            </a:r>
            <a:br>
              <a:rPr lang="en-ID" dirty="0"/>
            </a:br>
            <a:endParaRPr lang="en-ID" dirty="0"/>
          </a:p>
          <a:p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pernah</a:t>
            </a:r>
            <a:r>
              <a:rPr lang="en-ID" dirty="0"/>
              <a:t> </a:t>
            </a:r>
            <a:r>
              <a:rPr lang="en-ID" dirty="0" err="1"/>
              <a:t>menambahkan</a:t>
            </a:r>
            <a:r>
              <a:rPr lang="en-ID" dirty="0"/>
              <a:t> </a:t>
            </a:r>
            <a:r>
              <a:rPr lang="en-ID" dirty="0">
                <a:hlinkClick r:id="rId3"/>
              </a:rPr>
              <a:t>RecyclerView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>
                <a:hlinkClick r:id="rId4"/>
              </a:rPr>
              <a:t>ListView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Scroll View.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kinerja</a:t>
            </a:r>
            <a:r>
              <a:rPr lang="en-ID" dirty="0"/>
              <a:t> UI </a:t>
            </a:r>
            <a:r>
              <a:rPr lang="en-ID" dirty="0" err="1"/>
              <a:t>pengguna</a:t>
            </a:r>
            <a:r>
              <a:rPr lang="en-ID" dirty="0"/>
              <a:t> yang </a:t>
            </a:r>
            <a:r>
              <a:rPr lang="en-ID" dirty="0" err="1"/>
              <a:t>buruk</a:t>
            </a:r>
            <a:r>
              <a:rPr lang="en-ID" dirty="0"/>
              <a:t> dan user experience yang </a:t>
            </a:r>
            <a:r>
              <a:rPr lang="en-ID" dirty="0" err="1"/>
              <a:t>buruk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226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1238</Words>
  <Application>Microsoft Macintosh PowerPoint</Application>
  <PresentationFormat>Widescreen</PresentationFormat>
  <Paragraphs>73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Activity dan View</vt:lpstr>
      <vt:lpstr>Activity</vt:lpstr>
      <vt:lpstr>OnCreate()</vt:lpstr>
      <vt:lpstr>OnStart()</vt:lpstr>
      <vt:lpstr>OnResume()</vt:lpstr>
      <vt:lpstr>onPause()</vt:lpstr>
      <vt:lpstr>onStop()</vt:lpstr>
      <vt:lpstr>onDestroy()</vt:lpstr>
      <vt:lpstr>Saving State Activity</vt:lpstr>
      <vt:lpstr>PowerPoint Presentation</vt:lpstr>
      <vt:lpstr>View</vt:lpstr>
      <vt:lpstr>View</vt:lpstr>
      <vt:lpstr>View Group</vt:lpstr>
      <vt:lpstr>Linier Layout</vt:lpstr>
      <vt:lpstr>PowerPoint Presentation</vt:lpstr>
      <vt:lpstr>Sample Linier Layout</vt:lpstr>
      <vt:lpstr>Relative Layout</vt:lpstr>
      <vt:lpstr>PowerPoint Presentation</vt:lpstr>
      <vt:lpstr>PowerPoint Presentation</vt:lpstr>
      <vt:lpstr>Constraint Layout</vt:lpstr>
      <vt:lpstr>PowerPoint Presentation</vt:lpstr>
      <vt:lpstr>Frame Layout</vt:lpstr>
      <vt:lpstr>Table Layout</vt:lpstr>
      <vt:lpstr>PowerPoint Presentation</vt:lpstr>
      <vt:lpstr>Sample Table Layout</vt:lpstr>
      <vt:lpstr>Scroll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dan View</dc:title>
  <dc:creator>winarno</dc:creator>
  <cp:lastModifiedBy>winarno</cp:lastModifiedBy>
  <cp:revision>3</cp:revision>
  <dcterms:created xsi:type="dcterms:W3CDTF">2024-04-04T04:41:12Z</dcterms:created>
  <dcterms:modified xsi:type="dcterms:W3CDTF">2024-04-04T06:38:05Z</dcterms:modified>
</cp:coreProperties>
</file>