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6" r:id="rId10"/>
    <p:sldId id="267" r:id="rId11"/>
    <p:sldId id="264" r:id="rId12"/>
    <p:sldId id="265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581024"/>
            <a:ext cx="2745104" cy="6304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39315"/>
            <a:ext cx="10656570" cy="3450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8988" y="2667000"/>
            <a:ext cx="2994024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400" b="0" spc="-25" dirty="0">
                <a:latin typeface="Calibri Light"/>
                <a:cs typeface="Calibri Light"/>
              </a:rPr>
              <a:t>PHP</a:t>
            </a:r>
            <a:r>
              <a:rPr lang="en-US" sz="6400" b="0" spc="-25" dirty="0">
                <a:latin typeface="Calibri Light"/>
                <a:cs typeface="Calibri Light"/>
              </a:rPr>
              <a:t> OOP</a:t>
            </a:r>
            <a:endParaRPr sz="6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69742" y="5867400"/>
            <a:ext cx="185610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 err="1">
                <a:solidFill>
                  <a:srgbClr val="000000"/>
                </a:solidFill>
              </a:rPr>
              <a:t>Afrizal</a:t>
            </a:r>
            <a:r>
              <a:rPr sz="2400" spc="-50" dirty="0">
                <a:solidFill>
                  <a:srgbClr val="000000"/>
                </a:solidFill>
              </a:rPr>
              <a:t> </a:t>
            </a:r>
            <a:r>
              <a:rPr sz="2400" spc="-10" dirty="0" err="1">
                <a:solidFill>
                  <a:srgbClr val="000000"/>
                </a:solidFill>
              </a:rPr>
              <a:t>Doewes</a:t>
            </a:r>
            <a:br>
              <a:rPr lang="en-US" sz="2400" spc="-10" dirty="0">
                <a:solidFill>
                  <a:srgbClr val="000000"/>
                </a:solidFill>
              </a:rPr>
            </a:br>
            <a:r>
              <a:rPr lang="en-US" sz="2400" spc="-10" dirty="0">
                <a:solidFill>
                  <a:srgbClr val="000000"/>
                </a:solidFill>
              </a:rPr>
              <a:t>Arif </a:t>
            </a:r>
            <a:r>
              <a:rPr lang="en-US" sz="2400" spc="-10" dirty="0" err="1">
                <a:solidFill>
                  <a:srgbClr val="000000"/>
                </a:solidFill>
              </a:rPr>
              <a:t>Rohmadi</a:t>
            </a:r>
            <a:endParaRPr sz="2400" dirty="0"/>
          </a:p>
        </p:txBody>
      </p:sp>
      <p:grpSp>
        <p:nvGrpSpPr>
          <p:cNvPr id="4" name="object 4"/>
          <p:cNvGrpSpPr/>
          <p:nvPr/>
        </p:nvGrpSpPr>
        <p:grpSpPr>
          <a:xfrm>
            <a:off x="11887200" y="0"/>
            <a:ext cx="304800" cy="6858000"/>
            <a:chOff x="11887200" y="0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11887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6857996"/>
                  </a:moveTo>
                  <a:lnTo>
                    <a:pt x="304800" y="0"/>
                  </a:lnTo>
                  <a:lnTo>
                    <a:pt x="0" y="0"/>
                  </a:lnTo>
                  <a:lnTo>
                    <a:pt x="0" y="6857996"/>
                  </a:lnTo>
                  <a:lnTo>
                    <a:pt x="304800" y="6857996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70079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20" h="6858000">
                  <a:moveTo>
                    <a:pt x="0" y="6857996"/>
                  </a:moveTo>
                  <a:lnTo>
                    <a:pt x="45720" y="6857996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0" y="68579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581024"/>
            <a:ext cx="3274061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75" dirty="0"/>
              <a:t>What</a:t>
            </a:r>
            <a:r>
              <a:rPr spc="50" dirty="0"/>
              <a:t> </a:t>
            </a:r>
            <a:r>
              <a:rPr spc="155" dirty="0"/>
              <a:t>is</a:t>
            </a:r>
            <a:r>
              <a:rPr spc="30" dirty="0"/>
              <a:t> </a:t>
            </a:r>
            <a:r>
              <a:rPr spc="155" dirty="0"/>
              <a:t>PHP</a:t>
            </a:r>
            <a:r>
              <a:rPr lang="en-US" spc="155" dirty="0"/>
              <a:t> OOP</a:t>
            </a:r>
            <a:r>
              <a:rPr spc="155" dirty="0"/>
              <a:t>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639315"/>
            <a:ext cx="10656570" cy="3284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2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US" spc="145" dirty="0"/>
              <a:t>OOP stands for Object-Oriented Programming.</a:t>
            </a:r>
          </a:p>
          <a:p>
            <a:pPr marL="241300" indent="-229235">
              <a:lnSpc>
                <a:spcPct val="2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US" b="1" dirty="0"/>
              <a:t>PHP OOP (Object-Oriented Programming)</a:t>
            </a:r>
            <a:r>
              <a:rPr lang="en-US" dirty="0"/>
              <a:t> is a programming paradigm in PHP that organizes code around </a:t>
            </a:r>
            <a:r>
              <a:rPr lang="en-US" i="1" dirty="0"/>
              <a:t>objects</a:t>
            </a:r>
            <a:r>
              <a:rPr lang="en-US" dirty="0"/>
              <a:t> rather than standalone functions and data. In PHP, an object is an instance of a </a:t>
            </a:r>
            <a:r>
              <a:rPr lang="en-US" i="1" dirty="0"/>
              <a:t>class</a:t>
            </a:r>
            <a:r>
              <a:rPr lang="en-US" dirty="0"/>
              <a:t>—a user-defined blueprint that bundles data (</a:t>
            </a:r>
            <a:r>
              <a:rPr lang="en-US" i="1" dirty="0"/>
              <a:t>properties</a:t>
            </a:r>
            <a:r>
              <a:rPr lang="en-US" dirty="0"/>
              <a:t>) with behavior (</a:t>
            </a:r>
            <a:r>
              <a:rPr lang="en-US" i="1" dirty="0"/>
              <a:t>methods</a:t>
            </a:r>
            <a:r>
              <a:rPr lang="en-US" dirty="0"/>
              <a:t>)</a:t>
            </a:r>
          </a:p>
          <a:p>
            <a:pPr marL="241300" indent="-229235">
              <a:lnSpc>
                <a:spcPct val="2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lang="en-US" spc="145" dirty="0"/>
              <a:t>OOP helps you write modular, reusable, and easier-to-maintain code by modeling real-world entities and their relationships.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65" dirty="0"/>
              <a:t>Why</a:t>
            </a:r>
            <a:r>
              <a:rPr spc="45" dirty="0"/>
              <a:t> </a:t>
            </a:r>
            <a:r>
              <a:rPr spc="155" dirty="0"/>
              <a:t>PHP</a:t>
            </a:r>
            <a:r>
              <a:rPr lang="en-US" spc="155" dirty="0"/>
              <a:t> - OOP</a:t>
            </a:r>
            <a:r>
              <a:rPr spc="15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906904"/>
            <a:ext cx="10366375" cy="33105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200000"/>
              </a:lnSpc>
              <a:spcBef>
                <a:spcPts val="100"/>
              </a:spcBef>
              <a:tabLst>
                <a:tab pos="241300" algn="l"/>
                <a:tab pos="241935" algn="l"/>
              </a:tabLst>
            </a:pPr>
            <a:r>
              <a:rPr lang="en-US" sz="1800" dirty="0">
                <a:latin typeface="Calibri"/>
                <a:cs typeface="Calibri"/>
              </a:rPr>
              <a:t>Object-oriented programming has several advantages over procedural programming:</a:t>
            </a:r>
          </a:p>
          <a:p>
            <a:pPr marL="12065">
              <a:lnSpc>
                <a:spcPct val="200000"/>
              </a:lnSpc>
              <a:spcBef>
                <a:spcPts val="100"/>
              </a:spcBef>
              <a:tabLst>
                <a:tab pos="241300" algn="l"/>
                <a:tab pos="241935" algn="l"/>
              </a:tabLst>
            </a:pPr>
            <a:r>
              <a:rPr lang="en-US" dirty="0">
                <a:latin typeface="Calibri"/>
                <a:cs typeface="Calibri"/>
              </a:rPr>
              <a:t>- OOP is faster and easier to execute</a:t>
            </a:r>
          </a:p>
          <a:p>
            <a:pPr marL="12065">
              <a:lnSpc>
                <a:spcPct val="200000"/>
              </a:lnSpc>
              <a:spcBef>
                <a:spcPts val="100"/>
              </a:spcBef>
              <a:tabLst>
                <a:tab pos="241300" algn="l"/>
                <a:tab pos="241935" algn="l"/>
              </a:tabLst>
            </a:pPr>
            <a:r>
              <a:rPr lang="en-US" dirty="0">
                <a:latin typeface="Calibri"/>
                <a:cs typeface="Calibri"/>
              </a:rPr>
              <a:t>- OOP provides a clear structure for the programs</a:t>
            </a:r>
          </a:p>
          <a:p>
            <a:pPr marL="12065">
              <a:lnSpc>
                <a:spcPct val="200000"/>
              </a:lnSpc>
              <a:spcBef>
                <a:spcPts val="100"/>
              </a:spcBef>
              <a:tabLst>
                <a:tab pos="241300" algn="l"/>
                <a:tab pos="241935" algn="l"/>
              </a:tabLst>
            </a:pPr>
            <a:r>
              <a:rPr lang="en-US" dirty="0">
                <a:latin typeface="Calibri"/>
                <a:cs typeface="Calibri"/>
              </a:rPr>
              <a:t>- OOP helps to keep the PHP code DRY "Don't Repeat Yourself", and makes the code easier to maintain, modify and debug</a:t>
            </a:r>
          </a:p>
          <a:p>
            <a:pPr marL="12065">
              <a:lnSpc>
                <a:spcPct val="200000"/>
              </a:lnSpc>
              <a:spcBef>
                <a:spcPts val="100"/>
              </a:spcBef>
              <a:tabLst>
                <a:tab pos="241300" algn="l"/>
                <a:tab pos="241935" algn="l"/>
              </a:tabLst>
            </a:pPr>
            <a:r>
              <a:rPr lang="en-US" dirty="0">
                <a:latin typeface="Calibri"/>
                <a:cs typeface="Calibri"/>
              </a:rPr>
              <a:t>- OOP makes it possible to create full reusable applications with less code and shorter development time</a:t>
            </a:r>
            <a:endParaRPr lang="en-US"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581024"/>
            <a:ext cx="5255262" cy="623119"/>
          </a:xfrm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135" dirty="0"/>
              <a:t>Core Building Block PHP OOP</a:t>
            </a:r>
            <a:endParaRPr spc="155" dirty="0"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EB1BA1-CEB0-B7F9-F54A-FAD9B9B99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809101"/>
              </p:ext>
            </p:extLst>
          </p:nvPr>
        </p:nvGraphicFramePr>
        <p:xfrm>
          <a:off x="603234" y="1524000"/>
          <a:ext cx="11137932" cy="49319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3738">
                  <a:extLst>
                    <a:ext uri="{9D8B030D-6E8A-4147-A177-3AD203B41FA5}">
                      <a16:colId xmlns:a16="http://schemas.microsoft.com/office/drawing/2014/main" val="3100128231"/>
                    </a:ext>
                  </a:extLst>
                </a:gridCol>
                <a:gridCol w="3695566">
                  <a:extLst>
                    <a:ext uri="{9D8B030D-6E8A-4147-A177-3AD203B41FA5}">
                      <a16:colId xmlns:a16="http://schemas.microsoft.com/office/drawing/2014/main" val="2237077461"/>
                    </a:ext>
                  </a:extLst>
                </a:gridCol>
                <a:gridCol w="2211993">
                  <a:extLst>
                    <a:ext uri="{9D8B030D-6E8A-4147-A177-3AD203B41FA5}">
                      <a16:colId xmlns:a16="http://schemas.microsoft.com/office/drawing/2014/main" val="2280087813"/>
                    </a:ext>
                  </a:extLst>
                </a:gridCol>
                <a:gridCol w="3216635">
                  <a:extLst>
                    <a:ext uri="{9D8B030D-6E8A-4147-A177-3AD203B41FA5}">
                      <a16:colId xmlns:a16="http://schemas.microsoft.com/office/drawing/2014/main" val="4053180309"/>
                    </a:ext>
                  </a:extLst>
                </a:gridCol>
              </a:tblGrid>
              <a:tr h="1885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Concept</a:t>
                      </a:r>
                      <a:endParaRPr lang="id-ID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Description</a:t>
                      </a:r>
                      <a:endParaRPr lang="id-ID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PHP Syntax / Keywords</a:t>
                      </a:r>
                      <a:endParaRPr lang="id-ID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Example</a:t>
                      </a:r>
                      <a:endParaRPr lang="id-ID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4206345306"/>
                  </a:ext>
                </a:extLst>
              </a:tr>
              <a:tr h="1885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Class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Blueprint defining properties and methods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class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class Car { }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3629116419"/>
                  </a:ext>
                </a:extLst>
              </a:tr>
              <a:tr h="1885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Object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An instance of a class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new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</a:t>
                      </a:r>
                      <a:r>
                        <a:rPr lang="en-US" sz="1400" dirty="0" err="1">
                          <a:effectLst/>
                        </a:rPr>
                        <a:t>myCar</a:t>
                      </a:r>
                      <a:r>
                        <a:rPr lang="en-US" sz="1400" dirty="0">
                          <a:effectLst/>
                        </a:rPr>
                        <a:t> = new Car();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1146032306"/>
                  </a:ext>
                </a:extLst>
              </a:tr>
              <a:tr h="1885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Property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Variable that holds data specific to an object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public $brand;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$this-&gt;brand = "Toyota";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1727212839"/>
                  </a:ext>
                </a:extLst>
              </a:tr>
              <a:tr h="1885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Method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Function inside a class that defines behavior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public function drive() {}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$this-&gt;drive();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532188331"/>
                  </a:ext>
                </a:extLst>
              </a:tr>
              <a:tr h="1885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Constructor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Special method automatically called on object creation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__construct()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function __construct($brand) {}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1047018869"/>
                  </a:ext>
                </a:extLst>
              </a:tr>
              <a:tr h="1885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Encapsulation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Restrict access to internal object state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public, private, protected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private $mileage;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4099918769"/>
                  </a:ext>
                </a:extLst>
              </a:tr>
              <a:tr h="1885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Inheritance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Child class inherits properties and methods from parent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extends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class Truck extends Car {}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1536734263"/>
                  </a:ext>
                </a:extLst>
              </a:tr>
              <a:tr h="1885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Polymorphism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Same method behaves differently in different classes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Method overriding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function honk() {} in subclass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3133184601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Abstraction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Define abstract methods or contracts without implementation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abstract class, interface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abstract function </a:t>
                      </a:r>
                      <a:r>
                        <a:rPr lang="en-US" sz="1400" dirty="0" err="1">
                          <a:effectLst/>
                        </a:rPr>
                        <a:t>startEngine</a:t>
                      </a:r>
                      <a:r>
                        <a:rPr lang="en-US" sz="1400" dirty="0">
                          <a:effectLst/>
                        </a:rPr>
                        <a:t>();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239945374"/>
                  </a:ext>
                </a:extLst>
              </a:tr>
              <a:tr h="1885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Interface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Contract that classes must implement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interface, implements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class Tesla implements </a:t>
                      </a:r>
                      <a:r>
                        <a:rPr lang="en-US" sz="1400" dirty="0" err="1">
                          <a:effectLst/>
                        </a:rPr>
                        <a:t>ElectricCar</a:t>
                      </a:r>
                      <a:r>
                        <a:rPr lang="en-US" sz="1400" dirty="0">
                          <a:effectLst/>
                        </a:rPr>
                        <a:t> {}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305414504"/>
                  </a:ext>
                </a:extLst>
              </a:tr>
              <a:tr h="385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Trait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Reusable set of methods to be included in multiple classes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trait, use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trait Logger { function log() {} }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3122601233"/>
                  </a:ext>
                </a:extLst>
              </a:tr>
              <a:tr h="1885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Static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Belongs to class rather than instance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static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public static function </a:t>
                      </a:r>
                      <a:r>
                        <a:rPr lang="en-US" sz="1400" dirty="0" err="1">
                          <a:effectLst/>
                        </a:rPr>
                        <a:t>countAll</a:t>
                      </a:r>
                      <a:r>
                        <a:rPr lang="en-US" sz="1400" dirty="0">
                          <a:effectLst/>
                        </a:rPr>
                        <a:t>() {}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2953015904"/>
                  </a:ext>
                </a:extLst>
              </a:tr>
              <a:tr h="3900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Final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Prevent method or class from being overridden or extended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final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final class </a:t>
                      </a:r>
                      <a:r>
                        <a:rPr lang="en-US" sz="1400" dirty="0" err="1">
                          <a:effectLst/>
                        </a:rPr>
                        <a:t>SecureCar</a:t>
                      </a:r>
                      <a:r>
                        <a:rPr lang="en-US" sz="1400" dirty="0">
                          <a:effectLst/>
                        </a:rPr>
                        <a:t> {}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3725453092"/>
                  </a:ext>
                </a:extLst>
              </a:tr>
              <a:tr h="1885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Visibility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Controls access from outside or inside class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public, private, protected</a:t>
                      </a:r>
                      <a:endParaRPr lang="id-ID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protected function repair() {}</a:t>
                      </a:r>
                      <a:endParaRPr lang="id-ID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1686" marR="71686" marT="0" marB="0"/>
                </a:tc>
                <a:extLst>
                  <a:ext uri="{0D108BD9-81ED-4DB2-BD59-A6C34878D82A}">
                    <a16:rowId xmlns:a16="http://schemas.microsoft.com/office/drawing/2014/main" val="3726876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7B2A05-7808-0420-AB8A-76C34A8A4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CABC18A-A681-1D43-DEA2-C397DFC485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8" y="581024"/>
            <a:ext cx="8150861" cy="623119"/>
          </a:xfrm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65" dirty="0"/>
              <a:t>Difference Between Public, Protected, and Private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59CF088-E37B-EDF5-14D0-F0DE1DE0EB52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9FB5E0-224B-0225-F5B6-98E0F9FBB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38" y="1676400"/>
            <a:ext cx="9221487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568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843498A-F20D-44CF-0B93-D5146C855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3E0B1FF-C849-7CD2-ED03-FCB6EF81DC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65" dirty="0"/>
              <a:t>Class and Object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6DA167C-A488-C1CB-4F54-4F6DE9DCCF31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354416-5092-911A-B0D7-7CBAA9459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662" y="628259"/>
            <a:ext cx="5448938" cy="587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455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8B022A-B090-8692-7CB6-A00BA4038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481556-3778-4305-5CAA-14D1231BE7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65" dirty="0"/>
              <a:t>Access Modifiers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D593C31-5826-B506-1532-371025227F87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13CF8C-2B5D-424F-C912-D14D25320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313890"/>
            <a:ext cx="6011114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57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277D68-BE3D-EACD-E8D5-338D610BC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B2347F1-45D3-240B-07F6-48492AD2D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65" dirty="0"/>
              <a:t>Inheritance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BAFF94C-B088-2BB3-69F8-4835B7C3F6B3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11CAE7-F59E-8C31-F33C-44BDC0CF4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916558"/>
            <a:ext cx="6015357" cy="556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725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2B6B63-46D5-6D1E-30F1-1F564FF9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2C112B-F45D-00FD-0C41-C371B235C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65" dirty="0"/>
              <a:t>Overriding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03F8B6D-C3FF-FDAC-992A-4A53E3DDBA47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F2AD1E-2650-5E14-384E-86A606B01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083" y="76200"/>
            <a:ext cx="7373379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2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3189DFE-48B7-5513-1EE3-83DC1896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9F1E07-323F-1349-65CF-E0ECB08E7C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65" dirty="0"/>
              <a:t>Overloading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1515AE9-5F47-CE80-7FD5-DF8672582CE0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C17938-0358-67C0-326E-D3532F310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896238"/>
            <a:ext cx="6163535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30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784EFF-F47A-6B05-BA17-DA108F82B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3CE470-B005-675D-F298-3B069E758B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581024"/>
            <a:ext cx="2435861" cy="630428"/>
          </a:xfrm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65" dirty="0"/>
              <a:t>Abstract Class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C48F864-0E5F-5083-CAF5-2ED5843B9BC1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86C472-A41F-D84B-B8A3-88837D2D0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81000"/>
            <a:ext cx="5944430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82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E1D311-A074-2C86-1338-6F9C90F10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0F9B0B-ED0F-9DD4-A1B1-766259B9C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65" dirty="0"/>
              <a:t>Interface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AD123A1-8D68-2CF2-D225-A424A9BA4B64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4979F2-E7B0-F606-1A53-BA4F0938C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918" y="304364"/>
            <a:ext cx="4582164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76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7D1DAC-4035-BDA3-8F03-D219D540B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CF27A7-6958-2B7C-B40A-2C6262AD41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65" dirty="0"/>
              <a:t>Traits</a:t>
            </a:r>
            <a:endParaRPr spc="1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A2EF387-BC88-A4F8-BDEA-2A9C08080F93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custGeom>
            <a:avLst/>
            <a:gdLst/>
            <a:ahLst/>
            <a:cxnLst/>
            <a:rect l="l" t="t" r="r" b="b"/>
            <a:pathLst>
              <a:path w="274320" h="6858000">
                <a:moveTo>
                  <a:pt x="274320" y="6857996"/>
                </a:moveTo>
                <a:lnTo>
                  <a:pt x="274320" y="0"/>
                </a:lnTo>
                <a:lnTo>
                  <a:pt x="0" y="0"/>
                </a:lnTo>
                <a:lnTo>
                  <a:pt x="0" y="6857996"/>
                </a:lnTo>
                <a:lnTo>
                  <a:pt x="274320" y="6857996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0913D-9E6B-D298-165E-092F420A0243}"/>
              </a:ext>
            </a:extLst>
          </p:cNvPr>
          <p:cNvSpPr txBox="1"/>
          <p:nvPr/>
        </p:nvSpPr>
        <p:spPr>
          <a:xfrm>
            <a:off x="916939" y="1752600"/>
            <a:ext cx="4798061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PHP only supports single inheritance: a child class can inherit only from one single parent.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So, what if a class needs to inherit multiple behaviors? OOP traits solve this problem</a:t>
            </a:r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D6F3A8-7F93-A294-9F1A-DF657FDF4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0"/>
            <a:ext cx="40580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530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453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Office Theme</vt:lpstr>
      <vt:lpstr>Afrizal Doewes Arif Rohmadi</vt:lpstr>
      <vt:lpstr>What is PHP OOP?</vt:lpstr>
      <vt:lpstr>Why PHP - OOP?</vt:lpstr>
      <vt:lpstr>Core Building Block PHP OOP</vt:lpstr>
      <vt:lpstr>Difference Between Public, Protected, and Private</vt:lpstr>
      <vt:lpstr>Class and Object</vt:lpstr>
      <vt:lpstr>Access Modifiers</vt:lpstr>
      <vt:lpstr>Inheritance</vt:lpstr>
      <vt:lpstr>Overriding</vt:lpstr>
      <vt:lpstr>Overloading</vt:lpstr>
      <vt:lpstr>Abstract Class</vt:lpstr>
      <vt:lpstr>Interface</vt:lpstr>
      <vt:lpstr>Traits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Text Mining</dc:title>
  <dc:creator>HP Victus</dc:creator>
  <cp:lastModifiedBy>arif r</cp:lastModifiedBy>
  <cp:revision>39</cp:revision>
  <dcterms:created xsi:type="dcterms:W3CDTF">2025-04-29T08:32:25Z</dcterms:created>
  <dcterms:modified xsi:type="dcterms:W3CDTF">2025-04-29T11:07:57Z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2024-05-29T00:00:00Z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2025-04-29T00:00:00Z</vt:filetime>
  </property>
  <property fmtid="{D5CDD505-2E9C-101B-9397-08002B2CF9AE}" pid="5" name="Producer">
    <vt:lpwstr>Microsoft® PowerPoint® 2021</vt:lpwstr>
  </property>
</Properties>
</file>