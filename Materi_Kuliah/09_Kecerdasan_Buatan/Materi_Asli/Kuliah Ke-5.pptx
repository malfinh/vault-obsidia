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54"/>
  </p:notesMasterIdLst>
  <p:handoutMasterIdLst>
    <p:handoutMasterId r:id="rId55"/>
  </p:handoutMasterIdLst>
  <p:sldIdLst>
    <p:sldId id="256" r:id="rId2"/>
    <p:sldId id="370" r:id="rId3"/>
    <p:sldId id="371" r:id="rId4"/>
    <p:sldId id="328" r:id="rId5"/>
    <p:sldId id="369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372" r:id="rId15"/>
    <p:sldId id="373" r:id="rId16"/>
    <p:sldId id="514" r:id="rId17"/>
    <p:sldId id="515" r:id="rId18"/>
    <p:sldId id="518" r:id="rId19"/>
    <p:sldId id="517" r:id="rId20"/>
    <p:sldId id="374" r:id="rId21"/>
    <p:sldId id="375" r:id="rId22"/>
    <p:sldId id="377" r:id="rId23"/>
    <p:sldId id="376" r:id="rId24"/>
    <p:sldId id="519" r:id="rId25"/>
    <p:sldId id="520" r:id="rId26"/>
    <p:sldId id="378" r:id="rId27"/>
    <p:sldId id="379" r:id="rId28"/>
    <p:sldId id="380" r:id="rId29"/>
    <p:sldId id="521" r:id="rId30"/>
    <p:sldId id="381" r:id="rId31"/>
    <p:sldId id="383" r:id="rId32"/>
    <p:sldId id="385" r:id="rId33"/>
    <p:sldId id="382" r:id="rId34"/>
    <p:sldId id="270" r:id="rId35"/>
    <p:sldId id="278" r:id="rId36"/>
    <p:sldId id="279" r:id="rId37"/>
    <p:sldId id="280" r:id="rId38"/>
    <p:sldId id="389" r:id="rId39"/>
    <p:sldId id="390" r:id="rId40"/>
    <p:sldId id="523" r:id="rId41"/>
    <p:sldId id="433" r:id="rId42"/>
    <p:sldId id="277" r:id="rId43"/>
    <p:sldId id="271" r:id="rId44"/>
    <p:sldId id="272" r:id="rId45"/>
    <p:sldId id="273" r:id="rId46"/>
    <p:sldId id="274" r:id="rId47"/>
    <p:sldId id="275" r:id="rId48"/>
    <p:sldId id="276" r:id="rId49"/>
    <p:sldId id="397" r:id="rId50"/>
    <p:sldId id="452" r:id="rId51"/>
    <p:sldId id="526" r:id="rId52"/>
    <p:sldId id="260" r:id="rId53"/>
  </p:sldIdLst>
  <p:sldSz cx="9144000" cy="6858000" type="screen4x3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E546F2-F0E7-4C50-A6A4-9A6C566989FC}" v="2" dt="2024-03-14T01:36:05.379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645" autoAdjust="0"/>
  </p:normalViewPr>
  <p:slideViewPr>
    <p:cSldViewPr>
      <p:cViewPr varScale="1">
        <p:scale>
          <a:sx n="77" d="100"/>
          <a:sy n="77" d="100"/>
        </p:scale>
        <p:origin x="98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5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harto" userId="26dbef6a-cfea-4e24-8e0c-5099cdaa68f0" providerId="ADAL" clId="{05E546F2-F0E7-4C50-A6A4-9A6C566989FC}"/>
    <pc:docChg chg="modSld">
      <pc:chgData name="wiharto" userId="26dbef6a-cfea-4e24-8e0c-5099cdaa68f0" providerId="ADAL" clId="{05E546F2-F0E7-4C50-A6A4-9A6C566989FC}" dt="2024-03-14T00:51:57.813" v="1"/>
      <pc:docMkLst>
        <pc:docMk/>
      </pc:docMkLst>
      <pc:sldChg chg="delSp modSp delDesignElem">
        <pc:chgData name="wiharto" userId="26dbef6a-cfea-4e24-8e0c-5099cdaa68f0" providerId="ADAL" clId="{05E546F2-F0E7-4C50-A6A4-9A6C566989FC}" dt="2024-03-14T00:51:57.813" v="1"/>
        <pc:sldMkLst>
          <pc:docMk/>
          <pc:sldMk cId="0" sldId="256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56"/>
            <ac:spMk id="3" creationId="{294180F2-1073-43BA-84C4-D6DAF80F26C2}"/>
          </ac:spMkLst>
        </pc:spChg>
        <pc:spChg chg="del">
          <ac:chgData name="wiharto" userId="26dbef6a-cfea-4e24-8e0c-5099cdaa68f0" providerId="ADAL" clId="{05E546F2-F0E7-4C50-A6A4-9A6C566989FC}" dt="2024-03-14T00:51:57.813" v="1"/>
          <ac:spMkLst>
            <pc:docMk/>
            <pc:sldMk cId="0" sldId="256"/>
            <ac:spMk id="6149" creationId="{ADC5C86B-28CE-4597-97B7-4C09E20141C3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260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60"/>
            <ac:spMk id="2" creationId="{6DFB467C-90CD-4DA3-BC75-CFD17370637D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60"/>
            <ac:spMk id="32770" creationId="{00000000-0000-0000-0000-000000000000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270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0"/>
            <ac:spMk id="20" creationId="{11706B85-54FC-432C-B085-56531A984B24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0"/>
            <ac:spMk id="13314" creationId="{F6A0203D-40DC-472A-816D-41EAAED38228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271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1"/>
            <ac:spMk id="34" creationId="{ACE90A65-9D27-4A78-95BB-EECC3CDA55BB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1"/>
            <ac:spMk id="21506" creationId="{8583B8D7-8A5B-4E8A-B5A9-72482BB32017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272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2"/>
            <ac:spMk id="33" creationId="{1540DBF9-8247-45B8-A3DD-C411B6E64F60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2"/>
            <ac:spMk id="22530" creationId="{D5424C10-F0C4-4F6A-B105-C0B5B62FB729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273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3"/>
            <ac:spMk id="36" creationId="{B6F137B3-6EAF-4E16-B652-9C40AABD588E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3"/>
            <ac:spMk id="23554" creationId="{CBB91D47-BE16-4695-8F4B-3A14ADF17CE3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274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4"/>
            <ac:spMk id="38" creationId="{2718ADF5-FFF9-43BE-9F94-0E0D14F7C019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4"/>
            <ac:spMk id="24578" creationId="{8CA81BFA-DAA5-4A33-88AC-5D8740AF0A8B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275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5"/>
            <ac:spMk id="40" creationId="{3EED77D3-BCFC-4159-9D3A-25D9A2F56DA1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5"/>
            <ac:spMk id="25602" creationId="{47F79E39-FAC2-4603-9001-C34F47C1B936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276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6"/>
            <ac:spMk id="42" creationId="{3E6A8CD2-F248-4345-9F1B-554FC02822FE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6"/>
            <ac:spMk id="26626" creationId="{80DDF476-B3B2-4A47-92C8-45425E10F839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277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7"/>
            <ac:spMk id="20" creationId="{5C2383BC-B24A-4626-AD1A-5384EDC65F44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7"/>
            <ac:spMk id="20482" creationId="{4324E453-F808-4C17-A274-D33E9D2E0F0E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278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8"/>
            <ac:spMk id="28" creationId="{53BE1E41-1C96-4A27-BD91-3A565EF8EAF7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8"/>
            <ac:spMk id="14338" creationId="{EDD33067-7FD5-4162-88A2-2F10AD8B6248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279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9"/>
            <ac:spMk id="29" creationId="{83256DBA-278F-47CF-81AC-59A8AFCBF018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79"/>
            <ac:spMk id="15362" creationId="{0721A128-1EB3-44CD-BAA2-0904BC1418EC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280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80"/>
            <ac:spMk id="32" creationId="{29213723-CABC-4DAC-9289-035F99AB22E7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280"/>
            <ac:spMk id="16386" creationId="{147857B1-1716-40E8-8743-72CCF6ADC7B8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28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28"/>
            <ac:spMk id="4" creationId="{0612891B-06D2-437A-9F5E-2F38A639CD23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69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69"/>
            <ac:spMk id="2" creationId="{658D366C-491E-46E4-9929-859D7ED254B2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70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70"/>
            <ac:spMk id="2" creationId="{CEE3A913-DD71-41DC-9808-E249D21AD296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71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71"/>
            <ac:spMk id="2" creationId="{5E259D73-D9B2-4AAD-A6F6-36EDA5CBEECF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72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72"/>
            <ac:spMk id="4" creationId="{BB163FEF-B2CF-4884-8881-6E082A49817D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73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73"/>
            <ac:spMk id="2" creationId="{00000000-0000-0000-0000-000000000000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73"/>
            <ac:spMk id="3" creationId="{4B52242B-17E1-4C74-9CBE-AD1DAABE9F09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74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74"/>
            <ac:spMk id="3" creationId="{C238C072-0C60-4119-9008-F2AB11AE4173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75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75"/>
            <ac:spMk id="3" creationId="{00000000-0000-0000-0000-000000000000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75"/>
            <ac:spMk id="4" creationId="{6FF72203-4B37-4560-B6AF-84F82F00BD3E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76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76"/>
            <ac:spMk id="2" creationId="{00000000-0000-0000-0000-000000000000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76"/>
            <ac:spMk id="3" creationId="{49A467FC-094F-4CCD-ACFF-906705C4E58C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77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77"/>
            <ac:spMk id="3" creationId="{A442F924-381F-401F-8FF9-8BBC77423550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78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78"/>
            <ac:spMk id="3" creationId="{818688E9-4B7B-4E29-91E3-F8C2E11D4EEE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79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79"/>
            <ac:spMk id="2" creationId="{00000000-0000-0000-0000-000000000000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79"/>
            <ac:spMk id="3" creationId="{B23F1E53-A7F1-4FD1-BF29-7F51B624B192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80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80"/>
            <ac:spMk id="4" creationId="{BC99BECF-C39C-4A1C-84EC-3F752AC6B151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81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81"/>
            <ac:spMk id="2" creationId="{00000000-0000-0000-0000-000000000000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81"/>
            <ac:spMk id="3" creationId="{56BE2D06-D0F0-4E3F-8888-4D6B72D865CF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82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82"/>
            <ac:spMk id="2" creationId="{72DF236F-BA38-477D-AB6A-1DE79E9A899C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83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83"/>
            <ac:spMk id="3" creationId="{A03E996F-E407-4284-AE0D-C85C614BEB7B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85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85"/>
            <ac:spMk id="4" creationId="{7DEF159E-8D2B-4ED5-B6D4-1A98A74CB2F3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89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89"/>
            <ac:spMk id="4" creationId="{0878D68C-2053-475A-B1E4-6D748704D155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2431102471" sldId="390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2431102471" sldId="390"/>
            <ac:spMk id="4" creationId="{43B6076E-EF4A-4C75-BCD0-56F8FF5580B1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397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397"/>
            <ac:spMk id="4" creationId="{CF5D70D2-C212-41E1-919F-00E1D376FA43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433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433"/>
            <ac:spMk id="2" creationId="{DCEEA387-9CCD-428F-9802-6B87C7614432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0" sldId="452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0" sldId="452"/>
            <ac:spMk id="2" creationId="{376B44F0-DC8D-48A7-BBEE-128A37D547C6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767358144" sldId="514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767358144" sldId="514"/>
            <ac:spMk id="2" creationId="{068D6A0C-CDEC-48C5-976C-5FF50B7E2B53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767358144" sldId="514"/>
            <ac:spMk id="3" creationId="{1C8BD5BA-2932-4A3E-9A60-4BECB2CE59B5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3407417760" sldId="515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3407417760" sldId="515"/>
            <ac:spMk id="2" creationId="{3824E1CE-85F2-4766-A147-9AC664AB3EB1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3407417760" sldId="515"/>
            <ac:spMk id="3" creationId="{9B4654F4-5559-4725-A8BD-7963B05DB5B4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2738793541" sldId="517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2738793541" sldId="517"/>
            <ac:spMk id="4" creationId="{3EB81514-C764-49E7-B1A1-B9D47978E34E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1319907225" sldId="518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1319907225" sldId="518"/>
            <ac:spMk id="3" creationId="{A1A7591B-EC87-42A4-980A-7D283F9C91EC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3779950687" sldId="519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3779950687" sldId="519"/>
            <ac:spMk id="2" creationId="{2372DC39-4ED2-45F4-BC9A-EAD9DEE1A93B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3779950687" sldId="519"/>
            <ac:spMk id="3" creationId="{DDE70FBA-805F-43C6-B343-8291BD6E3ED2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2846417100" sldId="520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2846417100" sldId="520"/>
            <ac:spMk id="3" creationId="{FFBF3523-3879-40B7-8D07-2C0D881266A1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2240490565" sldId="521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2240490565" sldId="521"/>
            <ac:spMk id="4" creationId="{C027B882-091A-46CF-B858-365194C8B3FF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1820967047" sldId="523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1820967047" sldId="523"/>
            <ac:spMk id="2" creationId="{FAD8CD8D-CCBD-4028-BECA-69F83BA830CA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1820967047" sldId="523"/>
            <ac:spMk id="3" creationId="{C787C8A4-1E2B-4D4A-BC7B-4B86E7874700}"/>
          </ac:spMkLst>
        </pc:spChg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1820967047" sldId="523"/>
            <ac:spMk id="4" creationId="{DFA0E07D-FD4E-4056-8FFE-CD5510DDD1F8}"/>
          </ac:spMkLst>
        </pc:spChg>
      </pc:sldChg>
      <pc:sldChg chg="modSp">
        <pc:chgData name="wiharto" userId="26dbef6a-cfea-4e24-8e0c-5099cdaa68f0" providerId="ADAL" clId="{05E546F2-F0E7-4C50-A6A4-9A6C566989FC}" dt="2024-03-14T00:51:57.813" v="1"/>
        <pc:sldMkLst>
          <pc:docMk/>
          <pc:sldMk cId="4280722303" sldId="526"/>
        </pc:sldMkLst>
        <pc:spChg chg="mod">
          <ac:chgData name="wiharto" userId="26dbef6a-cfea-4e24-8e0c-5099cdaa68f0" providerId="ADAL" clId="{05E546F2-F0E7-4C50-A6A4-9A6C566989FC}" dt="2024-03-14T00:51:57.813" v="1"/>
          <ac:spMkLst>
            <pc:docMk/>
            <pc:sldMk cId="4280722303" sldId="526"/>
            <ac:spMk id="4" creationId="{CF5D70D2-C212-41E1-919F-00E1D376FA4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56609F-AA90-4216-B1D7-DEF90D771C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D"/>
              <a:t>Artificial Intelligence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3B0320-EF38-455D-B44C-7FBDE73EF9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20317-1805-427B-85FB-582ABBD429BB}" type="datetimeFigureOut">
              <a:rPr lang="en-ID" smtClean="0"/>
              <a:t>14/03/2024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4DDEB6-8F85-477F-BE8F-1D83373096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4A00C-5C01-40BA-96F0-7EFF474F0F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82A0D8-D01F-4D0F-B3B1-C839FBC5C0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28846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D"/>
              <a:t>Artificial Intelligence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F2F0D1-54F1-4A6D-8F3C-553F77D93855}" type="datetimeFigureOut">
              <a:rPr lang="en-ID" smtClean="0"/>
              <a:t>14/03/2024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8E361-E2EA-4EAF-830E-304FFE77AC9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5203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8E361-E2EA-4EAF-830E-304FFE77AC9A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8371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3">
            <a:extLst>
              <a:ext uri="{FF2B5EF4-FFF2-40B4-BE49-F238E27FC236}">
                <a16:creationId xmlns:a16="http://schemas.microsoft.com/office/drawing/2014/main" id="{EC786D45-4586-4FF6-A2AF-564D3422886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EB46026-ACC7-499B-AD39-AB7CC6E97068}" type="slidenum">
              <a:rPr lang="en-US" altLang="en-U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67587" name="Text Box 1">
            <a:extLst>
              <a:ext uri="{FF2B5EF4-FFF2-40B4-BE49-F238E27FC236}">
                <a16:creationId xmlns:a16="http://schemas.microsoft.com/office/drawing/2014/main" id="{C3A55761-DADC-498A-AB6F-30B16277E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039F95C-FBAF-4F11-B0F0-867ABFE50E83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7588" name="Text Box 2">
            <a:extLst>
              <a:ext uri="{FF2B5EF4-FFF2-40B4-BE49-F238E27FC236}">
                <a16:creationId xmlns:a16="http://schemas.microsoft.com/office/drawing/2014/main" id="{36344EC0-4606-43F1-8587-407B0522F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C48937E-5FD9-4D35-9908-B2FEF83C0B93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7589" name="Text Box 3">
            <a:extLst>
              <a:ext uri="{FF2B5EF4-FFF2-40B4-BE49-F238E27FC236}">
                <a16:creationId xmlns:a16="http://schemas.microsoft.com/office/drawing/2014/main" id="{3898D775-7F6E-4D22-AA24-62DC3A13E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5DC8FA3B-2DA8-471B-9ADD-0E493839BF60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7590" name="Rectangle 4">
            <a:extLst>
              <a:ext uri="{FF2B5EF4-FFF2-40B4-BE49-F238E27FC236}">
                <a16:creationId xmlns:a16="http://schemas.microsoft.com/office/drawing/2014/main" id="{66A8AB1B-DC9D-467E-A387-32102AF836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7591" name="Text Box 5">
            <a:extLst>
              <a:ext uri="{FF2B5EF4-FFF2-40B4-BE49-F238E27FC236}">
                <a16:creationId xmlns:a16="http://schemas.microsoft.com/office/drawing/2014/main" id="{2E824AA2-8941-4C5E-9E63-445AC707D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3">
            <a:extLst>
              <a:ext uri="{FF2B5EF4-FFF2-40B4-BE49-F238E27FC236}">
                <a16:creationId xmlns:a16="http://schemas.microsoft.com/office/drawing/2014/main" id="{EA138D89-5DE9-4E4D-8751-A605E8E8B44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65C82F-ED6F-44A5-BA61-FD37849773C7}" type="slidenum">
              <a:rPr lang="en-US" altLang="en-U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69635" name="Text Box 1">
            <a:extLst>
              <a:ext uri="{FF2B5EF4-FFF2-40B4-BE49-F238E27FC236}">
                <a16:creationId xmlns:a16="http://schemas.microsoft.com/office/drawing/2014/main" id="{3E70B04D-56C3-45B6-9D30-A8264D1EC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4AA2A08-E8A1-4957-BB86-0A1F4F0A7689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9636" name="Text Box 2">
            <a:extLst>
              <a:ext uri="{FF2B5EF4-FFF2-40B4-BE49-F238E27FC236}">
                <a16:creationId xmlns:a16="http://schemas.microsoft.com/office/drawing/2014/main" id="{0E21051E-3466-4EF7-8514-ABEFFB999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83F8BBA-5901-4E23-A3B0-FBA213142E56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9637" name="Text Box 3">
            <a:extLst>
              <a:ext uri="{FF2B5EF4-FFF2-40B4-BE49-F238E27FC236}">
                <a16:creationId xmlns:a16="http://schemas.microsoft.com/office/drawing/2014/main" id="{2264591E-A5C0-4630-9C42-6E63B9459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11E7187-26A5-4BC0-A780-C32DA85F1638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9638" name="Rectangle 4">
            <a:extLst>
              <a:ext uri="{FF2B5EF4-FFF2-40B4-BE49-F238E27FC236}">
                <a16:creationId xmlns:a16="http://schemas.microsoft.com/office/drawing/2014/main" id="{0BE41B26-F0B4-4259-B78F-6110FA2D79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9639" name="Text Box 5">
            <a:extLst>
              <a:ext uri="{FF2B5EF4-FFF2-40B4-BE49-F238E27FC236}">
                <a16:creationId xmlns:a16="http://schemas.microsoft.com/office/drawing/2014/main" id="{D0B605F5-D97E-4095-B8D2-94772BAFF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3">
            <a:extLst>
              <a:ext uri="{FF2B5EF4-FFF2-40B4-BE49-F238E27FC236}">
                <a16:creationId xmlns:a16="http://schemas.microsoft.com/office/drawing/2014/main" id="{D79534E1-296C-412A-9814-0FCCDD2430E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FC3F21-302E-43AA-A3FD-3D2C1C2010D0}" type="slidenum">
              <a:rPr lang="en-US" altLang="en-U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1683" name="Text Box 1">
            <a:extLst>
              <a:ext uri="{FF2B5EF4-FFF2-40B4-BE49-F238E27FC236}">
                <a16:creationId xmlns:a16="http://schemas.microsoft.com/office/drawing/2014/main" id="{D09B773D-2D33-4A7C-A700-FB9797FCE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1D0D11C-87C3-42EB-BA37-2C27AF935D66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1684" name="Text Box 2">
            <a:extLst>
              <a:ext uri="{FF2B5EF4-FFF2-40B4-BE49-F238E27FC236}">
                <a16:creationId xmlns:a16="http://schemas.microsoft.com/office/drawing/2014/main" id="{0CE929F8-70CA-4C2E-BCF1-4B4600153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FCA5739-5249-490C-94EF-52CBDDDE409A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1685" name="Text Box 3">
            <a:extLst>
              <a:ext uri="{FF2B5EF4-FFF2-40B4-BE49-F238E27FC236}">
                <a16:creationId xmlns:a16="http://schemas.microsoft.com/office/drawing/2014/main" id="{A39C2641-5434-4327-A687-845414868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804D68D-75B1-4ABD-9AD5-A83A46ABC2BB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686" name="Rectangle 4">
            <a:extLst>
              <a:ext uri="{FF2B5EF4-FFF2-40B4-BE49-F238E27FC236}">
                <a16:creationId xmlns:a16="http://schemas.microsoft.com/office/drawing/2014/main" id="{6ABABED5-2B15-47DF-ADE8-EE5F16049D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7" name="Text Box 5">
            <a:extLst>
              <a:ext uri="{FF2B5EF4-FFF2-40B4-BE49-F238E27FC236}">
                <a16:creationId xmlns:a16="http://schemas.microsoft.com/office/drawing/2014/main" id="{CCC1123B-F1BC-425B-A82F-C13964201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3">
            <a:extLst>
              <a:ext uri="{FF2B5EF4-FFF2-40B4-BE49-F238E27FC236}">
                <a16:creationId xmlns:a16="http://schemas.microsoft.com/office/drawing/2014/main" id="{9F9E0C1F-102A-4BEB-BC73-F3825A71033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631F00-DFEC-4CA2-9DAF-828130931662}" type="slidenum">
              <a:rPr lang="en-US" altLang="en-U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3731" name="Text Box 1">
            <a:extLst>
              <a:ext uri="{FF2B5EF4-FFF2-40B4-BE49-F238E27FC236}">
                <a16:creationId xmlns:a16="http://schemas.microsoft.com/office/drawing/2014/main" id="{6ED9BD7C-7041-4CA2-A9EB-727740E10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0762734-E4AB-4AAC-892C-E69802E7ED61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3732" name="Text Box 2">
            <a:extLst>
              <a:ext uri="{FF2B5EF4-FFF2-40B4-BE49-F238E27FC236}">
                <a16:creationId xmlns:a16="http://schemas.microsoft.com/office/drawing/2014/main" id="{51A302AD-2C14-4D1A-A002-8F49EDC4C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39F5267-2347-4E42-B389-64C67A603EC8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3733" name="Text Box 3">
            <a:extLst>
              <a:ext uri="{FF2B5EF4-FFF2-40B4-BE49-F238E27FC236}">
                <a16:creationId xmlns:a16="http://schemas.microsoft.com/office/drawing/2014/main" id="{9817C387-1B36-45E0-A9B3-055CECED3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3A9284B3-D703-4041-87D5-BE7B0E83F2A3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3734" name="Rectangle 4">
            <a:extLst>
              <a:ext uri="{FF2B5EF4-FFF2-40B4-BE49-F238E27FC236}">
                <a16:creationId xmlns:a16="http://schemas.microsoft.com/office/drawing/2014/main" id="{24496FAA-CCDF-41C4-A8B5-08A137AB29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3735" name="Text Box 5">
            <a:extLst>
              <a:ext uri="{FF2B5EF4-FFF2-40B4-BE49-F238E27FC236}">
                <a16:creationId xmlns:a16="http://schemas.microsoft.com/office/drawing/2014/main" id="{09C83892-6947-481B-AF85-73D6AEE0D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3">
            <a:extLst>
              <a:ext uri="{FF2B5EF4-FFF2-40B4-BE49-F238E27FC236}">
                <a16:creationId xmlns:a16="http://schemas.microsoft.com/office/drawing/2014/main" id="{7DD79B46-09A3-40EC-8599-D8D104D932C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4740E75-0F3C-4BFD-8522-DCE2DA134676}" type="slidenum">
              <a:rPr lang="en-US" altLang="en-U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5779" name="Text Box 1">
            <a:extLst>
              <a:ext uri="{FF2B5EF4-FFF2-40B4-BE49-F238E27FC236}">
                <a16:creationId xmlns:a16="http://schemas.microsoft.com/office/drawing/2014/main" id="{893FA835-FD91-4A99-80E3-A8E9B032A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03BFDB6-5517-4A16-BA33-318AC3217792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5780" name="Text Box 2">
            <a:extLst>
              <a:ext uri="{FF2B5EF4-FFF2-40B4-BE49-F238E27FC236}">
                <a16:creationId xmlns:a16="http://schemas.microsoft.com/office/drawing/2014/main" id="{B7F746D5-0B15-420A-BE6D-1D3A74F3E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3F76152-24A2-4DD1-84C6-17C33F214635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5781" name="Text Box 3">
            <a:extLst>
              <a:ext uri="{FF2B5EF4-FFF2-40B4-BE49-F238E27FC236}">
                <a16:creationId xmlns:a16="http://schemas.microsoft.com/office/drawing/2014/main" id="{70F82502-59B9-4227-BD05-E0452E3D4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D7B7829-1CD6-4BBC-92D4-D4F00369DA04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5782" name="Rectangle 4">
            <a:extLst>
              <a:ext uri="{FF2B5EF4-FFF2-40B4-BE49-F238E27FC236}">
                <a16:creationId xmlns:a16="http://schemas.microsoft.com/office/drawing/2014/main" id="{542CF582-A136-4EC9-BEF1-B63DD774B1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5783" name="Text Box 5">
            <a:extLst>
              <a:ext uri="{FF2B5EF4-FFF2-40B4-BE49-F238E27FC236}">
                <a16:creationId xmlns:a16="http://schemas.microsoft.com/office/drawing/2014/main" id="{CCA1A429-FAE6-4D4D-95C3-EAF358FED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3">
            <a:extLst>
              <a:ext uri="{FF2B5EF4-FFF2-40B4-BE49-F238E27FC236}">
                <a16:creationId xmlns:a16="http://schemas.microsoft.com/office/drawing/2014/main" id="{52C90E1D-A3A9-459C-A8F7-4A9CD40DD08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89BF40-0A1C-4848-81F9-39D2FC4E6EAE}" type="slidenum">
              <a:rPr lang="en-US" altLang="en-U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7827" name="Text Box 1">
            <a:extLst>
              <a:ext uri="{FF2B5EF4-FFF2-40B4-BE49-F238E27FC236}">
                <a16:creationId xmlns:a16="http://schemas.microsoft.com/office/drawing/2014/main" id="{DF00246C-C5A5-4E21-B1AF-CA446B097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8DE40D8-1D09-4842-A265-DAE510450AD4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7828" name="Text Box 2">
            <a:extLst>
              <a:ext uri="{FF2B5EF4-FFF2-40B4-BE49-F238E27FC236}">
                <a16:creationId xmlns:a16="http://schemas.microsoft.com/office/drawing/2014/main" id="{8039D42A-0966-44FF-9A33-4A7C412B4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857283B-A8FB-4DE2-BD17-B676D178617F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7829" name="Text Box 3">
            <a:extLst>
              <a:ext uri="{FF2B5EF4-FFF2-40B4-BE49-F238E27FC236}">
                <a16:creationId xmlns:a16="http://schemas.microsoft.com/office/drawing/2014/main" id="{2724CD1F-B41A-4A99-8CE3-AEFEF69AD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FB01182-D952-4749-9184-0D7105F2AD86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7830" name="Rectangle 4">
            <a:extLst>
              <a:ext uri="{FF2B5EF4-FFF2-40B4-BE49-F238E27FC236}">
                <a16:creationId xmlns:a16="http://schemas.microsoft.com/office/drawing/2014/main" id="{1ADE5965-A7A7-41FB-A263-0016139278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7831" name="Text Box 5">
            <a:extLst>
              <a:ext uri="{FF2B5EF4-FFF2-40B4-BE49-F238E27FC236}">
                <a16:creationId xmlns:a16="http://schemas.microsoft.com/office/drawing/2014/main" id="{A521E5F9-8321-4B41-A130-4DB85F4C9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3">
            <a:extLst>
              <a:ext uri="{FF2B5EF4-FFF2-40B4-BE49-F238E27FC236}">
                <a16:creationId xmlns:a16="http://schemas.microsoft.com/office/drawing/2014/main" id="{38FE8808-7276-495D-98C3-8AA964D9CCC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6C6B176-5ADA-42AA-B1C3-3E9A9A1D6012}" type="slidenum">
              <a:rPr lang="en-US" altLang="en-U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9875" name="Text Box 1">
            <a:extLst>
              <a:ext uri="{FF2B5EF4-FFF2-40B4-BE49-F238E27FC236}">
                <a16:creationId xmlns:a16="http://schemas.microsoft.com/office/drawing/2014/main" id="{16945E61-56F6-4FBB-8C09-DE0B9AA5B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D9D729B-B6B8-49FE-BBDB-EF2E44F1EB25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9876" name="Text Box 2">
            <a:extLst>
              <a:ext uri="{FF2B5EF4-FFF2-40B4-BE49-F238E27FC236}">
                <a16:creationId xmlns:a16="http://schemas.microsoft.com/office/drawing/2014/main" id="{CC61F7E6-7CA4-4F1D-BBEB-54AA8742B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0CC5570-D993-4BB3-AE70-45993B2918AF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9877" name="Text Box 3">
            <a:extLst>
              <a:ext uri="{FF2B5EF4-FFF2-40B4-BE49-F238E27FC236}">
                <a16:creationId xmlns:a16="http://schemas.microsoft.com/office/drawing/2014/main" id="{F34795A8-2725-41EC-88EC-AF80A1A25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9E95CDB-A69D-4D85-B659-FF9F494ED80C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9878" name="Rectangle 4">
            <a:extLst>
              <a:ext uri="{FF2B5EF4-FFF2-40B4-BE49-F238E27FC236}">
                <a16:creationId xmlns:a16="http://schemas.microsoft.com/office/drawing/2014/main" id="{16D15BD7-8A02-48CA-A1E1-1698BEF208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9879" name="Text Box 5">
            <a:extLst>
              <a:ext uri="{FF2B5EF4-FFF2-40B4-BE49-F238E27FC236}">
                <a16:creationId xmlns:a16="http://schemas.microsoft.com/office/drawing/2014/main" id="{3DA60763-F0C7-4EFE-8E9C-56F81ECCA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3">
            <a:extLst>
              <a:ext uri="{FF2B5EF4-FFF2-40B4-BE49-F238E27FC236}">
                <a16:creationId xmlns:a16="http://schemas.microsoft.com/office/drawing/2014/main" id="{FF77039F-5E41-45F1-9215-BA775C21D8C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AB16322-2B5A-4F2D-A34D-03A6189F0CED}" type="slidenum">
              <a:rPr lang="en-US" altLang="en-U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81923" name="Text Box 1">
            <a:extLst>
              <a:ext uri="{FF2B5EF4-FFF2-40B4-BE49-F238E27FC236}">
                <a16:creationId xmlns:a16="http://schemas.microsoft.com/office/drawing/2014/main" id="{B63CF8D9-C852-4AB9-AD5B-EA2A76AEB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1FBBDF0-E357-495D-B946-B45D2EF7BDEC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81924" name="Text Box 2">
            <a:extLst>
              <a:ext uri="{FF2B5EF4-FFF2-40B4-BE49-F238E27FC236}">
                <a16:creationId xmlns:a16="http://schemas.microsoft.com/office/drawing/2014/main" id="{25988599-88C7-4CBD-88A1-52414F042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2BF2E13-0869-4FFD-8CB0-D38C991C237B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81925" name="Text Box 3">
            <a:extLst>
              <a:ext uri="{FF2B5EF4-FFF2-40B4-BE49-F238E27FC236}">
                <a16:creationId xmlns:a16="http://schemas.microsoft.com/office/drawing/2014/main" id="{28D0CC4A-9390-4C39-A0CB-6FD6CECBF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DD8AD9C-82C7-4895-834B-792C5A035730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26" name="Rectangle 4">
            <a:extLst>
              <a:ext uri="{FF2B5EF4-FFF2-40B4-BE49-F238E27FC236}">
                <a16:creationId xmlns:a16="http://schemas.microsoft.com/office/drawing/2014/main" id="{1B9210F7-0E25-4E25-825F-5362A63FA4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27" name="Text Box 5">
            <a:extLst>
              <a:ext uri="{FF2B5EF4-FFF2-40B4-BE49-F238E27FC236}">
                <a16:creationId xmlns:a16="http://schemas.microsoft.com/office/drawing/2014/main" id="{F3B78F53-AAF9-49FE-ADF6-7A2BD1DEE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F83C6BBA-BB20-4E7D-AEB0-305366CD13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1B5D2E16-BE7C-482E-8701-881475F8B6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A3D12600-7109-4CA7-9912-5A1DA9319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9D7888-0066-42B2-B638-B4009D962553}" type="slidenum">
              <a:rPr lang="en-US" altLang="en-US">
                <a:latin typeface="Calibri" panose="020F0502020204030204" pitchFamily="34" charset="0"/>
              </a:rPr>
              <a:pPr eaLnBrk="1" hangingPunct="1"/>
              <a:t>34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9CD1A683-459F-4370-9E06-96576228B6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92B2328D-1037-4638-AC64-5B5AFBB252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C8B67D5F-8B7A-4811-88E6-7234FF4518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DC97BB-CBC8-4386-89D5-A8F5EEC1054A}" type="slidenum">
              <a:rPr lang="en-US" altLang="en-US">
                <a:latin typeface="Calibri" panose="020F0502020204030204" pitchFamily="34" charset="0"/>
              </a:rPr>
              <a:pPr eaLnBrk="1" hangingPunct="1"/>
              <a:t>35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FEB8E899-FF07-405C-97CC-7D66C90F9D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BDB2BE1C-051A-431D-BEB5-26FBBC7E1C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EECE8165-46E9-4B4A-85CD-E98EE2312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E5827FD-3867-4A01-9421-63A3322839DF}" type="slidenum">
              <a:rPr lang="en-US" altLang="en-US">
                <a:latin typeface="Calibri" panose="020F0502020204030204" pitchFamily="34" charset="0"/>
              </a:rPr>
              <a:pPr eaLnBrk="1" hangingPunct="1"/>
              <a:t>36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5544ACC4-3DA4-4E1F-B3C4-2C69985FFC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C0546B2E-F226-4149-A7BD-E41CF987FB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DA7512C8-A201-462B-BF49-B1E697CC1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7B97985-7E3B-45AE-9716-BC1361B7A807}" type="slidenum">
              <a:rPr lang="en-US" altLang="en-US">
                <a:latin typeface="Calibri" panose="020F0502020204030204" pitchFamily="34" charset="0"/>
              </a:rPr>
              <a:pPr eaLnBrk="1" hangingPunct="1"/>
              <a:t>37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D54617D9-357D-412C-BEA1-575798DB53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3F3E0526-74E7-4AC4-AB7E-58E790C07C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en-US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03BEE9B4-2011-4C97-98A8-53F7BE693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E08150-793F-47A8-AEE3-001631D9945F}" type="slidenum">
              <a:rPr lang="en-US" altLang="en-US">
                <a:latin typeface="Calibri" panose="020F0502020204030204" pitchFamily="34" charset="0"/>
              </a:rPr>
              <a:pPr eaLnBrk="1" hangingPunct="1"/>
              <a:t>42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8CE4B88F-AED1-48FA-AB29-2F6644F37D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41434C77-537F-4192-8DB5-F0F7CEABB3A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71395DA8-4FFA-4FCE-BB45-D68E24CF6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ED21B2B-CC75-486F-9EDA-EB58C673F12A}" type="slidenum">
              <a:rPr lang="en-US" altLang="en-US">
                <a:latin typeface="Calibri" panose="020F0502020204030204" pitchFamily="34" charset="0"/>
              </a:rPr>
              <a:pPr eaLnBrk="1" hangingPunct="1"/>
              <a:t>43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4D1BA622-CDDF-484C-BB4B-A4AAA0E4CA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F553FB97-B283-41ED-AA39-7644CFA1E0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E40B6D25-84E5-4D9E-B36A-028348D14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585119-7B0F-4FA7-B51A-9940FD600F14}" type="slidenum">
              <a:rPr lang="en-US" altLang="en-US">
                <a:latin typeface="Calibri" panose="020F0502020204030204" pitchFamily="34" charset="0"/>
              </a:rPr>
              <a:pPr eaLnBrk="1" hangingPunct="1"/>
              <a:t>44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7A542686-D861-42E9-BB25-02812598B5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E32248EB-2E83-4239-9C71-F61CD98E30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48AB77F1-92D6-4C83-B01D-4453C1CD7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65D87D9-69A4-4DA0-B50B-3D2094D0D045}" type="slidenum">
              <a:rPr lang="en-US" altLang="en-US">
                <a:latin typeface="Calibri" panose="020F0502020204030204" pitchFamily="34" charset="0"/>
              </a:rPr>
              <a:pPr eaLnBrk="1" hangingPunct="1"/>
              <a:t>45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FA3C90B1-70CD-4085-B9ED-66134B2CD7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846DED47-3A42-4F04-B8E0-53B9C4BAF2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DCA9AA39-4C7A-4C5C-B75D-D2264A5AC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8C25BED-79B7-4244-9A85-DCA6BBB6F1A6}" type="slidenum">
              <a:rPr lang="en-US" altLang="en-US">
                <a:latin typeface="Calibri" panose="020F0502020204030204" pitchFamily="34" charset="0"/>
              </a:rPr>
              <a:pPr eaLnBrk="1" hangingPunct="1"/>
              <a:t>46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F5FA07CB-9CF7-4FE9-B875-EDEFE8E4FE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940FD74E-1D04-49D6-9CD8-9A9D44BD7A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AA772DAF-E501-46C5-98FD-C298FCAEB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46B7AFB-7BFA-4644-868E-8EA5709715E2}" type="slidenum">
              <a:rPr lang="en-US" altLang="en-US">
                <a:latin typeface="Calibri" panose="020F0502020204030204" pitchFamily="34" charset="0"/>
              </a:rPr>
              <a:pPr eaLnBrk="1" hangingPunct="1"/>
              <a:t>47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B27428D3-3B88-4DC4-BADA-80758004C0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AA933EAB-0B10-4D84-8B98-E65F2B896B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en-US"/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D26AB1E3-EF8F-46D1-9A61-7E8B46DF3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584C16D-C25D-4D64-99F1-198895A3CDC2}" type="slidenum">
              <a:rPr lang="en-US" altLang="en-US">
                <a:latin typeface="Calibri" panose="020F0502020204030204" pitchFamily="34" charset="0"/>
              </a:rPr>
              <a:pPr eaLnBrk="1" hangingPunct="1"/>
              <a:t>48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8E4719-A4DE-490C-BD16-97F6A2FE1D35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95C644-29D2-4325-9687-42080E15E81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9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F3601A-AABF-4050-8E76-71013A7F6484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8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DD5BE5-E977-4EB7-A832-405C9C18C7A1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915D47-9FB9-4C3D-8312-C6300706880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6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2003B0-80D2-4801-81B5-77C4A224651E}" type="datetime1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4FCC0-BDEE-435B-8273-B96F551D189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07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6252C8-A4C9-4AF8-A5B1-7845F3248F76}" type="datetime1">
              <a:rPr lang="en-US" smtClean="0"/>
              <a:t>3/14/2024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52CDE2-B0F5-40DA-983F-AE541AE1B83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9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B8E9E0-673F-412A-815A-0368B14A1DBF}" type="datetime1">
              <a:rPr lang="en-US" smtClean="0"/>
              <a:t>3/14/2024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1F6669-927A-4489-8D72-0F234E9BE945}" type="datetime1">
              <a:rPr lang="en-US" smtClean="0"/>
              <a:t>3/14/2024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8510C0-C023-46DB-8927-270F0F88F70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7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1AAA6A-8BB8-4AB0-B18B-C1C8A5BE3089}" type="datetime1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89344-A47A-47E0-8248-6433CD4F27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76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B02F78-7194-4C88-AED7-018BE6725D52}" type="datetime1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1C99E4-6C66-43B3-8DED-FDFED141EBF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10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763E45-B26B-42A5-B64A-BF1AB54DF575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97348C-2278-4979-91F5-76EB2E301FB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00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09B0C3-C96F-4C34-A10C-A66D2204D64A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97348C-2278-4979-91F5-76EB2E301FB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9616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78AC72-7183-4231-89E1-A58C85D2CE9D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97348C-2278-4979-91F5-76EB2E301FB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9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F2A9AB-B8B5-44BA-9AC5-2C6C16EC0636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97348C-2278-4979-91F5-76EB2E301FB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7557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54D4CD-4D4D-45E7-B5E9-3340FF4FB920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97348C-2278-4979-91F5-76EB2E301FB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5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7CC142-9993-4CE9-81ED-84D3BCBB0198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206658-2488-4A26-8DE4-A83D37A309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64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F39D4D-1436-4069-8191-39563069C92A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D21A00-107F-4C42-AC10-8EAE8F3260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8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94A93A8-F3CB-4752-ACC4-5B2CA625D27E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397348C-2278-4979-91F5-76EB2E301FB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7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9400" y="1219200"/>
            <a:ext cx="4953000" cy="2087486"/>
          </a:xfrm>
        </p:spPr>
        <p:txBody>
          <a:bodyPr>
            <a:normAutofit fontScale="90000"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US" dirty="0"/>
              <a:t>Searching Part-3</a:t>
            </a:r>
            <a:br>
              <a:rPr lang="en-US" dirty="0"/>
            </a:br>
            <a:endParaRPr lang="id-ID" dirty="0"/>
          </a:p>
        </p:txBody>
      </p:sp>
      <p:sp>
        <p:nvSpPr>
          <p:cNvPr id="6147" name="Subtitle 2"/>
          <p:cNvSpPr>
            <a:spLocks noGrp="1"/>
          </p:cNvSpPr>
          <p:nvPr>
            <p:ph type="subTitle" idx="1"/>
          </p:nvPr>
        </p:nvSpPr>
        <p:spPr>
          <a:xfrm>
            <a:off x="3510860" y="4514445"/>
            <a:ext cx="4343400" cy="871042"/>
          </a:xfrm>
        </p:spPr>
        <p:txBody>
          <a:bodyPr>
            <a:normAutofit/>
          </a:bodyPr>
          <a:lstStyle/>
          <a:p>
            <a:pPr marR="0" algn="l"/>
            <a:r>
              <a:rPr lang="en-US" dirty="0" err="1"/>
              <a:t>Kuliah</a:t>
            </a:r>
            <a:r>
              <a:rPr lang="en-US" dirty="0"/>
              <a:t> : 22, 24 &amp; 26 </a:t>
            </a:r>
            <a:r>
              <a:rPr lang="en-US" dirty="0" err="1"/>
              <a:t>Maret</a:t>
            </a:r>
            <a:r>
              <a:rPr lang="en-US" dirty="0"/>
              <a:t> 2021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4180F2-1073-43BA-84C4-D6DAF80F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95C644-29D2-4325-9687-42080E15E814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pic>
        <p:nvPicPr>
          <p:cNvPr id="6150" name="Graphic 70" descr="Magnifying glass">
            <a:extLst>
              <a:ext uri="{FF2B5EF4-FFF2-40B4-BE49-F238E27FC236}">
                <a16:creationId xmlns:a16="http://schemas.microsoft.com/office/drawing/2014/main" id="{9B8C49BF-E28B-4773-9D4B-A7492E2B6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453" y="2020850"/>
            <a:ext cx="2824269" cy="282426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85800"/>
          </a:xfrm>
        </p:spPr>
        <p:txBody>
          <a:bodyPr/>
          <a:lstStyle/>
          <a:p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i="1" dirty="0"/>
              <a:t>H</a:t>
            </a:r>
            <a:r>
              <a:rPr lang="id-ID" i="1" dirty="0"/>
              <a:t>euristic</a:t>
            </a:r>
            <a:r>
              <a:rPr lang="id-ID" dirty="0"/>
              <a:t> </a:t>
            </a:r>
            <a:r>
              <a:rPr lang="en-US" i="1" dirty="0"/>
              <a:t>Search</a:t>
            </a:r>
            <a:endParaRPr lang="id-ID" dirty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609599" y="1600200"/>
            <a:ext cx="6347714" cy="44411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US" sz="20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badi" panose="020B0604020104020204" pitchFamily="34" charset="0"/>
              </a:rPr>
              <a:t>Generate-and-Test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000" dirty="0">
                <a:latin typeface="Abadi" panose="020B0604020104020204" pitchFamily="34" charset="0"/>
              </a:rPr>
              <a:t>Hill Climbing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000" dirty="0">
                <a:latin typeface="Abadi" panose="020B0604020104020204" pitchFamily="34" charset="0"/>
              </a:rPr>
              <a:t>Simulated Annealing (SA)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000" dirty="0">
                <a:latin typeface="Abadi" panose="020B0604020104020204" pitchFamily="34" charset="0"/>
              </a:rPr>
              <a:t>Best-First Search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000" dirty="0">
                <a:latin typeface="Abadi" panose="020B0604020104020204" pitchFamily="34" charset="0"/>
              </a:rPr>
              <a:t>Greedy Best-First Search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000" dirty="0">
                <a:latin typeface="Abadi" panose="020B0604020104020204" pitchFamily="34" charset="0"/>
              </a:rPr>
              <a:t>A*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E3A913-DD71-41DC-9808-E249D21A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914400"/>
          </a:xfrm>
        </p:spPr>
        <p:txBody>
          <a:bodyPr/>
          <a:lstStyle/>
          <a:p>
            <a:r>
              <a:rPr lang="en-US" dirty="0" err="1"/>
              <a:t>Metode</a:t>
            </a:r>
            <a:r>
              <a:rPr lang="en-US" dirty="0"/>
              <a:t> H</a:t>
            </a:r>
            <a:r>
              <a:rPr lang="id-ID" dirty="0"/>
              <a:t>euristic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609599" y="1524000"/>
            <a:ext cx="6347714" cy="4517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latin typeface="Abadi" panose="020B0604020104020204" pitchFamily="34" charset="0"/>
              </a:rPr>
              <a:t>Variasi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dirty="0" err="1">
                <a:latin typeface="Abadi" panose="020B0604020104020204" pitchFamily="34" charset="0"/>
              </a:rPr>
              <a:t>algoritma</a:t>
            </a:r>
            <a:r>
              <a:rPr lang="en-US" sz="2400" dirty="0">
                <a:latin typeface="Abadi" panose="020B0604020104020204" pitchFamily="34" charset="0"/>
              </a:rPr>
              <a:t> A* :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000" dirty="0">
                <a:latin typeface="Abadi" panose="020B0604020104020204" pitchFamily="34" charset="0"/>
              </a:rPr>
              <a:t>Iterative Deepening A* (IDA*)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000" dirty="0">
                <a:latin typeface="Abadi" panose="020B0604020104020204" pitchFamily="34" charset="0"/>
              </a:rPr>
              <a:t>Simplified Memory-Bounded A* (SMA*)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000" dirty="0">
                <a:latin typeface="Abadi" panose="020B0604020104020204" pitchFamily="34" charset="0"/>
              </a:rPr>
              <a:t>Bi-directional A* (BDA*)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000" dirty="0">
                <a:latin typeface="Abadi" panose="020B0604020104020204" pitchFamily="34" charset="0"/>
              </a:rPr>
              <a:t>Modified Bi-directional A* (MBDA*)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000" dirty="0">
                <a:latin typeface="Abadi" panose="020B0604020104020204" pitchFamily="34" charset="0"/>
              </a:rPr>
              <a:t>Dynamic Weighting A* (DWA*)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000" dirty="0">
                <a:latin typeface="Abadi" panose="020B0604020104020204" pitchFamily="34" charset="0"/>
              </a:rPr>
              <a:t>Beam A* (BA*)</a:t>
            </a:r>
          </a:p>
          <a:p>
            <a:endParaRPr lang="id-ID" sz="2000" dirty="0">
              <a:latin typeface="Abadi" panose="020B0604020104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259D73-D9B2-4AAD-A6F6-36EDA5CB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77875"/>
          </a:xfrm>
        </p:spPr>
        <p:txBody>
          <a:bodyPr/>
          <a:lstStyle/>
          <a:p>
            <a:r>
              <a:rPr lang="en-US" dirty="0"/>
              <a:t>Parameter Kinerja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52600"/>
            <a:ext cx="6347714" cy="4288763"/>
          </a:xfrm>
        </p:spPr>
        <p:txBody>
          <a:bodyPr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id-ID" sz="2000" b="1" dirty="0">
                <a:latin typeface="Abadi" panose="020B0604020104020204" pitchFamily="34" charset="0"/>
              </a:rPr>
              <a:t>Completeness</a:t>
            </a:r>
            <a:endParaRPr lang="en-US" sz="2000" dirty="0">
              <a:latin typeface="Abadi" panose="020B0604020104020204" pitchFamily="34" charset="0"/>
            </a:endParaRPr>
          </a:p>
          <a:p>
            <a:pPr lvl="1"/>
            <a:r>
              <a:rPr lang="id-ID" sz="2000" dirty="0">
                <a:latin typeface="Abadi" panose="020B0604020104020204" pitchFamily="34" charset="0"/>
              </a:rPr>
              <a:t>Apakah metode tersebut </a:t>
            </a:r>
            <a:r>
              <a:rPr lang="id-ID" sz="2000" b="1" dirty="0">
                <a:latin typeface="Abadi" panose="020B0604020104020204" pitchFamily="34" charset="0"/>
              </a:rPr>
              <a:t>menjamin penemuan solusi</a:t>
            </a:r>
            <a:r>
              <a:rPr lang="id-ID" sz="2000" dirty="0">
                <a:latin typeface="Abadi" panose="020B0604020104020204" pitchFamily="34" charset="0"/>
              </a:rPr>
              <a:t> jika solusinya memang ada?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b="1" dirty="0">
                <a:latin typeface="Abadi" panose="020B0604020104020204" pitchFamily="34" charset="0"/>
              </a:rPr>
              <a:t>Time complexity</a:t>
            </a:r>
          </a:p>
          <a:p>
            <a:pPr lvl="1"/>
            <a:r>
              <a:rPr lang="en-US" sz="2000" dirty="0" err="1">
                <a:latin typeface="Abadi" panose="020B0604020104020204" pitchFamily="34" charset="0"/>
              </a:rPr>
              <a:t>Berapa</a:t>
            </a:r>
            <a:r>
              <a:rPr lang="en-US" sz="2000" dirty="0">
                <a:latin typeface="Abadi" panose="020B0604020104020204" pitchFamily="34" charset="0"/>
              </a:rPr>
              <a:t> lama </a:t>
            </a:r>
            <a:r>
              <a:rPr lang="en-US" sz="2000" b="1" dirty="0" err="1">
                <a:latin typeface="Abadi" panose="020B0604020104020204" pitchFamily="34" charset="0"/>
              </a:rPr>
              <a:t>waktu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en-US" sz="2000" dirty="0" err="1">
                <a:latin typeface="Abadi" panose="020B0604020104020204" pitchFamily="34" charset="0"/>
              </a:rPr>
              <a:t>diperlukan</a:t>
            </a:r>
            <a:r>
              <a:rPr lang="en-US" sz="2000" dirty="0">
                <a:latin typeface="Abadi" panose="020B0604020104020204" pitchFamily="34" charset="0"/>
              </a:rPr>
              <a:t>?</a:t>
            </a:r>
            <a:endParaRPr lang="id-ID" sz="2000" dirty="0">
              <a:latin typeface="Abadi" panose="020B0604020104020204" pitchFamily="34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000" b="1" dirty="0">
                <a:latin typeface="Abadi" panose="020B0604020104020204" pitchFamily="34" charset="0"/>
              </a:rPr>
              <a:t>Space complexity</a:t>
            </a:r>
          </a:p>
          <a:p>
            <a:pPr lvl="1"/>
            <a:r>
              <a:rPr lang="en-US" sz="2000" dirty="0" err="1">
                <a:latin typeface="Abadi" panose="020B0604020104020204" pitchFamily="34" charset="0"/>
              </a:rPr>
              <a:t>Berapa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banyak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b="1" dirty="0" err="1">
                <a:latin typeface="Abadi" panose="020B0604020104020204" pitchFamily="34" charset="0"/>
              </a:rPr>
              <a:t>memori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en-US" sz="2000" dirty="0" err="1">
                <a:latin typeface="Abadi" panose="020B0604020104020204" pitchFamily="34" charset="0"/>
              </a:rPr>
              <a:t>diperlukan</a:t>
            </a:r>
            <a:r>
              <a:rPr lang="en-US" sz="2000" dirty="0">
                <a:latin typeface="Abadi" panose="020B0604020104020204" pitchFamily="34" charset="0"/>
              </a:rPr>
              <a:t>?</a:t>
            </a:r>
            <a:endParaRPr lang="id-ID" sz="20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id-ID" sz="2000" b="1" dirty="0">
                <a:latin typeface="Abadi" panose="020B0604020104020204" pitchFamily="34" charset="0"/>
              </a:rPr>
              <a:t>Optimality</a:t>
            </a:r>
            <a:endParaRPr lang="en-US" sz="2000" b="1" dirty="0">
              <a:latin typeface="Abadi" panose="020B0604020104020204" pitchFamily="34" charset="0"/>
            </a:endParaRPr>
          </a:p>
          <a:p>
            <a:pPr lvl="1"/>
            <a:r>
              <a:rPr lang="id-ID" sz="2000" dirty="0">
                <a:latin typeface="Abadi" panose="020B0604020104020204" pitchFamily="34" charset="0"/>
              </a:rPr>
              <a:t>Apakah metode tersebut menjamin menemukan solusi yang </a:t>
            </a:r>
            <a:r>
              <a:rPr lang="id-ID" sz="2000" b="1" dirty="0">
                <a:latin typeface="Abadi" panose="020B0604020104020204" pitchFamily="34" charset="0"/>
              </a:rPr>
              <a:t>terbaik</a:t>
            </a:r>
            <a:r>
              <a:rPr lang="id-ID" sz="2000" dirty="0">
                <a:latin typeface="Abadi" panose="020B0604020104020204" pitchFamily="34" charset="0"/>
              </a:rPr>
              <a:t> jika terdapat beberapa solusi berbeda?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2891B-06D2-437A-9F5E-2F38A639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77875"/>
          </a:xfrm>
        </p:spPr>
        <p:txBody>
          <a:bodyPr/>
          <a:lstStyle/>
          <a:p>
            <a:r>
              <a:rPr lang="en-US" i="1" dirty="0"/>
              <a:t>H</a:t>
            </a:r>
            <a:r>
              <a:rPr lang="id-ID" i="1" dirty="0"/>
              <a:t>euristic</a:t>
            </a:r>
            <a:r>
              <a:rPr lang="id-ID" dirty="0"/>
              <a:t> </a:t>
            </a:r>
            <a:r>
              <a:rPr lang="en-US" dirty="0"/>
              <a:t>(</a:t>
            </a:r>
            <a:r>
              <a:rPr lang="en-US" i="1" dirty="0"/>
              <a:t>Informed</a:t>
            </a:r>
            <a:r>
              <a:rPr lang="en-US" dirty="0"/>
              <a:t>) </a:t>
            </a:r>
            <a:r>
              <a:rPr lang="en-US" i="1" dirty="0"/>
              <a:t>Search</a:t>
            </a:r>
            <a:endParaRPr lang="id-ID" dirty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609598" y="1752600"/>
            <a:ext cx="6781801" cy="4288763"/>
          </a:xfrm>
        </p:spPr>
        <p:txBody>
          <a:bodyPr>
            <a:normAutofit/>
          </a:bodyPr>
          <a:lstStyle/>
          <a:p>
            <a:r>
              <a:rPr lang="en-US" sz="2000" i="1" dirty="0">
                <a:latin typeface="Abadi" panose="020B0604020104020204" pitchFamily="34" charset="0"/>
              </a:rPr>
              <a:t>H</a:t>
            </a:r>
            <a:r>
              <a:rPr lang="id-ID" sz="2000" i="1" dirty="0">
                <a:latin typeface="Abadi" panose="020B0604020104020204" pitchFamily="34" charset="0"/>
              </a:rPr>
              <a:t>euristic</a:t>
            </a:r>
            <a:r>
              <a:rPr lang="id-ID" sz="2000" dirty="0">
                <a:latin typeface="Abadi" panose="020B0604020104020204" pitchFamily="34" charset="0"/>
              </a:rPr>
              <a:t> berasal dari bahasa Yunani, </a:t>
            </a:r>
            <a:r>
              <a:rPr lang="id-ID" sz="2000" i="1" dirty="0">
                <a:latin typeface="Abadi" panose="020B0604020104020204" pitchFamily="34" charset="0"/>
              </a:rPr>
              <a:t>heuriskein</a:t>
            </a:r>
            <a:r>
              <a:rPr lang="id-ID" sz="2000" dirty="0">
                <a:latin typeface="Abadi" panose="020B0604020104020204" pitchFamily="34" charset="0"/>
              </a:rPr>
              <a:t>, yang berarti ‘</a:t>
            </a:r>
            <a:r>
              <a:rPr lang="id-ID" sz="2000" b="1" dirty="0">
                <a:latin typeface="Abadi" panose="020B0604020104020204" pitchFamily="34" charset="0"/>
              </a:rPr>
              <a:t>mencari</a:t>
            </a:r>
            <a:r>
              <a:rPr lang="id-ID" sz="2000" dirty="0">
                <a:latin typeface="Abadi" panose="020B0604020104020204" pitchFamily="34" charset="0"/>
              </a:rPr>
              <a:t>’ atau ‘</a:t>
            </a:r>
            <a:r>
              <a:rPr lang="id-ID" sz="2000" b="1" dirty="0">
                <a:latin typeface="Abadi" panose="020B0604020104020204" pitchFamily="34" charset="0"/>
              </a:rPr>
              <a:t>menemukan’</a:t>
            </a:r>
            <a:r>
              <a:rPr lang="id-ID" sz="2000" dirty="0">
                <a:latin typeface="Abadi" panose="020B0604020104020204" pitchFamily="34" charset="0"/>
              </a:rPr>
              <a:t>. 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id-ID" sz="2000" dirty="0">
                <a:latin typeface="Abadi" panose="020B0604020104020204" pitchFamily="34" charset="0"/>
              </a:rPr>
              <a:t>Dalam dunia pemrograman, heuristik </a:t>
            </a:r>
            <a:r>
              <a:rPr lang="en-US" sz="2000" dirty="0" err="1">
                <a:latin typeface="Abadi" panose="020B0604020104020204" pitchFamily="34" charset="0"/>
              </a:rPr>
              <a:t>adalah</a:t>
            </a:r>
            <a:r>
              <a:rPr lang="id-ID" sz="2000" dirty="0">
                <a:latin typeface="Abadi" panose="020B0604020104020204" pitchFamily="34" charset="0"/>
              </a:rPr>
              <a:t> lawan kata dari algoritmik</a:t>
            </a:r>
            <a:r>
              <a:rPr lang="en-US" sz="2000" dirty="0">
                <a:latin typeface="Abadi" panose="020B0604020104020204" pitchFamily="34" charset="0"/>
              </a:rPr>
              <a:t>.</a:t>
            </a:r>
          </a:p>
          <a:p>
            <a:r>
              <a:rPr lang="en-US" sz="2000" dirty="0" err="1">
                <a:latin typeface="Abadi" panose="020B0604020104020204" pitchFamily="34" charset="0"/>
              </a:rPr>
              <a:t>Heuristik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dapat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diartikan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sebagai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suatu</a:t>
            </a:r>
            <a:r>
              <a:rPr lang="en-US" sz="2000" dirty="0">
                <a:latin typeface="Abadi" panose="020B0604020104020204" pitchFamily="34" charset="0"/>
              </a:rPr>
              <a:t> proses yang “</a:t>
            </a:r>
            <a:r>
              <a:rPr lang="en-US" sz="2000" b="1" dirty="0" err="1">
                <a:latin typeface="Abadi" panose="020B0604020104020204" pitchFamily="34" charset="0"/>
              </a:rPr>
              <a:t>Memungkinkan</a:t>
            </a:r>
            <a:r>
              <a:rPr lang="en-US" sz="2000" dirty="0">
                <a:latin typeface="Abadi" panose="020B0604020104020204" pitchFamily="34" charset="0"/>
              </a:rPr>
              <a:t>” </a:t>
            </a:r>
            <a:r>
              <a:rPr lang="en-US" sz="2000" dirty="0" err="1">
                <a:latin typeface="Abadi" panose="020B0604020104020204" pitchFamily="34" charset="0"/>
              </a:rPr>
              <a:t>menyelesaikan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suatu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masalah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tetapi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tidak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ada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jaminan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bahwa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en-US" sz="2000" dirty="0" err="1">
                <a:latin typeface="Abadi" panose="020B0604020104020204" pitchFamily="34" charset="0"/>
              </a:rPr>
              <a:t>dicari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selalu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dapat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ditemukan</a:t>
            </a:r>
            <a:r>
              <a:rPr lang="en-US" sz="2000" dirty="0">
                <a:latin typeface="Abadi" panose="020B0604020104020204" pitchFamily="34" charset="0"/>
              </a:rPr>
              <a:t>.</a:t>
            </a:r>
          </a:p>
          <a:p>
            <a:r>
              <a:rPr lang="en-US" sz="2000" dirty="0">
                <a:latin typeface="Abadi" panose="020B0604020104020204" pitchFamily="34" charset="0"/>
              </a:rPr>
              <a:t>H</a:t>
            </a:r>
            <a:r>
              <a:rPr lang="id-ID" sz="2000" dirty="0">
                <a:latin typeface="Abadi" panose="020B0604020104020204" pitchFamily="34" charset="0"/>
              </a:rPr>
              <a:t>euristik </a:t>
            </a:r>
            <a:r>
              <a:rPr lang="en-US" sz="2000" dirty="0">
                <a:latin typeface="Abadi" panose="020B0604020104020204" pitchFamily="34" charset="0"/>
                <a:sym typeface="Wingdings" pitchFamily="2" charset="2"/>
              </a:rPr>
              <a:t> </a:t>
            </a:r>
            <a:r>
              <a:rPr lang="id-ID" sz="2000" dirty="0">
                <a:latin typeface="Abadi" panose="020B0604020104020204" pitchFamily="34" charset="0"/>
              </a:rPr>
              <a:t>fungsi yang memberikan suatu nilai berupa biaya perkiraan (estimasi) dari suatu solusi.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D366C-491E-46E4-9929-859D7ED25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1">
            <a:extLst>
              <a:ext uri="{FF2B5EF4-FFF2-40B4-BE49-F238E27FC236}">
                <a16:creationId xmlns:a16="http://schemas.microsoft.com/office/drawing/2014/main" id="{316A5477-3C57-4E0D-9CD7-5A197F69C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400" dirty="0" err="1"/>
              <a:t>Pencarian</a:t>
            </a:r>
            <a:r>
              <a:rPr lang="en-US" altLang="en-US" sz="4400" dirty="0"/>
              <a:t> </a:t>
            </a:r>
            <a:r>
              <a:rPr lang="en-US" altLang="en-US" sz="4400" dirty="0" err="1"/>
              <a:t>Heuristik</a:t>
            </a:r>
            <a:endParaRPr lang="en-US" altLang="en-US" sz="4400" dirty="0"/>
          </a:p>
        </p:txBody>
      </p:sp>
      <p:sp>
        <p:nvSpPr>
          <p:cNvPr id="66563" name="Text Box 2">
            <a:extLst>
              <a:ext uri="{FF2B5EF4-FFF2-40B4-BE49-F238E27FC236}">
                <a16:creationId xmlns:a16="http://schemas.microsoft.com/office/drawing/2014/main" id="{F5FA9503-FE94-4AA9-A3B8-DF9EB7DEE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1788" indent="-331788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 marL="731838" indent="-274638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eaLnBrk="1" hangingPunct="1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000" dirty="0" err="1">
                <a:latin typeface="+mn-lt"/>
              </a:rPr>
              <a:t>Kelemahan</a:t>
            </a:r>
            <a:r>
              <a:rPr lang="en-US" altLang="en-US" sz="2000" dirty="0">
                <a:latin typeface="+mn-lt"/>
              </a:rPr>
              <a:t> blind search :</a:t>
            </a:r>
          </a:p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en-US" altLang="en-US" sz="2000" dirty="0">
                <a:latin typeface="+mn-lt"/>
              </a:rPr>
              <a:t>Waktu </a:t>
            </a:r>
            <a:r>
              <a:rPr lang="en-US" altLang="en-US" sz="2000" dirty="0" err="1">
                <a:latin typeface="+mn-lt"/>
              </a:rPr>
              <a:t>akses</a:t>
            </a:r>
            <a:r>
              <a:rPr lang="en-US" altLang="en-US" sz="2000" dirty="0">
                <a:latin typeface="+mn-lt"/>
              </a:rPr>
              <a:t> lama</a:t>
            </a:r>
          </a:p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en-US" altLang="en-US" sz="2000" dirty="0" err="1">
                <a:latin typeface="+mn-lt"/>
              </a:rPr>
              <a:t>Memori</a:t>
            </a:r>
            <a:r>
              <a:rPr lang="en-US" altLang="en-US" sz="2000" dirty="0">
                <a:latin typeface="+mn-lt"/>
              </a:rPr>
              <a:t> yang </a:t>
            </a:r>
            <a:r>
              <a:rPr lang="en-US" altLang="en-US" sz="2000" dirty="0" err="1">
                <a:latin typeface="+mn-lt"/>
              </a:rPr>
              <a:t>dibutuhkan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besar</a:t>
            </a:r>
            <a:endParaRPr lang="en-US" altLang="en-US" sz="2000" dirty="0">
              <a:latin typeface="+mn-lt"/>
            </a:endParaRPr>
          </a:p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en-US" altLang="en-US" sz="2000" dirty="0">
                <a:latin typeface="+mn-lt"/>
              </a:rPr>
              <a:t>Ruang </a:t>
            </a:r>
            <a:r>
              <a:rPr lang="en-US" altLang="en-US" sz="2000" dirty="0" err="1">
                <a:latin typeface="+mn-lt"/>
              </a:rPr>
              <a:t>masalah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besar</a:t>
            </a:r>
            <a:r>
              <a:rPr lang="en-US" altLang="en-US" sz="2000" dirty="0">
                <a:latin typeface="+mn-lt"/>
              </a:rPr>
              <a:t> – </a:t>
            </a:r>
            <a:r>
              <a:rPr lang="en-US" altLang="en-US" sz="2000" dirty="0" err="1">
                <a:latin typeface="+mn-lt"/>
              </a:rPr>
              <a:t>tidak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cocok</a:t>
            </a:r>
            <a:r>
              <a:rPr lang="en-US" altLang="en-US" sz="2000" dirty="0">
                <a:latin typeface="+mn-lt"/>
              </a:rPr>
              <a:t> – </a:t>
            </a:r>
            <a:r>
              <a:rPr lang="en-US" altLang="en-US" sz="2000" dirty="0" err="1">
                <a:latin typeface="+mn-lt"/>
              </a:rPr>
              <a:t>karena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keterbasan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kecepatan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komputer</a:t>
            </a:r>
            <a:r>
              <a:rPr lang="en-US" altLang="en-US" sz="2000" dirty="0">
                <a:latin typeface="+mn-lt"/>
              </a:rPr>
              <a:t> dan </a:t>
            </a:r>
            <a:r>
              <a:rPr lang="en-US" altLang="en-US" sz="2000" dirty="0" err="1">
                <a:latin typeface="+mn-lt"/>
              </a:rPr>
              <a:t>memori</a:t>
            </a:r>
            <a:endParaRPr lang="en-US" altLang="en-US" sz="2000" dirty="0">
              <a:latin typeface="+mn-lt"/>
            </a:endParaRPr>
          </a:p>
          <a:p>
            <a:pPr eaLnBrk="1" hangingPunct="1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n-lt"/>
              </a:rPr>
              <a:t>Solusi - </a:t>
            </a:r>
            <a:r>
              <a:rPr lang="en-US" altLang="en-US" sz="2000" dirty="0" err="1">
                <a:latin typeface="+mn-lt"/>
              </a:rPr>
              <a:t>Pencarian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heuristik</a:t>
            </a:r>
            <a:endParaRPr lang="en-US" altLang="en-US" sz="2000" dirty="0">
              <a:latin typeface="+mn-lt"/>
            </a:endParaRPr>
          </a:p>
          <a:p>
            <a:pPr eaLnBrk="1" hangingPunct="1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000" dirty="0" err="1">
                <a:latin typeface="+mn-lt"/>
              </a:rPr>
              <a:t>Pencarian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heuristik</a:t>
            </a:r>
            <a:r>
              <a:rPr lang="en-US" altLang="en-US" sz="2000" dirty="0">
                <a:latin typeface="+mn-lt"/>
              </a:rPr>
              <a:t> – </a:t>
            </a:r>
            <a:r>
              <a:rPr lang="en-US" altLang="en-US" sz="2000" dirty="0" err="1">
                <a:latin typeface="+mn-lt"/>
              </a:rPr>
              <a:t>menggunakan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suatu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fungsi</a:t>
            </a:r>
            <a:r>
              <a:rPr lang="en-US" altLang="en-US" sz="2000" dirty="0">
                <a:latin typeface="+mn-lt"/>
              </a:rPr>
              <a:t> yang </a:t>
            </a:r>
            <a:r>
              <a:rPr lang="en-US" altLang="en-US" sz="2000" dirty="0" err="1">
                <a:latin typeface="+mn-lt"/>
              </a:rPr>
              <a:t>menghitung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biaya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perkiraan</a:t>
            </a:r>
            <a:r>
              <a:rPr lang="en-US" altLang="en-US" sz="2000" dirty="0">
                <a:latin typeface="+mn-lt"/>
              </a:rPr>
              <a:t>/</a:t>
            </a:r>
            <a:r>
              <a:rPr lang="en-US" altLang="en-US" sz="2000" dirty="0" err="1">
                <a:latin typeface="+mn-lt"/>
              </a:rPr>
              <a:t>estimasi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dari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suatu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simpul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tertentu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menuju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ke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simpul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tujuan</a:t>
            </a:r>
            <a:r>
              <a:rPr lang="en-US" altLang="en-US" sz="2000" dirty="0">
                <a:latin typeface="+mn-lt"/>
              </a:rPr>
              <a:t> (</a:t>
            </a:r>
            <a:r>
              <a:rPr lang="en-US" altLang="en-US" sz="2000" dirty="0" err="1">
                <a:latin typeface="+mn-lt"/>
              </a:rPr>
              <a:t>disebut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fungsi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heuristik</a:t>
            </a:r>
            <a:r>
              <a:rPr lang="en-US" altLang="en-US" sz="2000" dirty="0">
                <a:latin typeface="+mn-lt"/>
              </a:rPr>
              <a:t>) – h(n)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1">
            <a:extLst>
              <a:ext uri="{FF2B5EF4-FFF2-40B4-BE49-F238E27FC236}">
                <a16:creationId xmlns:a16="http://schemas.microsoft.com/office/drawing/2014/main" id="{722E36C9-1D1D-4483-A592-398493B87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400"/>
              <a:t>Contoh</a:t>
            </a:r>
          </a:p>
        </p:txBody>
      </p:sp>
      <p:sp>
        <p:nvSpPr>
          <p:cNvPr id="68611" name="Text Box 2">
            <a:extLst>
              <a:ext uri="{FF2B5EF4-FFF2-40B4-BE49-F238E27FC236}">
                <a16:creationId xmlns:a16="http://schemas.microsoft.com/office/drawing/2014/main" id="{9FA80D75-8D97-4CE6-B023-CC21D5975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036638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1788" indent="-331788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 marL="731838" indent="-274638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/>
              <a:t>Kasus</a:t>
            </a:r>
            <a:r>
              <a:rPr lang="en-US" altLang="en-US" dirty="0"/>
              <a:t> 8-puzzle</a:t>
            </a:r>
          </a:p>
          <a:p>
            <a:pPr lvl="1" eaLnBrk="1" hangingPunct="1">
              <a:buFont typeface="Arial" panose="020B0604020202020204" pitchFamily="34" charset="0"/>
              <a:buChar char="–"/>
            </a:pPr>
            <a:r>
              <a:rPr lang="en-US" altLang="en-US" dirty="0"/>
              <a:t>Ada 4 operator :</a:t>
            </a:r>
          </a:p>
          <a:p>
            <a:pPr marL="1257300" lvl="2" indent="-342900" eaLnBrk="1" hangingPunct="1">
              <a:buFont typeface="Wingdings" panose="05000000000000000000" pitchFamily="2" charset="2"/>
              <a:buChar char="§"/>
            </a:pPr>
            <a:r>
              <a:rPr lang="en-US" altLang="en-US" dirty="0" err="1"/>
              <a:t>Ubin</a:t>
            </a:r>
            <a:r>
              <a:rPr lang="en-US" altLang="en-US" dirty="0"/>
              <a:t> </a:t>
            </a:r>
            <a:r>
              <a:rPr lang="en-US" altLang="en-US" dirty="0" err="1"/>
              <a:t>kosong</a:t>
            </a:r>
            <a:r>
              <a:rPr lang="en-US" altLang="en-US" dirty="0"/>
              <a:t> </a:t>
            </a:r>
            <a:r>
              <a:rPr lang="en-US" altLang="en-US" dirty="0" err="1"/>
              <a:t>digeser</a:t>
            </a:r>
            <a:r>
              <a:rPr lang="en-US" altLang="en-US" dirty="0"/>
              <a:t> </a:t>
            </a:r>
            <a:r>
              <a:rPr lang="en-US" altLang="en-US" dirty="0" err="1"/>
              <a:t>ke</a:t>
            </a:r>
            <a:r>
              <a:rPr lang="en-US" altLang="en-US" dirty="0"/>
              <a:t> </a:t>
            </a:r>
            <a:r>
              <a:rPr lang="en-US" altLang="en-US" dirty="0" err="1"/>
              <a:t>kiri</a:t>
            </a:r>
            <a:r>
              <a:rPr lang="en-US" altLang="en-US" dirty="0"/>
              <a:t> </a:t>
            </a:r>
          </a:p>
          <a:p>
            <a:pPr marL="1257300" lvl="2" indent="-342900" eaLnBrk="1" hangingPunct="1">
              <a:buFont typeface="Wingdings" panose="05000000000000000000" pitchFamily="2" charset="2"/>
              <a:buChar char="§"/>
            </a:pPr>
            <a:r>
              <a:rPr lang="en-US" altLang="en-US" dirty="0" err="1"/>
              <a:t>Ubin</a:t>
            </a:r>
            <a:r>
              <a:rPr lang="en-US" altLang="en-US" dirty="0"/>
              <a:t> </a:t>
            </a:r>
            <a:r>
              <a:rPr lang="en-US" altLang="en-US" dirty="0" err="1"/>
              <a:t>kosong</a:t>
            </a:r>
            <a:r>
              <a:rPr lang="en-US" altLang="en-US" dirty="0"/>
              <a:t> </a:t>
            </a:r>
            <a:r>
              <a:rPr lang="en-US" altLang="en-US" dirty="0" err="1"/>
              <a:t>digeser</a:t>
            </a:r>
            <a:r>
              <a:rPr lang="en-US" altLang="en-US" dirty="0"/>
              <a:t> </a:t>
            </a:r>
            <a:r>
              <a:rPr lang="en-US" altLang="en-US" dirty="0" err="1"/>
              <a:t>ke</a:t>
            </a:r>
            <a:r>
              <a:rPr lang="en-US" altLang="en-US" dirty="0"/>
              <a:t> </a:t>
            </a:r>
            <a:r>
              <a:rPr lang="en-US" altLang="en-US" dirty="0" err="1"/>
              <a:t>kanan</a:t>
            </a:r>
            <a:r>
              <a:rPr lang="en-US" altLang="en-US" dirty="0"/>
              <a:t> </a:t>
            </a:r>
          </a:p>
          <a:p>
            <a:pPr marL="1257300" lvl="2" indent="-342900" eaLnBrk="1" hangingPunct="1">
              <a:buFont typeface="Wingdings" panose="05000000000000000000" pitchFamily="2" charset="2"/>
              <a:buChar char="§"/>
            </a:pPr>
            <a:r>
              <a:rPr lang="en-US" altLang="en-US" dirty="0" err="1"/>
              <a:t>Ubin</a:t>
            </a:r>
            <a:r>
              <a:rPr lang="en-US" altLang="en-US" dirty="0"/>
              <a:t> </a:t>
            </a:r>
            <a:r>
              <a:rPr lang="en-US" altLang="en-US" dirty="0" err="1"/>
              <a:t>kosong</a:t>
            </a:r>
            <a:r>
              <a:rPr lang="en-US" altLang="en-US" dirty="0"/>
              <a:t> </a:t>
            </a:r>
            <a:r>
              <a:rPr lang="en-US" altLang="en-US" dirty="0" err="1"/>
              <a:t>digeser</a:t>
            </a:r>
            <a:r>
              <a:rPr lang="en-US" altLang="en-US" dirty="0"/>
              <a:t> </a:t>
            </a:r>
            <a:r>
              <a:rPr lang="en-US" altLang="en-US" dirty="0" err="1"/>
              <a:t>ke</a:t>
            </a:r>
            <a:r>
              <a:rPr lang="en-US" altLang="en-US" dirty="0"/>
              <a:t> </a:t>
            </a:r>
            <a:r>
              <a:rPr lang="en-US" altLang="en-US" dirty="0" err="1"/>
              <a:t>bawah</a:t>
            </a:r>
            <a:r>
              <a:rPr lang="en-US" altLang="en-US" dirty="0"/>
              <a:t> </a:t>
            </a:r>
            <a:r>
              <a:rPr lang="en-US" altLang="en-US" dirty="0" err="1"/>
              <a:t>Ubin</a:t>
            </a:r>
            <a:r>
              <a:rPr lang="en-US" altLang="en-US" dirty="0"/>
              <a:t> </a:t>
            </a:r>
            <a:r>
              <a:rPr lang="en-US" altLang="en-US" dirty="0" err="1"/>
              <a:t>kosong</a:t>
            </a:r>
            <a:r>
              <a:rPr lang="en-US" altLang="en-US" dirty="0"/>
              <a:t> </a:t>
            </a:r>
            <a:r>
              <a:rPr lang="en-US" altLang="en-US" dirty="0" err="1"/>
              <a:t>digeser</a:t>
            </a:r>
            <a:r>
              <a:rPr lang="en-US" altLang="en-US" dirty="0"/>
              <a:t> </a:t>
            </a:r>
            <a:r>
              <a:rPr lang="en-US" altLang="en-US" dirty="0" err="1"/>
              <a:t>ke</a:t>
            </a:r>
            <a:r>
              <a:rPr lang="en-US" altLang="en-US" dirty="0"/>
              <a:t> </a:t>
            </a:r>
            <a:r>
              <a:rPr lang="en-US" altLang="en-US" dirty="0" err="1"/>
              <a:t>atas</a:t>
            </a:r>
            <a:r>
              <a:rPr lang="en-US" altLang="en-US" dirty="0"/>
              <a:t> </a:t>
            </a:r>
          </a:p>
        </p:txBody>
      </p:sp>
      <p:pic>
        <p:nvPicPr>
          <p:cNvPr id="68612" name="Picture 3">
            <a:extLst>
              <a:ext uri="{FF2B5EF4-FFF2-40B4-BE49-F238E27FC236}">
                <a16:creationId xmlns:a16="http://schemas.microsoft.com/office/drawing/2014/main" id="{9EDC0964-917A-47F7-B309-DB6F4BA5B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962400"/>
            <a:ext cx="6248400" cy="280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1">
            <a:extLst>
              <a:ext uri="{FF2B5EF4-FFF2-40B4-BE49-F238E27FC236}">
                <a16:creationId xmlns:a16="http://schemas.microsoft.com/office/drawing/2014/main" id="{53EE1387-4D85-411E-9F43-FB1CDEED4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400"/>
              <a:t>Contoh</a:t>
            </a:r>
          </a:p>
        </p:txBody>
      </p:sp>
      <p:sp>
        <p:nvSpPr>
          <p:cNvPr id="37890" name="Text Box 2">
            <a:extLst>
              <a:ext uri="{FF2B5EF4-FFF2-40B4-BE49-F238E27FC236}">
                <a16:creationId xmlns:a16="http://schemas.microsoft.com/office/drawing/2014/main" id="{047AB75E-E6A4-444B-8D8A-115FE5800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764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1788" indent="-331788"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>
                <a:solidFill>
                  <a:srgbClr val="FFFFFF"/>
                </a:solidFill>
                <a:latin typeface="Calibri" panose="020F0502020204030204" pitchFamily="34" charset="0"/>
                <a:ea typeface="DejaVu Sans" charset="0"/>
                <a:cs typeface="DejaVu Sans" charset="0"/>
              </a:defRPr>
            </a:lvl1pPr>
            <a:lvl2pPr marL="731838" indent="-274638"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>
                <a:solidFill>
                  <a:srgbClr val="FFFFFF"/>
                </a:solidFill>
                <a:latin typeface="Calibri" panose="020F0502020204030204" pitchFamily="34" charset="0"/>
                <a:ea typeface="DejaVu Sans" charset="0"/>
                <a:cs typeface="DejaVu Sans" charset="0"/>
              </a:defRPr>
            </a:lvl2pPr>
            <a:lvl3pPr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>
                <a:solidFill>
                  <a:srgbClr val="FFFFFF"/>
                </a:solidFill>
                <a:latin typeface="Calibri" panose="020F0502020204030204" pitchFamily="34" charset="0"/>
                <a:ea typeface="DejaVu Sans" charset="0"/>
                <a:cs typeface="DejaVu Sans" charset="0"/>
              </a:defRPr>
            </a:lvl3pPr>
            <a:lvl4pPr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>
                <a:solidFill>
                  <a:srgbClr val="FFFFFF"/>
                </a:solidFill>
                <a:latin typeface="Calibri" panose="020F0502020204030204" pitchFamily="34" charset="0"/>
                <a:ea typeface="DejaVu Sans" charset="0"/>
                <a:cs typeface="DejaVu Sans" charset="0"/>
              </a:defRPr>
            </a:lvl4pPr>
            <a:lvl5pPr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>
                <a:solidFill>
                  <a:srgbClr val="FFFFFF"/>
                </a:solidFill>
                <a:latin typeface="Calibri" panose="020F0502020204030204" pitchFamily="34" charset="0"/>
                <a:ea typeface="DejaVu Sans" charset="0"/>
                <a:cs typeface="DejaVu Sans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>
                <a:solidFill>
                  <a:srgbClr val="FFFFFF"/>
                </a:solidFill>
                <a:latin typeface="Calibri" panose="020F0502020204030204" pitchFamily="34" charset="0"/>
                <a:ea typeface="DejaVu Sans" charset="0"/>
                <a:cs typeface="DejaVu Sans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>
                <a:solidFill>
                  <a:srgbClr val="FFFFFF"/>
                </a:solidFill>
                <a:latin typeface="Calibri" panose="020F0502020204030204" pitchFamily="34" charset="0"/>
                <a:ea typeface="DejaVu Sans" charset="0"/>
                <a:cs typeface="DejaVu Sans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>
                <a:solidFill>
                  <a:srgbClr val="FFFFFF"/>
                </a:solidFill>
                <a:latin typeface="Calibri" panose="020F0502020204030204" pitchFamily="34" charset="0"/>
                <a:ea typeface="DejaVu Sans" charset="0"/>
                <a:cs typeface="DejaVu Sans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>
                <a:solidFill>
                  <a:srgbClr val="FFFFFF"/>
                </a:solidFill>
                <a:latin typeface="Calibri" panose="020F0502020204030204" pitchFamily="34" charset="0"/>
                <a:ea typeface="DejaVu Sans" charset="0"/>
                <a:cs typeface="DejaVu Sans" charset="0"/>
              </a:defRPr>
            </a:lvl9pPr>
          </a:lstStyle>
          <a:p>
            <a:pPr eaLnBrk="1" hangingPunct="1"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400">
                <a:solidFill>
                  <a:srgbClr val="000000"/>
                </a:solidFill>
              </a:rPr>
              <a:t>Diberikan informasi khusus :</a:t>
            </a:r>
          </a:p>
          <a:p>
            <a:pPr lvl="1" eaLnBrk="1" hangingPunct="1"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/>
            </a:pPr>
            <a:r>
              <a:rPr lang="en-US" sz="2400">
                <a:solidFill>
                  <a:srgbClr val="000000"/>
                </a:solidFill>
              </a:rPr>
              <a:t>Untuk jumlah ubin yang menempati posisi yang benar  </a:t>
            </a:r>
          </a:p>
          <a:p>
            <a:pPr lvl="1" eaLnBrk="1" hangingPunct="1"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/>
            </a:pPr>
            <a:r>
              <a:rPr lang="en-US" sz="2400">
                <a:solidFill>
                  <a:srgbClr val="000000"/>
                </a:solidFill>
              </a:rPr>
              <a:t>Jumlah yang lebih tinggi adalah yang lebih diharapkan (lebih baik) </a:t>
            </a:r>
          </a:p>
          <a:p>
            <a:pPr marL="334963" eaLnBrk="1" hangingPunct="1">
              <a:spcBef>
                <a:spcPts val="800"/>
              </a:spcBef>
              <a:buSzPct val="100000"/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1">
            <a:extLst>
              <a:ext uri="{FF2B5EF4-FFF2-40B4-BE49-F238E27FC236}">
                <a16:creationId xmlns:a16="http://schemas.microsoft.com/office/drawing/2014/main" id="{291955DA-589A-4D44-872E-E1F194B2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8600"/>
            <a:ext cx="8077200" cy="651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1">
            <a:extLst>
              <a:ext uri="{FF2B5EF4-FFF2-40B4-BE49-F238E27FC236}">
                <a16:creationId xmlns:a16="http://schemas.microsoft.com/office/drawing/2014/main" id="{78B7868C-38AF-4E95-8FAE-A2B058900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400"/>
              <a:t>Contoh</a:t>
            </a:r>
          </a:p>
        </p:txBody>
      </p:sp>
      <p:sp>
        <p:nvSpPr>
          <p:cNvPr id="74755" name="Text Box 2">
            <a:extLst>
              <a:ext uri="{FF2B5EF4-FFF2-40B4-BE49-F238E27FC236}">
                <a16:creationId xmlns:a16="http://schemas.microsoft.com/office/drawing/2014/main" id="{5C7E8FA7-B7D4-47B6-96CE-6F6BFDC86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1788" indent="-331788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 marL="731838" indent="-274638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/>
              <a:t>Diberikan</a:t>
            </a:r>
            <a:r>
              <a:rPr lang="en-US" altLang="en-US" dirty="0"/>
              <a:t> </a:t>
            </a:r>
            <a:r>
              <a:rPr lang="en-US" altLang="en-US" dirty="0" err="1"/>
              <a:t>informasi</a:t>
            </a:r>
            <a:r>
              <a:rPr lang="en-US" altLang="en-US" dirty="0"/>
              <a:t> </a:t>
            </a:r>
            <a:r>
              <a:rPr lang="en-US" altLang="en-US" dirty="0" err="1"/>
              <a:t>khusus</a:t>
            </a:r>
            <a:r>
              <a:rPr lang="en-US" altLang="en-US" dirty="0"/>
              <a:t> :</a:t>
            </a:r>
          </a:p>
          <a:p>
            <a:pPr lvl="1" eaLnBrk="1" hangingPunct="1">
              <a:buFont typeface="Arial" panose="020B0604020202020204" pitchFamily="34" charset="0"/>
              <a:buChar char="–"/>
            </a:pP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jumlah</a:t>
            </a:r>
            <a:r>
              <a:rPr lang="en-US" altLang="en-US" dirty="0"/>
              <a:t> </a:t>
            </a:r>
            <a:r>
              <a:rPr lang="en-US" altLang="en-US" dirty="0" err="1"/>
              <a:t>ubin</a:t>
            </a:r>
            <a:r>
              <a:rPr lang="en-US" altLang="en-US" dirty="0"/>
              <a:t> yang </a:t>
            </a:r>
            <a:r>
              <a:rPr lang="en-US" altLang="en-US" dirty="0" err="1"/>
              <a:t>menempati</a:t>
            </a:r>
            <a:r>
              <a:rPr lang="en-US" altLang="en-US" dirty="0"/>
              <a:t> </a:t>
            </a:r>
            <a:r>
              <a:rPr lang="en-US" altLang="en-US" dirty="0" err="1"/>
              <a:t>posisi</a:t>
            </a:r>
            <a:r>
              <a:rPr lang="en-US" altLang="en-US" dirty="0"/>
              <a:t> yang salah  </a:t>
            </a:r>
          </a:p>
          <a:p>
            <a:pPr lvl="1" eaLnBrk="1" hangingPunct="1">
              <a:buFont typeface="Arial" panose="020B0604020202020204" pitchFamily="34" charset="0"/>
              <a:buChar char="–"/>
            </a:pPr>
            <a:r>
              <a:rPr lang="en-US" altLang="en-US" dirty="0" err="1"/>
              <a:t>Jumlah</a:t>
            </a:r>
            <a:r>
              <a:rPr lang="en-US" altLang="en-US" dirty="0"/>
              <a:t> yang </a:t>
            </a:r>
            <a:r>
              <a:rPr lang="en-US" altLang="en-US" dirty="0" err="1"/>
              <a:t>lebih</a:t>
            </a:r>
            <a:r>
              <a:rPr lang="en-US" altLang="en-US" dirty="0"/>
              <a:t> </a:t>
            </a:r>
            <a:r>
              <a:rPr lang="en-US" altLang="en-US" dirty="0" err="1"/>
              <a:t>kecil</a:t>
            </a:r>
            <a:r>
              <a:rPr lang="en-US" altLang="en-US" dirty="0"/>
              <a:t> </a:t>
            </a:r>
            <a:r>
              <a:rPr lang="en-US" altLang="en-US" dirty="0" err="1"/>
              <a:t>adalah</a:t>
            </a:r>
            <a:r>
              <a:rPr lang="en-US" altLang="en-US" dirty="0"/>
              <a:t> yang </a:t>
            </a:r>
            <a:r>
              <a:rPr lang="en-US" altLang="en-US" dirty="0" err="1"/>
              <a:t>diharapkan</a:t>
            </a:r>
            <a:r>
              <a:rPr lang="en-US" altLang="en-US" dirty="0"/>
              <a:t> (</a:t>
            </a:r>
            <a:r>
              <a:rPr lang="en-US" altLang="en-US" dirty="0" err="1"/>
              <a:t>lebih</a:t>
            </a:r>
            <a:r>
              <a:rPr lang="en-US" altLang="en-US" dirty="0"/>
              <a:t> </a:t>
            </a:r>
            <a:r>
              <a:rPr lang="en-US" altLang="en-US" dirty="0" err="1"/>
              <a:t>baik</a:t>
            </a:r>
            <a:r>
              <a:rPr lang="en-US" altLang="en-US" dirty="0"/>
              <a:t>)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1">
            <a:extLst>
              <a:ext uri="{FF2B5EF4-FFF2-40B4-BE49-F238E27FC236}">
                <a16:creationId xmlns:a16="http://schemas.microsoft.com/office/drawing/2014/main" id="{6629CBBB-B1A3-4940-A47E-7307B56BF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5413"/>
            <a:ext cx="8077200" cy="665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1">
            <a:extLst>
              <a:ext uri="{FF2B5EF4-FFF2-40B4-BE49-F238E27FC236}">
                <a16:creationId xmlns:a16="http://schemas.microsoft.com/office/drawing/2014/main" id="{04C22D46-4E07-4F13-AC91-D8EB4E473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400"/>
              <a:t>Contoh</a:t>
            </a:r>
          </a:p>
        </p:txBody>
      </p:sp>
      <p:sp>
        <p:nvSpPr>
          <p:cNvPr id="78851" name="Text Box 2">
            <a:extLst>
              <a:ext uri="{FF2B5EF4-FFF2-40B4-BE49-F238E27FC236}">
                <a16:creationId xmlns:a16="http://schemas.microsoft.com/office/drawing/2014/main" id="{9B622B2C-FB7A-488D-A650-32083021A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31788" indent="-331788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1788" algn="l"/>
                <a:tab pos="788988" algn="l"/>
                <a:tab pos="1246188" algn="l"/>
                <a:tab pos="1703388" algn="l"/>
                <a:tab pos="2160588" algn="l"/>
                <a:tab pos="2617788" algn="l"/>
                <a:tab pos="3074988" algn="l"/>
                <a:tab pos="3532188" algn="l"/>
                <a:tab pos="3989388" algn="l"/>
                <a:tab pos="4446588" algn="l"/>
                <a:tab pos="4903788" algn="l"/>
                <a:tab pos="5360988" algn="l"/>
                <a:tab pos="5818188" algn="l"/>
                <a:tab pos="6275388" algn="l"/>
                <a:tab pos="6732588" algn="l"/>
                <a:tab pos="7189788" algn="l"/>
                <a:tab pos="7646988" algn="l"/>
                <a:tab pos="8104188" algn="l"/>
                <a:tab pos="8561388" algn="l"/>
                <a:tab pos="9018588" algn="l"/>
                <a:tab pos="947578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/>
              <a:t>Menghitung total gerakan yang diperlukan untuk mencapai tujuan 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/>
              <a:t>Jumlah yang lebih kecil adalah yang diharapkan (lebih baik)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1">
            <a:extLst>
              <a:ext uri="{FF2B5EF4-FFF2-40B4-BE49-F238E27FC236}">
                <a16:creationId xmlns:a16="http://schemas.microsoft.com/office/drawing/2014/main" id="{31A67ADD-E8A6-44F7-BD18-C9503042D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"/>
            <a:ext cx="7924800" cy="651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01675"/>
          </a:xfrm>
        </p:spPr>
        <p:txBody>
          <a:bodyPr/>
          <a:lstStyle/>
          <a:p>
            <a:r>
              <a:rPr lang="en-US" i="1" dirty="0"/>
              <a:t>Generate-and-Test </a:t>
            </a:r>
            <a:r>
              <a:rPr lang="en-US" dirty="0"/>
              <a:t>(GT)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76400"/>
            <a:ext cx="6347714" cy="4364963"/>
          </a:xfrm>
        </p:spPr>
        <p:txBody>
          <a:bodyPr>
            <a:normAutofit/>
          </a:bodyPr>
          <a:lstStyle/>
          <a:p>
            <a:r>
              <a:rPr lang="id-ID" sz="2000" dirty="0">
                <a:latin typeface="Abadi" panose="020B0604020104020204" pitchFamily="34" charset="0"/>
              </a:rPr>
              <a:t>Metode paling sederhana dalam </a:t>
            </a:r>
            <a:r>
              <a:rPr lang="id-ID" sz="2000" i="1" dirty="0">
                <a:latin typeface="Abadi" panose="020B0604020104020204" pitchFamily="34" charset="0"/>
              </a:rPr>
              <a:t>heuristi</a:t>
            </a:r>
            <a:r>
              <a:rPr lang="en-US" sz="2000" i="1" dirty="0">
                <a:latin typeface="Abadi" panose="020B0604020104020204" pitchFamily="34" charset="0"/>
              </a:rPr>
              <a:t>c search</a:t>
            </a:r>
            <a:r>
              <a:rPr lang="id-ID" sz="2000" dirty="0">
                <a:latin typeface="Abadi" panose="020B0604020104020204" pitchFamily="34" charset="0"/>
              </a:rPr>
              <a:t>. 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en-US" sz="2000" dirty="0">
                <a:latin typeface="Abadi" panose="020B0604020104020204" pitchFamily="34" charset="0"/>
              </a:rPr>
              <a:t>R</a:t>
            </a:r>
            <a:r>
              <a:rPr lang="id-ID" sz="2000" dirty="0">
                <a:latin typeface="Abadi" panose="020B0604020104020204" pitchFamily="34" charset="0"/>
              </a:rPr>
              <a:t>uang masalah luas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>
                <a:latin typeface="Abadi" panose="020B0604020104020204" pitchFamily="34" charset="0"/>
                <a:sym typeface="Wingdings" pitchFamily="2" charset="2"/>
              </a:rPr>
              <a:t> </a:t>
            </a:r>
            <a:r>
              <a:rPr lang="id-ID" sz="2000" dirty="0">
                <a:latin typeface="Abadi" panose="020B0604020104020204" pitchFamily="34" charset="0"/>
              </a:rPr>
              <a:t>waktu </a:t>
            </a:r>
            <a:r>
              <a:rPr lang="en-US" sz="2000" dirty="0" err="1">
                <a:latin typeface="Abadi" panose="020B0604020104020204" pitchFamily="34" charset="0"/>
              </a:rPr>
              <a:t>proses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id-ID" sz="2000" dirty="0">
                <a:latin typeface="Abadi" panose="020B0604020104020204" pitchFamily="34" charset="0"/>
              </a:rPr>
              <a:t>lama.</a:t>
            </a:r>
          </a:p>
          <a:p>
            <a:r>
              <a:rPr lang="id-ID" sz="2000" dirty="0">
                <a:latin typeface="Abadi" panose="020B0604020104020204" pitchFamily="34" charset="0"/>
              </a:rPr>
              <a:t>GT menggunakan prosedur </a:t>
            </a:r>
            <a:r>
              <a:rPr lang="id-ID" sz="2000" b="1" i="1" dirty="0">
                <a:latin typeface="Abadi" panose="020B0604020104020204" pitchFamily="34" charset="0"/>
              </a:rPr>
              <a:t>Depth First Search</a:t>
            </a:r>
            <a:r>
              <a:rPr lang="id-ID" sz="2000" b="1" dirty="0">
                <a:latin typeface="Abadi" panose="020B0604020104020204" pitchFamily="34" charset="0"/>
              </a:rPr>
              <a:t> (DFS) </a:t>
            </a:r>
            <a:r>
              <a:rPr lang="id-ID" sz="2000" dirty="0">
                <a:latin typeface="Abadi" panose="020B0604020104020204" pitchFamily="34" charset="0"/>
              </a:rPr>
              <a:t>karena suatu solusi harus dibangkitkan secara lengkap sebelum dilakukan </a:t>
            </a:r>
            <a:r>
              <a:rPr lang="id-ID" sz="2000" i="1" dirty="0">
                <a:latin typeface="Abadi" panose="020B0604020104020204" pitchFamily="34" charset="0"/>
              </a:rPr>
              <a:t>Test</a:t>
            </a:r>
            <a:r>
              <a:rPr lang="id-ID" sz="2000" dirty="0">
                <a:latin typeface="Abadi" panose="020B0604020104020204" pitchFamily="34" charset="0"/>
              </a:rPr>
              <a:t>. 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id-ID" sz="2000" dirty="0">
                <a:latin typeface="Abadi" panose="020B0604020104020204" pitchFamily="34" charset="0"/>
              </a:rPr>
              <a:t>Algoritma ini </a:t>
            </a:r>
            <a:r>
              <a:rPr lang="en-US" sz="2000" dirty="0" err="1">
                <a:latin typeface="Abadi" panose="020B0604020104020204" pitchFamily="34" charset="0"/>
              </a:rPr>
              <a:t>bisa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id-ID" sz="2000" dirty="0">
                <a:latin typeface="Abadi" panose="020B0604020104020204" pitchFamily="34" charset="0"/>
              </a:rPr>
              <a:t>berbentuk sistematis, pencarian sederhana yang mendalam </a:t>
            </a:r>
            <a:r>
              <a:rPr lang="en-US" sz="2000" dirty="0" err="1">
                <a:latin typeface="Abadi" panose="020B0604020104020204" pitchFamily="34" charset="0"/>
              </a:rPr>
              <a:t>pada</a:t>
            </a:r>
            <a:r>
              <a:rPr lang="id-ID" sz="2000" dirty="0">
                <a:latin typeface="Abadi" panose="020B0604020104020204" pitchFamily="34" charset="0"/>
              </a:rPr>
              <a:t> ruang permasalahan. 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id-ID" sz="2000" dirty="0">
                <a:latin typeface="Abadi" panose="020B0604020104020204" pitchFamily="34" charset="0"/>
              </a:rPr>
              <a:t>GT juga dapat dilakukan dengan pembangkitan solusi secara acak, tetapi tidak ada jaminan solusinya akan ditemukan.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63FEF-B2CF-4884-8881-6E082A498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Algoritma</a:t>
            </a:r>
            <a:r>
              <a:rPr lang="en-US" dirty="0"/>
              <a:t> GT</a:t>
            </a:r>
            <a:endParaRPr lang="id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52242B-17E1-4C74-9CBE-AD1DAABE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1F07D1-803D-4CB9-A131-56C70A325A62}"/>
              </a:ext>
            </a:extLst>
          </p:cNvPr>
          <p:cNvSpPr txBox="1">
            <a:spLocks/>
          </p:cNvSpPr>
          <p:nvPr/>
        </p:nvSpPr>
        <p:spPr>
          <a:xfrm>
            <a:off x="609598" y="1600200"/>
            <a:ext cx="6629401" cy="44411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latin typeface="Abadi" panose="020B0604020104020204" pitchFamily="34" charset="0"/>
              </a:rPr>
              <a:t>Bangkitkan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sebuah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en-US" sz="2000" dirty="0" err="1">
                <a:latin typeface="Abadi" panose="020B0604020104020204" pitchFamily="34" charset="0"/>
              </a:rPr>
              <a:t>mungkin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Solusi </a:t>
            </a:r>
            <a:r>
              <a:rPr lang="en-US" sz="2000" dirty="0" err="1">
                <a:latin typeface="Abadi" panose="020B0604020104020204" pitchFamily="34" charset="0"/>
              </a:rPr>
              <a:t>ini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berupa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suatu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keadaan</a:t>
            </a:r>
            <a:r>
              <a:rPr lang="en-US" sz="2000" dirty="0">
                <a:latin typeface="Abadi" panose="020B0604020104020204" pitchFamily="34" charset="0"/>
              </a:rPr>
              <a:t> (state), </a:t>
            </a:r>
            <a:r>
              <a:rPr lang="en-US" sz="2000" dirty="0" err="1">
                <a:latin typeface="Abadi" panose="020B0604020104020204" pitchFamily="34" charset="0"/>
              </a:rPr>
              <a:t>seperti</a:t>
            </a:r>
            <a:r>
              <a:rPr lang="en-US" sz="2000" dirty="0">
                <a:latin typeface="Abadi" panose="020B0604020104020204" pitchFamily="34" charset="0"/>
              </a:rPr>
              <a:t> pada </a:t>
            </a:r>
            <a:r>
              <a:rPr lang="en-US" sz="2000" dirty="0" err="1">
                <a:latin typeface="Abadi" panose="020B0604020104020204" pitchFamily="34" charset="0"/>
              </a:rPr>
              <a:t>masalah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jurigen</a:t>
            </a:r>
            <a:r>
              <a:rPr lang="en-US" sz="2000" dirty="0">
                <a:latin typeface="Abadi" panose="020B0604020104020204" pitchFamily="34" charset="0"/>
              </a:rPr>
              <a:t> air.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Solusi juga </a:t>
            </a:r>
            <a:r>
              <a:rPr lang="en-US" sz="2000" dirty="0" err="1">
                <a:latin typeface="Abadi" panose="020B0604020104020204" pitchFamily="34" charset="0"/>
              </a:rPr>
              <a:t>bisa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berupa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sebuah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jalur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dari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satu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posisi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ke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posisi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tujuan</a:t>
            </a:r>
            <a:r>
              <a:rPr lang="en-US" sz="2000" dirty="0">
                <a:latin typeface="Abadi" panose="020B0604020104020204" pitchFamily="34" charset="0"/>
              </a:rPr>
              <a:t> : </a:t>
            </a:r>
            <a:r>
              <a:rPr lang="en-US" sz="2000" dirty="0" err="1">
                <a:latin typeface="Abadi" panose="020B0604020104020204" pitchFamily="34" charset="0"/>
              </a:rPr>
              <a:t>seperti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kasus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pencarian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rute</a:t>
            </a:r>
            <a:endParaRPr lang="en-US" sz="2000" dirty="0">
              <a:latin typeface="Abadi" panose="020B06040201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badi" panose="020B0604020104020204" pitchFamily="34" charset="0"/>
              </a:rPr>
              <a:t>Test </a:t>
            </a:r>
            <a:r>
              <a:rPr lang="en-US" sz="2000" dirty="0" err="1">
                <a:latin typeface="Abadi" panose="020B0604020104020204" pitchFamily="34" charset="0"/>
              </a:rPr>
              <a:t>apakah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en-US" sz="2000" dirty="0" err="1">
                <a:latin typeface="Abadi" panose="020B0604020104020204" pitchFamily="34" charset="0"/>
              </a:rPr>
              <a:t>dibangkitkan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tersebut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adalah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sebuah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en-US" sz="2000" dirty="0" err="1">
                <a:latin typeface="Abadi" panose="020B0604020104020204" pitchFamily="34" charset="0"/>
              </a:rPr>
              <a:t>bisa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diterima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sesuai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dengan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b="1" dirty="0" err="1">
                <a:latin typeface="Abadi" panose="020B0604020104020204" pitchFamily="34" charset="0"/>
              </a:rPr>
              <a:t>kriteria</a:t>
            </a:r>
            <a:r>
              <a:rPr lang="en-US" sz="2000" b="1" dirty="0">
                <a:latin typeface="Abadi" panose="020B0604020104020204" pitchFamily="34" charset="0"/>
              </a:rPr>
              <a:t> yang </a:t>
            </a:r>
            <a:r>
              <a:rPr lang="en-US" sz="2000" b="1" dirty="0" err="1">
                <a:latin typeface="Abadi" panose="020B0604020104020204" pitchFamily="34" charset="0"/>
              </a:rPr>
              <a:t>diberikan</a:t>
            </a:r>
            <a:r>
              <a:rPr lang="en-US" sz="2000" dirty="0">
                <a:latin typeface="Abadi" panose="020B0604020104020204" pitchFamily="34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badi" panose="020B0604020104020204" pitchFamily="34" charset="0"/>
              </a:rPr>
              <a:t>Jika </a:t>
            </a:r>
            <a:r>
              <a:rPr lang="en-US" sz="2000" dirty="0" err="1">
                <a:latin typeface="Abadi" panose="020B0604020104020204" pitchFamily="34" charset="0"/>
              </a:rPr>
              <a:t>solusi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telah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ditemukan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maka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keluar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dari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fungsi</a:t>
            </a:r>
            <a:r>
              <a:rPr lang="en-US" sz="2000" dirty="0">
                <a:latin typeface="Abadi" panose="020B0604020104020204" pitchFamily="34" charset="0"/>
              </a:rPr>
              <a:t>, Jika </a:t>
            </a:r>
            <a:r>
              <a:rPr lang="en-US" sz="2000" dirty="0" err="1">
                <a:latin typeface="Abadi" panose="020B0604020104020204" pitchFamily="34" charset="0"/>
              </a:rPr>
              <a:t>belum</a:t>
            </a:r>
            <a:r>
              <a:rPr lang="en-US" sz="2000" dirty="0">
                <a:latin typeface="Abadi" panose="020B0604020104020204" pitchFamily="34" charset="0"/>
              </a:rPr>
              <a:t>, </a:t>
            </a:r>
            <a:r>
              <a:rPr lang="en-US" sz="2000" dirty="0" err="1">
                <a:latin typeface="Abadi" panose="020B0604020104020204" pitchFamily="34" charset="0"/>
              </a:rPr>
              <a:t>maka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kembali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ke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b="1" dirty="0">
                <a:latin typeface="Abadi" panose="020B0604020104020204" pitchFamily="34" charset="0"/>
              </a:rPr>
              <a:t>Langkah </a:t>
            </a:r>
            <a:r>
              <a:rPr lang="en-US" sz="2000" b="1" dirty="0" err="1">
                <a:latin typeface="Abadi" panose="020B0604020104020204" pitchFamily="34" charset="0"/>
              </a:rPr>
              <a:t>pertama</a:t>
            </a:r>
            <a:r>
              <a:rPr lang="en-US" sz="2000" dirty="0">
                <a:latin typeface="Abadi" panose="020B0604020104020204" pitchFamily="34" charset="0"/>
              </a:rPr>
              <a:t>.</a:t>
            </a:r>
          </a:p>
          <a:p>
            <a:endParaRPr lang="id-ID" sz="2000" dirty="0">
              <a:latin typeface="Abadi" panose="020B06040201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6A0C-CDEC-48C5-976C-5FF50B7E2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8BD5BA-2932-4A3E-9A60-4BECB2CE5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A87406-7E4A-4BE1-ACC7-6C34E07D9A2C}"/>
              </a:ext>
            </a:extLst>
          </p:cNvPr>
          <p:cNvSpPr txBox="1">
            <a:spLocks/>
          </p:cNvSpPr>
          <p:nvPr/>
        </p:nvSpPr>
        <p:spPr>
          <a:xfrm>
            <a:off x="609598" y="1600200"/>
            <a:ext cx="6629401" cy="44411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000" dirty="0">
              <a:latin typeface="Abadi" panose="020B06040201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EF3C8E-A0BF-4D12-98D5-198FD8EC8C50}"/>
              </a:ext>
            </a:extLst>
          </p:cNvPr>
          <p:cNvSpPr txBox="1">
            <a:spLocks/>
          </p:cNvSpPr>
          <p:nvPr/>
        </p:nvSpPr>
        <p:spPr>
          <a:xfrm>
            <a:off x="761998" y="1524000"/>
            <a:ext cx="6629401" cy="46697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sz="2000" dirty="0">
                <a:latin typeface="Abadi" panose="020B0604020104020204" pitchFamily="34" charset="0"/>
              </a:rPr>
              <a:t>Kasus Travelling Salesman Problem (TSP)</a:t>
            </a:r>
          </a:p>
          <a:p>
            <a:r>
              <a:rPr lang="id-ID" sz="2000" dirty="0">
                <a:latin typeface="Abadi" panose="020B0604020104020204" pitchFamily="34" charset="0"/>
              </a:rPr>
              <a:t>Seorang salesman ingin mengunjungi n kota. Jarak antara tiap-tiap kota sudah diketahui. Kita ingin mengetahui ruter terpendek dimana setaip kota hanya boleh dikunjungi tepat 1 kali. Misalkan ada 4 kota dengan jarak antara tiap-tiap kota seperti berikut ini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F0C7D3-1C4B-447E-A47F-29394389D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325" y="3828562"/>
            <a:ext cx="2895600" cy="285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35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4E1CE-85F2-4766-A147-9AC664AB3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Solusinya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654F4-5559-4725-A8BD-7963B05DB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865D79-057A-4636-AECD-7AD15A9E0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399491"/>
            <a:ext cx="5867400" cy="464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17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4FD5-2A10-45E5-B9CA-F8BF12F87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914400"/>
          </a:xfrm>
        </p:spPr>
        <p:txBody>
          <a:bodyPr/>
          <a:lstStyle/>
          <a:p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Pencarian</a:t>
            </a:r>
            <a:r>
              <a:rPr lang="en-US" dirty="0"/>
              <a:t> G-and-T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A7591B-EC87-42A4-980A-7D283F9C9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93A80A-AAC1-480A-91BE-497727405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752600"/>
            <a:ext cx="8610599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907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FB23F-A81E-4AF9-BB81-5C5BE7E4D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62000"/>
          </a:xfrm>
        </p:spPr>
        <p:txBody>
          <a:bodyPr/>
          <a:lstStyle/>
          <a:p>
            <a:r>
              <a:rPr lang="en-US" dirty="0"/>
              <a:t>Hasil </a:t>
            </a:r>
            <a:r>
              <a:rPr lang="en-US" dirty="0" err="1"/>
              <a:t>pencarian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D0D51-2736-48F3-B660-53A15A61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524000"/>
            <a:ext cx="7086601" cy="4517363"/>
          </a:xfrm>
        </p:spPr>
        <p:txBody>
          <a:bodyPr>
            <a:normAutofit/>
          </a:bodyPr>
          <a:lstStyle/>
          <a:p>
            <a:r>
              <a:rPr lang="en-ID" sz="2000" dirty="0">
                <a:latin typeface="Abadi" panose="020B0604020104020204" pitchFamily="34" charset="0"/>
              </a:rPr>
              <a:t>Total </a:t>
            </a:r>
            <a:r>
              <a:rPr lang="en-ID" sz="2000" dirty="0" err="1">
                <a:latin typeface="Abadi" panose="020B0604020104020204" pitchFamily="34" charset="0"/>
              </a:rPr>
              <a:t>Pencarian</a:t>
            </a:r>
            <a:r>
              <a:rPr lang="en-ID" sz="2000" dirty="0">
                <a:latin typeface="Abadi" panose="020B0604020104020204" pitchFamily="34" charset="0"/>
              </a:rPr>
              <a:t> = 24 </a:t>
            </a:r>
            <a:r>
              <a:rPr lang="en-ID" sz="2000" dirty="0" err="1">
                <a:latin typeface="Abadi" panose="020B0604020104020204" pitchFamily="34" charset="0"/>
              </a:rPr>
              <a:t>lintasan</a:t>
            </a:r>
            <a:endParaRPr lang="en-ID" sz="2000" dirty="0">
              <a:latin typeface="Abadi" panose="020B0604020104020204" pitchFamily="34" charset="0"/>
            </a:endParaRPr>
          </a:p>
          <a:p>
            <a:r>
              <a:rPr lang="en-ID" sz="2000" dirty="0" err="1">
                <a:latin typeface="Abadi" panose="020B0604020104020204" pitchFamily="34" charset="0"/>
              </a:rPr>
              <a:t>Lintasan</a:t>
            </a:r>
            <a:r>
              <a:rPr lang="en-ID" sz="2000" dirty="0">
                <a:latin typeface="Abadi" panose="020B0604020104020204" pitchFamily="34" charset="0"/>
              </a:rPr>
              <a:t> yang </a:t>
            </a:r>
            <a:r>
              <a:rPr lang="en-ID" sz="2000" dirty="0" err="1">
                <a:latin typeface="Abadi" panose="020B0604020104020204" pitchFamily="34" charset="0"/>
              </a:rPr>
              <a:t>terpilih</a:t>
            </a:r>
            <a:r>
              <a:rPr lang="en-ID" sz="2000" dirty="0">
                <a:latin typeface="Abadi" panose="020B0604020104020204" pitchFamily="34" charset="0"/>
              </a:rPr>
              <a:t> = </a:t>
            </a:r>
            <a:r>
              <a:rPr lang="en-ID" sz="2000" b="1" dirty="0">
                <a:latin typeface="Abadi" panose="020B0604020104020204" pitchFamily="34" charset="0"/>
              </a:rPr>
              <a:t>ACBD</a:t>
            </a:r>
          </a:p>
          <a:p>
            <a:r>
              <a:rPr lang="en-ID" sz="2000" dirty="0">
                <a:latin typeface="Abadi" panose="020B0604020104020204" pitchFamily="34" charset="0"/>
              </a:rPr>
              <a:t>Panjang </a:t>
            </a:r>
            <a:r>
              <a:rPr lang="en-ID" sz="2000" dirty="0" err="1">
                <a:latin typeface="Abadi" panose="020B0604020104020204" pitchFamily="34" charset="0"/>
              </a:rPr>
              <a:t>lintasan</a:t>
            </a:r>
            <a:r>
              <a:rPr lang="en-ID" sz="2000" dirty="0">
                <a:latin typeface="Abadi" panose="020B0604020104020204" pitchFamily="34" charset="0"/>
              </a:rPr>
              <a:t> yang </a:t>
            </a:r>
            <a:r>
              <a:rPr lang="en-ID" sz="2000" dirty="0" err="1">
                <a:latin typeface="Abadi" panose="020B0604020104020204" pitchFamily="34" charset="0"/>
              </a:rPr>
              <a:t>terpilih</a:t>
            </a:r>
            <a:r>
              <a:rPr lang="en-ID" sz="2000" dirty="0">
                <a:latin typeface="Abadi" panose="020B0604020104020204" pitchFamily="34" charset="0"/>
              </a:rPr>
              <a:t> = 12</a:t>
            </a:r>
          </a:p>
          <a:p>
            <a:r>
              <a:rPr lang="en-ID" sz="2000" dirty="0" err="1">
                <a:latin typeface="Abadi" panose="020B0604020104020204" pitchFamily="34" charset="0"/>
              </a:rPr>
              <a:t>Kelemahan</a:t>
            </a:r>
            <a:r>
              <a:rPr lang="en-ID" sz="2000" dirty="0">
                <a:latin typeface="Abadi" panose="020B0604020104020204" pitchFamily="34" charset="0"/>
              </a:rPr>
              <a:t> Generate and Test:</a:t>
            </a:r>
          </a:p>
          <a:p>
            <a:pPr lvl="1"/>
            <a:r>
              <a:rPr lang="en-ID" sz="1800" dirty="0">
                <a:latin typeface="Abadi" panose="020B0604020104020204" pitchFamily="34" charset="0"/>
              </a:rPr>
              <a:t>Harus </a:t>
            </a:r>
            <a:r>
              <a:rPr lang="en-ID" sz="1800" dirty="0" err="1">
                <a:latin typeface="Abadi" panose="020B0604020104020204" pitchFamily="34" charset="0"/>
              </a:rPr>
              <a:t>membangkitkan</a:t>
            </a:r>
            <a:r>
              <a:rPr lang="en-ID" sz="1800" dirty="0">
                <a:latin typeface="Abadi" panose="020B0604020104020204" pitchFamily="34" charset="0"/>
              </a:rPr>
              <a:t> </a:t>
            </a:r>
            <a:r>
              <a:rPr lang="en-ID" sz="1800" dirty="0" err="1">
                <a:latin typeface="Abadi" panose="020B0604020104020204" pitchFamily="34" charset="0"/>
              </a:rPr>
              <a:t>semua</a:t>
            </a:r>
            <a:r>
              <a:rPr lang="en-ID" sz="1800" dirty="0">
                <a:latin typeface="Abadi" panose="020B0604020104020204" pitchFamily="34" charset="0"/>
              </a:rPr>
              <a:t> </a:t>
            </a:r>
            <a:r>
              <a:rPr lang="en-ID" sz="1800" dirty="0" err="1">
                <a:latin typeface="Abadi" panose="020B0604020104020204" pitchFamily="34" charset="0"/>
              </a:rPr>
              <a:t>kemungkinan</a:t>
            </a:r>
            <a:r>
              <a:rPr lang="en-ID" sz="1800" dirty="0">
                <a:latin typeface="Abadi" panose="020B0604020104020204" pitchFamily="34" charset="0"/>
              </a:rPr>
              <a:t> </a:t>
            </a:r>
            <a:r>
              <a:rPr lang="en-ID" sz="1800" dirty="0" err="1">
                <a:latin typeface="Abadi" panose="020B0604020104020204" pitchFamily="34" charset="0"/>
              </a:rPr>
              <a:t>sebelum</a:t>
            </a:r>
            <a:r>
              <a:rPr lang="en-ID" sz="1800" dirty="0">
                <a:latin typeface="Abadi" panose="020B0604020104020204" pitchFamily="34" charset="0"/>
              </a:rPr>
              <a:t> </a:t>
            </a:r>
            <a:r>
              <a:rPr lang="en-ID" sz="1800" dirty="0" err="1">
                <a:latin typeface="Abadi" panose="020B0604020104020204" pitchFamily="34" charset="0"/>
              </a:rPr>
              <a:t>dilakukan</a:t>
            </a:r>
            <a:r>
              <a:rPr lang="en-ID" sz="1800" dirty="0">
                <a:latin typeface="Abadi" panose="020B0604020104020204" pitchFamily="34" charset="0"/>
              </a:rPr>
              <a:t> </a:t>
            </a:r>
            <a:r>
              <a:rPr lang="en-ID" sz="1800" dirty="0" err="1">
                <a:latin typeface="Abadi" panose="020B0604020104020204" pitchFamily="34" charset="0"/>
              </a:rPr>
              <a:t>pengujian</a:t>
            </a:r>
            <a:r>
              <a:rPr lang="en-ID" sz="1800" dirty="0">
                <a:latin typeface="Abadi" panose="020B0604020104020204" pitchFamily="34" charset="0"/>
              </a:rPr>
              <a:t>.</a:t>
            </a:r>
          </a:p>
          <a:p>
            <a:pPr lvl="1"/>
            <a:r>
              <a:rPr lang="en-ID" sz="1800" dirty="0" err="1">
                <a:latin typeface="Abadi" panose="020B0604020104020204" pitchFamily="34" charset="0"/>
              </a:rPr>
              <a:t>Membutuhkan</a:t>
            </a:r>
            <a:r>
              <a:rPr lang="en-ID" sz="1800" dirty="0">
                <a:latin typeface="Abadi" panose="020B0604020104020204" pitchFamily="34" charset="0"/>
              </a:rPr>
              <a:t> </a:t>
            </a:r>
            <a:r>
              <a:rPr lang="en-ID" sz="1800" dirty="0" err="1">
                <a:latin typeface="Abadi" panose="020B0604020104020204" pitchFamily="34" charset="0"/>
              </a:rPr>
              <a:t>waktu</a:t>
            </a:r>
            <a:r>
              <a:rPr lang="en-ID" sz="1800" dirty="0">
                <a:latin typeface="Abadi" panose="020B0604020104020204" pitchFamily="34" charset="0"/>
              </a:rPr>
              <a:t> yang </a:t>
            </a:r>
            <a:r>
              <a:rPr lang="en-ID" sz="1800" dirty="0" err="1">
                <a:latin typeface="Abadi" panose="020B0604020104020204" pitchFamily="34" charset="0"/>
              </a:rPr>
              <a:t>cukup</a:t>
            </a:r>
            <a:r>
              <a:rPr lang="en-ID" sz="1800" dirty="0">
                <a:latin typeface="Abadi" panose="020B0604020104020204" pitchFamily="34" charset="0"/>
              </a:rPr>
              <a:t> lama </a:t>
            </a:r>
            <a:r>
              <a:rPr lang="en-ID" sz="1800" dirty="0" err="1">
                <a:latin typeface="Abadi" panose="020B0604020104020204" pitchFamily="34" charset="0"/>
              </a:rPr>
              <a:t>dalam</a:t>
            </a:r>
            <a:r>
              <a:rPr lang="en-ID" sz="1800" dirty="0">
                <a:latin typeface="Abadi" panose="020B0604020104020204" pitchFamily="34" charset="0"/>
              </a:rPr>
              <a:t> </a:t>
            </a:r>
            <a:r>
              <a:rPr lang="en-ID" sz="1800" dirty="0" err="1">
                <a:latin typeface="Abadi" panose="020B0604020104020204" pitchFamily="34" charset="0"/>
              </a:rPr>
              <a:t>pencarian</a:t>
            </a:r>
            <a:r>
              <a:rPr lang="en-ID" sz="1800" dirty="0">
                <a:latin typeface="Abadi" panose="020B0604020104020204" pitchFamily="34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81514-C764-49E7-B1A1-B9D47978E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93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85792"/>
          </a:xfrm>
        </p:spPr>
        <p:txBody>
          <a:bodyPr/>
          <a:lstStyle/>
          <a:p>
            <a:r>
              <a:rPr lang="id-ID" dirty="0"/>
              <a:t>Hill Climbing</a:t>
            </a:r>
            <a:r>
              <a:rPr lang="en-US" dirty="0"/>
              <a:t> (HC)</a:t>
            </a:r>
            <a:endParaRPr lang="id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38C072-0C60-4119-9008-F2AB11AE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10138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pSp>
        <p:nvGrpSpPr>
          <p:cNvPr id="101377" name="Group 1"/>
          <p:cNvGrpSpPr>
            <a:grpSpLocks noChangeAspect="1"/>
          </p:cNvGrpSpPr>
          <p:nvPr/>
        </p:nvGrpSpPr>
        <p:grpSpPr bwMode="auto">
          <a:xfrm>
            <a:off x="533400" y="1524008"/>
            <a:ext cx="6934200" cy="4517345"/>
            <a:chOff x="1325" y="7237"/>
            <a:chExt cx="6258" cy="4132"/>
          </a:xfrm>
        </p:grpSpPr>
        <p:pic>
          <p:nvPicPr>
            <p:cNvPr id="101380" name="Picture 2" descr="mountain-fog1"/>
            <p:cNvPicPr>
              <a:picLocks noChangeAspect="1" noChangeArrowheads="1"/>
            </p:cNvPicPr>
            <p:nvPr/>
          </p:nvPicPr>
          <p:blipFill>
            <a:blip r:embed="rId2">
              <a:grayscl/>
            </a:blip>
            <a:srcRect/>
            <a:stretch>
              <a:fillRect/>
            </a:stretch>
          </p:blipFill>
          <p:spPr bwMode="auto">
            <a:xfrm>
              <a:off x="1325" y="7237"/>
              <a:ext cx="3210" cy="1995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</p:spPr>
        </p:pic>
        <p:pic>
          <p:nvPicPr>
            <p:cNvPr id="101379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325" y="9359"/>
              <a:ext cx="3210" cy="1995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</p:spPr>
        </p:pic>
        <p:pic>
          <p:nvPicPr>
            <p:cNvPr id="101378" name="Picture 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55" y="7237"/>
              <a:ext cx="2928" cy="413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38200"/>
          </a:xfrm>
        </p:spPr>
        <p:txBody>
          <a:bodyPr/>
          <a:lstStyle/>
          <a:p>
            <a:r>
              <a:rPr lang="id-ID" dirty="0"/>
              <a:t>Hill Climbing</a:t>
            </a:r>
            <a:r>
              <a:rPr lang="en-US" dirty="0"/>
              <a:t> (HC)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Abadi" panose="020B0604020104020204" pitchFamily="34" charset="0"/>
              </a:rPr>
              <a:t>GT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>
                <a:latin typeface="Abadi" panose="020B0604020104020204" pitchFamily="34" charset="0"/>
                <a:sym typeface="Wingdings" pitchFamily="2" charset="2"/>
              </a:rPr>
              <a:t>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pengujian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menghasilkan</a:t>
            </a:r>
            <a:r>
              <a:rPr lang="en-US" sz="2000" dirty="0">
                <a:latin typeface="Abadi" panose="020B0604020104020204" pitchFamily="34" charset="0"/>
              </a:rPr>
              <a:t> ‘</a:t>
            </a:r>
            <a:r>
              <a:rPr lang="en-US" sz="2000" b="1" dirty="0" err="1">
                <a:latin typeface="Abadi" panose="020B0604020104020204" pitchFamily="34" charset="0"/>
              </a:rPr>
              <a:t>ya</a:t>
            </a:r>
            <a:r>
              <a:rPr lang="en-US" sz="2000" b="1" dirty="0">
                <a:latin typeface="Abadi" panose="020B0604020104020204" pitchFamily="34" charset="0"/>
              </a:rPr>
              <a:t>’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atau</a:t>
            </a:r>
            <a:r>
              <a:rPr lang="en-US" sz="2000" dirty="0">
                <a:latin typeface="Abadi" panose="020B0604020104020204" pitchFamily="34" charset="0"/>
              </a:rPr>
              <a:t> ‘</a:t>
            </a:r>
            <a:r>
              <a:rPr lang="en-US" sz="2000" b="1" dirty="0" err="1">
                <a:latin typeface="Abadi" panose="020B0604020104020204" pitchFamily="34" charset="0"/>
              </a:rPr>
              <a:t>tidak</a:t>
            </a:r>
            <a:r>
              <a:rPr lang="en-US" sz="2000" b="1" dirty="0">
                <a:latin typeface="Abadi" panose="020B0604020104020204" pitchFamily="34" charset="0"/>
              </a:rPr>
              <a:t>’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en-US" sz="2000" b="1" dirty="0">
                <a:latin typeface="Abadi" panose="020B0604020104020204" pitchFamily="34" charset="0"/>
              </a:rPr>
              <a:t>HC </a:t>
            </a:r>
            <a:r>
              <a:rPr lang="en-US" sz="2000" dirty="0">
                <a:latin typeface="Abadi" panose="020B0604020104020204" pitchFamily="34" charset="0"/>
                <a:sym typeface="Wingdings" pitchFamily="2" charset="2"/>
              </a:rPr>
              <a:t>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pengujian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menghasilkan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biaya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estimasi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antara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i="1" dirty="0">
                <a:latin typeface="Abadi" panose="020B0604020104020204" pitchFamily="34" charset="0"/>
              </a:rPr>
              <a:t>state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sekarang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dengan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i="1" dirty="0">
                <a:latin typeface="Abadi" panose="020B0604020104020204" pitchFamily="34" charset="0"/>
              </a:rPr>
              <a:t>state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tujuan</a:t>
            </a:r>
            <a:r>
              <a:rPr lang="en-US" sz="2000" dirty="0">
                <a:latin typeface="Abadi" panose="020B0604020104020204" pitchFamily="34" charset="0"/>
              </a:rPr>
              <a:t>.</a:t>
            </a:r>
            <a:endParaRPr lang="id-ID" sz="2000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72203-4B37-4560-B6AF-84F82F00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6096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Algoritma</a:t>
            </a:r>
            <a:r>
              <a:rPr lang="en-US" dirty="0"/>
              <a:t> Simple HC</a:t>
            </a:r>
            <a:endParaRPr lang="id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42F924-381F-401F-8FF9-8BBC77423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F9116C-7CA1-4DF1-BBB9-779917EAB434}"/>
              </a:ext>
            </a:extLst>
          </p:cNvPr>
          <p:cNvSpPr txBox="1">
            <a:spLocks/>
          </p:cNvSpPr>
          <p:nvPr/>
        </p:nvSpPr>
        <p:spPr>
          <a:xfrm>
            <a:off x="609598" y="1219200"/>
            <a:ext cx="7162801" cy="518728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latin typeface="Abadi" panose="020B0604020104020204" pitchFamily="34" charset="0"/>
              </a:rPr>
              <a:t>Evaluasi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b="1" dirty="0">
                <a:latin typeface="Abadi" panose="020B0604020104020204" pitchFamily="34" charset="0"/>
              </a:rPr>
              <a:t>initial state</a:t>
            </a:r>
            <a:r>
              <a:rPr lang="en-US" sz="2000" dirty="0">
                <a:latin typeface="Abadi" panose="020B0604020104020204" pitchFamily="34" charset="0"/>
              </a:rPr>
              <a:t>, </a:t>
            </a:r>
            <a:r>
              <a:rPr lang="en-US" sz="2000" dirty="0" err="1">
                <a:latin typeface="Abadi" panose="020B0604020104020204" pitchFamily="34" charset="0"/>
              </a:rPr>
              <a:t>jika</a:t>
            </a:r>
            <a:r>
              <a:rPr lang="en-US" sz="2000" dirty="0">
                <a:latin typeface="Abadi" panose="020B0604020104020204" pitchFamily="34" charset="0"/>
              </a:rPr>
              <a:t> state </a:t>
            </a:r>
            <a:r>
              <a:rPr lang="en-US" sz="2000" dirty="0" err="1">
                <a:latin typeface="Abadi" panose="020B0604020104020204" pitchFamily="34" charset="0"/>
              </a:rPr>
              <a:t>merupakan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b="1" dirty="0">
                <a:latin typeface="Abadi" panose="020B0604020104020204" pitchFamily="34" charset="0"/>
              </a:rPr>
              <a:t>goal</a:t>
            </a:r>
            <a:r>
              <a:rPr lang="en-US" sz="2000" dirty="0">
                <a:latin typeface="Abadi" panose="020B0604020104020204" pitchFamily="34" charset="0"/>
              </a:rPr>
              <a:t>, </a:t>
            </a:r>
            <a:r>
              <a:rPr lang="en-US" sz="2000" dirty="0" err="1">
                <a:latin typeface="Abadi" panose="020B0604020104020204" pitchFamily="34" charset="0"/>
              </a:rPr>
              <a:t>maka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kembalikan</a:t>
            </a:r>
            <a:r>
              <a:rPr lang="en-US" sz="2000" dirty="0">
                <a:latin typeface="Abadi" panose="020B0604020104020204" pitchFamily="34" charset="0"/>
              </a:rPr>
              <a:t> state </a:t>
            </a:r>
            <a:r>
              <a:rPr lang="en-US" sz="2000" dirty="0" err="1">
                <a:latin typeface="Abadi" panose="020B0604020104020204" pitchFamily="34" charset="0"/>
              </a:rPr>
              <a:t>ini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sebagai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</a:t>
            </a:r>
            <a:r>
              <a:rPr lang="en-US" sz="2000" dirty="0">
                <a:latin typeface="Abadi" panose="020B0604020104020204" pitchFamily="34" charset="0"/>
              </a:rPr>
              <a:t> dan </a:t>
            </a:r>
            <a:r>
              <a:rPr lang="en-US" sz="2000" dirty="0" err="1">
                <a:latin typeface="Abadi" panose="020B0604020104020204" pitchFamily="34" charset="0"/>
              </a:rPr>
              <a:t>keluar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dari</a:t>
            </a:r>
            <a:r>
              <a:rPr lang="en-US" sz="2000" dirty="0">
                <a:latin typeface="Abadi" panose="020B0604020104020204" pitchFamily="34" charset="0"/>
              </a:rPr>
              <a:t> program. Jika state </a:t>
            </a:r>
            <a:r>
              <a:rPr lang="en-US" sz="2000" b="1" dirty="0" err="1">
                <a:latin typeface="Abadi" panose="020B0604020104020204" pitchFamily="34" charset="0"/>
              </a:rPr>
              <a:t>bukan</a:t>
            </a:r>
            <a:r>
              <a:rPr lang="en-US" sz="2000" b="1" dirty="0">
                <a:latin typeface="Abadi" panose="020B0604020104020204" pitchFamily="34" charset="0"/>
              </a:rPr>
              <a:t> goal </a:t>
            </a:r>
            <a:r>
              <a:rPr lang="en-US" sz="2000" b="1" dirty="0" err="1">
                <a:latin typeface="Abadi" panose="020B0604020104020204" pitchFamily="34" charset="0"/>
              </a:rPr>
              <a:t>state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lanjutkan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proses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dengan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initial state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sebagai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b="1" dirty="0">
                <a:latin typeface="Abadi" panose="020B0604020104020204" pitchFamily="34" charset="0"/>
                <a:sym typeface="Wingdings" panose="05000000000000000000" pitchFamily="2" charset="2"/>
              </a:rPr>
              <a:t>current state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Ulangi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sampai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solusi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ditemukan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atau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sampai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tidak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ada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operator (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aturan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produksi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) yang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dapat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diaplikasikan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terhadap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current state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1800" dirty="0" err="1">
                <a:latin typeface="Abadi" panose="020B0604020104020204" pitchFamily="34" charset="0"/>
                <a:sym typeface="Wingdings" panose="05000000000000000000" pitchFamily="2" charset="2"/>
              </a:rPr>
              <a:t>Pilih</a:t>
            </a:r>
            <a:r>
              <a:rPr lang="en-US" sz="18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latin typeface="Abadi" panose="020B0604020104020204" pitchFamily="34" charset="0"/>
                <a:sym typeface="Wingdings" panose="05000000000000000000" pitchFamily="2" charset="2"/>
              </a:rPr>
              <a:t>sebuah</a:t>
            </a:r>
            <a:r>
              <a:rPr lang="en-US" sz="1800" dirty="0">
                <a:latin typeface="Abadi" panose="020B0604020104020204" pitchFamily="34" charset="0"/>
                <a:sym typeface="Wingdings" panose="05000000000000000000" pitchFamily="2" charset="2"/>
              </a:rPr>
              <a:t> operator yang </a:t>
            </a:r>
            <a:r>
              <a:rPr lang="en-US" sz="1800" dirty="0" err="1">
                <a:latin typeface="Abadi" panose="020B0604020104020204" pitchFamily="34" charset="0"/>
                <a:sym typeface="Wingdings" panose="05000000000000000000" pitchFamily="2" charset="2"/>
              </a:rPr>
              <a:t>belum</a:t>
            </a:r>
            <a:r>
              <a:rPr lang="en-US" sz="18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latin typeface="Abadi" panose="020B0604020104020204" pitchFamily="34" charset="0"/>
                <a:sym typeface="Wingdings" panose="05000000000000000000" pitchFamily="2" charset="2"/>
              </a:rPr>
              <a:t>diaplikasikan</a:t>
            </a:r>
            <a:r>
              <a:rPr lang="en-US" sz="18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latin typeface="Abadi" panose="020B0604020104020204" pitchFamily="34" charset="0"/>
                <a:sym typeface="Wingdings" panose="05000000000000000000" pitchFamily="2" charset="2"/>
              </a:rPr>
              <a:t>terhadap</a:t>
            </a:r>
            <a:r>
              <a:rPr lang="en-US" sz="18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800" b="1" dirty="0">
                <a:latin typeface="Abadi" panose="020B0604020104020204" pitchFamily="34" charset="0"/>
                <a:sym typeface="Wingdings" panose="05000000000000000000" pitchFamily="2" charset="2"/>
              </a:rPr>
              <a:t>current state </a:t>
            </a:r>
            <a:r>
              <a:rPr lang="en-US" sz="1800" dirty="0">
                <a:latin typeface="Abadi" panose="020B0604020104020204" pitchFamily="34" charset="0"/>
                <a:sym typeface="Wingdings" panose="05000000000000000000" pitchFamily="2" charset="2"/>
              </a:rPr>
              <a:t>dan </a:t>
            </a:r>
            <a:r>
              <a:rPr lang="en-US" sz="1800" dirty="0" err="1">
                <a:latin typeface="Abadi" panose="020B0604020104020204" pitchFamily="34" charset="0"/>
                <a:sym typeface="Wingdings" panose="05000000000000000000" pitchFamily="2" charset="2"/>
              </a:rPr>
              <a:t>aplikasi</a:t>
            </a:r>
            <a:r>
              <a:rPr lang="en-US" sz="1800" dirty="0">
                <a:latin typeface="Abadi" panose="020B0604020104020204" pitchFamily="34" charset="0"/>
                <a:sym typeface="Wingdings" panose="05000000000000000000" pitchFamily="2" charset="2"/>
              </a:rPr>
              <a:t> operator </a:t>
            </a:r>
            <a:r>
              <a:rPr lang="en-US" sz="1800" dirty="0" err="1">
                <a:latin typeface="Abadi" panose="020B0604020104020204" pitchFamily="34" charset="0"/>
                <a:sym typeface="Wingdings" panose="05000000000000000000" pitchFamily="2" charset="2"/>
              </a:rPr>
              <a:t>tersebut</a:t>
            </a:r>
            <a:r>
              <a:rPr lang="en-US" sz="18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latin typeface="Abadi" panose="020B0604020104020204" pitchFamily="34" charset="0"/>
                <a:sym typeface="Wingdings" panose="05000000000000000000" pitchFamily="2" charset="2"/>
              </a:rPr>
              <a:t>sehingga</a:t>
            </a:r>
            <a:r>
              <a:rPr lang="en-US" sz="18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latin typeface="Abadi" panose="020B0604020104020204" pitchFamily="34" charset="0"/>
                <a:sym typeface="Wingdings" panose="05000000000000000000" pitchFamily="2" charset="2"/>
              </a:rPr>
              <a:t>menghasilkan</a:t>
            </a:r>
            <a:r>
              <a:rPr lang="en-US" sz="18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800" b="1" dirty="0">
                <a:latin typeface="Abadi" panose="020B0604020104020204" pitchFamily="34" charset="0"/>
                <a:sym typeface="Wingdings" panose="05000000000000000000" pitchFamily="2" charset="2"/>
              </a:rPr>
              <a:t>new state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1800" dirty="0" err="1">
                <a:latin typeface="Abadi" panose="020B0604020104020204" pitchFamily="34" charset="0"/>
                <a:sym typeface="Wingdings" panose="05000000000000000000" pitchFamily="2" charset="2"/>
              </a:rPr>
              <a:t>Evaluasi</a:t>
            </a:r>
            <a:r>
              <a:rPr lang="en-US" sz="1800" dirty="0">
                <a:latin typeface="Abadi" panose="020B0604020104020204" pitchFamily="34" charset="0"/>
                <a:sym typeface="Wingdings" panose="05000000000000000000" pitchFamily="2" charset="2"/>
              </a:rPr>
              <a:t> new state :</a:t>
            </a:r>
          </a:p>
          <a:p>
            <a:pPr lvl="2"/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Jika state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ini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goal state,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maka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kembalikan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state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ini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sebagai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solusi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dan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keluar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dari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program</a:t>
            </a:r>
          </a:p>
          <a:p>
            <a:pPr lvl="2"/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Jika state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ini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bukan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GOAL state TETAPI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lebih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baik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dari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current state,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maka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jadikan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state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ini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sebagai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600" b="1" dirty="0">
                <a:latin typeface="Abadi" panose="020B0604020104020204" pitchFamily="34" charset="0"/>
                <a:sym typeface="Wingdings" panose="05000000000000000000" pitchFamily="2" charset="2"/>
              </a:rPr>
              <a:t>current state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.</a:t>
            </a:r>
          </a:p>
          <a:p>
            <a:pPr lvl="2"/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Jika state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ini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tidak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lebih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baik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dari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1600" b="1" dirty="0">
                <a:latin typeface="Abadi" panose="020B0604020104020204" pitchFamily="34" charset="0"/>
                <a:sym typeface="Wingdings" panose="05000000000000000000" pitchFamily="2" charset="2"/>
              </a:rPr>
              <a:t>current state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, Kembali </a:t>
            </a:r>
            <a:r>
              <a:rPr lang="en-US" sz="1600" dirty="0" err="1">
                <a:latin typeface="Abadi" panose="020B0604020104020204" pitchFamily="34" charset="0"/>
                <a:sym typeface="Wingdings" panose="05000000000000000000" pitchFamily="2" charset="2"/>
              </a:rPr>
              <a:t>ke</a:t>
            </a:r>
            <a:r>
              <a:rPr lang="en-US" sz="1600" dirty="0">
                <a:latin typeface="Abadi" panose="020B0604020104020204" pitchFamily="34" charset="0"/>
                <a:sym typeface="Wingdings" panose="05000000000000000000" pitchFamily="2" charset="2"/>
              </a:rPr>
              <a:t> Langkah 2.a</a:t>
            </a:r>
            <a:endParaRPr lang="id-ID" sz="1600" dirty="0">
              <a:latin typeface="Abadi" panose="020B06040201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HC</a:t>
            </a:r>
            <a:endParaRPr lang="id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A467FC-094F-4CCD-ACFF-906705C4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10752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1075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125546"/>
              </p:ext>
            </p:extLst>
          </p:nvPr>
        </p:nvGraphicFramePr>
        <p:xfrm>
          <a:off x="1117847" y="1270000"/>
          <a:ext cx="5562600" cy="472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13171" imgH="2184321" progId="Visio.Drawing.11">
                  <p:embed/>
                </p:oleObj>
              </mc:Choice>
              <mc:Fallback>
                <p:oleObj name="Visio" r:id="rId2" imgW="2513171" imgH="2184321" progId="Visio.Drawing.11">
                  <p:embed/>
                  <p:pic>
                    <p:nvPicPr>
                      <p:cNvPr id="1075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847" y="1270000"/>
                        <a:ext cx="5562600" cy="472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DC39-4ED2-45F4-BC9A-EAD9DEE1A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lain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E70FBA-805F-43C6-B343-8291BD6E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F7039E-60F6-40D4-AA19-D567A457B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03" y="1828800"/>
            <a:ext cx="664464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9506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FFC20-F00D-463C-9EFA-D61FCA9B5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767688"/>
          </a:xfrm>
        </p:spPr>
        <p:txBody>
          <a:bodyPr/>
          <a:lstStyle/>
          <a:p>
            <a:r>
              <a:rPr lang="en-US" dirty="0"/>
              <a:t>Tree diagram HC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BF3523-3879-40B7-8D07-2C0D8812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74EEC5-DDB7-4E3E-BC8A-D5CE7FEC3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1232043"/>
            <a:ext cx="851535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4171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65211"/>
            <a:ext cx="6347714" cy="609600"/>
          </a:xfrm>
        </p:spPr>
        <p:txBody>
          <a:bodyPr>
            <a:normAutofit fontScale="90000"/>
          </a:bodyPr>
          <a:lstStyle/>
          <a:p>
            <a:r>
              <a:rPr lang="id-ID" dirty="0"/>
              <a:t>Steepest-Ascent</a:t>
            </a:r>
            <a:r>
              <a:rPr lang="en-US" dirty="0"/>
              <a:t> HC</a:t>
            </a:r>
            <a:endParaRPr lang="id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8688E9-4B7B-4E29-91E3-F8C2E11D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D83FD8-E8B0-4874-BBDB-4287081DA6D1}"/>
              </a:ext>
            </a:extLst>
          </p:cNvPr>
          <p:cNvSpPr txBox="1">
            <a:spLocks/>
          </p:cNvSpPr>
          <p:nvPr/>
        </p:nvSpPr>
        <p:spPr>
          <a:xfrm>
            <a:off x="609598" y="1219200"/>
            <a:ext cx="7162801" cy="518728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Evaluasi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b="1" dirty="0">
                <a:latin typeface="Abadi" panose="020B0604020104020204" pitchFamily="34" charset="0"/>
                <a:sym typeface="Wingdings" panose="05000000000000000000" pitchFamily="2" charset="2"/>
              </a:rPr>
              <a:t>initial state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. Jika state </a:t>
            </a: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ini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adalah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b="1" dirty="0">
                <a:latin typeface="Abadi" panose="020B0604020104020204" pitchFamily="34" charset="0"/>
                <a:sym typeface="Wingdings" panose="05000000000000000000" pitchFamily="2" charset="2"/>
              </a:rPr>
              <a:t>goal state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, </a:t>
            </a: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maka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kembalikan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 state </a:t>
            </a: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ini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sebagai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solusi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 dan </a:t>
            </a: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keluar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dari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fungsi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. Jika state </a:t>
            </a: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ini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bukan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b="1" dirty="0">
                <a:latin typeface="Abadi" panose="020B0604020104020204" pitchFamily="34" charset="0"/>
                <a:sym typeface="Wingdings" panose="05000000000000000000" pitchFamily="2" charset="2"/>
              </a:rPr>
              <a:t>goal state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, </a:t>
            </a: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maka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lanjutkan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 proses </a:t>
            </a: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dengan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 initial state </a:t>
            </a:r>
            <a:r>
              <a:rPr lang="en-US" dirty="0" err="1">
                <a:latin typeface="Abadi" panose="020B0604020104020204" pitchFamily="34" charset="0"/>
                <a:sym typeface="Wingdings" panose="05000000000000000000" pitchFamily="2" charset="2"/>
              </a:rPr>
              <a:t>sebabagi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b="1" dirty="0">
                <a:latin typeface="Abadi" panose="020B0604020104020204" pitchFamily="34" charset="0"/>
                <a:sym typeface="Wingdings" panose="05000000000000000000" pitchFamily="2" charset="2"/>
              </a:rPr>
              <a:t>current state</a:t>
            </a:r>
            <a:r>
              <a:rPr lang="en-US" dirty="0">
                <a:latin typeface="Abadi" panose="020B0604020104020204" pitchFamily="34" charset="0"/>
                <a:sym typeface="Wingdings" panose="05000000000000000000" pitchFamily="2" charset="2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Abadi" panose="020B0604020104020204" pitchFamily="34" charset="0"/>
              </a:rPr>
              <a:t>Ulangi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sampai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solusi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ditemukan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atau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sampai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tidaka</a:t>
            </a:r>
            <a:r>
              <a:rPr lang="en-US" dirty="0">
                <a:latin typeface="Abadi" panose="020B0604020104020204" pitchFamily="34" charset="0"/>
              </a:rPr>
              <a:t> da </a:t>
            </a:r>
            <a:r>
              <a:rPr lang="en-US" dirty="0" err="1">
                <a:latin typeface="Abadi" panose="020B0604020104020204" pitchFamily="34" charset="0"/>
              </a:rPr>
              <a:t>perubahan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terhadap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b="1" dirty="0">
                <a:latin typeface="Abadi" panose="020B0604020104020204" pitchFamily="34" charset="0"/>
              </a:rPr>
              <a:t>current state</a:t>
            </a:r>
          </a:p>
          <a:p>
            <a:pPr marL="857250" lvl="1" indent="-457200">
              <a:buFont typeface="+mj-lt"/>
              <a:buAutoNum type="alphaLcPeriod"/>
            </a:pPr>
            <a:r>
              <a:rPr lang="en-US" dirty="0" err="1">
                <a:latin typeface="Abadi" panose="020B0604020104020204" pitchFamily="34" charset="0"/>
              </a:rPr>
              <a:t>Misalkan</a:t>
            </a:r>
            <a:r>
              <a:rPr lang="en-US" dirty="0">
                <a:latin typeface="Abadi" panose="020B0604020104020204" pitchFamily="34" charset="0"/>
              </a:rPr>
              <a:t> SUK </a:t>
            </a:r>
            <a:r>
              <a:rPr lang="en-US" dirty="0" err="1">
                <a:latin typeface="Abadi" panose="020B0604020104020204" pitchFamily="34" charset="0"/>
              </a:rPr>
              <a:t>adalan</a:t>
            </a:r>
            <a:r>
              <a:rPr lang="en-US" dirty="0">
                <a:latin typeface="Abadi" panose="020B0604020104020204" pitchFamily="34" charset="0"/>
              </a:rPr>
              <a:t> state yang </a:t>
            </a:r>
            <a:r>
              <a:rPr lang="en-US" dirty="0" err="1">
                <a:latin typeface="Abadi" panose="020B0604020104020204" pitchFamily="34" charset="0"/>
              </a:rPr>
              <a:t>menjadi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suksesor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dari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b="1" dirty="0">
                <a:latin typeface="Abadi" panose="020B0604020104020204" pitchFamily="34" charset="0"/>
              </a:rPr>
              <a:t>current state</a:t>
            </a:r>
          </a:p>
          <a:p>
            <a:pPr marL="857250" lvl="1" indent="-457200">
              <a:buFont typeface="+mj-lt"/>
              <a:buAutoNum type="alphaLcPeriod"/>
            </a:pPr>
            <a:r>
              <a:rPr lang="en-US" dirty="0" err="1">
                <a:latin typeface="Abadi" panose="020B0604020104020204" pitchFamily="34" charset="0"/>
              </a:rPr>
              <a:t>Untuk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setiap</a:t>
            </a:r>
            <a:r>
              <a:rPr lang="en-US" dirty="0">
                <a:latin typeface="Abadi" panose="020B0604020104020204" pitchFamily="34" charset="0"/>
              </a:rPr>
              <a:t> operator yang </a:t>
            </a:r>
            <a:r>
              <a:rPr lang="en-US" dirty="0" err="1">
                <a:latin typeface="Abadi" panose="020B0604020104020204" pitchFamily="34" charset="0"/>
              </a:rPr>
              <a:t>bisa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dilakukan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terhadap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b="1" dirty="0">
                <a:latin typeface="Abadi" panose="020B0604020104020204" pitchFamily="34" charset="0"/>
              </a:rPr>
              <a:t>current state</a:t>
            </a:r>
            <a:r>
              <a:rPr lang="en-US" dirty="0">
                <a:latin typeface="Abadi" panose="020B0604020104020204" pitchFamily="34" charset="0"/>
              </a:rPr>
              <a:t>, </a:t>
            </a:r>
            <a:r>
              <a:rPr lang="en-US" dirty="0" err="1">
                <a:latin typeface="Abadi" panose="020B0604020104020204" pitchFamily="34" charset="0"/>
              </a:rPr>
              <a:t>kerjakan</a:t>
            </a:r>
            <a:r>
              <a:rPr lang="en-US" dirty="0">
                <a:latin typeface="Abadi" panose="020B0604020104020204" pitchFamily="34" charset="0"/>
              </a:rPr>
              <a:t> :</a:t>
            </a:r>
          </a:p>
          <a:p>
            <a:pPr marL="1257300" lvl="2" indent="-457200">
              <a:buFont typeface="+mj-lt"/>
              <a:buAutoNum type="alphaLcPeriod"/>
            </a:pPr>
            <a:r>
              <a:rPr lang="en-US" dirty="0" err="1">
                <a:latin typeface="Abadi" panose="020B0604020104020204" pitchFamily="34" charset="0"/>
              </a:rPr>
              <a:t>Aplikasikan</a:t>
            </a:r>
            <a:r>
              <a:rPr lang="en-US" dirty="0">
                <a:latin typeface="Abadi" panose="020B0604020104020204" pitchFamily="34" charset="0"/>
              </a:rPr>
              <a:t> operator </a:t>
            </a:r>
            <a:r>
              <a:rPr lang="en-US" dirty="0" err="1">
                <a:latin typeface="Abadi" panose="020B0604020104020204" pitchFamily="34" charset="0"/>
              </a:rPr>
              <a:t>tersebut</a:t>
            </a:r>
            <a:r>
              <a:rPr lang="en-US" dirty="0">
                <a:latin typeface="Abadi" panose="020B0604020104020204" pitchFamily="34" charset="0"/>
              </a:rPr>
              <a:t> dan </a:t>
            </a:r>
            <a:r>
              <a:rPr lang="en-US" dirty="0" err="1">
                <a:latin typeface="Abadi" panose="020B0604020104020204" pitchFamily="34" charset="0"/>
              </a:rPr>
              <a:t>bangkitkan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b="1" dirty="0">
                <a:latin typeface="Abadi" panose="020B0604020104020204" pitchFamily="34" charset="0"/>
              </a:rPr>
              <a:t>new state</a:t>
            </a:r>
          </a:p>
          <a:p>
            <a:pPr marL="1257300" lvl="2" indent="-457200">
              <a:buFont typeface="+mj-lt"/>
              <a:buAutoNum type="alphaLcPeriod"/>
            </a:pPr>
            <a:r>
              <a:rPr lang="en-US" dirty="0" err="1">
                <a:latin typeface="Abadi" panose="020B0604020104020204" pitchFamily="34" charset="0"/>
              </a:rPr>
              <a:t>Evaluasi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b="1" dirty="0">
                <a:latin typeface="Abadi" panose="020B0604020104020204" pitchFamily="34" charset="0"/>
              </a:rPr>
              <a:t>new state</a:t>
            </a:r>
            <a:r>
              <a:rPr lang="en-US" dirty="0">
                <a:latin typeface="Abadi" panose="020B0604020104020204" pitchFamily="34" charset="0"/>
              </a:rPr>
              <a:t>. Jika </a:t>
            </a:r>
            <a:r>
              <a:rPr lang="en-US" dirty="0" err="1">
                <a:latin typeface="Abadi" panose="020B0604020104020204" pitchFamily="34" charset="0"/>
              </a:rPr>
              <a:t>merupakan</a:t>
            </a:r>
            <a:r>
              <a:rPr lang="en-US" dirty="0">
                <a:latin typeface="Abadi" panose="020B0604020104020204" pitchFamily="34" charset="0"/>
              </a:rPr>
              <a:t> goal state, </a:t>
            </a:r>
            <a:r>
              <a:rPr lang="en-US" dirty="0" err="1">
                <a:latin typeface="Abadi" panose="020B0604020104020204" pitchFamily="34" charset="0"/>
              </a:rPr>
              <a:t>kemablikan</a:t>
            </a:r>
            <a:r>
              <a:rPr lang="en-US" dirty="0">
                <a:latin typeface="Abadi" panose="020B0604020104020204" pitchFamily="34" charset="0"/>
              </a:rPr>
              <a:t> state </a:t>
            </a:r>
            <a:r>
              <a:rPr lang="en-US" dirty="0" err="1">
                <a:latin typeface="Abadi" panose="020B0604020104020204" pitchFamily="34" charset="0"/>
              </a:rPr>
              <a:t>ini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sebagai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solusi</a:t>
            </a:r>
            <a:r>
              <a:rPr lang="en-US" dirty="0">
                <a:latin typeface="Abadi" panose="020B0604020104020204" pitchFamily="34" charset="0"/>
              </a:rPr>
              <a:t> dan </a:t>
            </a:r>
            <a:r>
              <a:rPr lang="en-US" dirty="0" err="1">
                <a:latin typeface="Abadi" panose="020B0604020104020204" pitchFamily="34" charset="0"/>
              </a:rPr>
              <a:t>keluar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dari</a:t>
            </a:r>
            <a:r>
              <a:rPr lang="en-US" dirty="0">
                <a:latin typeface="Abadi" panose="020B0604020104020204" pitchFamily="34" charset="0"/>
              </a:rPr>
              <a:t> program. Jika </a:t>
            </a:r>
            <a:r>
              <a:rPr lang="en-US" dirty="0" err="1">
                <a:latin typeface="Abadi" panose="020B0604020104020204" pitchFamily="34" charset="0"/>
              </a:rPr>
              <a:t>bukan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b="1" dirty="0">
                <a:latin typeface="Abadi" panose="020B0604020104020204" pitchFamily="34" charset="0"/>
              </a:rPr>
              <a:t>goal state</a:t>
            </a:r>
            <a:r>
              <a:rPr lang="en-US" dirty="0">
                <a:latin typeface="Abadi" panose="020B0604020104020204" pitchFamily="34" charset="0"/>
              </a:rPr>
              <a:t>, </a:t>
            </a:r>
            <a:r>
              <a:rPr lang="en-US" dirty="0" err="1">
                <a:latin typeface="Abadi" panose="020B0604020104020204" pitchFamily="34" charset="0"/>
              </a:rPr>
              <a:t>bandingkan</a:t>
            </a:r>
            <a:r>
              <a:rPr lang="en-US" dirty="0">
                <a:latin typeface="Abadi" panose="020B0604020104020204" pitchFamily="34" charset="0"/>
              </a:rPr>
              <a:t> new state </a:t>
            </a:r>
            <a:r>
              <a:rPr lang="en-US" dirty="0" err="1">
                <a:latin typeface="Abadi" panose="020B0604020104020204" pitchFamily="34" charset="0"/>
              </a:rPr>
              <a:t>dengan</a:t>
            </a:r>
            <a:r>
              <a:rPr lang="en-US" dirty="0">
                <a:latin typeface="Abadi" panose="020B0604020104020204" pitchFamily="34" charset="0"/>
              </a:rPr>
              <a:t> SUK. Jika new state </a:t>
            </a:r>
            <a:r>
              <a:rPr lang="en-US" dirty="0" err="1">
                <a:latin typeface="Abadi" panose="020B0604020104020204" pitchFamily="34" charset="0"/>
              </a:rPr>
              <a:t>lebih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baik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daripada</a:t>
            </a:r>
            <a:r>
              <a:rPr lang="en-US" dirty="0">
                <a:latin typeface="Abadi" panose="020B0604020104020204" pitchFamily="34" charset="0"/>
              </a:rPr>
              <a:t> SUK, </a:t>
            </a:r>
            <a:r>
              <a:rPr lang="en-US" dirty="0" err="1">
                <a:latin typeface="Abadi" panose="020B0604020104020204" pitchFamily="34" charset="0"/>
              </a:rPr>
              <a:t>maka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gantu</a:t>
            </a:r>
            <a:r>
              <a:rPr lang="en-US" dirty="0">
                <a:latin typeface="Abadi" panose="020B0604020104020204" pitchFamily="34" charset="0"/>
              </a:rPr>
              <a:t> SUK </a:t>
            </a:r>
            <a:r>
              <a:rPr lang="en-US" dirty="0" err="1">
                <a:latin typeface="Abadi" panose="020B0604020104020204" pitchFamily="34" charset="0"/>
              </a:rPr>
              <a:t>dengan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b="1" dirty="0">
                <a:latin typeface="Abadi" panose="020B0604020104020204" pitchFamily="34" charset="0"/>
              </a:rPr>
              <a:t>new state</a:t>
            </a:r>
            <a:r>
              <a:rPr lang="en-US" dirty="0">
                <a:latin typeface="Abadi" panose="020B0604020104020204" pitchFamily="34" charset="0"/>
              </a:rPr>
              <a:t>. Jika </a:t>
            </a:r>
            <a:r>
              <a:rPr lang="en-US" dirty="0" err="1">
                <a:latin typeface="Abadi" panose="020B0604020104020204" pitchFamily="34" charset="0"/>
              </a:rPr>
              <a:t>tidak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lebih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baik</a:t>
            </a:r>
            <a:r>
              <a:rPr lang="en-US" dirty="0">
                <a:latin typeface="Abadi" panose="020B0604020104020204" pitchFamily="34" charset="0"/>
              </a:rPr>
              <a:t>, SUK </a:t>
            </a:r>
            <a:r>
              <a:rPr lang="en-US" dirty="0" err="1">
                <a:latin typeface="Abadi" panose="020B0604020104020204" pitchFamily="34" charset="0"/>
              </a:rPr>
              <a:t>perlu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diganti</a:t>
            </a:r>
            <a:r>
              <a:rPr lang="en-US" dirty="0">
                <a:latin typeface="Abadi" panose="020B0604020104020204" pitchFamily="34" charset="0"/>
              </a:rPr>
              <a:t>.</a:t>
            </a:r>
          </a:p>
          <a:p>
            <a:pPr marL="857250" lvl="1" indent="-457200">
              <a:buFont typeface="+mj-lt"/>
              <a:buAutoNum type="alphaLcPeriod"/>
            </a:pPr>
            <a:r>
              <a:rPr lang="en-US" dirty="0">
                <a:latin typeface="Abadi" panose="020B0604020104020204" pitchFamily="34" charset="0"/>
              </a:rPr>
              <a:t>Jika SUK </a:t>
            </a:r>
            <a:r>
              <a:rPr lang="en-US" dirty="0" err="1">
                <a:latin typeface="Abadi" panose="020B0604020104020204" pitchFamily="34" charset="0"/>
              </a:rPr>
              <a:t>lebih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baik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daru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b="1" dirty="0">
                <a:latin typeface="Abadi" panose="020B0604020104020204" pitchFamily="34" charset="0"/>
              </a:rPr>
              <a:t>current state</a:t>
            </a:r>
            <a:r>
              <a:rPr lang="en-US" dirty="0">
                <a:latin typeface="Abadi" panose="020B0604020104020204" pitchFamily="34" charset="0"/>
              </a:rPr>
              <a:t>, </a:t>
            </a:r>
            <a:r>
              <a:rPr lang="en-US" dirty="0" err="1">
                <a:latin typeface="Abadi" panose="020B0604020104020204" pitchFamily="34" charset="0"/>
              </a:rPr>
              <a:t>maka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ganti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b="1" dirty="0">
                <a:latin typeface="Abadi" panose="020B0604020104020204" pitchFamily="34" charset="0"/>
              </a:rPr>
              <a:t>current state </a:t>
            </a:r>
            <a:r>
              <a:rPr lang="en-US" dirty="0" err="1">
                <a:latin typeface="Abadi" panose="020B0604020104020204" pitchFamily="34" charset="0"/>
              </a:rPr>
              <a:t>dengan</a:t>
            </a:r>
            <a:r>
              <a:rPr lang="en-US" dirty="0">
                <a:latin typeface="Abadi" panose="020B0604020104020204" pitchFamily="34" charset="0"/>
              </a:rPr>
              <a:t> SUK</a:t>
            </a:r>
            <a:endParaRPr lang="id-ID" dirty="0">
              <a:latin typeface="Abadi" panose="020B06040201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Steepest-Ascent </a:t>
            </a:r>
            <a:r>
              <a:rPr lang="en-US" dirty="0"/>
              <a:t>HC</a:t>
            </a:r>
            <a:endParaRPr lang="id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3F1E53-A7F1-4FD1-BF29-7F51B624B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10752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1162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1116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947755"/>
              </p:ext>
            </p:extLst>
          </p:nvPr>
        </p:nvGraphicFramePr>
        <p:xfrm>
          <a:off x="1394713" y="1447800"/>
          <a:ext cx="5562600" cy="4687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43175" imgH="2186464" progId="Visio.Drawing.11">
                  <p:embed/>
                </p:oleObj>
              </mc:Choice>
              <mc:Fallback>
                <p:oleObj name="Visio" r:id="rId2" imgW="2543175" imgH="2186464" progId="Visio.Drawing.11">
                  <p:embed/>
                  <p:pic>
                    <p:nvPicPr>
                      <p:cNvPr id="1116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4713" y="1447800"/>
                        <a:ext cx="5562600" cy="46873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77874"/>
          </a:xfrm>
        </p:spPr>
        <p:txBody>
          <a:bodyPr/>
          <a:lstStyle/>
          <a:p>
            <a:r>
              <a:rPr lang="id-ID" dirty="0"/>
              <a:t>Simulated Annealing (SA)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52604"/>
            <a:ext cx="6347714" cy="428876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badi" panose="020B0604020104020204" pitchFamily="34" charset="0"/>
              </a:rPr>
              <a:t>A</a:t>
            </a:r>
            <a:r>
              <a:rPr lang="id-ID" sz="2000" dirty="0">
                <a:latin typeface="Abadi" panose="020B0604020104020204" pitchFamily="34" charset="0"/>
              </a:rPr>
              <a:t>nalogi cara pendinginan dan pembekuan metal dengan energi yang minimal. 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en-US" sz="2000" dirty="0">
                <a:latin typeface="Abadi" panose="020B0604020104020204" pitchFamily="34" charset="0"/>
              </a:rPr>
              <a:t>D</a:t>
            </a:r>
            <a:r>
              <a:rPr lang="id-ID" sz="2000" dirty="0">
                <a:latin typeface="Abadi" panose="020B0604020104020204" pitchFamily="34" charset="0"/>
              </a:rPr>
              <a:t>engan probaibiltas tertentu</a:t>
            </a:r>
            <a:r>
              <a:rPr lang="en-US" sz="2000" dirty="0">
                <a:latin typeface="Abadi" panose="020B0604020104020204" pitchFamily="34" charset="0"/>
              </a:rPr>
              <a:t>,</a:t>
            </a:r>
            <a:r>
              <a:rPr lang="id-ID" sz="2000" dirty="0">
                <a:latin typeface="Abadi" panose="020B0604020104020204" pitchFamily="34" charset="0"/>
              </a:rPr>
              <a:t> SA mungkin bisa keluar dari jebakan </a:t>
            </a:r>
            <a:r>
              <a:rPr lang="id-ID" sz="2000" b="1" i="1" dirty="0">
                <a:latin typeface="Abadi" panose="020B0604020104020204" pitchFamily="34" charset="0"/>
              </a:rPr>
              <a:t>local minimum</a:t>
            </a:r>
            <a:r>
              <a:rPr lang="id-ID" sz="2000" b="1" dirty="0">
                <a:latin typeface="Abadi" panose="020B0604020104020204" pitchFamily="34" charset="0"/>
              </a:rPr>
              <a:t>. </a:t>
            </a:r>
            <a:endParaRPr lang="en-US" sz="2000" b="1" dirty="0">
              <a:latin typeface="Abadi" panose="020B0604020104020204" pitchFamily="34" charset="0"/>
            </a:endParaRPr>
          </a:p>
          <a:p>
            <a:r>
              <a:rPr lang="id-ID" sz="2000" dirty="0">
                <a:latin typeface="Abadi" panose="020B0604020104020204" pitchFamily="34" charset="0"/>
              </a:rPr>
              <a:t>SA menggunakan sebuah rumus probabilitas yang memungkinkannya bisa keluar dari </a:t>
            </a:r>
            <a:r>
              <a:rPr lang="id-ID" sz="2000" i="1" dirty="0">
                <a:latin typeface="Abadi" panose="020B0604020104020204" pitchFamily="34" charset="0"/>
              </a:rPr>
              <a:t>local minimum</a:t>
            </a:r>
            <a:r>
              <a:rPr lang="id-ID" sz="2000" dirty="0">
                <a:latin typeface="Abadi" panose="020B0604020104020204" pitchFamily="34" charset="0"/>
              </a:rPr>
              <a:t>. 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id-ID" sz="2000" dirty="0">
                <a:latin typeface="Abadi" panose="020B0604020104020204" pitchFamily="34" charset="0"/>
              </a:rPr>
              <a:t>Ketika </a:t>
            </a:r>
            <a:r>
              <a:rPr lang="id-ID" sz="2000" i="1" dirty="0">
                <a:latin typeface="Abadi" panose="020B0604020104020204" pitchFamily="34" charset="0"/>
              </a:rPr>
              <a:t>new state </a:t>
            </a:r>
            <a:r>
              <a:rPr lang="id-ID" sz="2000" dirty="0">
                <a:latin typeface="Abadi" panose="020B0604020104020204" pitchFamily="34" charset="0"/>
              </a:rPr>
              <a:t>tidak lebih baik dari </a:t>
            </a:r>
            <a:r>
              <a:rPr lang="id-ID" sz="2000" i="1" dirty="0">
                <a:latin typeface="Abadi" panose="020B0604020104020204" pitchFamily="34" charset="0"/>
              </a:rPr>
              <a:t>current state</a:t>
            </a:r>
            <a:r>
              <a:rPr lang="id-ID" sz="2000" dirty="0">
                <a:latin typeface="Abadi" panose="020B0604020104020204" pitchFamily="34" charset="0"/>
              </a:rPr>
              <a:t>, </a:t>
            </a:r>
            <a:r>
              <a:rPr lang="en-US" sz="2000" dirty="0" err="1">
                <a:latin typeface="Abadi" panose="020B0604020104020204" pitchFamily="34" charset="0"/>
              </a:rPr>
              <a:t>dia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id-ID" sz="2000" dirty="0">
                <a:latin typeface="Abadi" panose="020B0604020104020204" pitchFamily="34" charset="0"/>
              </a:rPr>
              <a:t>masih mungkin dipilih dengan probabilitas: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9BECF-C39C-4A1C-84EC-3F752AC6B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11366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043697"/>
              </p:ext>
            </p:extLst>
          </p:nvPr>
        </p:nvGraphicFramePr>
        <p:xfrm>
          <a:off x="2362200" y="4876800"/>
          <a:ext cx="2514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800" imgH="228600" progId="Equation.3">
                  <p:embed/>
                </p:oleObj>
              </mc:Choice>
              <mc:Fallback>
                <p:oleObj name="Equation" r:id="rId2" imgW="939800" imgH="228600" progId="Equation.3">
                  <p:embed/>
                  <p:pic>
                    <p:nvPicPr>
                      <p:cNvPr id="11366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876800"/>
                        <a:ext cx="25146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3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A1085-A4E1-4FD9-8D45-D2BE8EE52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742" y="241284"/>
            <a:ext cx="6347713" cy="44451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Algoritma</a:t>
            </a:r>
            <a:r>
              <a:rPr lang="en-US" dirty="0"/>
              <a:t> SA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EB24D-9032-425E-A1C0-6B064A047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850884"/>
            <a:ext cx="8305802" cy="5190479"/>
          </a:xfrm>
        </p:spPr>
        <p:txBody>
          <a:bodyPr>
            <a:noAutofit/>
          </a:bodyPr>
          <a:lstStyle/>
          <a:p>
            <a:pPr marL="800100" lvl="2" indent="0">
              <a:buNone/>
            </a:pPr>
            <a:endParaRPr lang="en-ID" sz="1800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7B882-091A-46CF-B858-365194C8B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566D51-6454-46A8-B5CF-5117243B9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1" y="723472"/>
            <a:ext cx="8148637" cy="604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905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Simulated Annealing (SA)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BE2D06-D0F0-4E3F-8888-4D6B72D86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1126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11264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421715"/>
              </p:ext>
            </p:extLst>
          </p:nvPr>
        </p:nvGraphicFramePr>
        <p:xfrm>
          <a:off x="1214057" y="1774163"/>
          <a:ext cx="5138798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617232" imgH="2220039" progId="Visio.Drawing.11">
                  <p:embed/>
                </p:oleObj>
              </mc:Choice>
              <mc:Fallback>
                <p:oleObj name="Visio" r:id="rId2" imgW="2617232" imgH="2220039" progId="Visio.Drawing.11">
                  <p:embed/>
                  <p:pic>
                    <p:nvPicPr>
                      <p:cNvPr id="11264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057" y="1774163"/>
                        <a:ext cx="5138798" cy="426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685800"/>
          </a:xfrm>
        </p:spPr>
        <p:txBody>
          <a:bodyPr/>
          <a:lstStyle/>
          <a:p>
            <a:r>
              <a:rPr lang="id-ID" dirty="0"/>
              <a:t>Best-First 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3E996F-E407-4284-AE0D-C85C614B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4A7CB38-FC69-4A69-82CD-BC16B2DB356B}"/>
              </a:ext>
            </a:extLst>
          </p:cNvPr>
          <p:cNvSpPr txBox="1">
            <a:spLocks/>
          </p:cNvSpPr>
          <p:nvPr/>
        </p:nvSpPr>
        <p:spPr>
          <a:xfrm>
            <a:off x="609599" y="1295400"/>
            <a:ext cx="7315201" cy="49530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latin typeface="Abadi" panose="020B0604020104020204" pitchFamily="34" charset="0"/>
              </a:rPr>
              <a:t>OPEN </a:t>
            </a:r>
            <a:r>
              <a:rPr lang="en-US" dirty="0" err="1">
                <a:latin typeface="Abadi" panose="020B0604020104020204" pitchFamily="34" charset="0"/>
              </a:rPr>
              <a:t>berisi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b="1" dirty="0">
                <a:latin typeface="Abadi" panose="020B0604020104020204" pitchFamily="34" charset="0"/>
              </a:rPr>
              <a:t>initial state </a:t>
            </a:r>
            <a:r>
              <a:rPr lang="en-US" dirty="0">
                <a:latin typeface="Abadi" panose="020B0604020104020204" pitchFamily="34" charset="0"/>
              </a:rPr>
              <a:t>dan CLOSE </a:t>
            </a:r>
            <a:r>
              <a:rPr lang="en-US" dirty="0" err="1">
                <a:latin typeface="Abadi" panose="020B0604020104020204" pitchFamily="34" charset="0"/>
              </a:rPr>
              <a:t>masih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kosong</a:t>
            </a:r>
            <a:endParaRPr lang="en-US" dirty="0">
              <a:latin typeface="Abadi" panose="020B0604020104020204" pitchFamily="34" charset="0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dirty="0" err="1">
                <a:latin typeface="Abadi" panose="020B0604020104020204" pitchFamily="34" charset="0"/>
              </a:rPr>
              <a:t>Ulangi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sampai</a:t>
            </a:r>
            <a:r>
              <a:rPr lang="en-US" dirty="0">
                <a:latin typeface="Abadi" panose="020B0604020104020204" pitchFamily="34" charset="0"/>
              </a:rPr>
              <a:t> goal di </a:t>
            </a:r>
            <a:r>
              <a:rPr lang="en-US" dirty="0" err="1">
                <a:latin typeface="Abadi" panose="020B0604020104020204" pitchFamily="34" charset="0"/>
              </a:rPr>
              <a:t>temukan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atau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sampai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tidak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ada</a:t>
            </a:r>
            <a:r>
              <a:rPr lang="en-US" dirty="0">
                <a:latin typeface="Abadi" panose="020B0604020104020204" pitchFamily="34" charset="0"/>
              </a:rPr>
              <a:t> nodes di </a:t>
            </a:r>
            <a:r>
              <a:rPr lang="en-US" dirty="0" err="1">
                <a:latin typeface="Abadi" panose="020B0604020104020204" pitchFamily="34" charset="0"/>
              </a:rPr>
              <a:t>dalam</a:t>
            </a:r>
            <a:r>
              <a:rPr lang="en-US" dirty="0">
                <a:latin typeface="Abadi" panose="020B0604020104020204" pitchFamily="34" charset="0"/>
              </a:rPr>
              <a:t> OPEN</a:t>
            </a:r>
          </a:p>
          <a:p>
            <a:pPr marL="857250" lvl="1" indent="-457200">
              <a:spcBef>
                <a:spcPts val="600"/>
              </a:spcBef>
              <a:buFont typeface="+mj-lt"/>
              <a:buAutoNum type="alphaLcPeriod"/>
            </a:pPr>
            <a:r>
              <a:rPr lang="en-US" sz="1800" dirty="0">
                <a:latin typeface="Abadi" panose="020B0604020104020204" pitchFamily="34" charset="0"/>
              </a:rPr>
              <a:t>Ambil </a:t>
            </a:r>
            <a:r>
              <a:rPr lang="en-US" sz="1800" dirty="0" err="1">
                <a:latin typeface="Abadi" panose="020B0604020104020204" pitchFamily="34" charset="0"/>
              </a:rPr>
              <a:t>simpul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terbaik</a:t>
            </a:r>
            <a:r>
              <a:rPr lang="en-US" sz="1800" dirty="0">
                <a:latin typeface="Abadi" panose="020B0604020104020204" pitchFamily="34" charset="0"/>
              </a:rPr>
              <a:t> yang </a:t>
            </a:r>
            <a:r>
              <a:rPr lang="en-US" sz="1800" dirty="0" err="1">
                <a:latin typeface="Abadi" panose="020B0604020104020204" pitchFamily="34" charset="0"/>
              </a:rPr>
              <a:t>ada</a:t>
            </a:r>
            <a:r>
              <a:rPr lang="en-US" sz="1800" dirty="0">
                <a:latin typeface="Abadi" panose="020B0604020104020204" pitchFamily="34" charset="0"/>
              </a:rPr>
              <a:t> di OPEN</a:t>
            </a:r>
          </a:p>
          <a:p>
            <a:pPr marL="857250" lvl="1" indent="-457200">
              <a:spcBef>
                <a:spcPts val="600"/>
              </a:spcBef>
              <a:buFont typeface="+mj-lt"/>
              <a:buAutoNum type="alphaLcPeriod"/>
            </a:pPr>
            <a:r>
              <a:rPr lang="en-US" sz="1800" dirty="0">
                <a:latin typeface="Abadi" panose="020B0604020104020204" pitchFamily="34" charset="0"/>
              </a:rPr>
              <a:t>Jika </a:t>
            </a:r>
            <a:r>
              <a:rPr lang="en-US" sz="1800" dirty="0" err="1">
                <a:latin typeface="Abadi" panose="020B0604020104020204" pitchFamily="34" charset="0"/>
              </a:rPr>
              <a:t>simpul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tersebut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sama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dengan</a:t>
            </a:r>
            <a:r>
              <a:rPr lang="en-US" sz="1800" dirty="0">
                <a:latin typeface="Abadi" panose="020B0604020104020204" pitchFamily="34" charset="0"/>
              </a:rPr>
              <a:t> goal, </a:t>
            </a:r>
            <a:r>
              <a:rPr lang="en-US" sz="1800" dirty="0" err="1">
                <a:latin typeface="Abadi" panose="020B0604020104020204" pitchFamily="34" charset="0"/>
              </a:rPr>
              <a:t>maka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sukses</a:t>
            </a:r>
            <a:endParaRPr lang="en-US" sz="1800" dirty="0">
              <a:latin typeface="Abadi" panose="020B0604020104020204" pitchFamily="34" charset="0"/>
            </a:endParaRPr>
          </a:p>
          <a:p>
            <a:pPr marL="857250" lvl="1" indent="-457200">
              <a:spcBef>
                <a:spcPts val="600"/>
              </a:spcBef>
              <a:buFont typeface="+mj-lt"/>
              <a:buAutoNum type="alphaLcPeriod"/>
            </a:pPr>
            <a:r>
              <a:rPr lang="en-US" sz="1800" dirty="0">
                <a:latin typeface="Abadi" panose="020B0604020104020204" pitchFamily="34" charset="0"/>
              </a:rPr>
              <a:t>Jika </a:t>
            </a:r>
            <a:r>
              <a:rPr lang="en-US" sz="1800" dirty="0" err="1">
                <a:latin typeface="Abadi" panose="020B0604020104020204" pitchFamily="34" charset="0"/>
              </a:rPr>
              <a:t>tidak</a:t>
            </a:r>
            <a:r>
              <a:rPr lang="en-US" sz="1800" dirty="0">
                <a:latin typeface="Abadi" panose="020B0604020104020204" pitchFamily="34" charset="0"/>
              </a:rPr>
              <a:t>, </a:t>
            </a:r>
            <a:r>
              <a:rPr lang="en-US" sz="1800" dirty="0" err="1">
                <a:latin typeface="Abadi" panose="020B0604020104020204" pitchFamily="34" charset="0"/>
              </a:rPr>
              <a:t>masukkan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simpul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tersebut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ke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dalam</a:t>
            </a:r>
            <a:r>
              <a:rPr lang="en-US" sz="1800" dirty="0">
                <a:latin typeface="Abadi" panose="020B0604020104020204" pitchFamily="34" charset="0"/>
              </a:rPr>
              <a:t> CLOSED</a:t>
            </a:r>
          </a:p>
          <a:p>
            <a:pPr marL="857250" lvl="1" indent="-457200">
              <a:spcBef>
                <a:spcPts val="600"/>
              </a:spcBef>
              <a:buFont typeface="+mj-lt"/>
              <a:buAutoNum type="alphaLcPeriod"/>
            </a:pPr>
            <a:r>
              <a:rPr lang="en-US" sz="1800" dirty="0" err="1">
                <a:latin typeface="Abadi" panose="020B0604020104020204" pitchFamily="34" charset="0"/>
              </a:rPr>
              <a:t>Bangkitkan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semua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suksesor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dari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simpul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tersebut</a:t>
            </a:r>
            <a:endParaRPr lang="en-US" sz="1800" dirty="0">
              <a:latin typeface="Abadi" panose="020B0604020104020204" pitchFamily="34" charset="0"/>
            </a:endParaRPr>
          </a:p>
          <a:p>
            <a:pPr marL="857250" lvl="1" indent="-457200">
              <a:spcBef>
                <a:spcPts val="600"/>
              </a:spcBef>
              <a:buFont typeface="+mj-lt"/>
              <a:buAutoNum type="alphaLcPeriod"/>
            </a:pPr>
            <a:r>
              <a:rPr lang="en-US" sz="1800" dirty="0" err="1">
                <a:latin typeface="Abadi" panose="020B0604020104020204" pitchFamily="34" charset="0"/>
              </a:rPr>
              <a:t>Untuk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setiap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suksesor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kerjakan</a:t>
            </a:r>
            <a:r>
              <a:rPr lang="en-US" sz="1800" dirty="0">
                <a:latin typeface="Abadi" panose="020B0604020104020204" pitchFamily="34" charset="0"/>
              </a:rPr>
              <a:t> :</a:t>
            </a:r>
          </a:p>
          <a:p>
            <a:pPr marL="1257300" lvl="2" indent="-457200">
              <a:spcBef>
                <a:spcPts val="600"/>
              </a:spcBef>
              <a:buFont typeface="+mj-lt"/>
              <a:buAutoNum type="romanLcPeriod"/>
            </a:pPr>
            <a:r>
              <a:rPr lang="en-US" sz="1800" dirty="0">
                <a:latin typeface="Abadi" panose="020B0604020104020204" pitchFamily="34" charset="0"/>
              </a:rPr>
              <a:t>Jika </a:t>
            </a:r>
            <a:r>
              <a:rPr lang="en-US" sz="1800" dirty="0" err="1">
                <a:latin typeface="Abadi" panose="020B0604020104020204" pitchFamily="34" charset="0"/>
              </a:rPr>
              <a:t>suksesor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tersebut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belum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pernah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dibangkitkan</a:t>
            </a:r>
            <a:r>
              <a:rPr lang="en-US" sz="1800" dirty="0">
                <a:latin typeface="Abadi" panose="020B0604020104020204" pitchFamily="34" charset="0"/>
              </a:rPr>
              <a:t>, </a:t>
            </a:r>
            <a:r>
              <a:rPr lang="en-US" sz="1800" dirty="0" err="1">
                <a:latin typeface="Abadi" panose="020B0604020104020204" pitchFamily="34" charset="0"/>
              </a:rPr>
              <a:t>evaluasi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suksesor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tersebut</a:t>
            </a:r>
            <a:r>
              <a:rPr lang="en-US" sz="1800" dirty="0">
                <a:latin typeface="Abadi" panose="020B0604020104020204" pitchFamily="34" charset="0"/>
              </a:rPr>
              <a:t>, </a:t>
            </a:r>
            <a:r>
              <a:rPr lang="en-US" sz="1800" dirty="0" err="1">
                <a:latin typeface="Abadi" panose="020B0604020104020204" pitchFamily="34" charset="0"/>
              </a:rPr>
              <a:t>tambahkan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ke</a:t>
            </a:r>
            <a:r>
              <a:rPr lang="en-US" sz="1800" dirty="0">
                <a:latin typeface="Abadi" panose="020B0604020104020204" pitchFamily="34" charset="0"/>
              </a:rPr>
              <a:t> OPEN, dan </a:t>
            </a:r>
            <a:r>
              <a:rPr lang="en-US" sz="1800" dirty="0" err="1">
                <a:latin typeface="Abadi" panose="020B0604020104020204" pitchFamily="34" charset="0"/>
              </a:rPr>
              <a:t>catat</a:t>
            </a:r>
            <a:r>
              <a:rPr lang="en-US" sz="1800" dirty="0">
                <a:latin typeface="Abadi" panose="020B0604020104020204" pitchFamily="34" charset="0"/>
              </a:rPr>
              <a:t> parent </a:t>
            </a:r>
            <a:r>
              <a:rPr lang="en-US" sz="1800" dirty="0" err="1">
                <a:latin typeface="Abadi" panose="020B0604020104020204" pitchFamily="34" charset="0"/>
              </a:rPr>
              <a:t>atau</a:t>
            </a:r>
            <a:r>
              <a:rPr lang="en-US" sz="1800" dirty="0">
                <a:latin typeface="Abadi" panose="020B0604020104020204" pitchFamily="34" charset="0"/>
              </a:rPr>
              <a:t> orang </a:t>
            </a:r>
            <a:r>
              <a:rPr lang="en-US" sz="1800" dirty="0" err="1">
                <a:latin typeface="Abadi" panose="020B0604020104020204" pitchFamily="34" charset="0"/>
              </a:rPr>
              <a:t>tuanya</a:t>
            </a:r>
            <a:endParaRPr lang="en-US" sz="1800" dirty="0">
              <a:latin typeface="Abadi" panose="020B0604020104020204" pitchFamily="34" charset="0"/>
            </a:endParaRPr>
          </a:p>
          <a:p>
            <a:pPr marL="1257300" lvl="2" indent="-457200">
              <a:spcBef>
                <a:spcPts val="600"/>
              </a:spcBef>
              <a:buFont typeface="+mj-lt"/>
              <a:buAutoNum type="romanLcPeriod"/>
            </a:pPr>
            <a:r>
              <a:rPr lang="en-US" sz="1800" dirty="0">
                <a:latin typeface="Abadi" panose="020B0604020104020204" pitchFamily="34" charset="0"/>
              </a:rPr>
              <a:t>Jika </a:t>
            </a:r>
            <a:r>
              <a:rPr lang="en-US" sz="1800" dirty="0" err="1">
                <a:latin typeface="Abadi" panose="020B0604020104020204" pitchFamily="34" charset="0"/>
              </a:rPr>
              <a:t>suksesor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tersebut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sudah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pernah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dibangkitkan</a:t>
            </a:r>
            <a:r>
              <a:rPr lang="en-US" sz="1800" dirty="0">
                <a:latin typeface="Abadi" panose="020B0604020104020204" pitchFamily="34" charset="0"/>
              </a:rPr>
              <a:t>, </a:t>
            </a:r>
            <a:r>
              <a:rPr lang="en-US" sz="1800" dirty="0" err="1">
                <a:latin typeface="Abadi" panose="020B0604020104020204" pitchFamily="34" charset="0"/>
              </a:rPr>
              <a:t>ubah</a:t>
            </a:r>
            <a:r>
              <a:rPr lang="en-US" sz="1800" dirty="0">
                <a:latin typeface="Abadi" panose="020B0604020104020204" pitchFamily="34" charset="0"/>
              </a:rPr>
              <a:t> parent-</a:t>
            </a:r>
            <a:r>
              <a:rPr lang="en-US" sz="1800" dirty="0" err="1">
                <a:latin typeface="Abadi" panose="020B0604020104020204" pitchFamily="34" charset="0"/>
              </a:rPr>
              <a:t>nya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jika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jalur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melalui</a:t>
            </a:r>
            <a:r>
              <a:rPr lang="en-US" sz="1800" dirty="0">
                <a:latin typeface="Abadi" panose="020B0604020104020204" pitchFamily="34" charset="0"/>
              </a:rPr>
              <a:t> parent </a:t>
            </a:r>
            <a:r>
              <a:rPr lang="en-US" sz="1800" dirty="0" err="1">
                <a:latin typeface="Abadi" panose="020B0604020104020204" pitchFamily="34" charset="0"/>
              </a:rPr>
              <a:t>ini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lebih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baik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dari</a:t>
            </a:r>
            <a:r>
              <a:rPr lang="en-US" sz="1800" dirty="0">
                <a:latin typeface="Abadi" panose="020B0604020104020204" pitchFamily="34" charset="0"/>
              </a:rPr>
              <a:t> pada </a:t>
            </a:r>
            <a:r>
              <a:rPr lang="en-US" sz="1800" dirty="0" err="1">
                <a:latin typeface="Abadi" panose="020B0604020104020204" pitchFamily="34" charset="0"/>
              </a:rPr>
              <a:t>jalur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melalui</a:t>
            </a:r>
            <a:r>
              <a:rPr lang="en-US" sz="1800" dirty="0">
                <a:latin typeface="Abadi" panose="020B0604020104020204" pitchFamily="34" charset="0"/>
              </a:rPr>
              <a:t> parent yang </a:t>
            </a:r>
            <a:r>
              <a:rPr lang="en-US" sz="1800" dirty="0" err="1">
                <a:latin typeface="Abadi" panose="020B0604020104020204" pitchFamily="34" charset="0"/>
              </a:rPr>
              <a:t>sebelumnya</a:t>
            </a:r>
            <a:r>
              <a:rPr lang="en-US" sz="1800" dirty="0">
                <a:latin typeface="Abadi" panose="020B0604020104020204" pitchFamily="34" charset="0"/>
              </a:rPr>
              <a:t>. </a:t>
            </a:r>
            <a:r>
              <a:rPr lang="en-US" sz="1800" dirty="0" err="1">
                <a:latin typeface="Abadi" panose="020B0604020104020204" pitchFamily="34" charset="0"/>
              </a:rPr>
              <a:t>Slanjutnya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perbaharui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biaya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untuk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suksesor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tersebut</a:t>
            </a:r>
            <a:r>
              <a:rPr lang="en-US" sz="1800" dirty="0">
                <a:latin typeface="Abadi" panose="020B0604020104020204" pitchFamily="34" charset="0"/>
              </a:rPr>
              <a:t> dan nodes lain yang </a:t>
            </a:r>
            <a:r>
              <a:rPr lang="en-US" sz="1800" dirty="0" err="1">
                <a:latin typeface="Abadi" panose="020B0604020104020204" pitchFamily="34" charset="0"/>
              </a:rPr>
              <a:t>berada</a:t>
            </a:r>
            <a:r>
              <a:rPr lang="en-US" sz="1800" dirty="0">
                <a:latin typeface="Abadi" panose="020B0604020104020204" pitchFamily="34" charset="0"/>
              </a:rPr>
              <a:t> di level </a:t>
            </a:r>
            <a:r>
              <a:rPr lang="en-US" sz="1800" dirty="0" err="1">
                <a:latin typeface="Abadi" panose="020B0604020104020204" pitchFamily="34" charset="0"/>
              </a:rPr>
              <a:t>bawahnya</a:t>
            </a:r>
            <a:r>
              <a:rPr lang="en-US" sz="1800" dirty="0">
                <a:latin typeface="Abadi" panose="020B0604020104020204" pitchFamily="34" charset="0"/>
              </a:rPr>
              <a:t>.</a:t>
            </a:r>
          </a:p>
          <a:p>
            <a:pPr lvl="1">
              <a:spcBef>
                <a:spcPts val="600"/>
              </a:spcBef>
            </a:pPr>
            <a:endParaRPr lang="id-ID" sz="1800" dirty="0">
              <a:latin typeface="Abadi" panose="020B06040201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62000"/>
          </a:xfrm>
        </p:spPr>
        <p:txBody>
          <a:bodyPr/>
          <a:lstStyle/>
          <a:p>
            <a:r>
              <a:rPr lang="en-US" i="1" dirty="0"/>
              <a:t>Greedy Best-First Search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24000"/>
            <a:ext cx="6347714" cy="4517363"/>
          </a:xfrm>
        </p:spPr>
        <p:txBody>
          <a:bodyPr>
            <a:normAutofit/>
          </a:bodyPr>
          <a:lstStyle/>
          <a:p>
            <a:r>
              <a:rPr lang="en-US" sz="2000" i="1" dirty="0">
                <a:latin typeface="Abadi" panose="020B0604020104020204" pitchFamily="34" charset="0"/>
              </a:rPr>
              <a:t>Best First Search</a:t>
            </a:r>
            <a:r>
              <a:rPr lang="en-US" sz="2000" dirty="0">
                <a:latin typeface="Abadi" panose="020B0604020104020204" pitchFamily="34" charset="0"/>
              </a:rPr>
              <a:t> yang paling </a:t>
            </a:r>
            <a:r>
              <a:rPr lang="en-US" sz="2000" dirty="0" err="1">
                <a:latin typeface="Abadi" panose="020B0604020104020204" pitchFamily="34" charset="0"/>
              </a:rPr>
              <a:t>sederhana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en-US" sz="2000" dirty="0" err="1">
                <a:latin typeface="Abadi" panose="020B0604020104020204" pitchFamily="34" charset="0"/>
              </a:rPr>
              <a:t>Hanya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memperhitungkan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biaya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perkiraan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</a:p>
          <a:p>
            <a:r>
              <a:rPr lang="en-US" sz="2000" dirty="0" err="1">
                <a:latin typeface="Abadi" panose="020B0604020104020204" pitchFamily="34" charset="0"/>
              </a:rPr>
              <a:t>Biaya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sebenarnya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tidak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diperhitungkan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en-US" sz="2000" b="1" i="1" dirty="0">
                <a:latin typeface="Abadi" panose="020B0604020104020204" pitchFamily="34" charset="0"/>
              </a:rPr>
              <a:t>Complete</a:t>
            </a:r>
            <a:r>
              <a:rPr lang="en-US" sz="2000" i="1" dirty="0">
                <a:latin typeface="Abadi" panose="020B0604020104020204" pitchFamily="34" charset="0"/>
              </a:rPr>
              <a:t>,</a:t>
            </a:r>
            <a:r>
              <a:rPr lang="en-US" sz="2000" b="1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tapi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b="1" dirty="0" err="1">
                <a:latin typeface="Abadi" panose="020B0604020104020204" pitchFamily="34" charset="0"/>
              </a:rPr>
              <a:t>Tidak</a:t>
            </a:r>
            <a:r>
              <a:rPr lang="en-US" sz="2000" b="1" dirty="0">
                <a:latin typeface="Abadi" panose="020B0604020104020204" pitchFamily="34" charset="0"/>
              </a:rPr>
              <a:t> Optimal</a:t>
            </a:r>
          </a:p>
          <a:p>
            <a:pPr marL="0" indent="0">
              <a:buNone/>
            </a:pPr>
            <a:endParaRPr lang="id-ID" sz="2000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F159E-8D2B-4ED5-B6D4-1A98A74C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114693" name="Object 5"/>
          <p:cNvGraphicFramePr>
            <a:graphicFrameLocks noChangeAspect="1"/>
          </p:cNvGraphicFramePr>
          <p:nvPr/>
        </p:nvGraphicFramePr>
        <p:xfrm>
          <a:off x="304799" y="990600"/>
          <a:ext cx="8608885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86262" imgH="2931795" progId="Visio.Drawing.11">
                  <p:embed/>
                </p:oleObj>
              </mc:Choice>
              <mc:Fallback>
                <p:oleObj name="Visio" r:id="rId2" imgW="4386262" imgH="2931795" progId="Visio.Drawing.11">
                  <p:embed/>
                  <p:pic>
                    <p:nvPicPr>
                      <p:cNvPr id="1146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799" y="990600"/>
                        <a:ext cx="8608885" cy="548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DF236F-BA38-477D-AB6A-1DE79E9A8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F6A0203D-40DC-472A-816D-41EAAED38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Langkah 1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1706B85-54FC-432C-B085-56531A98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8B39E78-CF47-4F62-8905-C43650F58AA4}" type="slidenum">
              <a:rPr lang="en-US" altLang="en-US">
                <a:solidFill>
                  <a:srgbClr val="626551"/>
                </a:solidFill>
                <a:latin typeface="Constantia" panose="02030602050306030303" pitchFamily="18" charset="0"/>
              </a:rPr>
              <a:pPr eaLnBrk="1" hangingPunct="1"/>
              <a:t>34</a:t>
            </a:fld>
            <a:endParaRPr lang="en-US" altLang="en-US">
              <a:solidFill>
                <a:srgbClr val="626551"/>
              </a:solidFill>
              <a:latin typeface="Constantia" panose="02030602050306030303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1AFCE47-AB8F-4EC5-A881-AD5B9ACD5F1A}"/>
              </a:ext>
            </a:extLst>
          </p:cNvPr>
          <p:cNvSpPr/>
          <p:nvPr/>
        </p:nvSpPr>
        <p:spPr>
          <a:xfrm>
            <a:off x="712788" y="3021013"/>
            <a:ext cx="457200" cy="45720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244C94-F5F2-47A0-96C9-AA201ADCC134}"/>
              </a:ext>
            </a:extLst>
          </p:cNvPr>
          <p:cNvSpPr/>
          <p:nvPr/>
        </p:nvSpPr>
        <p:spPr>
          <a:xfrm>
            <a:off x="1524000" y="2209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22AC39-2A8A-4F26-AA6B-41668DB98EE6}"/>
              </a:ext>
            </a:extLst>
          </p:cNvPr>
          <p:cNvSpPr/>
          <p:nvPr/>
        </p:nvSpPr>
        <p:spPr>
          <a:xfrm>
            <a:off x="2286000" y="28194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6858C1-7F78-455C-8E7D-4507CC4BE78F}"/>
              </a:ext>
            </a:extLst>
          </p:cNvPr>
          <p:cNvSpPr/>
          <p:nvPr/>
        </p:nvSpPr>
        <p:spPr>
          <a:xfrm>
            <a:off x="2286000" y="35052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3BD8A3-BCEA-4517-AC9C-90BF68918D24}"/>
              </a:ext>
            </a:extLst>
          </p:cNvPr>
          <p:cNvSpPr/>
          <p:nvPr/>
        </p:nvSpPr>
        <p:spPr>
          <a:xfrm>
            <a:off x="1524000" y="39624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A11F152-ECD9-4770-A189-8417C3B9B93F}"/>
              </a:ext>
            </a:extLst>
          </p:cNvPr>
          <p:cNvSpPr/>
          <p:nvPr/>
        </p:nvSpPr>
        <p:spPr>
          <a:xfrm>
            <a:off x="919163" y="2289175"/>
            <a:ext cx="641350" cy="765175"/>
          </a:xfrm>
          <a:custGeom>
            <a:avLst/>
            <a:gdLst>
              <a:gd name="connsiteX0" fmla="*/ 0 w 641445"/>
              <a:gd name="connsiteY0" fmla="*/ 764275 h 764275"/>
              <a:gd name="connsiteX1" fmla="*/ 163773 w 641445"/>
              <a:gd name="connsiteY1" fmla="*/ 163773 h 764275"/>
              <a:gd name="connsiteX2" fmla="*/ 641445 w 641445"/>
              <a:gd name="connsiteY2" fmla="*/ 0 h 76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445" h="764275">
                <a:moveTo>
                  <a:pt x="0" y="764275"/>
                </a:moveTo>
                <a:cubicBezTo>
                  <a:pt x="28433" y="527713"/>
                  <a:pt x="56866" y="291152"/>
                  <a:pt x="163773" y="163773"/>
                </a:cubicBezTo>
                <a:cubicBezTo>
                  <a:pt x="270680" y="36394"/>
                  <a:pt x="456062" y="18197"/>
                  <a:pt x="641445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2CBB31DE-A413-4D6D-8FA5-2023409CE6A1}"/>
              </a:ext>
            </a:extLst>
          </p:cNvPr>
          <p:cNvSpPr/>
          <p:nvPr/>
        </p:nvSpPr>
        <p:spPr>
          <a:xfrm>
            <a:off x="1123950" y="2840038"/>
            <a:ext cx="1162050" cy="284162"/>
          </a:xfrm>
          <a:custGeom>
            <a:avLst/>
            <a:gdLst>
              <a:gd name="connsiteX0" fmla="*/ 0 w 750627"/>
              <a:gd name="connsiteY0" fmla="*/ 322997 h 322997"/>
              <a:gd name="connsiteX1" fmla="*/ 259307 w 750627"/>
              <a:gd name="connsiteY1" fmla="*/ 36394 h 322997"/>
              <a:gd name="connsiteX2" fmla="*/ 750627 w 750627"/>
              <a:gd name="connsiteY2" fmla="*/ 104632 h 322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0627" h="322997">
                <a:moveTo>
                  <a:pt x="0" y="322997"/>
                </a:moveTo>
                <a:cubicBezTo>
                  <a:pt x="67101" y="197892"/>
                  <a:pt x="134203" y="72788"/>
                  <a:pt x="259307" y="36394"/>
                </a:cubicBezTo>
                <a:cubicBezTo>
                  <a:pt x="384412" y="0"/>
                  <a:pt x="567519" y="52316"/>
                  <a:pt x="750627" y="104632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3E0D34B-9448-43BD-9AD2-5BD18B1FEC09}"/>
              </a:ext>
            </a:extLst>
          </p:cNvPr>
          <p:cNvSpPr/>
          <p:nvPr/>
        </p:nvSpPr>
        <p:spPr>
          <a:xfrm>
            <a:off x="1123950" y="3395663"/>
            <a:ext cx="1162050" cy="261937"/>
          </a:xfrm>
          <a:custGeom>
            <a:avLst/>
            <a:gdLst>
              <a:gd name="connsiteX0" fmla="*/ 0 w 791570"/>
              <a:gd name="connsiteY0" fmla="*/ 0 h 259307"/>
              <a:gd name="connsiteX1" fmla="*/ 627797 w 791570"/>
              <a:gd name="connsiteY1" fmla="*/ 136477 h 259307"/>
              <a:gd name="connsiteX2" fmla="*/ 791570 w 791570"/>
              <a:gd name="connsiteY2" fmla="*/ 259307 h 259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1570" h="259307">
                <a:moveTo>
                  <a:pt x="0" y="0"/>
                </a:moveTo>
                <a:cubicBezTo>
                  <a:pt x="247934" y="46629"/>
                  <a:pt x="495869" y="93259"/>
                  <a:pt x="627797" y="136477"/>
                </a:cubicBezTo>
                <a:cubicBezTo>
                  <a:pt x="759725" y="179695"/>
                  <a:pt x="775647" y="219501"/>
                  <a:pt x="791570" y="25930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0B764DA-2092-4D2F-932D-75742BC6E4F8}"/>
              </a:ext>
            </a:extLst>
          </p:cNvPr>
          <p:cNvSpPr/>
          <p:nvPr/>
        </p:nvSpPr>
        <p:spPr>
          <a:xfrm>
            <a:off x="1000125" y="3462338"/>
            <a:ext cx="560388" cy="574675"/>
          </a:xfrm>
          <a:custGeom>
            <a:avLst/>
            <a:gdLst>
              <a:gd name="connsiteX0" fmla="*/ 0 w 559558"/>
              <a:gd name="connsiteY0" fmla="*/ 0 h 573206"/>
              <a:gd name="connsiteX1" fmla="*/ 191068 w 559558"/>
              <a:gd name="connsiteY1" fmla="*/ 395785 h 573206"/>
              <a:gd name="connsiteX2" fmla="*/ 559558 w 559558"/>
              <a:gd name="connsiteY2" fmla="*/ 573206 h 57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9558" h="573206">
                <a:moveTo>
                  <a:pt x="0" y="0"/>
                </a:moveTo>
                <a:cubicBezTo>
                  <a:pt x="48904" y="150125"/>
                  <a:pt x="97808" y="300251"/>
                  <a:pt x="191068" y="395785"/>
                </a:cubicBezTo>
                <a:cubicBezTo>
                  <a:pt x="284328" y="491319"/>
                  <a:pt x="421943" y="532262"/>
                  <a:pt x="559558" y="573206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FD854C-3E1F-4CC0-B613-C2DC5823E3FD}"/>
              </a:ext>
            </a:extLst>
          </p:cNvPr>
          <p:cNvSpPr/>
          <p:nvPr/>
        </p:nvSpPr>
        <p:spPr>
          <a:xfrm>
            <a:off x="595313" y="4392613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1D86433-EA2A-4984-93D4-4DF6A3B24B60}"/>
              </a:ext>
            </a:extLst>
          </p:cNvPr>
          <p:cNvSpPr/>
          <p:nvPr/>
        </p:nvSpPr>
        <p:spPr>
          <a:xfrm>
            <a:off x="601663" y="3429000"/>
            <a:ext cx="236537" cy="976313"/>
          </a:xfrm>
          <a:custGeom>
            <a:avLst/>
            <a:gdLst>
              <a:gd name="connsiteX0" fmla="*/ 216089 w 284328"/>
              <a:gd name="connsiteY0" fmla="*/ 0 h 928048"/>
              <a:gd name="connsiteX1" fmla="*/ 11373 w 284328"/>
              <a:gd name="connsiteY1" fmla="*/ 450376 h 928048"/>
              <a:gd name="connsiteX2" fmla="*/ 284328 w 284328"/>
              <a:gd name="connsiteY2" fmla="*/ 928048 h 928048"/>
              <a:gd name="connsiteX3" fmla="*/ 284328 w 284328"/>
              <a:gd name="connsiteY3" fmla="*/ 928048 h 92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328" h="928048">
                <a:moveTo>
                  <a:pt x="216089" y="0"/>
                </a:moveTo>
                <a:cubicBezTo>
                  <a:pt x="108044" y="147850"/>
                  <a:pt x="0" y="295701"/>
                  <a:pt x="11373" y="450376"/>
                </a:cubicBezTo>
                <a:cubicBezTo>
                  <a:pt x="22746" y="605051"/>
                  <a:pt x="284328" y="928048"/>
                  <a:pt x="284328" y="928048"/>
                </a:cubicBezTo>
                <a:lnTo>
                  <a:pt x="284328" y="928048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326" name="TextBox 16">
            <a:extLst>
              <a:ext uri="{FF2B5EF4-FFF2-40B4-BE49-F238E27FC236}">
                <a16:creationId xmlns:a16="http://schemas.microsoft.com/office/drawing/2014/main" id="{AB0A8A9F-63BA-44EE-8721-E51098F78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23971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13327" name="TextBox 17">
            <a:extLst>
              <a:ext uri="{FF2B5EF4-FFF2-40B4-BE49-F238E27FC236}">
                <a16:creationId xmlns:a16="http://schemas.microsoft.com/office/drawing/2014/main" id="{387F4BAB-BE96-4570-9A93-2C2B66B00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3825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13328" name="TextBox 19">
            <a:extLst>
              <a:ext uri="{FF2B5EF4-FFF2-40B4-BE49-F238E27FC236}">
                <a16:creationId xmlns:a16="http://schemas.microsoft.com/office/drawing/2014/main" id="{2D79CBFB-17FE-4159-9C87-E4DEDACA5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213" y="2667000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25</a:t>
            </a:r>
          </a:p>
        </p:txBody>
      </p:sp>
      <p:sp>
        <p:nvSpPr>
          <p:cNvPr id="13329" name="TextBox 20">
            <a:extLst>
              <a:ext uri="{FF2B5EF4-FFF2-40B4-BE49-F238E27FC236}">
                <a16:creationId xmlns:a16="http://schemas.microsoft.com/office/drawing/2014/main" id="{75D8B7C0-8CD8-4D98-97FF-AC8CD5B2A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413" y="3279775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30</a:t>
            </a:r>
          </a:p>
        </p:txBody>
      </p:sp>
      <p:sp>
        <p:nvSpPr>
          <p:cNvPr id="13330" name="TextBox 21">
            <a:extLst>
              <a:ext uri="{FF2B5EF4-FFF2-40B4-BE49-F238E27FC236}">
                <a16:creationId xmlns:a16="http://schemas.microsoft.com/office/drawing/2014/main" id="{DF3D6F24-DFD3-4B2A-B5E2-6F54CAC3B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565525"/>
            <a:ext cx="47783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35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8367DCE-00DD-4AD5-92DF-B73372AEF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597885"/>
              </p:ext>
            </p:extLst>
          </p:nvPr>
        </p:nvGraphicFramePr>
        <p:xfrm>
          <a:off x="3352800" y="1699418"/>
          <a:ext cx="4076702" cy="7413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5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3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3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3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/>
                        <a:t>n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h’(n)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74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E904B70-A06D-4C2C-A3A2-5A01128C5A61}"/>
              </a:ext>
            </a:extLst>
          </p:cNvPr>
          <p:cNvSpPr txBox="1"/>
          <p:nvPr/>
        </p:nvSpPr>
        <p:spPr>
          <a:xfrm>
            <a:off x="4724400" y="129540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</a:t>
            </a:r>
            <a:endParaRPr lang="en-ID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DD33067-7FD5-4162-88A2-2F10AD8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Langkah 2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53BE1E41-1C96-4A27-BD91-3A565EF8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1215923-0A1A-4A3B-A300-B378ADC984D5}" type="slidenum">
              <a:rPr lang="en-US" altLang="en-US">
                <a:solidFill>
                  <a:srgbClr val="626551"/>
                </a:solidFill>
                <a:latin typeface="Constantia" panose="02030602050306030303" pitchFamily="18" charset="0"/>
              </a:rPr>
              <a:pPr eaLnBrk="1" hangingPunct="1"/>
              <a:t>35</a:t>
            </a:fld>
            <a:endParaRPr lang="en-US" altLang="en-US">
              <a:solidFill>
                <a:srgbClr val="626551"/>
              </a:solidFill>
              <a:latin typeface="Constantia" panose="02030602050306030303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5A3FDA9-5B60-4C77-AA3A-4CF0F202599E}"/>
              </a:ext>
            </a:extLst>
          </p:cNvPr>
          <p:cNvSpPr/>
          <p:nvPr/>
        </p:nvSpPr>
        <p:spPr>
          <a:xfrm>
            <a:off x="712788" y="3021013"/>
            <a:ext cx="457200" cy="45720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53C6D90-DA0D-4E36-90BD-FA92B9F63C97}"/>
              </a:ext>
            </a:extLst>
          </p:cNvPr>
          <p:cNvSpPr/>
          <p:nvPr/>
        </p:nvSpPr>
        <p:spPr>
          <a:xfrm>
            <a:off x="1524000" y="2209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7E0E090-93FE-44B3-AC33-ED797B7FCCCB}"/>
              </a:ext>
            </a:extLst>
          </p:cNvPr>
          <p:cNvSpPr/>
          <p:nvPr/>
        </p:nvSpPr>
        <p:spPr>
          <a:xfrm>
            <a:off x="2286000" y="28194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E4E51C-5A96-4F84-9BEF-7D028CE39293}"/>
              </a:ext>
            </a:extLst>
          </p:cNvPr>
          <p:cNvSpPr/>
          <p:nvPr/>
        </p:nvSpPr>
        <p:spPr>
          <a:xfrm>
            <a:off x="2286000" y="35052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E2D581-8371-4A96-9717-3CFA23F82260}"/>
              </a:ext>
            </a:extLst>
          </p:cNvPr>
          <p:cNvSpPr/>
          <p:nvPr/>
        </p:nvSpPr>
        <p:spPr>
          <a:xfrm>
            <a:off x="1524000" y="39624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274A77E-16B7-4CAA-902B-B7DCDADF0C5D}"/>
              </a:ext>
            </a:extLst>
          </p:cNvPr>
          <p:cNvSpPr/>
          <p:nvPr/>
        </p:nvSpPr>
        <p:spPr>
          <a:xfrm>
            <a:off x="919163" y="2289175"/>
            <a:ext cx="641350" cy="765175"/>
          </a:xfrm>
          <a:custGeom>
            <a:avLst/>
            <a:gdLst>
              <a:gd name="connsiteX0" fmla="*/ 0 w 641445"/>
              <a:gd name="connsiteY0" fmla="*/ 764275 h 764275"/>
              <a:gd name="connsiteX1" fmla="*/ 163773 w 641445"/>
              <a:gd name="connsiteY1" fmla="*/ 163773 h 764275"/>
              <a:gd name="connsiteX2" fmla="*/ 641445 w 641445"/>
              <a:gd name="connsiteY2" fmla="*/ 0 h 76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445" h="764275">
                <a:moveTo>
                  <a:pt x="0" y="764275"/>
                </a:moveTo>
                <a:cubicBezTo>
                  <a:pt x="28433" y="527713"/>
                  <a:pt x="56866" y="291152"/>
                  <a:pt x="163773" y="163773"/>
                </a:cubicBezTo>
                <a:cubicBezTo>
                  <a:pt x="270680" y="36394"/>
                  <a:pt x="456062" y="18197"/>
                  <a:pt x="641445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1AA0FD6-57AE-4F86-8091-B64CEE37D05D}"/>
              </a:ext>
            </a:extLst>
          </p:cNvPr>
          <p:cNvSpPr/>
          <p:nvPr/>
        </p:nvSpPr>
        <p:spPr>
          <a:xfrm>
            <a:off x="1123950" y="2840038"/>
            <a:ext cx="1162050" cy="284162"/>
          </a:xfrm>
          <a:custGeom>
            <a:avLst/>
            <a:gdLst>
              <a:gd name="connsiteX0" fmla="*/ 0 w 750627"/>
              <a:gd name="connsiteY0" fmla="*/ 322997 h 322997"/>
              <a:gd name="connsiteX1" fmla="*/ 259307 w 750627"/>
              <a:gd name="connsiteY1" fmla="*/ 36394 h 322997"/>
              <a:gd name="connsiteX2" fmla="*/ 750627 w 750627"/>
              <a:gd name="connsiteY2" fmla="*/ 104632 h 322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0627" h="322997">
                <a:moveTo>
                  <a:pt x="0" y="322997"/>
                </a:moveTo>
                <a:cubicBezTo>
                  <a:pt x="67101" y="197892"/>
                  <a:pt x="134203" y="72788"/>
                  <a:pt x="259307" y="36394"/>
                </a:cubicBezTo>
                <a:cubicBezTo>
                  <a:pt x="384412" y="0"/>
                  <a:pt x="567519" y="52316"/>
                  <a:pt x="750627" y="104632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42C02AB-602E-40C2-B325-6D60559FF502}"/>
              </a:ext>
            </a:extLst>
          </p:cNvPr>
          <p:cNvSpPr/>
          <p:nvPr/>
        </p:nvSpPr>
        <p:spPr>
          <a:xfrm>
            <a:off x="1123950" y="3395663"/>
            <a:ext cx="1162050" cy="261937"/>
          </a:xfrm>
          <a:custGeom>
            <a:avLst/>
            <a:gdLst>
              <a:gd name="connsiteX0" fmla="*/ 0 w 791570"/>
              <a:gd name="connsiteY0" fmla="*/ 0 h 259307"/>
              <a:gd name="connsiteX1" fmla="*/ 627797 w 791570"/>
              <a:gd name="connsiteY1" fmla="*/ 136477 h 259307"/>
              <a:gd name="connsiteX2" fmla="*/ 791570 w 791570"/>
              <a:gd name="connsiteY2" fmla="*/ 259307 h 259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1570" h="259307">
                <a:moveTo>
                  <a:pt x="0" y="0"/>
                </a:moveTo>
                <a:cubicBezTo>
                  <a:pt x="247934" y="46629"/>
                  <a:pt x="495869" y="93259"/>
                  <a:pt x="627797" y="136477"/>
                </a:cubicBezTo>
                <a:cubicBezTo>
                  <a:pt x="759725" y="179695"/>
                  <a:pt x="775647" y="219501"/>
                  <a:pt x="791570" y="25930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E9388CD-CCBF-4748-87C3-A8E242970402}"/>
              </a:ext>
            </a:extLst>
          </p:cNvPr>
          <p:cNvSpPr/>
          <p:nvPr/>
        </p:nvSpPr>
        <p:spPr>
          <a:xfrm>
            <a:off x="1000125" y="3462338"/>
            <a:ext cx="560388" cy="574675"/>
          </a:xfrm>
          <a:custGeom>
            <a:avLst/>
            <a:gdLst>
              <a:gd name="connsiteX0" fmla="*/ 0 w 559558"/>
              <a:gd name="connsiteY0" fmla="*/ 0 h 573206"/>
              <a:gd name="connsiteX1" fmla="*/ 191068 w 559558"/>
              <a:gd name="connsiteY1" fmla="*/ 395785 h 573206"/>
              <a:gd name="connsiteX2" fmla="*/ 559558 w 559558"/>
              <a:gd name="connsiteY2" fmla="*/ 573206 h 57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9558" h="573206">
                <a:moveTo>
                  <a:pt x="0" y="0"/>
                </a:moveTo>
                <a:cubicBezTo>
                  <a:pt x="48904" y="150125"/>
                  <a:pt x="97808" y="300251"/>
                  <a:pt x="191068" y="395785"/>
                </a:cubicBezTo>
                <a:cubicBezTo>
                  <a:pt x="284328" y="491319"/>
                  <a:pt x="421943" y="532262"/>
                  <a:pt x="559558" y="573206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27A7662-981E-4A9B-BDD3-1CA907D84B5C}"/>
              </a:ext>
            </a:extLst>
          </p:cNvPr>
          <p:cNvSpPr/>
          <p:nvPr/>
        </p:nvSpPr>
        <p:spPr>
          <a:xfrm>
            <a:off x="595313" y="4392613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12224B4E-041A-460B-AA5B-66FA9670B47C}"/>
              </a:ext>
            </a:extLst>
          </p:cNvPr>
          <p:cNvSpPr/>
          <p:nvPr/>
        </p:nvSpPr>
        <p:spPr>
          <a:xfrm>
            <a:off x="601663" y="3429000"/>
            <a:ext cx="236537" cy="976313"/>
          </a:xfrm>
          <a:custGeom>
            <a:avLst/>
            <a:gdLst>
              <a:gd name="connsiteX0" fmla="*/ 216089 w 284328"/>
              <a:gd name="connsiteY0" fmla="*/ 0 h 928048"/>
              <a:gd name="connsiteX1" fmla="*/ 11373 w 284328"/>
              <a:gd name="connsiteY1" fmla="*/ 450376 h 928048"/>
              <a:gd name="connsiteX2" fmla="*/ 284328 w 284328"/>
              <a:gd name="connsiteY2" fmla="*/ 928048 h 928048"/>
              <a:gd name="connsiteX3" fmla="*/ 284328 w 284328"/>
              <a:gd name="connsiteY3" fmla="*/ 928048 h 92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328" h="928048">
                <a:moveTo>
                  <a:pt x="216089" y="0"/>
                </a:moveTo>
                <a:cubicBezTo>
                  <a:pt x="108044" y="147850"/>
                  <a:pt x="0" y="295701"/>
                  <a:pt x="11373" y="450376"/>
                </a:cubicBezTo>
                <a:cubicBezTo>
                  <a:pt x="22746" y="605051"/>
                  <a:pt x="284328" y="928048"/>
                  <a:pt x="284328" y="928048"/>
                </a:cubicBezTo>
                <a:lnTo>
                  <a:pt x="284328" y="928048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350" name="TextBox 16">
            <a:extLst>
              <a:ext uri="{FF2B5EF4-FFF2-40B4-BE49-F238E27FC236}">
                <a16:creationId xmlns:a16="http://schemas.microsoft.com/office/drawing/2014/main" id="{98A7D8F5-6A83-4C1D-80E6-5E269D4EC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23971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14351" name="TextBox 17">
            <a:extLst>
              <a:ext uri="{FF2B5EF4-FFF2-40B4-BE49-F238E27FC236}">
                <a16:creationId xmlns:a16="http://schemas.microsoft.com/office/drawing/2014/main" id="{AFE0166C-EA0A-450C-8BCA-BAC8C6F6B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3825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14352" name="TextBox 19">
            <a:extLst>
              <a:ext uri="{FF2B5EF4-FFF2-40B4-BE49-F238E27FC236}">
                <a16:creationId xmlns:a16="http://schemas.microsoft.com/office/drawing/2014/main" id="{4BAE460E-BDA2-42BC-B604-F6C94FB86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213" y="2667000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25</a:t>
            </a:r>
          </a:p>
        </p:txBody>
      </p:sp>
      <p:sp>
        <p:nvSpPr>
          <p:cNvPr id="14353" name="TextBox 20">
            <a:extLst>
              <a:ext uri="{FF2B5EF4-FFF2-40B4-BE49-F238E27FC236}">
                <a16:creationId xmlns:a16="http://schemas.microsoft.com/office/drawing/2014/main" id="{E2F1B8E7-BC14-4F8B-B484-EFFFBD263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413" y="3279775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30</a:t>
            </a:r>
          </a:p>
        </p:txBody>
      </p:sp>
      <p:sp>
        <p:nvSpPr>
          <p:cNvPr id="14354" name="TextBox 21">
            <a:extLst>
              <a:ext uri="{FF2B5EF4-FFF2-40B4-BE49-F238E27FC236}">
                <a16:creationId xmlns:a16="http://schemas.microsoft.com/office/drawing/2014/main" id="{1296A4F3-9213-4908-9211-4324D1D0A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565525"/>
            <a:ext cx="47783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35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16491E7-1C2D-417B-8B72-99D65EB4B4C8}"/>
              </a:ext>
            </a:extLst>
          </p:cNvPr>
          <p:cNvGraphicFramePr>
            <a:graphicFrameLocks noGrp="1"/>
          </p:cNvGraphicFramePr>
          <p:nvPr/>
        </p:nvGraphicFramePr>
        <p:xfrm>
          <a:off x="4038600" y="4191000"/>
          <a:ext cx="3886198" cy="7413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7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/>
                        <a:t>n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h’(n)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74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Oval 22">
            <a:extLst>
              <a:ext uri="{FF2B5EF4-FFF2-40B4-BE49-F238E27FC236}">
                <a16:creationId xmlns:a16="http://schemas.microsoft.com/office/drawing/2014/main" id="{1B7C6064-ADC2-4EAA-9FC7-2F24B89880D3}"/>
              </a:ext>
            </a:extLst>
          </p:cNvPr>
          <p:cNvSpPr/>
          <p:nvPr/>
        </p:nvSpPr>
        <p:spPr>
          <a:xfrm>
            <a:off x="3408363" y="22860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68BCF0-B850-4CC0-9E96-44808748D93C}"/>
              </a:ext>
            </a:extLst>
          </p:cNvPr>
          <p:cNvCxnSpPr>
            <a:stCxn id="23" idx="2"/>
          </p:cNvCxnSpPr>
          <p:nvPr/>
        </p:nvCxnSpPr>
        <p:spPr>
          <a:xfrm rot="10800000" flipV="1">
            <a:off x="2590800" y="2476500"/>
            <a:ext cx="817563" cy="3984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0BF2524-F088-47C6-851E-77BBF40DBB1D}"/>
              </a:ext>
            </a:extLst>
          </p:cNvPr>
          <p:cNvSpPr/>
          <p:nvPr/>
        </p:nvSpPr>
        <p:spPr>
          <a:xfrm>
            <a:off x="6380163" y="26670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D5D334D-CA94-45CB-83AF-630B431A3E6A}"/>
              </a:ext>
            </a:extLst>
          </p:cNvPr>
          <p:cNvCxnSpPr>
            <a:endCxn id="26" idx="3"/>
          </p:cNvCxnSpPr>
          <p:nvPr/>
        </p:nvCxnSpPr>
        <p:spPr>
          <a:xfrm flipV="1">
            <a:off x="2646363" y="2992438"/>
            <a:ext cx="3789362" cy="17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85" name="TextBox 27">
            <a:extLst>
              <a:ext uri="{FF2B5EF4-FFF2-40B4-BE49-F238E27FC236}">
                <a16:creationId xmlns:a16="http://schemas.microsoft.com/office/drawing/2014/main" id="{9B9B5567-238A-4A41-B908-A9D18216C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363" y="2784475"/>
            <a:ext cx="4572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50</a:t>
            </a:r>
          </a:p>
        </p:txBody>
      </p:sp>
      <p:sp>
        <p:nvSpPr>
          <p:cNvPr id="14386" name="TextBox 28">
            <a:extLst>
              <a:ext uri="{FF2B5EF4-FFF2-40B4-BE49-F238E27FC236}">
                <a16:creationId xmlns:a16="http://schemas.microsoft.com/office/drawing/2014/main" id="{D0F0B94B-4536-405B-AB76-3F46A0EBE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00" y="2449513"/>
            <a:ext cx="296863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7E4FED-BB6B-4E48-AFAC-52F8EA3D8495}"/>
              </a:ext>
            </a:extLst>
          </p:cNvPr>
          <p:cNvSpPr txBox="1"/>
          <p:nvPr/>
        </p:nvSpPr>
        <p:spPr>
          <a:xfrm>
            <a:off x="5410200" y="3818243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</a:t>
            </a:r>
            <a:endParaRPr lang="en-ID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721A128-1EB3-44CD-BAA2-0904BC141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Langkah 3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3256DBA-278F-47CF-81AC-59A8AFCB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5EB0FEE-0E59-4A02-819A-1EF081708E57}" type="slidenum">
              <a:rPr lang="en-US" altLang="en-US">
                <a:solidFill>
                  <a:srgbClr val="626551"/>
                </a:solidFill>
                <a:latin typeface="Constantia" panose="02030602050306030303" pitchFamily="18" charset="0"/>
              </a:rPr>
              <a:pPr eaLnBrk="1" hangingPunct="1"/>
              <a:t>36</a:t>
            </a:fld>
            <a:endParaRPr lang="en-US" altLang="en-US">
              <a:solidFill>
                <a:srgbClr val="626551"/>
              </a:solidFill>
              <a:latin typeface="Constantia" panose="02030602050306030303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0A3B359-05DF-483B-9F34-5CCE425025A0}"/>
              </a:ext>
            </a:extLst>
          </p:cNvPr>
          <p:cNvSpPr/>
          <p:nvPr/>
        </p:nvSpPr>
        <p:spPr>
          <a:xfrm>
            <a:off x="712788" y="3021013"/>
            <a:ext cx="457200" cy="45720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E716155-410C-462F-82C7-0616CF23FB3E}"/>
              </a:ext>
            </a:extLst>
          </p:cNvPr>
          <p:cNvSpPr/>
          <p:nvPr/>
        </p:nvSpPr>
        <p:spPr>
          <a:xfrm>
            <a:off x="1524000" y="2209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93632A-9F11-4631-893C-DE94DB2B1192}"/>
              </a:ext>
            </a:extLst>
          </p:cNvPr>
          <p:cNvSpPr/>
          <p:nvPr/>
        </p:nvSpPr>
        <p:spPr>
          <a:xfrm>
            <a:off x="2286000" y="28194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B3CF9C-C51C-4048-A1D8-A2A484D8A61A}"/>
              </a:ext>
            </a:extLst>
          </p:cNvPr>
          <p:cNvSpPr/>
          <p:nvPr/>
        </p:nvSpPr>
        <p:spPr>
          <a:xfrm>
            <a:off x="2286000" y="35052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0E0260-F603-4C51-8547-D9677CB5027F}"/>
              </a:ext>
            </a:extLst>
          </p:cNvPr>
          <p:cNvSpPr/>
          <p:nvPr/>
        </p:nvSpPr>
        <p:spPr>
          <a:xfrm>
            <a:off x="1524000" y="39624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89C916-0BC5-42C9-8823-4B09FDF030DC}"/>
              </a:ext>
            </a:extLst>
          </p:cNvPr>
          <p:cNvSpPr/>
          <p:nvPr/>
        </p:nvSpPr>
        <p:spPr>
          <a:xfrm>
            <a:off x="919163" y="2289175"/>
            <a:ext cx="641350" cy="765175"/>
          </a:xfrm>
          <a:custGeom>
            <a:avLst/>
            <a:gdLst>
              <a:gd name="connsiteX0" fmla="*/ 0 w 641445"/>
              <a:gd name="connsiteY0" fmla="*/ 764275 h 764275"/>
              <a:gd name="connsiteX1" fmla="*/ 163773 w 641445"/>
              <a:gd name="connsiteY1" fmla="*/ 163773 h 764275"/>
              <a:gd name="connsiteX2" fmla="*/ 641445 w 641445"/>
              <a:gd name="connsiteY2" fmla="*/ 0 h 76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445" h="764275">
                <a:moveTo>
                  <a:pt x="0" y="764275"/>
                </a:moveTo>
                <a:cubicBezTo>
                  <a:pt x="28433" y="527713"/>
                  <a:pt x="56866" y="291152"/>
                  <a:pt x="163773" y="163773"/>
                </a:cubicBezTo>
                <a:cubicBezTo>
                  <a:pt x="270680" y="36394"/>
                  <a:pt x="456062" y="18197"/>
                  <a:pt x="641445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57B29A4-0914-4322-9CA8-6378EE8A7D42}"/>
              </a:ext>
            </a:extLst>
          </p:cNvPr>
          <p:cNvSpPr/>
          <p:nvPr/>
        </p:nvSpPr>
        <p:spPr>
          <a:xfrm>
            <a:off x="1123950" y="2840038"/>
            <a:ext cx="1162050" cy="284162"/>
          </a:xfrm>
          <a:custGeom>
            <a:avLst/>
            <a:gdLst>
              <a:gd name="connsiteX0" fmla="*/ 0 w 750627"/>
              <a:gd name="connsiteY0" fmla="*/ 322997 h 322997"/>
              <a:gd name="connsiteX1" fmla="*/ 259307 w 750627"/>
              <a:gd name="connsiteY1" fmla="*/ 36394 h 322997"/>
              <a:gd name="connsiteX2" fmla="*/ 750627 w 750627"/>
              <a:gd name="connsiteY2" fmla="*/ 104632 h 322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0627" h="322997">
                <a:moveTo>
                  <a:pt x="0" y="322997"/>
                </a:moveTo>
                <a:cubicBezTo>
                  <a:pt x="67101" y="197892"/>
                  <a:pt x="134203" y="72788"/>
                  <a:pt x="259307" y="36394"/>
                </a:cubicBezTo>
                <a:cubicBezTo>
                  <a:pt x="384412" y="0"/>
                  <a:pt x="567519" y="52316"/>
                  <a:pt x="750627" y="104632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43D889B-516D-4BE3-89A9-83DE4DA0431B}"/>
              </a:ext>
            </a:extLst>
          </p:cNvPr>
          <p:cNvSpPr/>
          <p:nvPr/>
        </p:nvSpPr>
        <p:spPr>
          <a:xfrm>
            <a:off x="1123950" y="3395663"/>
            <a:ext cx="1162050" cy="261937"/>
          </a:xfrm>
          <a:custGeom>
            <a:avLst/>
            <a:gdLst>
              <a:gd name="connsiteX0" fmla="*/ 0 w 791570"/>
              <a:gd name="connsiteY0" fmla="*/ 0 h 259307"/>
              <a:gd name="connsiteX1" fmla="*/ 627797 w 791570"/>
              <a:gd name="connsiteY1" fmla="*/ 136477 h 259307"/>
              <a:gd name="connsiteX2" fmla="*/ 791570 w 791570"/>
              <a:gd name="connsiteY2" fmla="*/ 259307 h 259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1570" h="259307">
                <a:moveTo>
                  <a:pt x="0" y="0"/>
                </a:moveTo>
                <a:cubicBezTo>
                  <a:pt x="247934" y="46629"/>
                  <a:pt x="495869" y="93259"/>
                  <a:pt x="627797" y="136477"/>
                </a:cubicBezTo>
                <a:cubicBezTo>
                  <a:pt x="759725" y="179695"/>
                  <a:pt x="775647" y="219501"/>
                  <a:pt x="791570" y="25930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D4E5A9B-D947-435D-AEE0-47A9AA97F4F5}"/>
              </a:ext>
            </a:extLst>
          </p:cNvPr>
          <p:cNvSpPr/>
          <p:nvPr/>
        </p:nvSpPr>
        <p:spPr>
          <a:xfrm>
            <a:off x="1000125" y="3462338"/>
            <a:ext cx="560388" cy="574675"/>
          </a:xfrm>
          <a:custGeom>
            <a:avLst/>
            <a:gdLst>
              <a:gd name="connsiteX0" fmla="*/ 0 w 559558"/>
              <a:gd name="connsiteY0" fmla="*/ 0 h 573206"/>
              <a:gd name="connsiteX1" fmla="*/ 191068 w 559558"/>
              <a:gd name="connsiteY1" fmla="*/ 395785 h 573206"/>
              <a:gd name="connsiteX2" fmla="*/ 559558 w 559558"/>
              <a:gd name="connsiteY2" fmla="*/ 573206 h 57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9558" h="573206">
                <a:moveTo>
                  <a:pt x="0" y="0"/>
                </a:moveTo>
                <a:cubicBezTo>
                  <a:pt x="48904" y="150125"/>
                  <a:pt x="97808" y="300251"/>
                  <a:pt x="191068" y="395785"/>
                </a:cubicBezTo>
                <a:cubicBezTo>
                  <a:pt x="284328" y="491319"/>
                  <a:pt x="421943" y="532262"/>
                  <a:pt x="559558" y="573206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6FDC4E4-D2E4-4050-BBE5-6BCDA189FC98}"/>
              </a:ext>
            </a:extLst>
          </p:cNvPr>
          <p:cNvSpPr/>
          <p:nvPr/>
        </p:nvSpPr>
        <p:spPr>
          <a:xfrm>
            <a:off x="595313" y="4392613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3A0DC043-E95C-46CD-B567-45640AB0AD23}"/>
              </a:ext>
            </a:extLst>
          </p:cNvPr>
          <p:cNvSpPr/>
          <p:nvPr/>
        </p:nvSpPr>
        <p:spPr>
          <a:xfrm>
            <a:off x="601663" y="3429000"/>
            <a:ext cx="236537" cy="976313"/>
          </a:xfrm>
          <a:custGeom>
            <a:avLst/>
            <a:gdLst>
              <a:gd name="connsiteX0" fmla="*/ 216089 w 284328"/>
              <a:gd name="connsiteY0" fmla="*/ 0 h 928048"/>
              <a:gd name="connsiteX1" fmla="*/ 11373 w 284328"/>
              <a:gd name="connsiteY1" fmla="*/ 450376 h 928048"/>
              <a:gd name="connsiteX2" fmla="*/ 284328 w 284328"/>
              <a:gd name="connsiteY2" fmla="*/ 928048 h 928048"/>
              <a:gd name="connsiteX3" fmla="*/ 284328 w 284328"/>
              <a:gd name="connsiteY3" fmla="*/ 928048 h 92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328" h="928048">
                <a:moveTo>
                  <a:pt x="216089" y="0"/>
                </a:moveTo>
                <a:cubicBezTo>
                  <a:pt x="108044" y="147850"/>
                  <a:pt x="0" y="295701"/>
                  <a:pt x="11373" y="450376"/>
                </a:cubicBezTo>
                <a:cubicBezTo>
                  <a:pt x="22746" y="605051"/>
                  <a:pt x="284328" y="928048"/>
                  <a:pt x="284328" y="928048"/>
                </a:cubicBezTo>
                <a:lnTo>
                  <a:pt x="284328" y="928048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374" name="TextBox 16">
            <a:extLst>
              <a:ext uri="{FF2B5EF4-FFF2-40B4-BE49-F238E27FC236}">
                <a16:creationId xmlns:a16="http://schemas.microsoft.com/office/drawing/2014/main" id="{365827FF-21E3-4FA7-AA46-73E555000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23971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15375" name="TextBox 17">
            <a:extLst>
              <a:ext uri="{FF2B5EF4-FFF2-40B4-BE49-F238E27FC236}">
                <a16:creationId xmlns:a16="http://schemas.microsoft.com/office/drawing/2014/main" id="{2FB22FEA-8AAB-4247-849F-0768F63B7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3825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15376" name="TextBox 19">
            <a:extLst>
              <a:ext uri="{FF2B5EF4-FFF2-40B4-BE49-F238E27FC236}">
                <a16:creationId xmlns:a16="http://schemas.microsoft.com/office/drawing/2014/main" id="{4B706F03-E23C-4D24-885F-0D70F5626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213" y="2667000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25</a:t>
            </a:r>
          </a:p>
        </p:txBody>
      </p:sp>
      <p:sp>
        <p:nvSpPr>
          <p:cNvPr id="15377" name="TextBox 20">
            <a:extLst>
              <a:ext uri="{FF2B5EF4-FFF2-40B4-BE49-F238E27FC236}">
                <a16:creationId xmlns:a16="http://schemas.microsoft.com/office/drawing/2014/main" id="{786D204E-8444-4D29-995C-4319BDC51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413" y="3279775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30</a:t>
            </a:r>
          </a:p>
        </p:txBody>
      </p:sp>
      <p:sp>
        <p:nvSpPr>
          <p:cNvPr id="15378" name="TextBox 21">
            <a:extLst>
              <a:ext uri="{FF2B5EF4-FFF2-40B4-BE49-F238E27FC236}">
                <a16:creationId xmlns:a16="http://schemas.microsoft.com/office/drawing/2014/main" id="{A55F11E6-4B67-45C8-871E-7954FFEB8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565525"/>
            <a:ext cx="47783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35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61832B1-F68C-4853-8F25-6ED5E74BFA05}"/>
              </a:ext>
            </a:extLst>
          </p:cNvPr>
          <p:cNvGraphicFramePr>
            <a:graphicFrameLocks noGrp="1"/>
          </p:cNvGraphicFramePr>
          <p:nvPr/>
        </p:nvGraphicFramePr>
        <p:xfrm>
          <a:off x="3657600" y="4211638"/>
          <a:ext cx="3886198" cy="7413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7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/>
                        <a:t>n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h’(n)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74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Oval 22">
            <a:extLst>
              <a:ext uri="{FF2B5EF4-FFF2-40B4-BE49-F238E27FC236}">
                <a16:creationId xmlns:a16="http://schemas.microsoft.com/office/drawing/2014/main" id="{EC86C84E-30B1-49D7-82CA-0311A487F7B6}"/>
              </a:ext>
            </a:extLst>
          </p:cNvPr>
          <p:cNvSpPr/>
          <p:nvPr/>
        </p:nvSpPr>
        <p:spPr>
          <a:xfrm>
            <a:off x="3408363" y="22860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7BBCB99-5E79-4301-A518-18100220E6F1}"/>
              </a:ext>
            </a:extLst>
          </p:cNvPr>
          <p:cNvCxnSpPr>
            <a:stCxn id="23" idx="2"/>
          </p:cNvCxnSpPr>
          <p:nvPr/>
        </p:nvCxnSpPr>
        <p:spPr>
          <a:xfrm rot="10800000" flipV="1">
            <a:off x="2590800" y="2476500"/>
            <a:ext cx="817563" cy="3984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875D6BD5-F5A9-488E-9AE0-C6BCC68BC627}"/>
              </a:ext>
            </a:extLst>
          </p:cNvPr>
          <p:cNvSpPr/>
          <p:nvPr/>
        </p:nvSpPr>
        <p:spPr>
          <a:xfrm>
            <a:off x="6380163" y="26670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5CE91-0383-4BAF-9469-DA97C6A3584A}"/>
              </a:ext>
            </a:extLst>
          </p:cNvPr>
          <p:cNvCxnSpPr>
            <a:endCxn id="26" idx="3"/>
          </p:cNvCxnSpPr>
          <p:nvPr/>
        </p:nvCxnSpPr>
        <p:spPr>
          <a:xfrm flipV="1">
            <a:off x="2646363" y="2992438"/>
            <a:ext cx="3789362" cy="1746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09" name="TextBox 27">
            <a:extLst>
              <a:ext uri="{FF2B5EF4-FFF2-40B4-BE49-F238E27FC236}">
                <a16:creationId xmlns:a16="http://schemas.microsoft.com/office/drawing/2014/main" id="{40ADD6DD-69C4-4F3E-AB6A-D626A9C49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363" y="2784475"/>
            <a:ext cx="4572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50</a:t>
            </a:r>
          </a:p>
        </p:txBody>
      </p:sp>
      <p:sp>
        <p:nvSpPr>
          <p:cNvPr id="15410" name="TextBox 28">
            <a:extLst>
              <a:ext uri="{FF2B5EF4-FFF2-40B4-BE49-F238E27FC236}">
                <a16:creationId xmlns:a16="http://schemas.microsoft.com/office/drawing/2014/main" id="{C39BAEBE-E0CA-4FD0-87D9-3A21397E9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00" y="2449513"/>
            <a:ext cx="296863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D696CA0-D50D-4C83-830E-E614FBD03974}"/>
              </a:ext>
            </a:extLst>
          </p:cNvPr>
          <p:cNvSpPr/>
          <p:nvPr/>
        </p:nvSpPr>
        <p:spPr>
          <a:xfrm>
            <a:off x="7924800" y="3429000"/>
            <a:ext cx="457200" cy="4572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G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CE29A78-AFAC-4790-8993-2707138AB3E5}"/>
              </a:ext>
            </a:extLst>
          </p:cNvPr>
          <p:cNvCxnSpPr/>
          <p:nvPr/>
        </p:nvCxnSpPr>
        <p:spPr>
          <a:xfrm>
            <a:off x="6705600" y="2982913"/>
            <a:ext cx="1219200" cy="6746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13" name="TextBox 31">
            <a:extLst>
              <a:ext uri="{FF2B5EF4-FFF2-40B4-BE49-F238E27FC236}">
                <a16:creationId xmlns:a16="http://schemas.microsoft.com/office/drawing/2014/main" id="{ED696A01-BC59-4FF6-BFB5-EED95DBCF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143250"/>
            <a:ext cx="4572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647F11-364D-44BB-B736-70924087D963}"/>
              </a:ext>
            </a:extLst>
          </p:cNvPr>
          <p:cNvSpPr txBox="1"/>
          <p:nvPr/>
        </p:nvSpPr>
        <p:spPr>
          <a:xfrm>
            <a:off x="5410200" y="3818243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</a:t>
            </a:r>
            <a:endParaRPr lang="en-ID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147857B1-1716-40E8-8743-72CCF6AD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SOLUSI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29213723-CABC-4DAC-9289-035F99AB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B779276-8400-42F9-84A9-522958CD29C2}" type="slidenum">
              <a:rPr lang="en-US" altLang="en-US">
                <a:solidFill>
                  <a:srgbClr val="626551"/>
                </a:solidFill>
                <a:latin typeface="Constantia" panose="02030602050306030303" pitchFamily="18" charset="0"/>
              </a:rPr>
              <a:pPr eaLnBrk="1" hangingPunct="1"/>
              <a:t>37</a:t>
            </a:fld>
            <a:endParaRPr lang="en-US" altLang="en-US">
              <a:solidFill>
                <a:srgbClr val="626551"/>
              </a:solidFill>
              <a:latin typeface="Constantia" panose="02030602050306030303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208776C-BCB7-401B-9752-942B7AF271E6}"/>
              </a:ext>
            </a:extLst>
          </p:cNvPr>
          <p:cNvSpPr/>
          <p:nvPr/>
        </p:nvSpPr>
        <p:spPr>
          <a:xfrm>
            <a:off x="712788" y="3021013"/>
            <a:ext cx="457200" cy="45720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0F7F978-D858-4D85-AFF7-38DA45F0FE66}"/>
              </a:ext>
            </a:extLst>
          </p:cNvPr>
          <p:cNvSpPr/>
          <p:nvPr/>
        </p:nvSpPr>
        <p:spPr>
          <a:xfrm>
            <a:off x="1524000" y="2209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EABC02-67A1-4A1C-9780-2FD1B257005A}"/>
              </a:ext>
            </a:extLst>
          </p:cNvPr>
          <p:cNvSpPr/>
          <p:nvPr/>
        </p:nvSpPr>
        <p:spPr>
          <a:xfrm>
            <a:off x="2286000" y="28194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5C8EF63-8869-44D1-BEE5-58D8B4545F85}"/>
              </a:ext>
            </a:extLst>
          </p:cNvPr>
          <p:cNvSpPr/>
          <p:nvPr/>
        </p:nvSpPr>
        <p:spPr>
          <a:xfrm>
            <a:off x="2286000" y="35052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7B96F9-6DE2-4BB2-95B2-71C8A089EB01}"/>
              </a:ext>
            </a:extLst>
          </p:cNvPr>
          <p:cNvSpPr/>
          <p:nvPr/>
        </p:nvSpPr>
        <p:spPr>
          <a:xfrm>
            <a:off x="1524000" y="39624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0304DBB-6468-4F90-ACC1-FE34135B0D43}"/>
              </a:ext>
            </a:extLst>
          </p:cNvPr>
          <p:cNvSpPr/>
          <p:nvPr/>
        </p:nvSpPr>
        <p:spPr>
          <a:xfrm>
            <a:off x="919163" y="2289175"/>
            <a:ext cx="641350" cy="765175"/>
          </a:xfrm>
          <a:custGeom>
            <a:avLst/>
            <a:gdLst>
              <a:gd name="connsiteX0" fmla="*/ 0 w 641445"/>
              <a:gd name="connsiteY0" fmla="*/ 764275 h 764275"/>
              <a:gd name="connsiteX1" fmla="*/ 163773 w 641445"/>
              <a:gd name="connsiteY1" fmla="*/ 163773 h 764275"/>
              <a:gd name="connsiteX2" fmla="*/ 641445 w 641445"/>
              <a:gd name="connsiteY2" fmla="*/ 0 h 76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445" h="764275">
                <a:moveTo>
                  <a:pt x="0" y="764275"/>
                </a:moveTo>
                <a:cubicBezTo>
                  <a:pt x="28433" y="527713"/>
                  <a:pt x="56866" y="291152"/>
                  <a:pt x="163773" y="163773"/>
                </a:cubicBezTo>
                <a:cubicBezTo>
                  <a:pt x="270680" y="36394"/>
                  <a:pt x="456062" y="18197"/>
                  <a:pt x="641445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8783066-23C0-466B-8C96-842AD6B4D5F0}"/>
              </a:ext>
            </a:extLst>
          </p:cNvPr>
          <p:cNvSpPr/>
          <p:nvPr/>
        </p:nvSpPr>
        <p:spPr>
          <a:xfrm>
            <a:off x="1123950" y="2840038"/>
            <a:ext cx="1162050" cy="284162"/>
          </a:xfrm>
          <a:custGeom>
            <a:avLst/>
            <a:gdLst>
              <a:gd name="connsiteX0" fmla="*/ 0 w 750627"/>
              <a:gd name="connsiteY0" fmla="*/ 322997 h 322997"/>
              <a:gd name="connsiteX1" fmla="*/ 259307 w 750627"/>
              <a:gd name="connsiteY1" fmla="*/ 36394 h 322997"/>
              <a:gd name="connsiteX2" fmla="*/ 750627 w 750627"/>
              <a:gd name="connsiteY2" fmla="*/ 104632 h 322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0627" h="322997">
                <a:moveTo>
                  <a:pt x="0" y="322997"/>
                </a:moveTo>
                <a:cubicBezTo>
                  <a:pt x="67101" y="197892"/>
                  <a:pt x="134203" y="72788"/>
                  <a:pt x="259307" y="36394"/>
                </a:cubicBezTo>
                <a:cubicBezTo>
                  <a:pt x="384412" y="0"/>
                  <a:pt x="567519" y="52316"/>
                  <a:pt x="750627" y="104632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A01617E-39EB-4205-9879-940828188EBA}"/>
              </a:ext>
            </a:extLst>
          </p:cNvPr>
          <p:cNvSpPr/>
          <p:nvPr/>
        </p:nvSpPr>
        <p:spPr>
          <a:xfrm>
            <a:off x="1123950" y="3395663"/>
            <a:ext cx="1162050" cy="261937"/>
          </a:xfrm>
          <a:custGeom>
            <a:avLst/>
            <a:gdLst>
              <a:gd name="connsiteX0" fmla="*/ 0 w 791570"/>
              <a:gd name="connsiteY0" fmla="*/ 0 h 259307"/>
              <a:gd name="connsiteX1" fmla="*/ 627797 w 791570"/>
              <a:gd name="connsiteY1" fmla="*/ 136477 h 259307"/>
              <a:gd name="connsiteX2" fmla="*/ 791570 w 791570"/>
              <a:gd name="connsiteY2" fmla="*/ 259307 h 259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1570" h="259307">
                <a:moveTo>
                  <a:pt x="0" y="0"/>
                </a:moveTo>
                <a:cubicBezTo>
                  <a:pt x="247934" y="46629"/>
                  <a:pt x="495869" y="93259"/>
                  <a:pt x="627797" y="136477"/>
                </a:cubicBezTo>
                <a:cubicBezTo>
                  <a:pt x="759725" y="179695"/>
                  <a:pt x="775647" y="219501"/>
                  <a:pt x="791570" y="25930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C4DAFA3-1EA9-4C4E-BE38-1F014D1C9052}"/>
              </a:ext>
            </a:extLst>
          </p:cNvPr>
          <p:cNvSpPr/>
          <p:nvPr/>
        </p:nvSpPr>
        <p:spPr>
          <a:xfrm>
            <a:off x="1000125" y="3462338"/>
            <a:ext cx="560388" cy="574675"/>
          </a:xfrm>
          <a:custGeom>
            <a:avLst/>
            <a:gdLst>
              <a:gd name="connsiteX0" fmla="*/ 0 w 559558"/>
              <a:gd name="connsiteY0" fmla="*/ 0 h 573206"/>
              <a:gd name="connsiteX1" fmla="*/ 191068 w 559558"/>
              <a:gd name="connsiteY1" fmla="*/ 395785 h 573206"/>
              <a:gd name="connsiteX2" fmla="*/ 559558 w 559558"/>
              <a:gd name="connsiteY2" fmla="*/ 573206 h 57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9558" h="573206">
                <a:moveTo>
                  <a:pt x="0" y="0"/>
                </a:moveTo>
                <a:cubicBezTo>
                  <a:pt x="48904" y="150125"/>
                  <a:pt x="97808" y="300251"/>
                  <a:pt x="191068" y="395785"/>
                </a:cubicBezTo>
                <a:cubicBezTo>
                  <a:pt x="284328" y="491319"/>
                  <a:pt x="421943" y="532262"/>
                  <a:pt x="559558" y="573206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987513D-6946-4BEB-90C2-B5B2AF80DDBA}"/>
              </a:ext>
            </a:extLst>
          </p:cNvPr>
          <p:cNvSpPr/>
          <p:nvPr/>
        </p:nvSpPr>
        <p:spPr>
          <a:xfrm>
            <a:off x="595313" y="4392613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38D513C-0227-485B-A9AC-FC0325E78719}"/>
              </a:ext>
            </a:extLst>
          </p:cNvPr>
          <p:cNvSpPr/>
          <p:nvPr/>
        </p:nvSpPr>
        <p:spPr>
          <a:xfrm>
            <a:off x="601663" y="3429000"/>
            <a:ext cx="236537" cy="976313"/>
          </a:xfrm>
          <a:custGeom>
            <a:avLst/>
            <a:gdLst>
              <a:gd name="connsiteX0" fmla="*/ 216089 w 284328"/>
              <a:gd name="connsiteY0" fmla="*/ 0 h 928048"/>
              <a:gd name="connsiteX1" fmla="*/ 11373 w 284328"/>
              <a:gd name="connsiteY1" fmla="*/ 450376 h 928048"/>
              <a:gd name="connsiteX2" fmla="*/ 284328 w 284328"/>
              <a:gd name="connsiteY2" fmla="*/ 928048 h 928048"/>
              <a:gd name="connsiteX3" fmla="*/ 284328 w 284328"/>
              <a:gd name="connsiteY3" fmla="*/ 928048 h 92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328" h="928048">
                <a:moveTo>
                  <a:pt x="216089" y="0"/>
                </a:moveTo>
                <a:cubicBezTo>
                  <a:pt x="108044" y="147850"/>
                  <a:pt x="0" y="295701"/>
                  <a:pt x="11373" y="450376"/>
                </a:cubicBezTo>
                <a:cubicBezTo>
                  <a:pt x="22746" y="605051"/>
                  <a:pt x="284328" y="928048"/>
                  <a:pt x="284328" y="928048"/>
                </a:cubicBezTo>
                <a:lnTo>
                  <a:pt x="284328" y="928048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398" name="TextBox 16">
            <a:extLst>
              <a:ext uri="{FF2B5EF4-FFF2-40B4-BE49-F238E27FC236}">
                <a16:creationId xmlns:a16="http://schemas.microsoft.com/office/drawing/2014/main" id="{FE252335-DDC8-428C-AB84-0C77B838B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23971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16399" name="TextBox 17">
            <a:extLst>
              <a:ext uri="{FF2B5EF4-FFF2-40B4-BE49-F238E27FC236}">
                <a16:creationId xmlns:a16="http://schemas.microsoft.com/office/drawing/2014/main" id="{61A82500-CAA2-428E-B4EB-253E9CEB5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3825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16400" name="TextBox 19">
            <a:extLst>
              <a:ext uri="{FF2B5EF4-FFF2-40B4-BE49-F238E27FC236}">
                <a16:creationId xmlns:a16="http://schemas.microsoft.com/office/drawing/2014/main" id="{A619D8B6-4940-438B-B968-C4EC532A8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213" y="2667000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25</a:t>
            </a:r>
          </a:p>
        </p:txBody>
      </p:sp>
      <p:sp>
        <p:nvSpPr>
          <p:cNvPr id="16401" name="TextBox 20">
            <a:extLst>
              <a:ext uri="{FF2B5EF4-FFF2-40B4-BE49-F238E27FC236}">
                <a16:creationId xmlns:a16="http://schemas.microsoft.com/office/drawing/2014/main" id="{70E40BD0-601E-4ECD-80F8-1A3E3F04D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413" y="3279775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30</a:t>
            </a:r>
          </a:p>
        </p:txBody>
      </p:sp>
      <p:sp>
        <p:nvSpPr>
          <p:cNvPr id="16402" name="TextBox 21">
            <a:extLst>
              <a:ext uri="{FF2B5EF4-FFF2-40B4-BE49-F238E27FC236}">
                <a16:creationId xmlns:a16="http://schemas.microsoft.com/office/drawing/2014/main" id="{99B3D209-4CE9-499F-B29F-B88719F10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565525"/>
            <a:ext cx="47783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35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2BF3DD-43BD-4351-94F9-2F3EE9CE8298}"/>
              </a:ext>
            </a:extLst>
          </p:cNvPr>
          <p:cNvSpPr/>
          <p:nvPr/>
        </p:nvSpPr>
        <p:spPr>
          <a:xfrm>
            <a:off x="3408363" y="22860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6EDCC7A-13E3-48E8-9F9A-3862E398012D}"/>
              </a:ext>
            </a:extLst>
          </p:cNvPr>
          <p:cNvCxnSpPr>
            <a:stCxn id="23" idx="2"/>
          </p:cNvCxnSpPr>
          <p:nvPr/>
        </p:nvCxnSpPr>
        <p:spPr>
          <a:xfrm rot="10800000" flipV="1">
            <a:off x="2590800" y="2476500"/>
            <a:ext cx="817563" cy="3984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06EE3E7-F7E0-4C83-97A1-4701534BCA13}"/>
              </a:ext>
            </a:extLst>
          </p:cNvPr>
          <p:cNvSpPr/>
          <p:nvPr/>
        </p:nvSpPr>
        <p:spPr>
          <a:xfrm>
            <a:off x="6380163" y="26670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05A0643-3374-49AA-BFC8-037E6C10A23F}"/>
              </a:ext>
            </a:extLst>
          </p:cNvPr>
          <p:cNvCxnSpPr>
            <a:endCxn id="26" idx="3"/>
          </p:cNvCxnSpPr>
          <p:nvPr/>
        </p:nvCxnSpPr>
        <p:spPr>
          <a:xfrm flipV="1">
            <a:off x="2646363" y="2992438"/>
            <a:ext cx="3789362" cy="1746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07" name="TextBox 27">
            <a:extLst>
              <a:ext uri="{FF2B5EF4-FFF2-40B4-BE49-F238E27FC236}">
                <a16:creationId xmlns:a16="http://schemas.microsoft.com/office/drawing/2014/main" id="{3B15F7DB-C527-40FE-8E1D-EA13EADCF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363" y="2784475"/>
            <a:ext cx="4572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50</a:t>
            </a:r>
          </a:p>
        </p:txBody>
      </p:sp>
      <p:sp>
        <p:nvSpPr>
          <p:cNvPr id="16408" name="TextBox 28">
            <a:extLst>
              <a:ext uri="{FF2B5EF4-FFF2-40B4-BE49-F238E27FC236}">
                <a16:creationId xmlns:a16="http://schemas.microsoft.com/office/drawing/2014/main" id="{6C0D81E7-74CF-492F-BA9E-E87485841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00" y="2449513"/>
            <a:ext cx="296863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D157414-D828-49E9-999C-A0052EDB3AC6}"/>
              </a:ext>
            </a:extLst>
          </p:cNvPr>
          <p:cNvSpPr/>
          <p:nvPr/>
        </p:nvSpPr>
        <p:spPr>
          <a:xfrm>
            <a:off x="7924800" y="3429000"/>
            <a:ext cx="457200" cy="4572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G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B415C4-0DD0-49BD-8383-BA2A9718D24A}"/>
              </a:ext>
            </a:extLst>
          </p:cNvPr>
          <p:cNvCxnSpPr/>
          <p:nvPr/>
        </p:nvCxnSpPr>
        <p:spPr>
          <a:xfrm>
            <a:off x="6705600" y="2982913"/>
            <a:ext cx="1219200" cy="6746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11" name="TextBox 31">
            <a:extLst>
              <a:ext uri="{FF2B5EF4-FFF2-40B4-BE49-F238E27FC236}">
                <a16:creationId xmlns:a16="http://schemas.microsoft.com/office/drawing/2014/main" id="{5F83CE6E-FE5D-4155-8186-912B5A197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143250"/>
            <a:ext cx="4572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7434BE-0C48-41F7-BED4-7C0190358C52}"/>
              </a:ext>
            </a:extLst>
          </p:cNvPr>
          <p:cNvSpPr txBox="1"/>
          <p:nvPr/>
        </p:nvSpPr>
        <p:spPr>
          <a:xfrm>
            <a:off x="3657599" y="4267200"/>
            <a:ext cx="2722563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  -  B  -  K  -  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A6338C-06FA-482F-AE4B-100A8C52E48C}"/>
              </a:ext>
            </a:extLst>
          </p:cNvPr>
          <p:cNvSpPr txBox="1"/>
          <p:nvPr/>
        </p:nvSpPr>
        <p:spPr>
          <a:xfrm>
            <a:off x="3599020" y="4914900"/>
            <a:ext cx="310197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Dengan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Total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Jarak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= 105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62000"/>
          </a:xfrm>
        </p:spPr>
        <p:txBody>
          <a:bodyPr/>
          <a:lstStyle/>
          <a:p>
            <a:r>
              <a:rPr lang="en-US" dirty="0" err="1"/>
              <a:t>Algoritma</a:t>
            </a:r>
            <a:r>
              <a:rPr lang="en-US" dirty="0"/>
              <a:t> A*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76400"/>
            <a:ext cx="6347714" cy="4364963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Abadi" panose="020B0604020104020204" pitchFamily="34" charset="0"/>
              </a:rPr>
              <a:t>Gabungan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i="1" dirty="0">
                <a:latin typeface="Abadi" panose="020B0604020104020204" pitchFamily="34" charset="0"/>
              </a:rPr>
              <a:t>Uniform Cost Search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i="1" dirty="0">
                <a:latin typeface="Abadi" panose="020B0604020104020204" pitchFamily="34" charset="0"/>
              </a:rPr>
              <a:t>Greedy Best-First Search</a:t>
            </a:r>
            <a:r>
              <a:rPr lang="en-US" sz="2000" dirty="0">
                <a:latin typeface="Abadi" panose="020B0604020104020204" pitchFamily="34" charset="0"/>
              </a:rPr>
              <a:t>. </a:t>
            </a:r>
          </a:p>
          <a:p>
            <a:r>
              <a:rPr lang="en-US" sz="2000" dirty="0" err="1">
                <a:latin typeface="Abadi" panose="020B0604020104020204" pitchFamily="34" charset="0"/>
              </a:rPr>
              <a:t>Biaya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en-US" sz="2000" dirty="0" err="1">
                <a:latin typeface="Abadi" panose="020B0604020104020204" pitchFamily="34" charset="0"/>
              </a:rPr>
              <a:t>diperhitungkan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didapat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dari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biaya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sebenarnya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ditambah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dengan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biaya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perkiraan</a:t>
            </a:r>
            <a:r>
              <a:rPr lang="en-US" sz="2000" dirty="0">
                <a:latin typeface="Abadi" panose="020B0604020104020204" pitchFamily="34" charset="0"/>
              </a:rPr>
              <a:t>. </a:t>
            </a:r>
          </a:p>
          <a:p>
            <a:r>
              <a:rPr lang="pt-BR" sz="2000" i="1" dirty="0">
                <a:latin typeface="Abadi" panose="020B0604020104020204" pitchFamily="34" charset="0"/>
              </a:rPr>
              <a:t>f</a:t>
            </a:r>
            <a:r>
              <a:rPr lang="pt-BR" sz="2000" dirty="0">
                <a:latin typeface="Abadi" panose="020B0604020104020204" pitchFamily="34" charset="0"/>
              </a:rPr>
              <a:t>(</a:t>
            </a:r>
            <a:r>
              <a:rPr lang="pt-BR" sz="2000" i="1" dirty="0">
                <a:latin typeface="Abadi" panose="020B0604020104020204" pitchFamily="34" charset="0"/>
              </a:rPr>
              <a:t>n</a:t>
            </a:r>
            <a:r>
              <a:rPr lang="pt-BR" sz="2000" dirty="0">
                <a:latin typeface="Abadi" panose="020B0604020104020204" pitchFamily="34" charset="0"/>
              </a:rPr>
              <a:t>) = </a:t>
            </a:r>
            <a:r>
              <a:rPr lang="pt-BR" sz="2000" i="1" dirty="0">
                <a:latin typeface="Abadi" panose="020B0604020104020204" pitchFamily="34" charset="0"/>
              </a:rPr>
              <a:t>g</a:t>
            </a:r>
            <a:r>
              <a:rPr lang="pt-BR" sz="2000" dirty="0">
                <a:latin typeface="Abadi" panose="020B0604020104020204" pitchFamily="34" charset="0"/>
              </a:rPr>
              <a:t>(</a:t>
            </a:r>
            <a:r>
              <a:rPr lang="pt-BR" sz="2000" i="1" dirty="0">
                <a:latin typeface="Abadi" panose="020B0604020104020204" pitchFamily="34" charset="0"/>
              </a:rPr>
              <a:t>n</a:t>
            </a:r>
            <a:r>
              <a:rPr lang="pt-BR" sz="2000" dirty="0">
                <a:latin typeface="Abadi" panose="020B0604020104020204" pitchFamily="34" charset="0"/>
              </a:rPr>
              <a:t>) + </a:t>
            </a:r>
            <a:r>
              <a:rPr lang="pt-BR" sz="2000" i="1" dirty="0">
                <a:latin typeface="Abadi" panose="020B0604020104020204" pitchFamily="34" charset="0"/>
              </a:rPr>
              <a:t>h</a:t>
            </a:r>
            <a:r>
              <a:rPr lang="pt-BR" sz="2000" dirty="0">
                <a:latin typeface="Abadi" panose="020B0604020104020204" pitchFamily="34" charset="0"/>
              </a:rPr>
              <a:t>(</a:t>
            </a:r>
            <a:r>
              <a:rPr lang="pt-BR" sz="2000" i="1" dirty="0">
                <a:latin typeface="Abadi" panose="020B0604020104020204" pitchFamily="34" charset="0"/>
              </a:rPr>
              <a:t>n</a:t>
            </a:r>
            <a:r>
              <a:rPr lang="pt-BR" sz="2000" dirty="0">
                <a:latin typeface="Abadi" panose="020B0604020104020204" pitchFamily="34" charset="0"/>
              </a:rPr>
              <a:t>)</a:t>
            </a:r>
          </a:p>
          <a:p>
            <a:r>
              <a:rPr lang="en-US" sz="2000" b="1" i="1" dirty="0">
                <a:latin typeface="Abadi" panose="020B0604020104020204" pitchFamily="34" charset="0"/>
              </a:rPr>
              <a:t>Complete</a:t>
            </a:r>
            <a:r>
              <a:rPr lang="en-US" sz="2000" b="1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b="1" i="1" dirty="0">
                <a:latin typeface="Abadi" panose="020B0604020104020204" pitchFamily="34" charset="0"/>
              </a:rPr>
              <a:t>Optimal</a:t>
            </a:r>
            <a:endParaRPr lang="id-ID" sz="2000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8D68C-2053-475A-B1E4-6D748704D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304800"/>
            <a:ext cx="6347713" cy="511837"/>
          </a:xfrm>
        </p:spPr>
        <p:txBody>
          <a:bodyPr>
            <a:normAutofit fontScale="90000"/>
          </a:bodyPr>
          <a:lstStyle/>
          <a:p>
            <a:r>
              <a:rPr lang="en-US" sz="3200" dirty="0" err="1"/>
              <a:t>Algoritma</a:t>
            </a:r>
            <a:r>
              <a:rPr lang="en-US" sz="3200" dirty="0"/>
              <a:t> A*</a:t>
            </a:r>
            <a:endParaRPr lang="id-ID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914400"/>
            <a:ext cx="7162802" cy="5492088"/>
          </a:xfrm>
        </p:spPr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Masukkan node </a:t>
            </a:r>
            <a:r>
              <a:rPr lang="en-US" dirty="0" err="1"/>
              <a:t>awal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OPEN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Ulangi</a:t>
            </a:r>
            <a:r>
              <a:rPr lang="en-US" dirty="0"/>
              <a:t> </a:t>
            </a:r>
            <a:r>
              <a:rPr lang="en-US" dirty="0" err="1"/>
              <a:t>tahap</a:t>
            </a:r>
            <a:r>
              <a:rPr lang="en-US" dirty="0"/>
              <a:t> di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dirty="0"/>
              <a:t>Set node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f yang paling </a:t>
            </a:r>
            <a:r>
              <a:rPr lang="en-US" dirty="0" err="1"/>
              <a:t>rendah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OPEN. Node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sekarang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CURRENT NODE</a:t>
            </a:r>
          </a:p>
          <a:p>
            <a:pPr lvl="1">
              <a:buFont typeface="+mj-lt"/>
              <a:buAutoNum type="arabicPeriod"/>
            </a:pPr>
            <a:r>
              <a:rPr lang="en-US" dirty="0" err="1"/>
              <a:t>Keluarkan</a:t>
            </a:r>
            <a:r>
              <a:rPr lang="en-US" dirty="0"/>
              <a:t> CURRENT NODE </a:t>
            </a:r>
            <a:r>
              <a:rPr lang="en-US" dirty="0" err="1"/>
              <a:t>dari</a:t>
            </a:r>
            <a:r>
              <a:rPr lang="en-US" dirty="0"/>
              <a:t> OPEN dan </a:t>
            </a:r>
            <a:r>
              <a:rPr lang="en-US" dirty="0" err="1"/>
              <a:t>masukkan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CLOSE</a:t>
            </a:r>
          </a:p>
          <a:p>
            <a:pPr lvl="1">
              <a:buFont typeface="+mj-lt"/>
              <a:buAutoNum type="arabicPeriod"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Neighbors </a:t>
            </a:r>
            <a:r>
              <a:rPr lang="en-US" dirty="0" err="1"/>
              <a:t>dari</a:t>
            </a:r>
            <a:r>
              <a:rPr lang="en-US" dirty="0"/>
              <a:t> CURRENT NODE </a:t>
            </a: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:</a:t>
            </a:r>
          </a:p>
          <a:p>
            <a:pPr lvl="2">
              <a:buFont typeface="+mj-lt"/>
              <a:buAutoNum type="arabicPeriod"/>
            </a:pPr>
            <a:r>
              <a:rPr lang="en-US" dirty="0"/>
              <a:t>Jika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dilalui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CLOSE, </a:t>
            </a:r>
            <a:r>
              <a:rPr lang="en-US" dirty="0" err="1"/>
              <a:t>abaikan</a:t>
            </a:r>
            <a:endParaRPr lang="en-US" dirty="0"/>
          </a:p>
          <a:p>
            <a:pPr lvl="2">
              <a:buFont typeface="+mj-lt"/>
              <a:buAutoNum type="arabicPeriod"/>
            </a:pPr>
            <a:r>
              <a:rPr lang="en-US" dirty="0"/>
              <a:t>Jika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di OPEN, </a:t>
            </a:r>
            <a:r>
              <a:rPr lang="en-US" dirty="0" err="1"/>
              <a:t>tambahkan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OPEN. </a:t>
            </a:r>
            <a:r>
              <a:rPr lang="en-US" dirty="0" err="1"/>
              <a:t>Buat</a:t>
            </a:r>
            <a:r>
              <a:rPr lang="en-US" dirty="0"/>
              <a:t> CURRENT NODE Parent </a:t>
            </a:r>
            <a:r>
              <a:rPr lang="en-US" dirty="0" err="1"/>
              <a:t>dari</a:t>
            </a:r>
            <a:r>
              <a:rPr lang="en-US" dirty="0"/>
              <a:t> Node </a:t>
            </a:r>
            <a:r>
              <a:rPr lang="en-US" dirty="0" err="1"/>
              <a:t>Tetangga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. </a:t>
            </a:r>
            <a:r>
              <a:rPr lang="en-US" dirty="0" err="1"/>
              <a:t>Simpan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f, g dan h </a:t>
            </a:r>
            <a:r>
              <a:rPr lang="en-US" dirty="0" err="1"/>
              <a:t>dari</a:t>
            </a:r>
            <a:r>
              <a:rPr lang="en-US" dirty="0"/>
              <a:t> Node </a:t>
            </a:r>
            <a:r>
              <a:rPr lang="en-US" dirty="0" err="1"/>
              <a:t>ini</a:t>
            </a:r>
            <a:r>
              <a:rPr lang="en-US" dirty="0"/>
              <a:t>.</a:t>
            </a:r>
          </a:p>
          <a:p>
            <a:pPr lvl="2">
              <a:buFont typeface="+mj-lt"/>
              <a:buAutoNum type="arabicPeriod"/>
            </a:pPr>
            <a:r>
              <a:rPr lang="en-US" dirty="0"/>
              <a:t>Jika </a:t>
            </a:r>
            <a:r>
              <a:rPr lang="en-US" dirty="0" err="1"/>
              <a:t>suda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di OPEN, </a:t>
            </a:r>
            <a:r>
              <a:rPr lang="en-US" dirty="0" err="1"/>
              <a:t>periksa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Node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CURRENT NODE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G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, Jika </a:t>
            </a:r>
            <a:r>
              <a:rPr lang="en-US" dirty="0" err="1"/>
              <a:t>iya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ganti</a:t>
            </a:r>
            <a:r>
              <a:rPr lang="en-US" dirty="0"/>
              <a:t> Parent Node </a:t>
            </a:r>
            <a:r>
              <a:rPr lang="en-US" dirty="0" err="1"/>
              <a:t>ini</a:t>
            </a:r>
            <a:r>
              <a:rPr lang="en-US" dirty="0"/>
              <a:t> di OPEN </a:t>
            </a:r>
            <a:r>
              <a:rPr lang="en-US" dirty="0" err="1"/>
              <a:t>menjadi</a:t>
            </a:r>
            <a:r>
              <a:rPr lang="en-US" dirty="0"/>
              <a:t> CURRENT NODE,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hitung</a:t>
            </a:r>
            <a:r>
              <a:rPr lang="en-US" dirty="0"/>
              <a:t> </a:t>
            </a:r>
            <a:r>
              <a:rPr lang="en-US" dirty="0" err="1"/>
              <a:t>ulang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g dan f </a:t>
            </a:r>
            <a:r>
              <a:rPr lang="en-US" dirty="0" err="1"/>
              <a:t>dari</a:t>
            </a:r>
            <a:r>
              <a:rPr lang="en-US" dirty="0"/>
              <a:t> node </a:t>
            </a:r>
            <a:r>
              <a:rPr lang="en-US" dirty="0" err="1"/>
              <a:t>ini</a:t>
            </a:r>
            <a:r>
              <a:rPr lang="en-US" dirty="0"/>
              <a:t>.</a:t>
            </a:r>
          </a:p>
          <a:p>
            <a:pPr marL="800100" lvl="1" indent="-342900">
              <a:buFont typeface="+mj-lt"/>
              <a:buAutoNum type="arabicPeriod" startAt="4"/>
            </a:pPr>
            <a:r>
              <a:rPr lang="en-US" dirty="0" err="1"/>
              <a:t>Hentika</a:t>
            </a:r>
            <a:r>
              <a:rPr lang="en-US" dirty="0"/>
              <a:t> Loop Jika :</a:t>
            </a:r>
          </a:p>
          <a:p>
            <a:pPr marL="1200150" lvl="2" indent="-342900">
              <a:buFont typeface="+mj-lt"/>
              <a:buAutoNum type="arabicPeriod"/>
            </a:pPr>
            <a:r>
              <a:rPr lang="en-US" dirty="0"/>
              <a:t>Node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ditambahkan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OPEN, yang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rute</a:t>
            </a:r>
            <a:r>
              <a:rPr lang="en-US" dirty="0"/>
              <a:t>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ditemukan</a:t>
            </a:r>
            <a:endParaRPr lang="en-US" dirty="0"/>
          </a:p>
          <a:p>
            <a:pPr marL="1200150" lvl="2" indent="-342900">
              <a:buFont typeface="+mj-lt"/>
              <a:buAutoNum type="arabicPeriod"/>
            </a:pPr>
            <a:r>
              <a:rPr lang="en-US" dirty="0"/>
              <a:t>Belum </a:t>
            </a:r>
            <a:r>
              <a:rPr lang="en-US" dirty="0" err="1"/>
              <a:t>menemukan</a:t>
            </a:r>
            <a:r>
              <a:rPr lang="en-US" dirty="0"/>
              <a:t> node GOAL </a:t>
            </a:r>
            <a:r>
              <a:rPr lang="en-US" dirty="0" err="1"/>
              <a:t>sementara</a:t>
            </a:r>
            <a:r>
              <a:rPr lang="en-US" dirty="0"/>
              <a:t> OPEN </a:t>
            </a:r>
            <a:r>
              <a:rPr lang="en-US" dirty="0" err="1"/>
              <a:t>kosong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RUTE</a:t>
            </a:r>
          </a:p>
          <a:p>
            <a:pPr marL="400050">
              <a:buFont typeface="+mj-lt"/>
              <a:buAutoNum type="arabicPeriod" startAt="3"/>
            </a:pPr>
            <a:r>
              <a:rPr lang="en-US" sz="1600" dirty="0" err="1"/>
              <a:t>Simpan</a:t>
            </a:r>
            <a:r>
              <a:rPr lang="en-US" sz="1600" dirty="0"/>
              <a:t> RUTE, </a:t>
            </a:r>
            <a:r>
              <a:rPr lang="en-US" sz="1600" dirty="0" err="1"/>
              <a:t>secara</a:t>
            </a:r>
            <a:r>
              <a:rPr lang="en-US" sz="1600" dirty="0"/>
              <a:t> ‘BACKWARD”, </a:t>
            </a:r>
            <a:r>
              <a:rPr lang="en-US" sz="1600" dirty="0" err="1"/>
              <a:t>urut</a:t>
            </a:r>
            <a:r>
              <a:rPr lang="en-US" sz="1600" dirty="0"/>
              <a:t> </a:t>
            </a:r>
            <a:r>
              <a:rPr lang="en-US" sz="1600" dirty="0" err="1"/>
              <a:t>mulai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node GOAL </a:t>
            </a:r>
            <a:r>
              <a:rPr lang="en-US" sz="1600" dirty="0" err="1"/>
              <a:t>ke</a:t>
            </a:r>
            <a:r>
              <a:rPr lang="en-US" sz="1600" dirty="0"/>
              <a:t> Parent-</a:t>
            </a:r>
            <a:r>
              <a:rPr lang="en-US" sz="1600" dirty="0" err="1"/>
              <a:t>nya</a:t>
            </a:r>
            <a:r>
              <a:rPr lang="en-US" sz="1600" dirty="0"/>
              <a:t> </a:t>
            </a:r>
            <a:r>
              <a:rPr lang="en-US" sz="1600" dirty="0" err="1"/>
              <a:t>terus</a:t>
            </a:r>
            <a:r>
              <a:rPr lang="en-US" sz="1600" dirty="0"/>
              <a:t> </a:t>
            </a:r>
            <a:r>
              <a:rPr lang="en-US" sz="1600" dirty="0" err="1"/>
              <a:t>sampai</a:t>
            </a:r>
            <a:r>
              <a:rPr lang="en-US" sz="1600" dirty="0"/>
              <a:t> </a:t>
            </a:r>
            <a:r>
              <a:rPr lang="en-US" sz="1600" dirty="0" err="1"/>
              <a:t>mencapai</a:t>
            </a:r>
            <a:r>
              <a:rPr lang="en-US" sz="1600" dirty="0"/>
              <a:t> NODE </a:t>
            </a:r>
            <a:r>
              <a:rPr lang="en-US" sz="1600" dirty="0" err="1"/>
              <a:t>awal</a:t>
            </a:r>
            <a:r>
              <a:rPr lang="en-US" sz="1600" dirty="0"/>
              <a:t> sambal </a:t>
            </a:r>
            <a:r>
              <a:rPr lang="en-US" sz="1600" dirty="0" err="1"/>
              <a:t>menyimpan</a:t>
            </a:r>
            <a:r>
              <a:rPr lang="en-US" sz="1600" dirty="0"/>
              <a:t> NODE </a:t>
            </a:r>
            <a:r>
              <a:rPr lang="en-US" sz="1600" dirty="0" err="1"/>
              <a:t>ke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6076E-EF4A-4C75-BCD0-56F8FF55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024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8CD8D-CCBD-4028-BECA-69F83BA83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7C8A4-1E2B-4D4A-BC7B-4B86E7874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0E07D-FD4E-4056-8FFE-CD5510DD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3BA0EE-AB1D-4370-A705-7E0A89148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57" y="28254"/>
            <a:ext cx="7048643" cy="673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670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114693" name="Object 5"/>
          <p:cNvGraphicFramePr>
            <a:graphicFrameLocks noChangeAspect="1"/>
          </p:cNvGraphicFramePr>
          <p:nvPr/>
        </p:nvGraphicFramePr>
        <p:xfrm>
          <a:off x="304799" y="990600"/>
          <a:ext cx="8608885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86262" imgH="2931795" progId="Visio.Drawing.11">
                  <p:embed/>
                </p:oleObj>
              </mc:Choice>
              <mc:Fallback>
                <p:oleObj name="Visio" r:id="rId2" imgW="4386262" imgH="2931795" progId="Visio.Drawing.11">
                  <p:embed/>
                  <p:pic>
                    <p:nvPicPr>
                      <p:cNvPr id="1146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799" y="990600"/>
                        <a:ext cx="8608885" cy="548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EEA387-9CCD-428F-9802-6B87C761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324E453-F808-4C17-A274-D33E9D2E0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Langkah 1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C2383BC-B24A-4626-AD1A-5384EDC6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71E389-98E7-4229-8BCA-4AAAAA92F892}" type="slidenum">
              <a:rPr lang="en-US" altLang="en-US">
                <a:solidFill>
                  <a:srgbClr val="626551"/>
                </a:solidFill>
                <a:latin typeface="Constantia" panose="02030602050306030303" pitchFamily="18" charset="0"/>
              </a:rPr>
              <a:pPr eaLnBrk="1" hangingPunct="1"/>
              <a:t>42</a:t>
            </a:fld>
            <a:endParaRPr lang="en-US" altLang="en-US">
              <a:solidFill>
                <a:srgbClr val="626551"/>
              </a:solidFill>
              <a:latin typeface="Constantia" panose="02030602050306030303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DD01D76-BFB7-4134-9A5E-353FD1F5CC47}"/>
              </a:ext>
            </a:extLst>
          </p:cNvPr>
          <p:cNvSpPr/>
          <p:nvPr/>
        </p:nvSpPr>
        <p:spPr>
          <a:xfrm>
            <a:off x="712788" y="3021013"/>
            <a:ext cx="457200" cy="45720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E946E6-3591-43D1-BD77-CF64047A4FA9}"/>
              </a:ext>
            </a:extLst>
          </p:cNvPr>
          <p:cNvSpPr/>
          <p:nvPr/>
        </p:nvSpPr>
        <p:spPr>
          <a:xfrm>
            <a:off x="1524000" y="2209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BD1D93-3A12-408F-A9DB-1B9BC42CE124}"/>
              </a:ext>
            </a:extLst>
          </p:cNvPr>
          <p:cNvSpPr/>
          <p:nvPr/>
        </p:nvSpPr>
        <p:spPr>
          <a:xfrm>
            <a:off x="2286000" y="28194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5C9143-7DC9-40A2-89D0-FDD78F1703A4}"/>
              </a:ext>
            </a:extLst>
          </p:cNvPr>
          <p:cNvSpPr/>
          <p:nvPr/>
        </p:nvSpPr>
        <p:spPr>
          <a:xfrm>
            <a:off x="2286000" y="35052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5A27E5-F003-4ED2-AF9B-4C32D84E025F}"/>
              </a:ext>
            </a:extLst>
          </p:cNvPr>
          <p:cNvSpPr/>
          <p:nvPr/>
        </p:nvSpPr>
        <p:spPr>
          <a:xfrm>
            <a:off x="1524000" y="39624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953182C0-BA47-4E6E-B349-B5375C5FAA04}"/>
              </a:ext>
            </a:extLst>
          </p:cNvPr>
          <p:cNvSpPr/>
          <p:nvPr/>
        </p:nvSpPr>
        <p:spPr>
          <a:xfrm>
            <a:off x="919163" y="2289175"/>
            <a:ext cx="641350" cy="765175"/>
          </a:xfrm>
          <a:custGeom>
            <a:avLst/>
            <a:gdLst>
              <a:gd name="connsiteX0" fmla="*/ 0 w 641445"/>
              <a:gd name="connsiteY0" fmla="*/ 764275 h 764275"/>
              <a:gd name="connsiteX1" fmla="*/ 163773 w 641445"/>
              <a:gd name="connsiteY1" fmla="*/ 163773 h 764275"/>
              <a:gd name="connsiteX2" fmla="*/ 641445 w 641445"/>
              <a:gd name="connsiteY2" fmla="*/ 0 h 76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445" h="764275">
                <a:moveTo>
                  <a:pt x="0" y="764275"/>
                </a:moveTo>
                <a:cubicBezTo>
                  <a:pt x="28433" y="527713"/>
                  <a:pt x="56866" y="291152"/>
                  <a:pt x="163773" y="163773"/>
                </a:cubicBezTo>
                <a:cubicBezTo>
                  <a:pt x="270680" y="36394"/>
                  <a:pt x="456062" y="18197"/>
                  <a:pt x="641445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7120CA83-3F13-41BB-82B1-86DD30ADF9AB}"/>
              </a:ext>
            </a:extLst>
          </p:cNvPr>
          <p:cNvSpPr/>
          <p:nvPr/>
        </p:nvSpPr>
        <p:spPr>
          <a:xfrm>
            <a:off x="1123950" y="2840038"/>
            <a:ext cx="1162050" cy="284162"/>
          </a:xfrm>
          <a:custGeom>
            <a:avLst/>
            <a:gdLst>
              <a:gd name="connsiteX0" fmla="*/ 0 w 750627"/>
              <a:gd name="connsiteY0" fmla="*/ 322997 h 322997"/>
              <a:gd name="connsiteX1" fmla="*/ 259307 w 750627"/>
              <a:gd name="connsiteY1" fmla="*/ 36394 h 322997"/>
              <a:gd name="connsiteX2" fmla="*/ 750627 w 750627"/>
              <a:gd name="connsiteY2" fmla="*/ 104632 h 322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0627" h="322997">
                <a:moveTo>
                  <a:pt x="0" y="322997"/>
                </a:moveTo>
                <a:cubicBezTo>
                  <a:pt x="67101" y="197892"/>
                  <a:pt x="134203" y="72788"/>
                  <a:pt x="259307" y="36394"/>
                </a:cubicBezTo>
                <a:cubicBezTo>
                  <a:pt x="384412" y="0"/>
                  <a:pt x="567519" y="52316"/>
                  <a:pt x="750627" y="104632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A75A76A9-3878-4D72-9C40-33FD8444E323}"/>
              </a:ext>
            </a:extLst>
          </p:cNvPr>
          <p:cNvSpPr/>
          <p:nvPr/>
        </p:nvSpPr>
        <p:spPr>
          <a:xfrm>
            <a:off x="1123950" y="3395663"/>
            <a:ext cx="1162050" cy="261937"/>
          </a:xfrm>
          <a:custGeom>
            <a:avLst/>
            <a:gdLst>
              <a:gd name="connsiteX0" fmla="*/ 0 w 791570"/>
              <a:gd name="connsiteY0" fmla="*/ 0 h 259307"/>
              <a:gd name="connsiteX1" fmla="*/ 627797 w 791570"/>
              <a:gd name="connsiteY1" fmla="*/ 136477 h 259307"/>
              <a:gd name="connsiteX2" fmla="*/ 791570 w 791570"/>
              <a:gd name="connsiteY2" fmla="*/ 259307 h 259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1570" h="259307">
                <a:moveTo>
                  <a:pt x="0" y="0"/>
                </a:moveTo>
                <a:cubicBezTo>
                  <a:pt x="247934" y="46629"/>
                  <a:pt x="495869" y="93259"/>
                  <a:pt x="627797" y="136477"/>
                </a:cubicBezTo>
                <a:cubicBezTo>
                  <a:pt x="759725" y="179695"/>
                  <a:pt x="775647" y="219501"/>
                  <a:pt x="791570" y="25930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B4492A5-1DBF-49C2-99B3-15E79EF93848}"/>
              </a:ext>
            </a:extLst>
          </p:cNvPr>
          <p:cNvSpPr/>
          <p:nvPr/>
        </p:nvSpPr>
        <p:spPr>
          <a:xfrm>
            <a:off x="1000125" y="3462338"/>
            <a:ext cx="560388" cy="574675"/>
          </a:xfrm>
          <a:custGeom>
            <a:avLst/>
            <a:gdLst>
              <a:gd name="connsiteX0" fmla="*/ 0 w 559558"/>
              <a:gd name="connsiteY0" fmla="*/ 0 h 573206"/>
              <a:gd name="connsiteX1" fmla="*/ 191068 w 559558"/>
              <a:gd name="connsiteY1" fmla="*/ 395785 h 573206"/>
              <a:gd name="connsiteX2" fmla="*/ 559558 w 559558"/>
              <a:gd name="connsiteY2" fmla="*/ 573206 h 57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9558" h="573206">
                <a:moveTo>
                  <a:pt x="0" y="0"/>
                </a:moveTo>
                <a:cubicBezTo>
                  <a:pt x="48904" y="150125"/>
                  <a:pt x="97808" y="300251"/>
                  <a:pt x="191068" y="395785"/>
                </a:cubicBezTo>
                <a:cubicBezTo>
                  <a:pt x="284328" y="491319"/>
                  <a:pt x="421943" y="532262"/>
                  <a:pt x="559558" y="573206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D7193F-9192-4B45-8D37-4040797A4E2D}"/>
              </a:ext>
            </a:extLst>
          </p:cNvPr>
          <p:cNvSpPr/>
          <p:nvPr/>
        </p:nvSpPr>
        <p:spPr>
          <a:xfrm>
            <a:off x="595313" y="4392613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A1F13E48-029E-420B-BA39-FD981530C09A}"/>
              </a:ext>
            </a:extLst>
          </p:cNvPr>
          <p:cNvSpPr/>
          <p:nvPr/>
        </p:nvSpPr>
        <p:spPr>
          <a:xfrm>
            <a:off x="601663" y="3429000"/>
            <a:ext cx="236537" cy="976313"/>
          </a:xfrm>
          <a:custGeom>
            <a:avLst/>
            <a:gdLst>
              <a:gd name="connsiteX0" fmla="*/ 216089 w 284328"/>
              <a:gd name="connsiteY0" fmla="*/ 0 h 928048"/>
              <a:gd name="connsiteX1" fmla="*/ 11373 w 284328"/>
              <a:gd name="connsiteY1" fmla="*/ 450376 h 928048"/>
              <a:gd name="connsiteX2" fmla="*/ 284328 w 284328"/>
              <a:gd name="connsiteY2" fmla="*/ 928048 h 928048"/>
              <a:gd name="connsiteX3" fmla="*/ 284328 w 284328"/>
              <a:gd name="connsiteY3" fmla="*/ 928048 h 92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328" h="928048">
                <a:moveTo>
                  <a:pt x="216089" y="0"/>
                </a:moveTo>
                <a:cubicBezTo>
                  <a:pt x="108044" y="147850"/>
                  <a:pt x="0" y="295701"/>
                  <a:pt x="11373" y="450376"/>
                </a:cubicBezTo>
                <a:cubicBezTo>
                  <a:pt x="22746" y="605051"/>
                  <a:pt x="284328" y="928048"/>
                  <a:pt x="284328" y="928048"/>
                </a:cubicBezTo>
                <a:lnTo>
                  <a:pt x="284328" y="928048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494" name="TextBox 16">
            <a:extLst>
              <a:ext uri="{FF2B5EF4-FFF2-40B4-BE49-F238E27FC236}">
                <a16:creationId xmlns:a16="http://schemas.microsoft.com/office/drawing/2014/main" id="{3E3C120A-C820-471B-970C-2A3911008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23971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0495" name="TextBox 17">
            <a:extLst>
              <a:ext uri="{FF2B5EF4-FFF2-40B4-BE49-F238E27FC236}">
                <a16:creationId xmlns:a16="http://schemas.microsoft.com/office/drawing/2014/main" id="{B6300FF3-2DD6-420B-B092-1ADD364C1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3825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0496" name="TextBox 19">
            <a:extLst>
              <a:ext uri="{FF2B5EF4-FFF2-40B4-BE49-F238E27FC236}">
                <a16:creationId xmlns:a16="http://schemas.microsoft.com/office/drawing/2014/main" id="{B632097C-55BD-4A7A-A835-58C520829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213" y="2667000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25</a:t>
            </a:r>
          </a:p>
        </p:txBody>
      </p:sp>
      <p:sp>
        <p:nvSpPr>
          <p:cNvPr id="20497" name="TextBox 20">
            <a:extLst>
              <a:ext uri="{FF2B5EF4-FFF2-40B4-BE49-F238E27FC236}">
                <a16:creationId xmlns:a16="http://schemas.microsoft.com/office/drawing/2014/main" id="{2CEBA9FD-0D6B-4B49-8459-51B92D1E8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413" y="3279775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30</a:t>
            </a:r>
          </a:p>
        </p:txBody>
      </p:sp>
      <p:sp>
        <p:nvSpPr>
          <p:cNvPr id="20498" name="TextBox 21">
            <a:extLst>
              <a:ext uri="{FF2B5EF4-FFF2-40B4-BE49-F238E27FC236}">
                <a16:creationId xmlns:a16="http://schemas.microsoft.com/office/drawing/2014/main" id="{3596AF3C-3EEA-4D0E-8358-CAB8F8EA3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565525"/>
            <a:ext cx="47783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35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9E237CC-C070-49E7-A64A-AB20C1D7DD5F}"/>
              </a:ext>
            </a:extLst>
          </p:cNvPr>
          <p:cNvGraphicFramePr>
            <a:graphicFrameLocks noGrp="1"/>
          </p:cNvGraphicFramePr>
          <p:nvPr/>
        </p:nvGraphicFramePr>
        <p:xfrm>
          <a:off x="4152900" y="2514600"/>
          <a:ext cx="4076702" cy="14827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5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3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3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3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/>
                        <a:t>n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h’(n)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74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g(n)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f(n)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84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8583B8D7-8A5B-4E8A-B5A9-72482BB32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Langkah 2</a:t>
            </a: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ACE90A65-9D27-4A78-95BB-EECC3CDA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1F97E3-67AF-40A7-8BDE-D99138DABCB7}" type="slidenum">
              <a:rPr lang="en-US" altLang="en-US">
                <a:solidFill>
                  <a:srgbClr val="626551"/>
                </a:solidFill>
                <a:latin typeface="Constantia" panose="02030602050306030303" pitchFamily="18" charset="0"/>
              </a:rPr>
              <a:pPr eaLnBrk="1" hangingPunct="1"/>
              <a:t>43</a:t>
            </a:fld>
            <a:endParaRPr lang="en-US" altLang="en-US">
              <a:solidFill>
                <a:srgbClr val="626551"/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DED1E7F-3B62-4113-AF63-897C8B8CA36F}"/>
              </a:ext>
            </a:extLst>
          </p:cNvPr>
          <p:cNvGraphicFramePr>
            <a:graphicFrameLocks noGrp="1"/>
          </p:cNvGraphicFramePr>
          <p:nvPr/>
        </p:nvGraphicFramePr>
        <p:xfrm>
          <a:off x="4362450" y="2514600"/>
          <a:ext cx="3413124" cy="14827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50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/>
                        <a:t>n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91449" marR="91449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h’(n)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9" marR="91449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g(n)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9" marR="91449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f(n)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110</a:t>
                      </a:r>
                    </a:p>
                  </a:txBody>
                  <a:tcPr marL="91449" marR="9144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130</a:t>
                      </a:r>
                    </a:p>
                  </a:txBody>
                  <a:tcPr marL="91449" marR="91449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Freeform 22">
            <a:extLst>
              <a:ext uri="{FF2B5EF4-FFF2-40B4-BE49-F238E27FC236}">
                <a16:creationId xmlns:a16="http://schemas.microsoft.com/office/drawing/2014/main" id="{069C9BEA-E76D-4E1F-81EC-BF5E303F8C52}"/>
              </a:ext>
            </a:extLst>
          </p:cNvPr>
          <p:cNvSpPr/>
          <p:nvPr/>
        </p:nvSpPr>
        <p:spPr>
          <a:xfrm>
            <a:off x="946150" y="4241800"/>
            <a:ext cx="573088" cy="271463"/>
          </a:xfrm>
          <a:custGeom>
            <a:avLst/>
            <a:gdLst>
              <a:gd name="connsiteX0" fmla="*/ 573206 w 573206"/>
              <a:gd name="connsiteY0" fmla="*/ 0 h 272955"/>
              <a:gd name="connsiteX1" fmla="*/ 395785 w 573206"/>
              <a:gd name="connsiteY1" fmla="*/ 191068 h 272955"/>
              <a:gd name="connsiteX2" fmla="*/ 0 w 573206"/>
              <a:gd name="connsiteY2" fmla="*/ 272955 h 272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272955">
                <a:moveTo>
                  <a:pt x="573206" y="0"/>
                </a:moveTo>
                <a:cubicBezTo>
                  <a:pt x="532262" y="72788"/>
                  <a:pt x="491319" y="145576"/>
                  <a:pt x="395785" y="191068"/>
                </a:cubicBezTo>
                <a:cubicBezTo>
                  <a:pt x="300251" y="236560"/>
                  <a:pt x="150125" y="254757"/>
                  <a:pt x="0" y="272955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57ECBAE-6761-4B0B-AFFB-887C604C39C6}"/>
              </a:ext>
            </a:extLst>
          </p:cNvPr>
          <p:cNvSpPr/>
          <p:nvPr/>
        </p:nvSpPr>
        <p:spPr>
          <a:xfrm>
            <a:off x="712788" y="3021013"/>
            <a:ext cx="457200" cy="45720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D8B02D7-20FB-4685-953B-E757927C7BCC}"/>
              </a:ext>
            </a:extLst>
          </p:cNvPr>
          <p:cNvSpPr/>
          <p:nvPr/>
        </p:nvSpPr>
        <p:spPr>
          <a:xfrm>
            <a:off x="1524000" y="2209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0ECF1AF-124B-4395-A717-57FDEA365E7A}"/>
              </a:ext>
            </a:extLst>
          </p:cNvPr>
          <p:cNvSpPr/>
          <p:nvPr/>
        </p:nvSpPr>
        <p:spPr>
          <a:xfrm>
            <a:off x="2286000" y="28194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B70FA09-7315-4178-B2BB-895AE2244B4E}"/>
              </a:ext>
            </a:extLst>
          </p:cNvPr>
          <p:cNvSpPr/>
          <p:nvPr/>
        </p:nvSpPr>
        <p:spPr>
          <a:xfrm>
            <a:off x="2286000" y="35052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6C4EF5E-F0C8-4436-B3BC-02741CE8112A}"/>
              </a:ext>
            </a:extLst>
          </p:cNvPr>
          <p:cNvSpPr/>
          <p:nvPr/>
        </p:nvSpPr>
        <p:spPr>
          <a:xfrm>
            <a:off x="1524000" y="39624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EA0CCE89-2D63-4391-A476-2A13A964C53B}"/>
              </a:ext>
            </a:extLst>
          </p:cNvPr>
          <p:cNvSpPr/>
          <p:nvPr/>
        </p:nvSpPr>
        <p:spPr>
          <a:xfrm>
            <a:off x="919163" y="2289175"/>
            <a:ext cx="641350" cy="765175"/>
          </a:xfrm>
          <a:custGeom>
            <a:avLst/>
            <a:gdLst>
              <a:gd name="connsiteX0" fmla="*/ 0 w 641445"/>
              <a:gd name="connsiteY0" fmla="*/ 764275 h 764275"/>
              <a:gd name="connsiteX1" fmla="*/ 163773 w 641445"/>
              <a:gd name="connsiteY1" fmla="*/ 163773 h 764275"/>
              <a:gd name="connsiteX2" fmla="*/ 641445 w 641445"/>
              <a:gd name="connsiteY2" fmla="*/ 0 h 76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445" h="764275">
                <a:moveTo>
                  <a:pt x="0" y="764275"/>
                </a:moveTo>
                <a:cubicBezTo>
                  <a:pt x="28433" y="527713"/>
                  <a:pt x="56866" y="291152"/>
                  <a:pt x="163773" y="163773"/>
                </a:cubicBezTo>
                <a:cubicBezTo>
                  <a:pt x="270680" y="36394"/>
                  <a:pt x="456062" y="18197"/>
                  <a:pt x="641445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E8A00222-7142-45FF-8B81-C6DC10F5C90E}"/>
              </a:ext>
            </a:extLst>
          </p:cNvPr>
          <p:cNvSpPr/>
          <p:nvPr/>
        </p:nvSpPr>
        <p:spPr>
          <a:xfrm>
            <a:off x="1123950" y="2840038"/>
            <a:ext cx="1162050" cy="284162"/>
          </a:xfrm>
          <a:custGeom>
            <a:avLst/>
            <a:gdLst>
              <a:gd name="connsiteX0" fmla="*/ 0 w 750627"/>
              <a:gd name="connsiteY0" fmla="*/ 322997 h 322997"/>
              <a:gd name="connsiteX1" fmla="*/ 259307 w 750627"/>
              <a:gd name="connsiteY1" fmla="*/ 36394 h 322997"/>
              <a:gd name="connsiteX2" fmla="*/ 750627 w 750627"/>
              <a:gd name="connsiteY2" fmla="*/ 104632 h 322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0627" h="322997">
                <a:moveTo>
                  <a:pt x="0" y="322997"/>
                </a:moveTo>
                <a:cubicBezTo>
                  <a:pt x="67101" y="197892"/>
                  <a:pt x="134203" y="72788"/>
                  <a:pt x="259307" y="36394"/>
                </a:cubicBezTo>
                <a:cubicBezTo>
                  <a:pt x="384412" y="0"/>
                  <a:pt x="567519" y="52316"/>
                  <a:pt x="750627" y="104632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173A2C47-A2B1-454D-9209-AF5387B4130F}"/>
              </a:ext>
            </a:extLst>
          </p:cNvPr>
          <p:cNvSpPr/>
          <p:nvPr/>
        </p:nvSpPr>
        <p:spPr>
          <a:xfrm>
            <a:off x="1123950" y="3395663"/>
            <a:ext cx="1162050" cy="261937"/>
          </a:xfrm>
          <a:custGeom>
            <a:avLst/>
            <a:gdLst>
              <a:gd name="connsiteX0" fmla="*/ 0 w 791570"/>
              <a:gd name="connsiteY0" fmla="*/ 0 h 259307"/>
              <a:gd name="connsiteX1" fmla="*/ 627797 w 791570"/>
              <a:gd name="connsiteY1" fmla="*/ 136477 h 259307"/>
              <a:gd name="connsiteX2" fmla="*/ 791570 w 791570"/>
              <a:gd name="connsiteY2" fmla="*/ 259307 h 259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1570" h="259307">
                <a:moveTo>
                  <a:pt x="0" y="0"/>
                </a:moveTo>
                <a:cubicBezTo>
                  <a:pt x="247934" y="46629"/>
                  <a:pt x="495869" y="93259"/>
                  <a:pt x="627797" y="136477"/>
                </a:cubicBezTo>
                <a:cubicBezTo>
                  <a:pt x="759725" y="179695"/>
                  <a:pt x="775647" y="219501"/>
                  <a:pt x="791570" y="25930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AEBEECA7-68BA-4F59-B8BE-E83387652F80}"/>
              </a:ext>
            </a:extLst>
          </p:cNvPr>
          <p:cNvSpPr/>
          <p:nvPr/>
        </p:nvSpPr>
        <p:spPr>
          <a:xfrm>
            <a:off x="1000125" y="3462338"/>
            <a:ext cx="560388" cy="574675"/>
          </a:xfrm>
          <a:custGeom>
            <a:avLst/>
            <a:gdLst>
              <a:gd name="connsiteX0" fmla="*/ 0 w 559558"/>
              <a:gd name="connsiteY0" fmla="*/ 0 h 573206"/>
              <a:gd name="connsiteX1" fmla="*/ 191068 w 559558"/>
              <a:gd name="connsiteY1" fmla="*/ 395785 h 573206"/>
              <a:gd name="connsiteX2" fmla="*/ 559558 w 559558"/>
              <a:gd name="connsiteY2" fmla="*/ 573206 h 57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9558" h="573206">
                <a:moveTo>
                  <a:pt x="0" y="0"/>
                </a:moveTo>
                <a:cubicBezTo>
                  <a:pt x="48904" y="150125"/>
                  <a:pt x="97808" y="300251"/>
                  <a:pt x="191068" y="395785"/>
                </a:cubicBezTo>
                <a:cubicBezTo>
                  <a:pt x="284328" y="491319"/>
                  <a:pt x="421943" y="532262"/>
                  <a:pt x="559558" y="573206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3B90F6F-CD64-4051-95D1-BDA6669D64B1}"/>
              </a:ext>
            </a:extLst>
          </p:cNvPr>
          <p:cNvSpPr/>
          <p:nvPr/>
        </p:nvSpPr>
        <p:spPr>
          <a:xfrm>
            <a:off x="595313" y="4392613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FD1B1F4C-049A-420B-B4B0-4C5558FF8D71}"/>
              </a:ext>
            </a:extLst>
          </p:cNvPr>
          <p:cNvSpPr/>
          <p:nvPr/>
        </p:nvSpPr>
        <p:spPr>
          <a:xfrm>
            <a:off x="601663" y="3429000"/>
            <a:ext cx="236537" cy="976313"/>
          </a:xfrm>
          <a:custGeom>
            <a:avLst/>
            <a:gdLst>
              <a:gd name="connsiteX0" fmla="*/ 216089 w 284328"/>
              <a:gd name="connsiteY0" fmla="*/ 0 h 928048"/>
              <a:gd name="connsiteX1" fmla="*/ 11373 w 284328"/>
              <a:gd name="connsiteY1" fmla="*/ 450376 h 928048"/>
              <a:gd name="connsiteX2" fmla="*/ 284328 w 284328"/>
              <a:gd name="connsiteY2" fmla="*/ 928048 h 928048"/>
              <a:gd name="connsiteX3" fmla="*/ 284328 w 284328"/>
              <a:gd name="connsiteY3" fmla="*/ 928048 h 92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328" h="928048">
                <a:moveTo>
                  <a:pt x="216089" y="0"/>
                </a:moveTo>
                <a:cubicBezTo>
                  <a:pt x="108044" y="147850"/>
                  <a:pt x="0" y="295701"/>
                  <a:pt x="11373" y="450376"/>
                </a:cubicBezTo>
                <a:cubicBezTo>
                  <a:pt x="22746" y="605051"/>
                  <a:pt x="284328" y="928048"/>
                  <a:pt x="284328" y="928048"/>
                </a:cubicBezTo>
                <a:lnTo>
                  <a:pt x="284328" y="928048"/>
                </a:ln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6482B31-048E-454E-B6DC-850654993DB8}"/>
              </a:ext>
            </a:extLst>
          </p:cNvPr>
          <p:cNvSpPr/>
          <p:nvPr/>
        </p:nvSpPr>
        <p:spPr>
          <a:xfrm>
            <a:off x="1919288" y="4876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1228BFE5-6641-4EF0-8A47-B870B4080511}"/>
              </a:ext>
            </a:extLst>
          </p:cNvPr>
          <p:cNvSpPr/>
          <p:nvPr/>
        </p:nvSpPr>
        <p:spPr>
          <a:xfrm>
            <a:off x="990600" y="4622800"/>
            <a:ext cx="979488" cy="471488"/>
          </a:xfrm>
          <a:custGeom>
            <a:avLst/>
            <a:gdLst>
              <a:gd name="connsiteX0" fmla="*/ 0 w 873456"/>
              <a:gd name="connsiteY0" fmla="*/ 0 h 470848"/>
              <a:gd name="connsiteX1" fmla="*/ 300251 w 873456"/>
              <a:gd name="connsiteY1" fmla="*/ 409433 h 470848"/>
              <a:gd name="connsiteX2" fmla="*/ 791570 w 873456"/>
              <a:gd name="connsiteY2" fmla="*/ 368490 h 470848"/>
              <a:gd name="connsiteX3" fmla="*/ 791570 w 873456"/>
              <a:gd name="connsiteY3" fmla="*/ 382137 h 470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3456" h="470848">
                <a:moveTo>
                  <a:pt x="0" y="0"/>
                </a:moveTo>
                <a:cubicBezTo>
                  <a:pt x="84161" y="174009"/>
                  <a:pt x="168323" y="348018"/>
                  <a:pt x="300251" y="409433"/>
                </a:cubicBezTo>
                <a:cubicBezTo>
                  <a:pt x="432179" y="470848"/>
                  <a:pt x="709684" y="373039"/>
                  <a:pt x="791570" y="368490"/>
                </a:cubicBezTo>
                <a:cubicBezTo>
                  <a:pt x="873456" y="363941"/>
                  <a:pt x="832513" y="373039"/>
                  <a:pt x="791570" y="3821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58" name="TextBox 38">
            <a:extLst>
              <a:ext uri="{FF2B5EF4-FFF2-40B4-BE49-F238E27FC236}">
                <a16:creationId xmlns:a16="http://schemas.microsoft.com/office/drawing/2014/main" id="{BF737611-7705-4B03-BA9E-AA045E0A2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23971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1559" name="TextBox 39">
            <a:extLst>
              <a:ext uri="{FF2B5EF4-FFF2-40B4-BE49-F238E27FC236}">
                <a16:creationId xmlns:a16="http://schemas.microsoft.com/office/drawing/2014/main" id="{247EF823-EA02-403E-8A92-333646A25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3825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1560" name="TextBox 41">
            <a:extLst>
              <a:ext uri="{FF2B5EF4-FFF2-40B4-BE49-F238E27FC236}">
                <a16:creationId xmlns:a16="http://schemas.microsoft.com/office/drawing/2014/main" id="{E94B892D-9612-44A3-8E83-AD178D9A1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213" y="2667000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25</a:t>
            </a:r>
          </a:p>
        </p:txBody>
      </p:sp>
      <p:sp>
        <p:nvSpPr>
          <p:cNvPr id="21561" name="TextBox 42">
            <a:extLst>
              <a:ext uri="{FF2B5EF4-FFF2-40B4-BE49-F238E27FC236}">
                <a16:creationId xmlns:a16="http://schemas.microsoft.com/office/drawing/2014/main" id="{93DF7AA1-5AC4-4089-8542-0072DC720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413" y="3279775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30</a:t>
            </a:r>
          </a:p>
        </p:txBody>
      </p:sp>
      <p:sp>
        <p:nvSpPr>
          <p:cNvPr id="21562" name="TextBox 43">
            <a:extLst>
              <a:ext uri="{FF2B5EF4-FFF2-40B4-BE49-F238E27FC236}">
                <a16:creationId xmlns:a16="http://schemas.microsoft.com/office/drawing/2014/main" id="{8A0473F7-94ED-428C-8B8F-8C4D6E773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565525"/>
            <a:ext cx="47783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35</a:t>
            </a:r>
          </a:p>
        </p:txBody>
      </p:sp>
      <p:sp>
        <p:nvSpPr>
          <p:cNvPr id="21563" name="TextBox 44">
            <a:extLst>
              <a:ext uri="{FF2B5EF4-FFF2-40B4-BE49-F238E27FC236}">
                <a16:creationId xmlns:a16="http://schemas.microsoft.com/office/drawing/2014/main" id="{C2108726-CE59-4490-9490-E8676813D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42259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15</a:t>
            </a:r>
          </a:p>
        </p:txBody>
      </p:sp>
      <p:sp>
        <p:nvSpPr>
          <p:cNvPr id="21564" name="TextBox 45">
            <a:extLst>
              <a:ext uri="{FF2B5EF4-FFF2-40B4-BE49-F238E27FC236}">
                <a16:creationId xmlns:a16="http://schemas.microsoft.com/office/drawing/2014/main" id="{ABBE93CF-E58E-4930-BE01-9E04F685E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800600"/>
            <a:ext cx="4572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D5424C10-F0C4-4F6A-B105-C0B5B62FB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Langkah 3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1540DBF9-8247-45B8-A3DD-C411B6E64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D53CC3E-60CE-4966-8CD3-AD4F4EF67067}" type="slidenum">
              <a:rPr lang="en-US" altLang="en-US">
                <a:solidFill>
                  <a:srgbClr val="626551"/>
                </a:solidFill>
                <a:latin typeface="Constantia" panose="02030602050306030303" pitchFamily="18" charset="0"/>
              </a:rPr>
              <a:pPr eaLnBrk="1" hangingPunct="1"/>
              <a:t>44</a:t>
            </a:fld>
            <a:endParaRPr lang="en-US" altLang="en-US">
              <a:solidFill>
                <a:srgbClr val="626551"/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EB0E7C3-68AE-41E4-A061-1B93AA29620B}"/>
              </a:ext>
            </a:extLst>
          </p:cNvPr>
          <p:cNvGraphicFramePr>
            <a:graphicFrameLocks noGrp="1"/>
          </p:cNvGraphicFramePr>
          <p:nvPr/>
        </p:nvGraphicFramePr>
        <p:xfrm>
          <a:off x="3962400" y="3886200"/>
          <a:ext cx="3829050" cy="14827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8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/>
                        <a:t>n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91453" marR="91453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h’(n)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53" marR="91453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g(n)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75</a:t>
                      </a:r>
                    </a:p>
                  </a:txBody>
                  <a:tcPr marL="91453" marR="91453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f(n)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110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130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53" marR="9145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105</a:t>
                      </a:r>
                    </a:p>
                  </a:txBody>
                  <a:tcPr marL="91453" marR="91453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6" name="Freeform 75">
            <a:extLst>
              <a:ext uri="{FF2B5EF4-FFF2-40B4-BE49-F238E27FC236}">
                <a16:creationId xmlns:a16="http://schemas.microsoft.com/office/drawing/2014/main" id="{C6C0E93C-0175-4284-B86F-E13B49D41BBC}"/>
              </a:ext>
            </a:extLst>
          </p:cNvPr>
          <p:cNvSpPr/>
          <p:nvPr/>
        </p:nvSpPr>
        <p:spPr>
          <a:xfrm>
            <a:off x="946150" y="4241800"/>
            <a:ext cx="573088" cy="271463"/>
          </a:xfrm>
          <a:custGeom>
            <a:avLst/>
            <a:gdLst>
              <a:gd name="connsiteX0" fmla="*/ 573206 w 573206"/>
              <a:gd name="connsiteY0" fmla="*/ 0 h 272955"/>
              <a:gd name="connsiteX1" fmla="*/ 395785 w 573206"/>
              <a:gd name="connsiteY1" fmla="*/ 191068 h 272955"/>
              <a:gd name="connsiteX2" fmla="*/ 0 w 573206"/>
              <a:gd name="connsiteY2" fmla="*/ 272955 h 272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272955">
                <a:moveTo>
                  <a:pt x="573206" y="0"/>
                </a:moveTo>
                <a:cubicBezTo>
                  <a:pt x="532262" y="72788"/>
                  <a:pt x="491319" y="145576"/>
                  <a:pt x="395785" y="191068"/>
                </a:cubicBezTo>
                <a:cubicBezTo>
                  <a:pt x="300251" y="236560"/>
                  <a:pt x="150125" y="254757"/>
                  <a:pt x="0" y="272955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CBF1726-BBC1-4D0D-B4B9-6088324C073D}"/>
              </a:ext>
            </a:extLst>
          </p:cNvPr>
          <p:cNvSpPr/>
          <p:nvPr/>
        </p:nvSpPr>
        <p:spPr>
          <a:xfrm>
            <a:off x="712788" y="3021013"/>
            <a:ext cx="457200" cy="45720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09D5C2B-F782-4B0E-9EEF-7819F956B068}"/>
              </a:ext>
            </a:extLst>
          </p:cNvPr>
          <p:cNvSpPr/>
          <p:nvPr/>
        </p:nvSpPr>
        <p:spPr>
          <a:xfrm>
            <a:off x="1524000" y="2209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3F81C80-0591-4FDE-90B6-575BB1EE900E}"/>
              </a:ext>
            </a:extLst>
          </p:cNvPr>
          <p:cNvSpPr/>
          <p:nvPr/>
        </p:nvSpPr>
        <p:spPr>
          <a:xfrm>
            <a:off x="2286000" y="28194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810B6C8D-79A2-494C-8650-577D4F0CF716}"/>
              </a:ext>
            </a:extLst>
          </p:cNvPr>
          <p:cNvSpPr/>
          <p:nvPr/>
        </p:nvSpPr>
        <p:spPr>
          <a:xfrm>
            <a:off x="2286000" y="35052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1EEF8C2-9E29-481F-A748-3C06459092F0}"/>
              </a:ext>
            </a:extLst>
          </p:cNvPr>
          <p:cNvSpPr/>
          <p:nvPr/>
        </p:nvSpPr>
        <p:spPr>
          <a:xfrm>
            <a:off x="1524000" y="39624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D8D39EF7-BC97-4968-A6EC-1451CBF22E7A}"/>
              </a:ext>
            </a:extLst>
          </p:cNvPr>
          <p:cNvSpPr/>
          <p:nvPr/>
        </p:nvSpPr>
        <p:spPr>
          <a:xfrm>
            <a:off x="919163" y="2289175"/>
            <a:ext cx="641350" cy="765175"/>
          </a:xfrm>
          <a:custGeom>
            <a:avLst/>
            <a:gdLst>
              <a:gd name="connsiteX0" fmla="*/ 0 w 641445"/>
              <a:gd name="connsiteY0" fmla="*/ 764275 h 764275"/>
              <a:gd name="connsiteX1" fmla="*/ 163773 w 641445"/>
              <a:gd name="connsiteY1" fmla="*/ 163773 h 764275"/>
              <a:gd name="connsiteX2" fmla="*/ 641445 w 641445"/>
              <a:gd name="connsiteY2" fmla="*/ 0 h 76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445" h="764275">
                <a:moveTo>
                  <a:pt x="0" y="764275"/>
                </a:moveTo>
                <a:cubicBezTo>
                  <a:pt x="28433" y="527713"/>
                  <a:pt x="56866" y="291152"/>
                  <a:pt x="163773" y="163773"/>
                </a:cubicBezTo>
                <a:cubicBezTo>
                  <a:pt x="270680" y="36394"/>
                  <a:pt x="456062" y="18197"/>
                  <a:pt x="641445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B80E6177-1160-4F4B-AD1B-1D2220C9C05D}"/>
              </a:ext>
            </a:extLst>
          </p:cNvPr>
          <p:cNvSpPr/>
          <p:nvPr/>
        </p:nvSpPr>
        <p:spPr>
          <a:xfrm>
            <a:off x="1123950" y="2840038"/>
            <a:ext cx="1162050" cy="284162"/>
          </a:xfrm>
          <a:custGeom>
            <a:avLst/>
            <a:gdLst>
              <a:gd name="connsiteX0" fmla="*/ 0 w 750627"/>
              <a:gd name="connsiteY0" fmla="*/ 322997 h 322997"/>
              <a:gd name="connsiteX1" fmla="*/ 259307 w 750627"/>
              <a:gd name="connsiteY1" fmla="*/ 36394 h 322997"/>
              <a:gd name="connsiteX2" fmla="*/ 750627 w 750627"/>
              <a:gd name="connsiteY2" fmla="*/ 104632 h 322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0627" h="322997">
                <a:moveTo>
                  <a:pt x="0" y="322997"/>
                </a:moveTo>
                <a:cubicBezTo>
                  <a:pt x="67101" y="197892"/>
                  <a:pt x="134203" y="72788"/>
                  <a:pt x="259307" y="36394"/>
                </a:cubicBezTo>
                <a:cubicBezTo>
                  <a:pt x="384412" y="0"/>
                  <a:pt x="567519" y="52316"/>
                  <a:pt x="750627" y="104632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FEA82426-FF0D-44DE-BBED-75B3689D1094}"/>
              </a:ext>
            </a:extLst>
          </p:cNvPr>
          <p:cNvSpPr/>
          <p:nvPr/>
        </p:nvSpPr>
        <p:spPr>
          <a:xfrm>
            <a:off x="1123950" y="3395663"/>
            <a:ext cx="1162050" cy="261937"/>
          </a:xfrm>
          <a:custGeom>
            <a:avLst/>
            <a:gdLst>
              <a:gd name="connsiteX0" fmla="*/ 0 w 791570"/>
              <a:gd name="connsiteY0" fmla="*/ 0 h 259307"/>
              <a:gd name="connsiteX1" fmla="*/ 627797 w 791570"/>
              <a:gd name="connsiteY1" fmla="*/ 136477 h 259307"/>
              <a:gd name="connsiteX2" fmla="*/ 791570 w 791570"/>
              <a:gd name="connsiteY2" fmla="*/ 259307 h 259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1570" h="259307">
                <a:moveTo>
                  <a:pt x="0" y="0"/>
                </a:moveTo>
                <a:cubicBezTo>
                  <a:pt x="247934" y="46629"/>
                  <a:pt x="495869" y="93259"/>
                  <a:pt x="627797" y="136477"/>
                </a:cubicBezTo>
                <a:cubicBezTo>
                  <a:pt x="759725" y="179695"/>
                  <a:pt x="775647" y="219501"/>
                  <a:pt x="791570" y="25930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DF156913-6800-40D5-BACC-43E522A1B200}"/>
              </a:ext>
            </a:extLst>
          </p:cNvPr>
          <p:cNvSpPr/>
          <p:nvPr/>
        </p:nvSpPr>
        <p:spPr>
          <a:xfrm>
            <a:off x="1000125" y="3462338"/>
            <a:ext cx="560388" cy="574675"/>
          </a:xfrm>
          <a:custGeom>
            <a:avLst/>
            <a:gdLst>
              <a:gd name="connsiteX0" fmla="*/ 0 w 559558"/>
              <a:gd name="connsiteY0" fmla="*/ 0 h 573206"/>
              <a:gd name="connsiteX1" fmla="*/ 191068 w 559558"/>
              <a:gd name="connsiteY1" fmla="*/ 395785 h 573206"/>
              <a:gd name="connsiteX2" fmla="*/ 559558 w 559558"/>
              <a:gd name="connsiteY2" fmla="*/ 573206 h 57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9558" h="573206">
                <a:moveTo>
                  <a:pt x="0" y="0"/>
                </a:moveTo>
                <a:cubicBezTo>
                  <a:pt x="48904" y="150125"/>
                  <a:pt x="97808" y="300251"/>
                  <a:pt x="191068" y="395785"/>
                </a:cubicBezTo>
                <a:cubicBezTo>
                  <a:pt x="284328" y="491319"/>
                  <a:pt x="421943" y="532262"/>
                  <a:pt x="559558" y="573206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24B392C-07CC-43D9-A415-78F09B140923}"/>
              </a:ext>
            </a:extLst>
          </p:cNvPr>
          <p:cNvSpPr/>
          <p:nvPr/>
        </p:nvSpPr>
        <p:spPr>
          <a:xfrm>
            <a:off x="595313" y="4392613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FD6F4137-C316-4BE4-B448-2D1A0E537F11}"/>
              </a:ext>
            </a:extLst>
          </p:cNvPr>
          <p:cNvSpPr/>
          <p:nvPr/>
        </p:nvSpPr>
        <p:spPr>
          <a:xfrm>
            <a:off x="601663" y="3429000"/>
            <a:ext cx="236537" cy="976313"/>
          </a:xfrm>
          <a:custGeom>
            <a:avLst/>
            <a:gdLst>
              <a:gd name="connsiteX0" fmla="*/ 216089 w 284328"/>
              <a:gd name="connsiteY0" fmla="*/ 0 h 928048"/>
              <a:gd name="connsiteX1" fmla="*/ 11373 w 284328"/>
              <a:gd name="connsiteY1" fmla="*/ 450376 h 928048"/>
              <a:gd name="connsiteX2" fmla="*/ 284328 w 284328"/>
              <a:gd name="connsiteY2" fmla="*/ 928048 h 928048"/>
              <a:gd name="connsiteX3" fmla="*/ 284328 w 284328"/>
              <a:gd name="connsiteY3" fmla="*/ 928048 h 92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328" h="928048">
                <a:moveTo>
                  <a:pt x="216089" y="0"/>
                </a:moveTo>
                <a:cubicBezTo>
                  <a:pt x="108044" y="147850"/>
                  <a:pt x="0" y="295701"/>
                  <a:pt x="11373" y="450376"/>
                </a:cubicBezTo>
                <a:cubicBezTo>
                  <a:pt x="22746" y="605051"/>
                  <a:pt x="284328" y="928048"/>
                  <a:pt x="284328" y="928048"/>
                </a:cubicBezTo>
                <a:lnTo>
                  <a:pt x="284328" y="928048"/>
                </a:ln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3DFA474-9C18-49F4-8766-9AF4C77A9119}"/>
              </a:ext>
            </a:extLst>
          </p:cNvPr>
          <p:cNvSpPr/>
          <p:nvPr/>
        </p:nvSpPr>
        <p:spPr>
          <a:xfrm>
            <a:off x="3429000" y="22860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AF64C4B-0415-4737-914D-7EE66282E260}"/>
              </a:ext>
            </a:extLst>
          </p:cNvPr>
          <p:cNvCxnSpPr>
            <a:stCxn id="89" idx="2"/>
            <a:endCxn id="79" idx="7"/>
          </p:cNvCxnSpPr>
          <p:nvPr/>
        </p:nvCxnSpPr>
        <p:spPr>
          <a:xfrm rot="10800000" flipV="1">
            <a:off x="2611438" y="2476500"/>
            <a:ext cx="817562" cy="3984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81A5C297-25C9-4998-9563-C18F1C296452}"/>
              </a:ext>
            </a:extLst>
          </p:cNvPr>
          <p:cNvSpPr/>
          <p:nvPr/>
        </p:nvSpPr>
        <p:spPr>
          <a:xfrm>
            <a:off x="6400800" y="26670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248A0DF-E375-4049-84CA-51814D31814D}"/>
              </a:ext>
            </a:extLst>
          </p:cNvPr>
          <p:cNvCxnSpPr>
            <a:stCxn id="79" idx="6"/>
            <a:endCxn id="91" idx="3"/>
          </p:cNvCxnSpPr>
          <p:nvPr/>
        </p:nvCxnSpPr>
        <p:spPr>
          <a:xfrm flipV="1">
            <a:off x="2667000" y="2992438"/>
            <a:ext cx="3789363" cy="17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E08CAC37-8058-4EE2-93C7-AA280D12A850}"/>
              </a:ext>
            </a:extLst>
          </p:cNvPr>
          <p:cNvSpPr/>
          <p:nvPr/>
        </p:nvSpPr>
        <p:spPr>
          <a:xfrm>
            <a:off x="1919288" y="4876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8B221EE0-33B4-4D0B-AAB0-79A28E24D4A0}"/>
              </a:ext>
            </a:extLst>
          </p:cNvPr>
          <p:cNvSpPr/>
          <p:nvPr/>
        </p:nvSpPr>
        <p:spPr>
          <a:xfrm>
            <a:off x="990600" y="4622800"/>
            <a:ext cx="979488" cy="471488"/>
          </a:xfrm>
          <a:custGeom>
            <a:avLst/>
            <a:gdLst>
              <a:gd name="connsiteX0" fmla="*/ 0 w 873456"/>
              <a:gd name="connsiteY0" fmla="*/ 0 h 470848"/>
              <a:gd name="connsiteX1" fmla="*/ 300251 w 873456"/>
              <a:gd name="connsiteY1" fmla="*/ 409433 h 470848"/>
              <a:gd name="connsiteX2" fmla="*/ 791570 w 873456"/>
              <a:gd name="connsiteY2" fmla="*/ 368490 h 470848"/>
              <a:gd name="connsiteX3" fmla="*/ 791570 w 873456"/>
              <a:gd name="connsiteY3" fmla="*/ 382137 h 470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3456" h="470848">
                <a:moveTo>
                  <a:pt x="0" y="0"/>
                </a:moveTo>
                <a:cubicBezTo>
                  <a:pt x="84161" y="174009"/>
                  <a:pt x="168323" y="348018"/>
                  <a:pt x="300251" y="409433"/>
                </a:cubicBezTo>
                <a:cubicBezTo>
                  <a:pt x="432179" y="470848"/>
                  <a:pt x="709684" y="373039"/>
                  <a:pt x="791570" y="368490"/>
                </a:cubicBezTo>
                <a:cubicBezTo>
                  <a:pt x="873456" y="363941"/>
                  <a:pt x="832513" y="373039"/>
                  <a:pt x="791570" y="3821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591" name="TextBox 95">
            <a:extLst>
              <a:ext uri="{FF2B5EF4-FFF2-40B4-BE49-F238E27FC236}">
                <a16:creationId xmlns:a16="http://schemas.microsoft.com/office/drawing/2014/main" id="{775DFFD8-CFA7-4A2E-914D-498DE3BDC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23971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2592" name="TextBox 96">
            <a:extLst>
              <a:ext uri="{FF2B5EF4-FFF2-40B4-BE49-F238E27FC236}">
                <a16:creationId xmlns:a16="http://schemas.microsoft.com/office/drawing/2014/main" id="{0309EBDE-3597-43D4-8ADB-DE5AF5550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3825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2593" name="TextBox 98">
            <a:extLst>
              <a:ext uri="{FF2B5EF4-FFF2-40B4-BE49-F238E27FC236}">
                <a16:creationId xmlns:a16="http://schemas.microsoft.com/office/drawing/2014/main" id="{92748881-9267-4E0E-B0C4-EA8DA0586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213" y="2667000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25</a:t>
            </a:r>
          </a:p>
        </p:txBody>
      </p:sp>
      <p:sp>
        <p:nvSpPr>
          <p:cNvPr id="22594" name="TextBox 99">
            <a:extLst>
              <a:ext uri="{FF2B5EF4-FFF2-40B4-BE49-F238E27FC236}">
                <a16:creationId xmlns:a16="http://schemas.microsoft.com/office/drawing/2014/main" id="{4AEDE368-59E9-4822-8338-6D61D19D4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413" y="3279775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30</a:t>
            </a:r>
          </a:p>
        </p:txBody>
      </p:sp>
      <p:sp>
        <p:nvSpPr>
          <p:cNvPr id="22595" name="TextBox 100">
            <a:extLst>
              <a:ext uri="{FF2B5EF4-FFF2-40B4-BE49-F238E27FC236}">
                <a16:creationId xmlns:a16="http://schemas.microsoft.com/office/drawing/2014/main" id="{D40BDEDC-C92E-4DBF-9257-22DEF8B73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565525"/>
            <a:ext cx="47783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35</a:t>
            </a:r>
          </a:p>
        </p:txBody>
      </p:sp>
      <p:sp>
        <p:nvSpPr>
          <p:cNvPr id="22596" name="TextBox 101">
            <a:extLst>
              <a:ext uri="{FF2B5EF4-FFF2-40B4-BE49-F238E27FC236}">
                <a16:creationId xmlns:a16="http://schemas.microsoft.com/office/drawing/2014/main" id="{1957CE65-F9A6-43DA-B534-CE74836FD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42259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15</a:t>
            </a:r>
          </a:p>
        </p:txBody>
      </p:sp>
      <p:sp>
        <p:nvSpPr>
          <p:cNvPr id="22597" name="TextBox 102">
            <a:extLst>
              <a:ext uri="{FF2B5EF4-FFF2-40B4-BE49-F238E27FC236}">
                <a16:creationId xmlns:a16="http://schemas.microsoft.com/office/drawing/2014/main" id="{7F2A8807-F66D-48A7-A95F-50C6FD1D2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800600"/>
            <a:ext cx="4572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20</a:t>
            </a:r>
          </a:p>
        </p:txBody>
      </p:sp>
      <p:sp>
        <p:nvSpPr>
          <p:cNvPr id="22598" name="TextBox 103">
            <a:extLst>
              <a:ext uri="{FF2B5EF4-FFF2-40B4-BE49-F238E27FC236}">
                <a16:creationId xmlns:a16="http://schemas.microsoft.com/office/drawing/2014/main" id="{4D9092E6-1291-4B68-93E7-5644D3C4F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9413" y="2784475"/>
            <a:ext cx="458787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50</a:t>
            </a:r>
          </a:p>
        </p:txBody>
      </p:sp>
      <p:sp>
        <p:nvSpPr>
          <p:cNvPr id="22599" name="TextBox 104">
            <a:extLst>
              <a:ext uri="{FF2B5EF4-FFF2-40B4-BE49-F238E27FC236}">
                <a16:creationId xmlns:a16="http://schemas.microsoft.com/office/drawing/2014/main" id="{DF6C40B4-1786-4DDB-BAD9-11CC45E7F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3538" y="2449513"/>
            <a:ext cx="296862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5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B639E5-6705-4372-AA0F-FE0A229316FA}"/>
              </a:ext>
            </a:extLst>
          </p:cNvPr>
          <p:cNvCxnSpPr/>
          <p:nvPr/>
        </p:nvCxnSpPr>
        <p:spPr>
          <a:xfrm>
            <a:off x="1947863" y="2413000"/>
            <a:ext cx="571500" cy="419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01" name="TextBox 31">
            <a:extLst>
              <a:ext uri="{FF2B5EF4-FFF2-40B4-BE49-F238E27FC236}">
                <a16:creationId xmlns:a16="http://schemas.microsoft.com/office/drawing/2014/main" id="{D5427E69-C8BC-460F-A0C7-809E76740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475" y="2393950"/>
            <a:ext cx="3825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CBB91D47-BE16-4695-8F4B-3A14ADF17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Langkah 4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B6F137B3-6EAF-4E16-B652-9C40AABD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DD8F27D-784F-40EF-87A6-43EF42B75034}" type="slidenum">
              <a:rPr lang="en-US" altLang="en-US">
                <a:solidFill>
                  <a:srgbClr val="626551"/>
                </a:solidFill>
                <a:latin typeface="Constantia" panose="02030602050306030303" pitchFamily="18" charset="0"/>
              </a:rPr>
              <a:pPr eaLnBrk="1" hangingPunct="1"/>
              <a:t>45</a:t>
            </a:fld>
            <a:endParaRPr lang="en-US" altLang="en-US">
              <a:solidFill>
                <a:srgbClr val="626551"/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CDF34D6-3718-46BD-B686-C5307FBAF977}"/>
              </a:ext>
            </a:extLst>
          </p:cNvPr>
          <p:cNvGraphicFramePr>
            <a:graphicFrameLocks noGrp="1"/>
          </p:cNvGraphicFramePr>
          <p:nvPr/>
        </p:nvGraphicFramePr>
        <p:xfrm>
          <a:off x="3733800" y="4003675"/>
          <a:ext cx="3886199" cy="14827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7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14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/>
                        <a:t>n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h’(n)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g(n)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f(n)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110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130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95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6" name="Freeform 75">
            <a:extLst>
              <a:ext uri="{FF2B5EF4-FFF2-40B4-BE49-F238E27FC236}">
                <a16:creationId xmlns:a16="http://schemas.microsoft.com/office/drawing/2014/main" id="{D509A411-ED84-4290-A8D8-576E2B07503A}"/>
              </a:ext>
            </a:extLst>
          </p:cNvPr>
          <p:cNvSpPr/>
          <p:nvPr/>
        </p:nvSpPr>
        <p:spPr>
          <a:xfrm>
            <a:off x="946150" y="4241800"/>
            <a:ext cx="573088" cy="271463"/>
          </a:xfrm>
          <a:custGeom>
            <a:avLst/>
            <a:gdLst>
              <a:gd name="connsiteX0" fmla="*/ 573206 w 573206"/>
              <a:gd name="connsiteY0" fmla="*/ 0 h 272955"/>
              <a:gd name="connsiteX1" fmla="*/ 395785 w 573206"/>
              <a:gd name="connsiteY1" fmla="*/ 191068 h 272955"/>
              <a:gd name="connsiteX2" fmla="*/ 0 w 573206"/>
              <a:gd name="connsiteY2" fmla="*/ 272955 h 272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272955">
                <a:moveTo>
                  <a:pt x="573206" y="0"/>
                </a:moveTo>
                <a:cubicBezTo>
                  <a:pt x="532262" y="72788"/>
                  <a:pt x="491319" y="145576"/>
                  <a:pt x="395785" y="191068"/>
                </a:cubicBezTo>
                <a:cubicBezTo>
                  <a:pt x="300251" y="236560"/>
                  <a:pt x="150125" y="254757"/>
                  <a:pt x="0" y="272955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BAFA6CF-2516-4A62-A4EB-D99F20295908}"/>
              </a:ext>
            </a:extLst>
          </p:cNvPr>
          <p:cNvSpPr/>
          <p:nvPr/>
        </p:nvSpPr>
        <p:spPr>
          <a:xfrm>
            <a:off x="712788" y="3021013"/>
            <a:ext cx="457200" cy="45720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22CDACC-AA01-4ACA-B765-AC13EEFA2640}"/>
              </a:ext>
            </a:extLst>
          </p:cNvPr>
          <p:cNvSpPr/>
          <p:nvPr/>
        </p:nvSpPr>
        <p:spPr>
          <a:xfrm>
            <a:off x="1524000" y="22098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7D6E259-7304-4741-93F8-69DB1A5A512B}"/>
              </a:ext>
            </a:extLst>
          </p:cNvPr>
          <p:cNvSpPr/>
          <p:nvPr/>
        </p:nvSpPr>
        <p:spPr>
          <a:xfrm>
            <a:off x="2286000" y="28194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D05C504-9FEB-4D80-8A5B-2207579AFB78}"/>
              </a:ext>
            </a:extLst>
          </p:cNvPr>
          <p:cNvSpPr/>
          <p:nvPr/>
        </p:nvSpPr>
        <p:spPr>
          <a:xfrm>
            <a:off x="2286000" y="35052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9C473E8-8FA6-4666-92B3-F8857A97AAA6}"/>
              </a:ext>
            </a:extLst>
          </p:cNvPr>
          <p:cNvSpPr/>
          <p:nvPr/>
        </p:nvSpPr>
        <p:spPr>
          <a:xfrm>
            <a:off x="1524000" y="39624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4CE5F422-67F7-488C-B16E-38CFE8F0F4AB}"/>
              </a:ext>
            </a:extLst>
          </p:cNvPr>
          <p:cNvSpPr/>
          <p:nvPr/>
        </p:nvSpPr>
        <p:spPr>
          <a:xfrm>
            <a:off x="919163" y="2289175"/>
            <a:ext cx="641350" cy="765175"/>
          </a:xfrm>
          <a:custGeom>
            <a:avLst/>
            <a:gdLst>
              <a:gd name="connsiteX0" fmla="*/ 0 w 641445"/>
              <a:gd name="connsiteY0" fmla="*/ 764275 h 764275"/>
              <a:gd name="connsiteX1" fmla="*/ 163773 w 641445"/>
              <a:gd name="connsiteY1" fmla="*/ 163773 h 764275"/>
              <a:gd name="connsiteX2" fmla="*/ 641445 w 641445"/>
              <a:gd name="connsiteY2" fmla="*/ 0 h 76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445" h="764275">
                <a:moveTo>
                  <a:pt x="0" y="764275"/>
                </a:moveTo>
                <a:cubicBezTo>
                  <a:pt x="28433" y="527713"/>
                  <a:pt x="56866" y="291152"/>
                  <a:pt x="163773" y="163773"/>
                </a:cubicBezTo>
                <a:cubicBezTo>
                  <a:pt x="270680" y="36394"/>
                  <a:pt x="456062" y="18197"/>
                  <a:pt x="641445" y="0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CB62F4E5-E17A-4D7C-8BC3-A1E4EB5A5A02}"/>
              </a:ext>
            </a:extLst>
          </p:cNvPr>
          <p:cNvSpPr/>
          <p:nvPr/>
        </p:nvSpPr>
        <p:spPr>
          <a:xfrm>
            <a:off x="1123950" y="2840038"/>
            <a:ext cx="1162050" cy="284162"/>
          </a:xfrm>
          <a:custGeom>
            <a:avLst/>
            <a:gdLst>
              <a:gd name="connsiteX0" fmla="*/ 0 w 750627"/>
              <a:gd name="connsiteY0" fmla="*/ 322997 h 322997"/>
              <a:gd name="connsiteX1" fmla="*/ 259307 w 750627"/>
              <a:gd name="connsiteY1" fmla="*/ 36394 h 322997"/>
              <a:gd name="connsiteX2" fmla="*/ 750627 w 750627"/>
              <a:gd name="connsiteY2" fmla="*/ 104632 h 322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0627" h="322997">
                <a:moveTo>
                  <a:pt x="0" y="322997"/>
                </a:moveTo>
                <a:cubicBezTo>
                  <a:pt x="67101" y="197892"/>
                  <a:pt x="134203" y="72788"/>
                  <a:pt x="259307" y="36394"/>
                </a:cubicBezTo>
                <a:cubicBezTo>
                  <a:pt x="384412" y="0"/>
                  <a:pt x="567519" y="52316"/>
                  <a:pt x="750627" y="104632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705CFF4D-81FA-46DC-B593-D859D03A83F7}"/>
              </a:ext>
            </a:extLst>
          </p:cNvPr>
          <p:cNvSpPr/>
          <p:nvPr/>
        </p:nvSpPr>
        <p:spPr>
          <a:xfrm>
            <a:off x="1123950" y="3395663"/>
            <a:ext cx="1162050" cy="261937"/>
          </a:xfrm>
          <a:custGeom>
            <a:avLst/>
            <a:gdLst>
              <a:gd name="connsiteX0" fmla="*/ 0 w 791570"/>
              <a:gd name="connsiteY0" fmla="*/ 0 h 259307"/>
              <a:gd name="connsiteX1" fmla="*/ 627797 w 791570"/>
              <a:gd name="connsiteY1" fmla="*/ 136477 h 259307"/>
              <a:gd name="connsiteX2" fmla="*/ 791570 w 791570"/>
              <a:gd name="connsiteY2" fmla="*/ 259307 h 259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1570" h="259307">
                <a:moveTo>
                  <a:pt x="0" y="0"/>
                </a:moveTo>
                <a:cubicBezTo>
                  <a:pt x="247934" y="46629"/>
                  <a:pt x="495869" y="93259"/>
                  <a:pt x="627797" y="136477"/>
                </a:cubicBezTo>
                <a:cubicBezTo>
                  <a:pt x="759725" y="179695"/>
                  <a:pt x="775647" y="219501"/>
                  <a:pt x="791570" y="25930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943A5CCC-3BAE-43F7-BAAA-AF2DD571E269}"/>
              </a:ext>
            </a:extLst>
          </p:cNvPr>
          <p:cNvSpPr/>
          <p:nvPr/>
        </p:nvSpPr>
        <p:spPr>
          <a:xfrm>
            <a:off x="1000125" y="3462338"/>
            <a:ext cx="560388" cy="574675"/>
          </a:xfrm>
          <a:custGeom>
            <a:avLst/>
            <a:gdLst>
              <a:gd name="connsiteX0" fmla="*/ 0 w 559558"/>
              <a:gd name="connsiteY0" fmla="*/ 0 h 573206"/>
              <a:gd name="connsiteX1" fmla="*/ 191068 w 559558"/>
              <a:gd name="connsiteY1" fmla="*/ 395785 h 573206"/>
              <a:gd name="connsiteX2" fmla="*/ 559558 w 559558"/>
              <a:gd name="connsiteY2" fmla="*/ 573206 h 57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9558" h="573206">
                <a:moveTo>
                  <a:pt x="0" y="0"/>
                </a:moveTo>
                <a:cubicBezTo>
                  <a:pt x="48904" y="150125"/>
                  <a:pt x="97808" y="300251"/>
                  <a:pt x="191068" y="395785"/>
                </a:cubicBezTo>
                <a:cubicBezTo>
                  <a:pt x="284328" y="491319"/>
                  <a:pt x="421943" y="532262"/>
                  <a:pt x="559558" y="573206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1CD90AA-1481-4060-8D64-C516D2C68621}"/>
              </a:ext>
            </a:extLst>
          </p:cNvPr>
          <p:cNvSpPr/>
          <p:nvPr/>
        </p:nvSpPr>
        <p:spPr>
          <a:xfrm>
            <a:off x="595313" y="4392613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9AFDD30F-5387-49FC-95FF-F5F9C82BD508}"/>
              </a:ext>
            </a:extLst>
          </p:cNvPr>
          <p:cNvSpPr/>
          <p:nvPr/>
        </p:nvSpPr>
        <p:spPr>
          <a:xfrm>
            <a:off x="601663" y="3429000"/>
            <a:ext cx="236537" cy="976313"/>
          </a:xfrm>
          <a:custGeom>
            <a:avLst/>
            <a:gdLst>
              <a:gd name="connsiteX0" fmla="*/ 216089 w 284328"/>
              <a:gd name="connsiteY0" fmla="*/ 0 h 928048"/>
              <a:gd name="connsiteX1" fmla="*/ 11373 w 284328"/>
              <a:gd name="connsiteY1" fmla="*/ 450376 h 928048"/>
              <a:gd name="connsiteX2" fmla="*/ 284328 w 284328"/>
              <a:gd name="connsiteY2" fmla="*/ 928048 h 928048"/>
              <a:gd name="connsiteX3" fmla="*/ 284328 w 284328"/>
              <a:gd name="connsiteY3" fmla="*/ 928048 h 92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328" h="928048">
                <a:moveTo>
                  <a:pt x="216089" y="0"/>
                </a:moveTo>
                <a:cubicBezTo>
                  <a:pt x="108044" y="147850"/>
                  <a:pt x="0" y="295701"/>
                  <a:pt x="11373" y="450376"/>
                </a:cubicBezTo>
                <a:cubicBezTo>
                  <a:pt x="22746" y="605051"/>
                  <a:pt x="284328" y="928048"/>
                  <a:pt x="284328" y="928048"/>
                </a:cubicBezTo>
                <a:lnTo>
                  <a:pt x="284328" y="928048"/>
                </a:ln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BADD93F-92E8-4FBE-A278-5435A5B769C2}"/>
              </a:ext>
            </a:extLst>
          </p:cNvPr>
          <p:cNvSpPr/>
          <p:nvPr/>
        </p:nvSpPr>
        <p:spPr>
          <a:xfrm>
            <a:off x="3429000" y="22860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A579350-9D82-477B-B71C-C9DD429B551E}"/>
              </a:ext>
            </a:extLst>
          </p:cNvPr>
          <p:cNvCxnSpPr>
            <a:stCxn id="89" idx="2"/>
            <a:endCxn id="79" idx="7"/>
          </p:cNvCxnSpPr>
          <p:nvPr/>
        </p:nvCxnSpPr>
        <p:spPr>
          <a:xfrm rot="10800000" flipV="1">
            <a:off x="2611438" y="2476500"/>
            <a:ext cx="817562" cy="3984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839A283C-34C2-4CDF-9BDA-5C8391C872F3}"/>
              </a:ext>
            </a:extLst>
          </p:cNvPr>
          <p:cNvSpPr/>
          <p:nvPr/>
        </p:nvSpPr>
        <p:spPr>
          <a:xfrm>
            <a:off x="6400800" y="26670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2F8F156-3447-4EB7-802A-7B3D8AF5B42C}"/>
              </a:ext>
            </a:extLst>
          </p:cNvPr>
          <p:cNvCxnSpPr>
            <a:stCxn id="79" idx="6"/>
            <a:endCxn id="91" idx="3"/>
          </p:cNvCxnSpPr>
          <p:nvPr/>
        </p:nvCxnSpPr>
        <p:spPr>
          <a:xfrm flipV="1">
            <a:off x="2667000" y="2992438"/>
            <a:ext cx="3789363" cy="17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2849D9C2-4D41-4485-8D86-73DFF608F554}"/>
              </a:ext>
            </a:extLst>
          </p:cNvPr>
          <p:cNvSpPr/>
          <p:nvPr/>
        </p:nvSpPr>
        <p:spPr>
          <a:xfrm>
            <a:off x="1919288" y="4876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AA952B9A-5E75-4853-B098-A5C401260292}"/>
              </a:ext>
            </a:extLst>
          </p:cNvPr>
          <p:cNvSpPr/>
          <p:nvPr/>
        </p:nvSpPr>
        <p:spPr>
          <a:xfrm>
            <a:off x="990600" y="4622800"/>
            <a:ext cx="979488" cy="471488"/>
          </a:xfrm>
          <a:custGeom>
            <a:avLst/>
            <a:gdLst>
              <a:gd name="connsiteX0" fmla="*/ 0 w 873456"/>
              <a:gd name="connsiteY0" fmla="*/ 0 h 470848"/>
              <a:gd name="connsiteX1" fmla="*/ 300251 w 873456"/>
              <a:gd name="connsiteY1" fmla="*/ 409433 h 470848"/>
              <a:gd name="connsiteX2" fmla="*/ 791570 w 873456"/>
              <a:gd name="connsiteY2" fmla="*/ 368490 h 470848"/>
              <a:gd name="connsiteX3" fmla="*/ 791570 w 873456"/>
              <a:gd name="connsiteY3" fmla="*/ 382137 h 470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3456" h="470848">
                <a:moveTo>
                  <a:pt x="0" y="0"/>
                </a:moveTo>
                <a:cubicBezTo>
                  <a:pt x="84161" y="174009"/>
                  <a:pt x="168323" y="348018"/>
                  <a:pt x="300251" y="409433"/>
                </a:cubicBezTo>
                <a:cubicBezTo>
                  <a:pt x="432179" y="470848"/>
                  <a:pt x="709684" y="373039"/>
                  <a:pt x="791570" y="368490"/>
                </a:cubicBezTo>
                <a:cubicBezTo>
                  <a:pt x="873456" y="363941"/>
                  <a:pt x="832513" y="373039"/>
                  <a:pt x="791570" y="3821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615" name="TextBox 95">
            <a:extLst>
              <a:ext uri="{FF2B5EF4-FFF2-40B4-BE49-F238E27FC236}">
                <a16:creationId xmlns:a16="http://schemas.microsoft.com/office/drawing/2014/main" id="{081B9C5B-55BC-46DE-80F9-16220308D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23971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3616" name="TextBox 96">
            <a:extLst>
              <a:ext uri="{FF2B5EF4-FFF2-40B4-BE49-F238E27FC236}">
                <a16:creationId xmlns:a16="http://schemas.microsoft.com/office/drawing/2014/main" id="{B859139B-FEA7-473F-8BA2-A0BA2AEAD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3825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3617" name="TextBox 98">
            <a:extLst>
              <a:ext uri="{FF2B5EF4-FFF2-40B4-BE49-F238E27FC236}">
                <a16:creationId xmlns:a16="http://schemas.microsoft.com/office/drawing/2014/main" id="{B7D0212C-89E1-4FAD-A6E5-3C2D0E1BC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213" y="2667000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25</a:t>
            </a:r>
          </a:p>
        </p:txBody>
      </p:sp>
      <p:sp>
        <p:nvSpPr>
          <p:cNvPr id="23618" name="TextBox 99">
            <a:extLst>
              <a:ext uri="{FF2B5EF4-FFF2-40B4-BE49-F238E27FC236}">
                <a16:creationId xmlns:a16="http://schemas.microsoft.com/office/drawing/2014/main" id="{A02F71D5-6594-492C-A942-4CE6C532E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413" y="3279775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30</a:t>
            </a:r>
          </a:p>
        </p:txBody>
      </p:sp>
      <p:sp>
        <p:nvSpPr>
          <p:cNvPr id="23619" name="TextBox 100">
            <a:extLst>
              <a:ext uri="{FF2B5EF4-FFF2-40B4-BE49-F238E27FC236}">
                <a16:creationId xmlns:a16="http://schemas.microsoft.com/office/drawing/2014/main" id="{7A044A96-E28C-448D-A1CB-565F7722D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565525"/>
            <a:ext cx="47783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35</a:t>
            </a:r>
          </a:p>
        </p:txBody>
      </p:sp>
      <p:sp>
        <p:nvSpPr>
          <p:cNvPr id="23620" name="TextBox 101">
            <a:extLst>
              <a:ext uri="{FF2B5EF4-FFF2-40B4-BE49-F238E27FC236}">
                <a16:creationId xmlns:a16="http://schemas.microsoft.com/office/drawing/2014/main" id="{1E84D64F-FF83-4717-ACF6-7B643FCF2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42259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15</a:t>
            </a:r>
          </a:p>
        </p:txBody>
      </p:sp>
      <p:sp>
        <p:nvSpPr>
          <p:cNvPr id="23621" name="TextBox 102">
            <a:extLst>
              <a:ext uri="{FF2B5EF4-FFF2-40B4-BE49-F238E27FC236}">
                <a16:creationId xmlns:a16="http://schemas.microsoft.com/office/drawing/2014/main" id="{A1C6CB06-A188-413F-93C2-D80126A36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800600"/>
            <a:ext cx="4572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20</a:t>
            </a:r>
          </a:p>
        </p:txBody>
      </p:sp>
      <p:sp>
        <p:nvSpPr>
          <p:cNvPr id="23622" name="TextBox 103">
            <a:extLst>
              <a:ext uri="{FF2B5EF4-FFF2-40B4-BE49-F238E27FC236}">
                <a16:creationId xmlns:a16="http://schemas.microsoft.com/office/drawing/2014/main" id="{DFF5B701-EBCB-4343-8EE0-82ADE93FF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9413" y="2784475"/>
            <a:ext cx="458787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50</a:t>
            </a:r>
          </a:p>
        </p:txBody>
      </p:sp>
      <p:sp>
        <p:nvSpPr>
          <p:cNvPr id="23623" name="TextBox 104">
            <a:extLst>
              <a:ext uri="{FF2B5EF4-FFF2-40B4-BE49-F238E27FC236}">
                <a16:creationId xmlns:a16="http://schemas.microsoft.com/office/drawing/2014/main" id="{87BF732D-61C5-48B4-B05A-7727425A5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3538" y="2449513"/>
            <a:ext cx="296862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5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60F63F7-9A59-4091-88E9-3C713E94E04B}"/>
              </a:ext>
            </a:extLst>
          </p:cNvPr>
          <p:cNvCxnSpPr/>
          <p:nvPr/>
        </p:nvCxnSpPr>
        <p:spPr>
          <a:xfrm>
            <a:off x="1947863" y="2413000"/>
            <a:ext cx="571500" cy="419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31">
            <a:extLst>
              <a:ext uri="{FF2B5EF4-FFF2-40B4-BE49-F238E27FC236}">
                <a16:creationId xmlns:a16="http://schemas.microsoft.com/office/drawing/2014/main" id="{6E813DCC-A844-41A4-A6F8-17110F6A5F22}"/>
              </a:ext>
            </a:extLst>
          </p:cNvPr>
          <p:cNvSpPr/>
          <p:nvPr/>
        </p:nvSpPr>
        <p:spPr>
          <a:xfrm>
            <a:off x="1916113" y="1619250"/>
            <a:ext cx="6237287" cy="1733550"/>
          </a:xfrm>
          <a:custGeom>
            <a:avLst/>
            <a:gdLst>
              <a:gd name="connsiteX0" fmla="*/ 0 w 6237026"/>
              <a:gd name="connsiteY0" fmla="*/ 668740 h 1733266"/>
              <a:gd name="connsiteX1" fmla="*/ 3398292 w 6237026"/>
              <a:gd name="connsiteY1" fmla="*/ 177421 h 1733266"/>
              <a:gd name="connsiteX2" fmla="*/ 6237026 w 6237026"/>
              <a:gd name="connsiteY2" fmla="*/ 1733266 h 1733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37026" h="1733266">
                <a:moveTo>
                  <a:pt x="0" y="668740"/>
                </a:moveTo>
                <a:cubicBezTo>
                  <a:pt x="1179394" y="334370"/>
                  <a:pt x="2358788" y="0"/>
                  <a:pt x="3398292" y="177421"/>
                </a:cubicBezTo>
                <a:cubicBezTo>
                  <a:pt x="4437796" y="354842"/>
                  <a:pt x="5337411" y="1044054"/>
                  <a:pt x="6237026" y="1733266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626" name="TextBox 32">
            <a:extLst>
              <a:ext uri="{FF2B5EF4-FFF2-40B4-BE49-F238E27FC236}">
                <a16:creationId xmlns:a16="http://schemas.microsoft.com/office/drawing/2014/main" id="{49D0C0DF-5D3C-46B6-A770-B2DE5A572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475" y="2393950"/>
            <a:ext cx="3825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3627" name="TextBox 33">
            <a:extLst>
              <a:ext uri="{FF2B5EF4-FFF2-40B4-BE49-F238E27FC236}">
                <a16:creationId xmlns:a16="http://schemas.microsoft.com/office/drawing/2014/main" id="{C182130E-3845-4BCB-91A0-C8A31974D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75" y="1536700"/>
            <a:ext cx="4587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90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2B121BA-F8CE-423F-9B7D-DAA93B1A0FDF}"/>
              </a:ext>
            </a:extLst>
          </p:cNvPr>
          <p:cNvSpPr/>
          <p:nvPr/>
        </p:nvSpPr>
        <p:spPr>
          <a:xfrm>
            <a:off x="8001000" y="3352800"/>
            <a:ext cx="457200" cy="4572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8CA81BFA-DAA5-4A33-88AC-5D8740AF0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Langkah 5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2718ADF5-FFF9-43BE-9F94-0E0D14F7C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A50393A-1C54-4972-95F8-B109EFD1A8C8}" type="slidenum">
              <a:rPr lang="en-US" altLang="en-US">
                <a:solidFill>
                  <a:srgbClr val="626551"/>
                </a:solidFill>
                <a:latin typeface="Constantia" panose="02030602050306030303" pitchFamily="18" charset="0"/>
              </a:rPr>
              <a:pPr eaLnBrk="1" hangingPunct="1"/>
              <a:t>46</a:t>
            </a:fld>
            <a:endParaRPr lang="en-US" altLang="en-US">
              <a:solidFill>
                <a:srgbClr val="626551"/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EE09433-D8B8-49BD-850C-B1905DDEB136}"/>
              </a:ext>
            </a:extLst>
          </p:cNvPr>
          <p:cNvGraphicFramePr>
            <a:graphicFrameLocks noGrp="1"/>
          </p:cNvGraphicFramePr>
          <p:nvPr/>
        </p:nvGraphicFramePr>
        <p:xfrm>
          <a:off x="3733800" y="4003675"/>
          <a:ext cx="3344862" cy="14827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7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4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4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4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14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/>
                        <a:t>n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91443" marR="91443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h’(n)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3" marR="91443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g(n)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3" marR="91443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f(n)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110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130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95</a:t>
                      </a:r>
                    </a:p>
                  </a:txBody>
                  <a:tcPr marL="91443" marR="91443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3" marR="91443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6" name="Freeform 75">
            <a:extLst>
              <a:ext uri="{FF2B5EF4-FFF2-40B4-BE49-F238E27FC236}">
                <a16:creationId xmlns:a16="http://schemas.microsoft.com/office/drawing/2014/main" id="{AA8F381A-A776-44B7-BABA-B840FDB455DC}"/>
              </a:ext>
            </a:extLst>
          </p:cNvPr>
          <p:cNvSpPr/>
          <p:nvPr/>
        </p:nvSpPr>
        <p:spPr>
          <a:xfrm>
            <a:off x="946150" y="4241800"/>
            <a:ext cx="573088" cy="271463"/>
          </a:xfrm>
          <a:custGeom>
            <a:avLst/>
            <a:gdLst>
              <a:gd name="connsiteX0" fmla="*/ 573206 w 573206"/>
              <a:gd name="connsiteY0" fmla="*/ 0 h 272955"/>
              <a:gd name="connsiteX1" fmla="*/ 395785 w 573206"/>
              <a:gd name="connsiteY1" fmla="*/ 191068 h 272955"/>
              <a:gd name="connsiteX2" fmla="*/ 0 w 573206"/>
              <a:gd name="connsiteY2" fmla="*/ 272955 h 272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272955">
                <a:moveTo>
                  <a:pt x="573206" y="0"/>
                </a:moveTo>
                <a:cubicBezTo>
                  <a:pt x="532262" y="72788"/>
                  <a:pt x="491319" y="145576"/>
                  <a:pt x="395785" y="191068"/>
                </a:cubicBezTo>
                <a:cubicBezTo>
                  <a:pt x="300251" y="236560"/>
                  <a:pt x="150125" y="254757"/>
                  <a:pt x="0" y="272955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6DB96E2-1134-4F83-B604-80D122B38AEF}"/>
              </a:ext>
            </a:extLst>
          </p:cNvPr>
          <p:cNvSpPr/>
          <p:nvPr/>
        </p:nvSpPr>
        <p:spPr>
          <a:xfrm>
            <a:off x="712788" y="3021013"/>
            <a:ext cx="457200" cy="45720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1713D8C-F9EA-45A0-BFCD-0DEAD750CBDA}"/>
              </a:ext>
            </a:extLst>
          </p:cNvPr>
          <p:cNvSpPr/>
          <p:nvPr/>
        </p:nvSpPr>
        <p:spPr>
          <a:xfrm>
            <a:off x="1524000" y="22098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5F8025E-6340-4041-A2D0-62BB72204A45}"/>
              </a:ext>
            </a:extLst>
          </p:cNvPr>
          <p:cNvSpPr/>
          <p:nvPr/>
        </p:nvSpPr>
        <p:spPr>
          <a:xfrm>
            <a:off x="2286000" y="28194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EBF421B-DB71-4348-8F00-058C0F2C8CBF}"/>
              </a:ext>
            </a:extLst>
          </p:cNvPr>
          <p:cNvSpPr/>
          <p:nvPr/>
        </p:nvSpPr>
        <p:spPr>
          <a:xfrm>
            <a:off x="2286000" y="35052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FA2BA68-75C4-42CE-9FEA-62C4DF2AB83F}"/>
              </a:ext>
            </a:extLst>
          </p:cNvPr>
          <p:cNvSpPr/>
          <p:nvPr/>
        </p:nvSpPr>
        <p:spPr>
          <a:xfrm>
            <a:off x="1524000" y="39624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D1AC7753-040F-4E6F-A6D8-CB10670CCEC5}"/>
              </a:ext>
            </a:extLst>
          </p:cNvPr>
          <p:cNvSpPr/>
          <p:nvPr/>
        </p:nvSpPr>
        <p:spPr>
          <a:xfrm>
            <a:off x="919163" y="2289175"/>
            <a:ext cx="641350" cy="765175"/>
          </a:xfrm>
          <a:custGeom>
            <a:avLst/>
            <a:gdLst>
              <a:gd name="connsiteX0" fmla="*/ 0 w 641445"/>
              <a:gd name="connsiteY0" fmla="*/ 764275 h 764275"/>
              <a:gd name="connsiteX1" fmla="*/ 163773 w 641445"/>
              <a:gd name="connsiteY1" fmla="*/ 163773 h 764275"/>
              <a:gd name="connsiteX2" fmla="*/ 641445 w 641445"/>
              <a:gd name="connsiteY2" fmla="*/ 0 h 76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445" h="764275">
                <a:moveTo>
                  <a:pt x="0" y="764275"/>
                </a:moveTo>
                <a:cubicBezTo>
                  <a:pt x="28433" y="527713"/>
                  <a:pt x="56866" y="291152"/>
                  <a:pt x="163773" y="163773"/>
                </a:cubicBezTo>
                <a:cubicBezTo>
                  <a:pt x="270680" y="36394"/>
                  <a:pt x="456062" y="18197"/>
                  <a:pt x="641445" y="0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7E02FE08-FA29-4676-9499-E955E75275E4}"/>
              </a:ext>
            </a:extLst>
          </p:cNvPr>
          <p:cNvSpPr/>
          <p:nvPr/>
        </p:nvSpPr>
        <p:spPr>
          <a:xfrm>
            <a:off x="1123950" y="2840038"/>
            <a:ext cx="1162050" cy="284162"/>
          </a:xfrm>
          <a:custGeom>
            <a:avLst/>
            <a:gdLst>
              <a:gd name="connsiteX0" fmla="*/ 0 w 750627"/>
              <a:gd name="connsiteY0" fmla="*/ 322997 h 322997"/>
              <a:gd name="connsiteX1" fmla="*/ 259307 w 750627"/>
              <a:gd name="connsiteY1" fmla="*/ 36394 h 322997"/>
              <a:gd name="connsiteX2" fmla="*/ 750627 w 750627"/>
              <a:gd name="connsiteY2" fmla="*/ 104632 h 322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0627" h="322997">
                <a:moveTo>
                  <a:pt x="0" y="322997"/>
                </a:moveTo>
                <a:cubicBezTo>
                  <a:pt x="67101" y="197892"/>
                  <a:pt x="134203" y="72788"/>
                  <a:pt x="259307" y="36394"/>
                </a:cubicBezTo>
                <a:cubicBezTo>
                  <a:pt x="384412" y="0"/>
                  <a:pt x="567519" y="52316"/>
                  <a:pt x="750627" y="104632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3516DBEC-D766-41A7-8091-D90AE39F4C47}"/>
              </a:ext>
            </a:extLst>
          </p:cNvPr>
          <p:cNvSpPr/>
          <p:nvPr/>
        </p:nvSpPr>
        <p:spPr>
          <a:xfrm>
            <a:off x="1123950" y="3395663"/>
            <a:ext cx="1162050" cy="261937"/>
          </a:xfrm>
          <a:custGeom>
            <a:avLst/>
            <a:gdLst>
              <a:gd name="connsiteX0" fmla="*/ 0 w 791570"/>
              <a:gd name="connsiteY0" fmla="*/ 0 h 259307"/>
              <a:gd name="connsiteX1" fmla="*/ 627797 w 791570"/>
              <a:gd name="connsiteY1" fmla="*/ 136477 h 259307"/>
              <a:gd name="connsiteX2" fmla="*/ 791570 w 791570"/>
              <a:gd name="connsiteY2" fmla="*/ 259307 h 259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1570" h="259307">
                <a:moveTo>
                  <a:pt x="0" y="0"/>
                </a:moveTo>
                <a:cubicBezTo>
                  <a:pt x="247934" y="46629"/>
                  <a:pt x="495869" y="93259"/>
                  <a:pt x="627797" y="136477"/>
                </a:cubicBezTo>
                <a:cubicBezTo>
                  <a:pt x="759725" y="179695"/>
                  <a:pt x="775647" y="219501"/>
                  <a:pt x="791570" y="25930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C36E8912-2137-4EEC-B14D-31C5FD3D36C2}"/>
              </a:ext>
            </a:extLst>
          </p:cNvPr>
          <p:cNvSpPr/>
          <p:nvPr/>
        </p:nvSpPr>
        <p:spPr>
          <a:xfrm>
            <a:off x="1000125" y="3462338"/>
            <a:ext cx="560388" cy="574675"/>
          </a:xfrm>
          <a:custGeom>
            <a:avLst/>
            <a:gdLst>
              <a:gd name="connsiteX0" fmla="*/ 0 w 559558"/>
              <a:gd name="connsiteY0" fmla="*/ 0 h 573206"/>
              <a:gd name="connsiteX1" fmla="*/ 191068 w 559558"/>
              <a:gd name="connsiteY1" fmla="*/ 395785 h 573206"/>
              <a:gd name="connsiteX2" fmla="*/ 559558 w 559558"/>
              <a:gd name="connsiteY2" fmla="*/ 573206 h 57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9558" h="573206">
                <a:moveTo>
                  <a:pt x="0" y="0"/>
                </a:moveTo>
                <a:cubicBezTo>
                  <a:pt x="48904" y="150125"/>
                  <a:pt x="97808" y="300251"/>
                  <a:pt x="191068" y="395785"/>
                </a:cubicBezTo>
                <a:cubicBezTo>
                  <a:pt x="284328" y="491319"/>
                  <a:pt x="421943" y="532262"/>
                  <a:pt x="559558" y="573206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4AEF6F8-8BDA-4AA1-B01C-2BF9ADB6892A}"/>
              </a:ext>
            </a:extLst>
          </p:cNvPr>
          <p:cNvSpPr/>
          <p:nvPr/>
        </p:nvSpPr>
        <p:spPr>
          <a:xfrm>
            <a:off x="595313" y="4392613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F04FD6C5-1C04-49C7-8B84-BB98FABD5282}"/>
              </a:ext>
            </a:extLst>
          </p:cNvPr>
          <p:cNvSpPr/>
          <p:nvPr/>
        </p:nvSpPr>
        <p:spPr>
          <a:xfrm>
            <a:off x="601663" y="3429000"/>
            <a:ext cx="236537" cy="976313"/>
          </a:xfrm>
          <a:custGeom>
            <a:avLst/>
            <a:gdLst>
              <a:gd name="connsiteX0" fmla="*/ 216089 w 284328"/>
              <a:gd name="connsiteY0" fmla="*/ 0 h 928048"/>
              <a:gd name="connsiteX1" fmla="*/ 11373 w 284328"/>
              <a:gd name="connsiteY1" fmla="*/ 450376 h 928048"/>
              <a:gd name="connsiteX2" fmla="*/ 284328 w 284328"/>
              <a:gd name="connsiteY2" fmla="*/ 928048 h 928048"/>
              <a:gd name="connsiteX3" fmla="*/ 284328 w 284328"/>
              <a:gd name="connsiteY3" fmla="*/ 928048 h 92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328" h="928048">
                <a:moveTo>
                  <a:pt x="216089" y="0"/>
                </a:moveTo>
                <a:cubicBezTo>
                  <a:pt x="108044" y="147850"/>
                  <a:pt x="0" y="295701"/>
                  <a:pt x="11373" y="450376"/>
                </a:cubicBezTo>
                <a:cubicBezTo>
                  <a:pt x="22746" y="605051"/>
                  <a:pt x="284328" y="928048"/>
                  <a:pt x="284328" y="928048"/>
                </a:cubicBezTo>
                <a:lnTo>
                  <a:pt x="284328" y="928048"/>
                </a:ln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DD47B59-1EF1-41E9-B6FB-5165EC1AFDA2}"/>
              </a:ext>
            </a:extLst>
          </p:cNvPr>
          <p:cNvSpPr/>
          <p:nvPr/>
        </p:nvSpPr>
        <p:spPr>
          <a:xfrm>
            <a:off x="3429000" y="22860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6F199A5-E91E-488C-B021-08C3F2970321}"/>
              </a:ext>
            </a:extLst>
          </p:cNvPr>
          <p:cNvCxnSpPr>
            <a:stCxn id="89" idx="2"/>
            <a:endCxn id="79" idx="7"/>
          </p:cNvCxnSpPr>
          <p:nvPr/>
        </p:nvCxnSpPr>
        <p:spPr>
          <a:xfrm rot="10800000" flipV="1">
            <a:off x="2611438" y="2476500"/>
            <a:ext cx="817562" cy="3984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7AD8E71F-1087-4480-9A0E-0CD397F0DBFE}"/>
              </a:ext>
            </a:extLst>
          </p:cNvPr>
          <p:cNvSpPr/>
          <p:nvPr/>
        </p:nvSpPr>
        <p:spPr>
          <a:xfrm>
            <a:off x="6400800" y="26670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D7D61D5-C57E-49C6-BBB1-B933AB87D585}"/>
              </a:ext>
            </a:extLst>
          </p:cNvPr>
          <p:cNvCxnSpPr>
            <a:stCxn id="79" idx="6"/>
            <a:endCxn id="91" idx="3"/>
          </p:cNvCxnSpPr>
          <p:nvPr/>
        </p:nvCxnSpPr>
        <p:spPr>
          <a:xfrm flipV="1">
            <a:off x="2667000" y="2992438"/>
            <a:ext cx="3789363" cy="17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49D55F4D-6AF7-42C0-8A76-48C12CE97794}"/>
              </a:ext>
            </a:extLst>
          </p:cNvPr>
          <p:cNvSpPr/>
          <p:nvPr/>
        </p:nvSpPr>
        <p:spPr>
          <a:xfrm>
            <a:off x="1919288" y="4876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580E7686-4EB9-4DD9-92DD-947B97131943}"/>
              </a:ext>
            </a:extLst>
          </p:cNvPr>
          <p:cNvSpPr/>
          <p:nvPr/>
        </p:nvSpPr>
        <p:spPr>
          <a:xfrm>
            <a:off x="990600" y="4622800"/>
            <a:ext cx="979488" cy="471488"/>
          </a:xfrm>
          <a:custGeom>
            <a:avLst/>
            <a:gdLst>
              <a:gd name="connsiteX0" fmla="*/ 0 w 873456"/>
              <a:gd name="connsiteY0" fmla="*/ 0 h 470848"/>
              <a:gd name="connsiteX1" fmla="*/ 300251 w 873456"/>
              <a:gd name="connsiteY1" fmla="*/ 409433 h 470848"/>
              <a:gd name="connsiteX2" fmla="*/ 791570 w 873456"/>
              <a:gd name="connsiteY2" fmla="*/ 368490 h 470848"/>
              <a:gd name="connsiteX3" fmla="*/ 791570 w 873456"/>
              <a:gd name="connsiteY3" fmla="*/ 382137 h 470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3456" h="470848">
                <a:moveTo>
                  <a:pt x="0" y="0"/>
                </a:moveTo>
                <a:cubicBezTo>
                  <a:pt x="84161" y="174009"/>
                  <a:pt x="168323" y="348018"/>
                  <a:pt x="300251" y="409433"/>
                </a:cubicBezTo>
                <a:cubicBezTo>
                  <a:pt x="432179" y="470848"/>
                  <a:pt x="709684" y="373039"/>
                  <a:pt x="791570" y="368490"/>
                </a:cubicBezTo>
                <a:cubicBezTo>
                  <a:pt x="873456" y="363941"/>
                  <a:pt x="832513" y="373039"/>
                  <a:pt x="791570" y="3821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634" name="TextBox 95">
            <a:extLst>
              <a:ext uri="{FF2B5EF4-FFF2-40B4-BE49-F238E27FC236}">
                <a16:creationId xmlns:a16="http://schemas.microsoft.com/office/drawing/2014/main" id="{B3920584-7762-4A7E-BCA3-C81997626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23971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4635" name="TextBox 96">
            <a:extLst>
              <a:ext uri="{FF2B5EF4-FFF2-40B4-BE49-F238E27FC236}">
                <a16:creationId xmlns:a16="http://schemas.microsoft.com/office/drawing/2014/main" id="{AFE176EB-0416-46D8-B633-699538CD8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3825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4636" name="TextBox 98">
            <a:extLst>
              <a:ext uri="{FF2B5EF4-FFF2-40B4-BE49-F238E27FC236}">
                <a16:creationId xmlns:a16="http://schemas.microsoft.com/office/drawing/2014/main" id="{2013CC9D-DE59-4217-AF1E-57AD9841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213" y="2667000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25</a:t>
            </a:r>
          </a:p>
        </p:txBody>
      </p:sp>
      <p:sp>
        <p:nvSpPr>
          <p:cNvPr id="24637" name="TextBox 99">
            <a:extLst>
              <a:ext uri="{FF2B5EF4-FFF2-40B4-BE49-F238E27FC236}">
                <a16:creationId xmlns:a16="http://schemas.microsoft.com/office/drawing/2014/main" id="{3224B446-5F8F-4477-8299-46689B7FA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413" y="3279775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30</a:t>
            </a:r>
          </a:p>
        </p:txBody>
      </p:sp>
      <p:sp>
        <p:nvSpPr>
          <p:cNvPr id="24638" name="TextBox 100">
            <a:extLst>
              <a:ext uri="{FF2B5EF4-FFF2-40B4-BE49-F238E27FC236}">
                <a16:creationId xmlns:a16="http://schemas.microsoft.com/office/drawing/2014/main" id="{724427C5-C004-4BE7-9680-E28C3EA8D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565525"/>
            <a:ext cx="47783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35</a:t>
            </a:r>
          </a:p>
        </p:txBody>
      </p:sp>
      <p:sp>
        <p:nvSpPr>
          <p:cNvPr id="24639" name="TextBox 101">
            <a:extLst>
              <a:ext uri="{FF2B5EF4-FFF2-40B4-BE49-F238E27FC236}">
                <a16:creationId xmlns:a16="http://schemas.microsoft.com/office/drawing/2014/main" id="{2DD2DC6D-6A00-4A00-AB94-E5728BC74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42259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15</a:t>
            </a:r>
          </a:p>
        </p:txBody>
      </p:sp>
      <p:sp>
        <p:nvSpPr>
          <p:cNvPr id="24640" name="TextBox 102">
            <a:extLst>
              <a:ext uri="{FF2B5EF4-FFF2-40B4-BE49-F238E27FC236}">
                <a16:creationId xmlns:a16="http://schemas.microsoft.com/office/drawing/2014/main" id="{7546470B-08D3-43EB-ACC0-A528E969D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800600"/>
            <a:ext cx="4572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20</a:t>
            </a:r>
          </a:p>
        </p:txBody>
      </p:sp>
      <p:sp>
        <p:nvSpPr>
          <p:cNvPr id="24641" name="TextBox 103">
            <a:extLst>
              <a:ext uri="{FF2B5EF4-FFF2-40B4-BE49-F238E27FC236}">
                <a16:creationId xmlns:a16="http://schemas.microsoft.com/office/drawing/2014/main" id="{2179DC4B-5223-4E8B-923A-BDAAA77CC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9413" y="2784475"/>
            <a:ext cx="458787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50</a:t>
            </a:r>
          </a:p>
        </p:txBody>
      </p:sp>
      <p:sp>
        <p:nvSpPr>
          <p:cNvPr id="24642" name="TextBox 104">
            <a:extLst>
              <a:ext uri="{FF2B5EF4-FFF2-40B4-BE49-F238E27FC236}">
                <a16:creationId xmlns:a16="http://schemas.microsoft.com/office/drawing/2014/main" id="{54ED7182-8303-4A93-8836-E2D8D6B77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3538" y="2449513"/>
            <a:ext cx="296862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5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2DB4CC-9C02-4E6B-92C3-DB4C55E29AEA}"/>
              </a:ext>
            </a:extLst>
          </p:cNvPr>
          <p:cNvCxnSpPr/>
          <p:nvPr/>
        </p:nvCxnSpPr>
        <p:spPr>
          <a:xfrm>
            <a:off x="1947863" y="2413000"/>
            <a:ext cx="571500" cy="4191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31">
            <a:extLst>
              <a:ext uri="{FF2B5EF4-FFF2-40B4-BE49-F238E27FC236}">
                <a16:creationId xmlns:a16="http://schemas.microsoft.com/office/drawing/2014/main" id="{CA510575-77AC-4299-B3FE-B18620755CFE}"/>
              </a:ext>
            </a:extLst>
          </p:cNvPr>
          <p:cNvSpPr/>
          <p:nvPr/>
        </p:nvSpPr>
        <p:spPr>
          <a:xfrm>
            <a:off x="1916113" y="1619250"/>
            <a:ext cx="6237287" cy="1733550"/>
          </a:xfrm>
          <a:custGeom>
            <a:avLst/>
            <a:gdLst>
              <a:gd name="connsiteX0" fmla="*/ 0 w 6237026"/>
              <a:gd name="connsiteY0" fmla="*/ 668740 h 1733266"/>
              <a:gd name="connsiteX1" fmla="*/ 3398292 w 6237026"/>
              <a:gd name="connsiteY1" fmla="*/ 177421 h 1733266"/>
              <a:gd name="connsiteX2" fmla="*/ 6237026 w 6237026"/>
              <a:gd name="connsiteY2" fmla="*/ 1733266 h 1733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37026" h="1733266">
                <a:moveTo>
                  <a:pt x="0" y="668740"/>
                </a:moveTo>
                <a:cubicBezTo>
                  <a:pt x="1179394" y="334370"/>
                  <a:pt x="2358788" y="0"/>
                  <a:pt x="3398292" y="177421"/>
                </a:cubicBezTo>
                <a:cubicBezTo>
                  <a:pt x="4437796" y="354842"/>
                  <a:pt x="5337411" y="1044054"/>
                  <a:pt x="6237026" y="1733266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645" name="TextBox 32">
            <a:extLst>
              <a:ext uri="{FF2B5EF4-FFF2-40B4-BE49-F238E27FC236}">
                <a16:creationId xmlns:a16="http://schemas.microsoft.com/office/drawing/2014/main" id="{470E956C-C880-4C32-AD90-F06285722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475" y="2393950"/>
            <a:ext cx="3825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4646" name="TextBox 33">
            <a:extLst>
              <a:ext uri="{FF2B5EF4-FFF2-40B4-BE49-F238E27FC236}">
                <a16:creationId xmlns:a16="http://schemas.microsoft.com/office/drawing/2014/main" id="{71A91A0E-0D06-448D-B2AF-0F9ABD73E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75" y="1536700"/>
            <a:ext cx="4587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90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CA4CC10-C66B-4799-93FF-58067C0A47FE}"/>
              </a:ext>
            </a:extLst>
          </p:cNvPr>
          <p:cNvSpPr/>
          <p:nvPr/>
        </p:nvSpPr>
        <p:spPr>
          <a:xfrm>
            <a:off x="8001000" y="3352800"/>
            <a:ext cx="457200" cy="4572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G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9DA1760-62AD-4BCC-9C7A-6BA5CE160F2E}"/>
              </a:ext>
            </a:extLst>
          </p:cNvPr>
          <p:cNvCxnSpPr/>
          <p:nvPr/>
        </p:nvCxnSpPr>
        <p:spPr>
          <a:xfrm>
            <a:off x="3810000" y="2438400"/>
            <a:ext cx="259080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49" name="TextBox 36">
            <a:extLst>
              <a:ext uri="{FF2B5EF4-FFF2-40B4-BE49-F238E27FC236}">
                <a16:creationId xmlns:a16="http://schemas.microsoft.com/office/drawing/2014/main" id="{2B937FE5-8210-46E8-B9E3-82BFA9D49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6613" y="2400300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40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47F79E39-FAC2-4603-9001-C34F47C1B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Langkah 6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3EED77D3-BCFC-4159-9D3A-25D9A2F56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D54FDE-9CA3-49DE-BDA6-0E661D349FA0}" type="slidenum">
              <a:rPr lang="en-US" altLang="en-US">
                <a:solidFill>
                  <a:srgbClr val="626551"/>
                </a:solidFill>
                <a:latin typeface="Constantia" panose="02030602050306030303" pitchFamily="18" charset="0"/>
              </a:rPr>
              <a:pPr eaLnBrk="1" hangingPunct="1"/>
              <a:t>47</a:t>
            </a:fld>
            <a:endParaRPr lang="en-US" altLang="en-US">
              <a:solidFill>
                <a:srgbClr val="626551"/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317B762-84DC-4F46-A492-8FC8216C0FC8}"/>
              </a:ext>
            </a:extLst>
          </p:cNvPr>
          <p:cNvGraphicFramePr>
            <a:graphicFrameLocks noGrp="1"/>
          </p:cNvGraphicFramePr>
          <p:nvPr/>
        </p:nvGraphicFramePr>
        <p:xfrm>
          <a:off x="3733800" y="4003675"/>
          <a:ext cx="2803524" cy="14827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7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4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/>
                        <a:t>n</a:t>
                      </a:r>
                    </a:p>
                  </a:txBody>
                  <a:tcPr marL="91446" marR="9144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91446" marR="9144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91446" marR="9144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</a:t>
                      </a:r>
                    </a:p>
                  </a:txBody>
                  <a:tcPr marL="91446" marR="9144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91446" marR="91446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h’(n)</a:t>
                      </a:r>
                    </a:p>
                  </a:txBody>
                  <a:tcPr marL="91446" marR="9144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L="91446" marR="9144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</a:p>
                  </a:txBody>
                  <a:tcPr marL="91446" marR="9144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6" marR="9144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6" marR="91446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g(n)</a:t>
                      </a:r>
                    </a:p>
                  </a:txBody>
                  <a:tcPr marL="91446" marR="9144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6" marR="9144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</a:p>
                  </a:txBody>
                  <a:tcPr marL="91446" marR="9144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6" marR="9144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95</a:t>
                      </a:r>
                    </a:p>
                  </a:txBody>
                  <a:tcPr marL="91446" marR="91446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f(n)</a:t>
                      </a:r>
                    </a:p>
                  </a:txBody>
                  <a:tcPr marL="91446" marR="9144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6" marR="9144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110</a:t>
                      </a:r>
                    </a:p>
                  </a:txBody>
                  <a:tcPr marL="91446" marR="9144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130</a:t>
                      </a:r>
                    </a:p>
                  </a:txBody>
                  <a:tcPr marL="91446" marR="9144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95</a:t>
                      </a:r>
                    </a:p>
                  </a:txBody>
                  <a:tcPr marL="91446" marR="91446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6" name="Freeform 75">
            <a:extLst>
              <a:ext uri="{FF2B5EF4-FFF2-40B4-BE49-F238E27FC236}">
                <a16:creationId xmlns:a16="http://schemas.microsoft.com/office/drawing/2014/main" id="{27133346-0207-4218-9143-762B1181461E}"/>
              </a:ext>
            </a:extLst>
          </p:cNvPr>
          <p:cNvSpPr/>
          <p:nvPr/>
        </p:nvSpPr>
        <p:spPr>
          <a:xfrm>
            <a:off x="946150" y="4241800"/>
            <a:ext cx="573088" cy="271463"/>
          </a:xfrm>
          <a:custGeom>
            <a:avLst/>
            <a:gdLst>
              <a:gd name="connsiteX0" fmla="*/ 573206 w 573206"/>
              <a:gd name="connsiteY0" fmla="*/ 0 h 272955"/>
              <a:gd name="connsiteX1" fmla="*/ 395785 w 573206"/>
              <a:gd name="connsiteY1" fmla="*/ 191068 h 272955"/>
              <a:gd name="connsiteX2" fmla="*/ 0 w 573206"/>
              <a:gd name="connsiteY2" fmla="*/ 272955 h 272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272955">
                <a:moveTo>
                  <a:pt x="573206" y="0"/>
                </a:moveTo>
                <a:cubicBezTo>
                  <a:pt x="532262" y="72788"/>
                  <a:pt x="491319" y="145576"/>
                  <a:pt x="395785" y="191068"/>
                </a:cubicBezTo>
                <a:cubicBezTo>
                  <a:pt x="300251" y="236560"/>
                  <a:pt x="150125" y="254757"/>
                  <a:pt x="0" y="272955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AA5451F-4486-401A-B31A-3A7C92D24CF1}"/>
              </a:ext>
            </a:extLst>
          </p:cNvPr>
          <p:cNvSpPr/>
          <p:nvPr/>
        </p:nvSpPr>
        <p:spPr>
          <a:xfrm>
            <a:off x="712788" y="3021013"/>
            <a:ext cx="457200" cy="45720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1F6D47E-BF55-4F2D-B809-C61F8E075EB8}"/>
              </a:ext>
            </a:extLst>
          </p:cNvPr>
          <p:cNvSpPr/>
          <p:nvPr/>
        </p:nvSpPr>
        <p:spPr>
          <a:xfrm>
            <a:off x="1524000" y="22098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34E0522-98D3-4CB9-9C75-F4972F19433F}"/>
              </a:ext>
            </a:extLst>
          </p:cNvPr>
          <p:cNvSpPr/>
          <p:nvPr/>
        </p:nvSpPr>
        <p:spPr>
          <a:xfrm>
            <a:off x="2286000" y="28194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826948F-94F8-4D9C-8E56-2580563200AB}"/>
              </a:ext>
            </a:extLst>
          </p:cNvPr>
          <p:cNvSpPr/>
          <p:nvPr/>
        </p:nvSpPr>
        <p:spPr>
          <a:xfrm>
            <a:off x="2286000" y="35052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D323B549-3D1C-4261-896E-41E3922555A2}"/>
              </a:ext>
            </a:extLst>
          </p:cNvPr>
          <p:cNvSpPr/>
          <p:nvPr/>
        </p:nvSpPr>
        <p:spPr>
          <a:xfrm>
            <a:off x="1524000" y="39624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D5E4B616-F8BD-47AA-A25B-DFC1B1111594}"/>
              </a:ext>
            </a:extLst>
          </p:cNvPr>
          <p:cNvSpPr/>
          <p:nvPr/>
        </p:nvSpPr>
        <p:spPr>
          <a:xfrm>
            <a:off x="919163" y="2289175"/>
            <a:ext cx="641350" cy="765175"/>
          </a:xfrm>
          <a:custGeom>
            <a:avLst/>
            <a:gdLst>
              <a:gd name="connsiteX0" fmla="*/ 0 w 641445"/>
              <a:gd name="connsiteY0" fmla="*/ 764275 h 764275"/>
              <a:gd name="connsiteX1" fmla="*/ 163773 w 641445"/>
              <a:gd name="connsiteY1" fmla="*/ 163773 h 764275"/>
              <a:gd name="connsiteX2" fmla="*/ 641445 w 641445"/>
              <a:gd name="connsiteY2" fmla="*/ 0 h 76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445" h="764275">
                <a:moveTo>
                  <a:pt x="0" y="764275"/>
                </a:moveTo>
                <a:cubicBezTo>
                  <a:pt x="28433" y="527713"/>
                  <a:pt x="56866" y="291152"/>
                  <a:pt x="163773" y="163773"/>
                </a:cubicBezTo>
                <a:cubicBezTo>
                  <a:pt x="270680" y="36394"/>
                  <a:pt x="456062" y="18197"/>
                  <a:pt x="641445" y="0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D1E68B7D-18FF-4178-95C8-27613A3B2143}"/>
              </a:ext>
            </a:extLst>
          </p:cNvPr>
          <p:cNvSpPr/>
          <p:nvPr/>
        </p:nvSpPr>
        <p:spPr>
          <a:xfrm>
            <a:off x="1123950" y="2840038"/>
            <a:ext cx="1162050" cy="284162"/>
          </a:xfrm>
          <a:custGeom>
            <a:avLst/>
            <a:gdLst>
              <a:gd name="connsiteX0" fmla="*/ 0 w 750627"/>
              <a:gd name="connsiteY0" fmla="*/ 322997 h 322997"/>
              <a:gd name="connsiteX1" fmla="*/ 259307 w 750627"/>
              <a:gd name="connsiteY1" fmla="*/ 36394 h 322997"/>
              <a:gd name="connsiteX2" fmla="*/ 750627 w 750627"/>
              <a:gd name="connsiteY2" fmla="*/ 104632 h 322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0627" h="322997">
                <a:moveTo>
                  <a:pt x="0" y="322997"/>
                </a:moveTo>
                <a:cubicBezTo>
                  <a:pt x="67101" y="197892"/>
                  <a:pt x="134203" y="72788"/>
                  <a:pt x="259307" y="36394"/>
                </a:cubicBezTo>
                <a:cubicBezTo>
                  <a:pt x="384412" y="0"/>
                  <a:pt x="567519" y="52316"/>
                  <a:pt x="750627" y="104632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BD669EAA-2AF2-4FE2-BCA0-3E9C930DEF60}"/>
              </a:ext>
            </a:extLst>
          </p:cNvPr>
          <p:cNvSpPr/>
          <p:nvPr/>
        </p:nvSpPr>
        <p:spPr>
          <a:xfrm>
            <a:off x="1123950" y="3395663"/>
            <a:ext cx="1162050" cy="261937"/>
          </a:xfrm>
          <a:custGeom>
            <a:avLst/>
            <a:gdLst>
              <a:gd name="connsiteX0" fmla="*/ 0 w 791570"/>
              <a:gd name="connsiteY0" fmla="*/ 0 h 259307"/>
              <a:gd name="connsiteX1" fmla="*/ 627797 w 791570"/>
              <a:gd name="connsiteY1" fmla="*/ 136477 h 259307"/>
              <a:gd name="connsiteX2" fmla="*/ 791570 w 791570"/>
              <a:gd name="connsiteY2" fmla="*/ 259307 h 259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1570" h="259307">
                <a:moveTo>
                  <a:pt x="0" y="0"/>
                </a:moveTo>
                <a:cubicBezTo>
                  <a:pt x="247934" y="46629"/>
                  <a:pt x="495869" y="93259"/>
                  <a:pt x="627797" y="136477"/>
                </a:cubicBezTo>
                <a:cubicBezTo>
                  <a:pt x="759725" y="179695"/>
                  <a:pt x="775647" y="219501"/>
                  <a:pt x="791570" y="25930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B649E470-DF59-4EEB-9B4C-FC1E43D1F4CA}"/>
              </a:ext>
            </a:extLst>
          </p:cNvPr>
          <p:cNvSpPr/>
          <p:nvPr/>
        </p:nvSpPr>
        <p:spPr>
          <a:xfrm>
            <a:off x="1000125" y="3462338"/>
            <a:ext cx="560388" cy="574675"/>
          </a:xfrm>
          <a:custGeom>
            <a:avLst/>
            <a:gdLst>
              <a:gd name="connsiteX0" fmla="*/ 0 w 559558"/>
              <a:gd name="connsiteY0" fmla="*/ 0 h 573206"/>
              <a:gd name="connsiteX1" fmla="*/ 191068 w 559558"/>
              <a:gd name="connsiteY1" fmla="*/ 395785 h 573206"/>
              <a:gd name="connsiteX2" fmla="*/ 559558 w 559558"/>
              <a:gd name="connsiteY2" fmla="*/ 573206 h 57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9558" h="573206">
                <a:moveTo>
                  <a:pt x="0" y="0"/>
                </a:moveTo>
                <a:cubicBezTo>
                  <a:pt x="48904" y="150125"/>
                  <a:pt x="97808" y="300251"/>
                  <a:pt x="191068" y="395785"/>
                </a:cubicBezTo>
                <a:cubicBezTo>
                  <a:pt x="284328" y="491319"/>
                  <a:pt x="421943" y="532262"/>
                  <a:pt x="559558" y="573206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DEA232D7-C1EF-429C-BF12-42D89DDD387C}"/>
              </a:ext>
            </a:extLst>
          </p:cNvPr>
          <p:cNvSpPr/>
          <p:nvPr/>
        </p:nvSpPr>
        <p:spPr>
          <a:xfrm>
            <a:off x="595313" y="4392613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9B12EAD7-AEB8-4016-BED0-09FC0B9370BD}"/>
              </a:ext>
            </a:extLst>
          </p:cNvPr>
          <p:cNvSpPr/>
          <p:nvPr/>
        </p:nvSpPr>
        <p:spPr>
          <a:xfrm>
            <a:off x="601663" y="3429000"/>
            <a:ext cx="236537" cy="976313"/>
          </a:xfrm>
          <a:custGeom>
            <a:avLst/>
            <a:gdLst>
              <a:gd name="connsiteX0" fmla="*/ 216089 w 284328"/>
              <a:gd name="connsiteY0" fmla="*/ 0 h 928048"/>
              <a:gd name="connsiteX1" fmla="*/ 11373 w 284328"/>
              <a:gd name="connsiteY1" fmla="*/ 450376 h 928048"/>
              <a:gd name="connsiteX2" fmla="*/ 284328 w 284328"/>
              <a:gd name="connsiteY2" fmla="*/ 928048 h 928048"/>
              <a:gd name="connsiteX3" fmla="*/ 284328 w 284328"/>
              <a:gd name="connsiteY3" fmla="*/ 928048 h 92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328" h="928048">
                <a:moveTo>
                  <a:pt x="216089" y="0"/>
                </a:moveTo>
                <a:cubicBezTo>
                  <a:pt x="108044" y="147850"/>
                  <a:pt x="0" y="295701"/>
                  <a:pt x="11373" y="450376"/>
                </a:cubicBezTo>
                <a:cubicBezTo>
                  <a:pt x="22746" y="605051"/>
                  <a:pt x="284328" y="928048"/>
                  <a:pt x="284328" y="928048"/>
                </a:cubicBezTo>
                <a:lnTo>
                  <a:pt x="284328" y="928048"/>
                </a:ln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D74AB4B-3792-47E5-A360-8797A9D878BE}"/>
              </a:ext>
            </a:extLst>
          </p:cNvPr>
          <p:cNvSpPr/>
          <p:nvPr/>
        </p:nvSpPr>
        <p:spPr>
          <a:xfrm>
            <a:off x="3429000" y="22860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DFDF0E7-8ED8-476E-BF3E-3B4C9744B452}"/>
              </a:ext>
            </a:extLst>
          </p:cNvPr>
          <p:cNvCxnSpPr>
            <a:stCxn id="89" idx="2"/>
            <a:endCxn id="79" idx="7"/>
          </p:cNvCxnSpPr>
          <p:nvPr/>
        </p:nvCxnSpPr>
        <p:spPr>
          <a:xfrm rot="10800000" flipV="1">
            <a:off x="2611438" y="2476500"/>
            <a:ext cx="817562" cy="3984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BD7837AE-09D7-4F74-B38C-C13203C1E17F}"/>
              </a:ext>
            </a:extLst>
          </p:cNvPr>
          <p:cNvSpPr/>
          <p:nvPr/>
        </p:nvSpPr>
        <p:spPr>
          <a:xfrm>
            <a:off x="6400800" y="26670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5860563-0FD2-4892-9946-77308BDBC7FE}"/>
              </a:ext>
            </a:extLst>
          </p:cNvPr>
          <p:cNvCxnSpPr>
            <a:stCxn id="79" idx="6"/>
            <a:endCxn id="91" idx="3"/>
          </p:cNvCxnSpPr>
          <p:nvPr/>
        </p:nvCxnSpPr>
        <p:spPr>
          <a:xfrm flipV="1">
            <a:off x="2667000" y="2992438"/>
            <a:ext cx="3789363" cy="17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A9AEFBF5-2414-40A4-B28A-BE403C328762}"/>
              </a:ext>
            </a:extLst>
          </p:cNvPr>
          <p:cNvSpPr/>
          <p:nvPr/>
        </p:nvSpPr>
        <p:spPr>
          <a:xfrm>
            <a:off x="1919288" y="4876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CC8F28C1-8ABF-4A74-996C-7E0691D38BB1}"/>
              </a:ext>
            </a:extLst>
          </p:cNvPr>
          <p:cNvSpPr/>
          <p:nvPr/>
        </p:nvSpPr>
        <p:spPr>
          <a:xfrm>
            <a:off x="990600" y="4622800"/>
            <a:ext cx="979488" cy="471488"/>
          </a:xfrm>
          <a:custGeom>
            <a:avLst/>
            <a:gdLst>
              <a:gd name="connsiteX0" fmla="*/ 0 w 873456"/>
              <a:gd name="connsiteY0" fmla="*/ 0 h 470848"/>
              <a:gd name="connsiteX1" fmla="*/ 300251 w 873456"/>
              <a:gd name="connsiteY1" fmla="*/ 409433 h 470848"/>
              <a:gd name="connsiteX2" fmla="*/ 791570 w 873456"/>
              <a:gd name="connsiteY2" fmla="*/ 368490 h 470848"/>
              <a:gd name="connsiteX3" fmla="*/ 791570 w 873456"/>
              <a:gd name="connsiteY3" fmla="*/ 382137 h 470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3456" h="470848">
                <a:moveTo>
                  <a:pt x="0" y="0"/>
                </a:moveTo>
                <a:cubicBezTo>
                  <a:pt x="84161" y="174009"/>
                  <a:pt x="168323" y="348018"/>
                  <a:pt x="300251" y="409433"/>
                </a:cubicBezTo>
                <a:cubicBezTo>
                  <a:pt x="432179" y="470848"/>
                  <a:pt x="709684" y="373039"/>
                  <a:pt x="791570" y="368490"/>
                </a:cubicBezTo>
                <a:cubicBezTo>
                  <a:pt x="873456" y="363941"/>
                  <a:pt x="832513" y="373039"/>
                  <a:pt x="791570" y="3821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5653" name="TextBox 95">
            <a:extLst>
              <a:ext uri="{FF2B5EF4-FFF2-40B4-BE49-F238E27FC236}">
                <a16:creationId xmlns:a16="http://schemas.microsoft.com/office/drawing/2014/main" id="{8D6D56D2-FF4A-4D68-9EE4-6C819DD3A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23971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5654" name="TextBox 96">
            <a:extLst>
              <a:ext uri="{FF2B5EF4-FFF2-40B4-BE49-F238E27FC236}">
                <a16:creationId xmlns:a16="http://schemas.microsoft.com/office/drawing/2014/main" id="{F1919C34-39EC-4704-B7DD-4961D5240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3825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5655" name="TextBox 98">
            <a:extLst>
              <a:ext uri="{FF2B5EF4-FFF2-40B4-BE49-F238E27FC236}">
                <a16:creationId xmlns:a16="http://schemas.microsoft.com/office/drawing/2014/main" id="{59728665-0443-4059-9ACF-9E1A5D2F2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213" y="2667000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25</a:t>
            </a:r>
          </a:p>
        </p:txBody>
      </p:sp>
      <p:sp>
        <p:nvSpPr>
          <p:cNvPr id="25656" name="TextBox 99">
            <a:extLst>
              <a:ext uri="{FF2B5EF4-FFF2-40B4-BE49-F238E27FC236}">
                <a16:creationId xmlns:a16="http://schemas.microsoft.com/office/drawing/2014/main" id="{9D16BE24-38CD-49B7-BB46-EFFEFDB90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413" y="3279775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30</a:t>
            </a:r>
          </a:p>
        </p:txBody>
      </p:sp>
      <p:sp>
        <p:nvSpPr>
          <p:cNvPr id="25657" name="TextBox 100">
            <a:extLst>
              <a:ext uri="{FF2B5EF4-FFF2-40B4-BE49-F238E27FC236}">
                <a16:creationId xmlns:a16="http://schemas.microsoft.com/office/drawing/2014/main" id="{FDF1A493-0BD3-4900-9B7B-089FF46DE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565525"/>
            <a:ext cx="47783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35</a:t>
            </a:r>
          </a:p>
        </p:txBody>
      </p:sp>
      <p:sp>
        <p:nvSpPr>
          <p:cNvPr id="25658" name="TextBox 101">
            <a:extLst>
              <a:ext uri="{FF2B5EF4-FFF2-40B4-BE49-F238E27FC236}">
                <a16:creationId xmlns:a16="http://schemas.microsoft.com/office/drawing/2014/main" id="{99668295-DD7A-4965-B9CB-BF6FCFDB9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42259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15</a:t>
            </a:r>
          </a:p>
        </p:txBody>
      </p:sp>
      <p:sp>
        <p:nvSpPr>
          <p:cNvPr id="25659" name="TextBox 102">
            <a:extLst>
              <a:ext uri="{FF2B5EF4-FFF2-40B4-BE49-F238E27FC236}">
                <a16:creationId xmlns:a16="http://schemas.microsoft.com/office/drawing/2014/main" id="{057520FC-EDC6-4043-B14D-DCC96D4B4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800600"/>
            <a:ext cx="4572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20</a:t>
            </a:r>
          </a:p>
        </p:txBody>
      </p:sp>
      <p:sp>
        <p:nvSpPr>
          <p:cNvPr id="25660" name="TextBox 103">
            <a:extLst>
              <a:ext uri="{FF2B5EF4-FFF2-40B4-BE49-F238E27FC236}">
                <a16:creationId xmlns:a16="http://schemas.microsoft.com/office/drawing/2014/main" id="{BCE4DAFC-0792-4651-8752-44D0419E1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9413" y="2784475"/>
            <a:ext cx="458787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50</a:t>
            </a:r>
          </a:p>
        </p:txBody>
      </p:sp>
      <p:sp>
        <p:nvSpPr>
          <p:cNvPr id="25661" name="TextBox 104">
            <a:extLst>
              <a:ext uri="{FF2B5EF4-FFF2-40B4-BE49-F238E27FC236}">
                <a16:creationId xmlns:a16="http://schemas.microsoft.com/office/drawing/2014/main" id="{C589A9B4-0B32-47F3-AABD-028ECF9EB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3538" y="2449513"/>
            <a:ext cx="296862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5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846ECAC-A30E-4166-B2C9-973D49772A89}"/>
              </a:ext>
            </a:extLst>
          </p:cNvPr>
          <p:cNvCxnSpPr/>
          <p:nvPr/>
        </p:nvCxnSpPr>
        <p:spPr>
          <a:xfrm>
            <a:off x="1947863" y="2413000"/>
            <a:ext cx="571500" cy="4191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31">
            <a:extLst>
              <a:ext uri="{FF2B5EF4-FFF2-40B4-BE49-F238E27FC236}">
                <a16:creationId xmlns:a16="http://schemas.microsoft.com/office/drawing/2014/main" id="{6003304D-1CA0-42F5-A57B-6549323FC05F}"/>
              </a:ext>
            </a:extLst>
          </p:cNvPr>
          <p:cNvSpPr/>
          <p:nvPr/>
        </p:nvSpPr>
        <p:spPr>
          <a:xfrm>
            <a:off x="1916113" y="1619250"/>
            <a:ext cx="6237287" cy="1733550"/>
          </a:xfrm>
          <a:custGeom>
            <a:avLst/>
            <a:gdLst>
              <a:gd name="connsiteX0" fmla="*/ 0 w 6237026"/>
              <a:gd name="connsiteY0" fmla="*/ 668740 h 1733266"/>
              <a:gd name="connsiteX1" fmla="*/ 3398292 w 6237026"/>
              <a:gd name="connsiteY1" fmla="*/ 177421 h 1733266"/>
              <a:gd name="connsiteX2" fmla="*/ 6237026 w 6237026"/>
              <a:gd name="connsiteY2" fmla="*/ 1733266 h 1733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37026" h="1733266">
                <a:moveTo>
                  <a:pt x="0" y="668740"/>
                </a:moveTo>
                <a:cubicBezTo>
                  <a:pt x="1179394" y="334370"/>
                  <a:pt x="2358788" y="0"/>
                  <a:pt x="3398292" y="177421"/>
                </a:cubicBezTo>
                <a:cubicBezTo>
                  <a:pt x="4437796" y="354842"/>
                  <a:pt x="5337411" y="1044054"/>
                  <a:pt x="6237026" y="1733266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5664" name="TextBox 32">
            <a:extLst>
              <a:ext uri="{FF2B5EF4-FFF2-40B4-BE49-F238E27FC236}">
                <a16:creationId xmlns:a16="http://schemas.microsoft.com/office/drawing/2014/main" id="{482FD44A-5691-4453-B2A5-A98097BDB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475" y="2393950"/>
            <a:ext cx="3825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5665" name="TextBox 33">
            <a:extLst>
              <a:ext uri="{FF2B5EF4-FFF2-40B4-BE49-F238E27FC236}">
                <a16:creationId xmlns:a16="http://schemas.microsoft.com/office/drawing/2014/main" id="{2A456E6E-4D98-449F-8196-4EAE9F38E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75" y="1536700"/>
            <a:ext cx="4587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90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1C50C3D-54EB-412E-9A76-74091043F49B}"/>
              </a:ext>
            </a:extLst>
          </p:cNvPr>
          <p:cNvSpPr/>
          <p:nvPr/>
        </p:nvSpPr>
        <p:spPr>
          <a:xfrm>
            <a:off x="8001000" y="3352800"/>
            <a:ext cx="457200" cy="4572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G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79AC082-354D-4826-B987-EF17E6AC12DD}"/>
              </a:ext>
            </a:extLst>
          </p:cNvPr>
          <p:cNvCxnSpPr/>
          <p:nvPr/>
        </p:nvCxnSpPr>
        <p:spPr>
          <a:xfrm>
            <a:off x="3810000" y="2438400"/>
            <a:ext cx="2590800" cy="381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68" name="TextBox 36">
            <a:extLst>
              <a:ext uri="{FF2B5EF4-FFF2-40B4-BE49-F238E27FC236}">
                <a16:creationId xmlns:a16="http://schemas.microsoft.com/office/drawing/2014/main" id="{C27AA6F6-947D-4339-94DA-A99419906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6613" y="2400300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40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A7E2E7C-3F18-462E-80EA-72E1109AF2AC}"/>
              </a:ext>
            </a:extLst>
          </p:cNvPr>
          <p:cNvCxnSpPr/>
          <p:nvPr/>
        </p:nvCxnSpPr>
        <p:spPr>
          <a:xfrm>
            <a:off x="6781800" y="2830513"/>
            <a:ext cx="1219200" cy="6746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70" name="TextBox 38">
            <a:extLst>
              <a:ext uri="{FF2B5EF4-FFF2-40B4-BE49-F238E27FC236}">
                <a16:creationId xmlns:a16="http://schemas.microsoft.com/office/drawing/2014/main" id="{E81C370A-5CCD-4928-B311-BA480A3AA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990850"/>
            <a:ext cx="4572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80DDF476-B3B2-4A47-92C8-45425E10F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Solusi</a:t>
            </a:r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3E6A8CD2-F248-4345-9F1B-554FC028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F7DB67-142F-46BD-8B93-987D2916EE50}" type="slidenum">
              <a:rPr lang="en-US" altLang="en-US">
                <a:solidFill>
                  <a:srgbClr val="626551"/>
                </a:solidFill>
                <a:latin typeface="Constantia" panose="02030602050306030303" pitchFamily="18" charset="0"/>
              </a:rPr>
              <a:pPr eaLnBrk="1" hangingPunct="1"/>
              <a:t>48</a:t>
            </a:fld>
            <a:endParaRPr lang="en-US" altLang="en-US">
              <a:solidFill>
                <a:srgbClr val="626551"/>
              </a:solidFill>
              <a:latin typeface="Constantia" panose="02030602050306030303" pitchFamily="18" charset="0"/>
            </a:endParaRPr>
          </a:p>
        </p:txBody>
      </p:sp>
      <p:sp>
        <p:nvSpPr>
          <p:cNvPr id="76" name="Freeform 75">
            <a:extLst>
              <a:ext uri="{FF2B5EF4-FFF2-40B4-BE49-F238E27FC236}">
                <a16:creationId xmlns:a16="http://schemas.microsoft.com/office/drawing/2014/main" id="{A129FAC5-F917-4BFE-8C4C-4DF35512794A}"/>
              </a:ext>
            </a:extLst>
          </p:cNvPr>
          <p:cNvSpPr/>
          <p:nvPr/>
        </p:nvSpPr>
        <p:spPr>
          <a:xfrm>
            <a:off x="946150" y="4241800"/>
            <a:ext cx="573088" cy="271463"/>
          </a:xfrm>
          <a:custGeom>
            <a:avLst/>
            <a:gdLst>
              <a:gd name="connsiteX0" fmla="*/ 573206 w 573206"/>
              <a:gd name="connsiteY0" fmla="*/ 0 h 272955"/>
              <a:gd name="connsiteX1" fmla="*/ 395785 w 573206"/>
              <a:gd name="connsiteY1" fmla="*/ 191068 h 272955"/>
              <a:gd name="connsiteX2" fmla="*/ 0 w 573206"/>
              <a:gd name="connsiteY2" fmla="*/ 272955 h 272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206" h="272955">
                <a:moveTo>
                  <a:pt x="573206" y="0"/>
                </a:moveTo>
                <a:cubicBezTo>
                  <a:pt x="532262" y="72788"/>
                  <a:pt x="491319" y="145576"/>
                  <a:pt x="395785" y="191068"/>
                </a:cubicBezTo>
                <a:cubicBezTo>
                  <a:pt x="300251" y="236560"/>
                  <a:pt x="150125" y="254757"/>
                  <a:pt x="0" y="272955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4629958-712C-486A-A3CB-28C9B9F37340}"/>
              </a:ext>
            </a:extLst>
          </p:cNvPr>
          <p:cNvSpPr/>
          <p:nvPr/>
        </p:nvSpPr>
        <p:spPr>
          <a:xfrm>
            <a:off x="712788" y="3021013"/>
            <a:ext cx="457200" cy="45720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6945A00C-C9D3-49B3-BE6B-09BD16FE1EA6}"/>
              </a:ext>
            </a:extLst>
          </p:cNvPr>
          <p:cNvSpPr/>
          <p:nvPr/>
        </p:nvSpPr>
        <p:spPr>
          <a:xfrm>
            <a:off x="1524000" y="22098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2502C32-6E28-422E-8059-C4223DD2FC2F}"/>
              </a:ext>
            </a:extLst>
          </p:cNvPr>
          <p:cNvSpPr/>
          <p:nvPr/>
        </p:nvSpPr>
        <p:spPr>
          <a:xfrm>
            <a:off x="2286000" y="28194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EE8B977-CD60-41C7-AB63-1328B94FD5D9}"/>
              </a:ext>
            </a:extLst>
          </p:cNvPr>
          <p:cNvSpPr/>
          <p:nvPr/>
        </p:nvSpPr>
        <p:spPr>
          <a:xfrm>
            <a:off x="2286000" y="35052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3743DEA-E484-4219-9322-3C81EBC8ED86}"/>
              </a:ext>
            </a:extLst>
          </p:cNvPr>
          <p:cNvSpPr/>
          <p:nvPr/>
        </p:nvSpPr>
        <p:spPr>
          <a:xfrm>
            <a:off x="1524000" y="39624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A64DA51C-0D51-4ACD-A10D-3F7FDC38112A}"/>
              </a:ext>
            </a:extLst>
          </p:cNvPr>
          <p:cNvSpPr/>
          <p:nvPr/>
        </p:nvSpPr>
        <p:spPr>
          <a:xfrm>
            <a:off x="919163" y="2289175"/>
            <a:ext cx="641350" cy="765175"/>
          </a:xfrm>
          <a:custGeom>
            <a:avLst/>
            <a:gdLst>
              <a:gd name="connsiteX0" fmla="*/ 0 w 641445"/>
              <a:gd name="connsiteY0" fmla="*/ 764275 h 764275"/>
              <a:gd name="connsiteX1" fmla="*/ 163773 w 641445"/>
              <a:gd name="connsiteY1" fmla="*/ 163773 h 764275"/>
              <a:gd name="connsiteX2" fmla="*/ 641445 w 641445"/>
              <a:gd name="connsiteY2" fmla="*/ 0 h 76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445" h="764275">
                <a:moveTo>
                  <a:pt x="0" y="764275"/>
                </a:moveTo>
                <a:cubicBezTo>
                  <a:pt x="28433" y="527713"/>
                  <a:pt x="56866" y="291152"/>
                  <a:pt x="163773" y="163773"/>
                </a:cubicBezTo>
                <a:cubicBezTo>
                  <a:pt x="270680" y="36394"/>
                  <a:pt x="456062" y="18197"/>
                  <a:pt x="641445" y="0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C6BDD549-9447-444C-BB94-4F51707414D4}"/>
              </a:ext>
            </a:extLst>
          </p:cNvPr>
          <p:cNvSpPr/>
          <p:nvPr/>
        </p:nvSpPr>
        <p:spPr>
          <a:xfrm>
            <a:off x="1123950" y="2840038"/>
            <a:ext cx="1162050" cy="284162"/>
          </a:xfrm>
          <a:custGeom>
            <a:avLst/>
            <a:gdLst>
              <a:gd name="connsiteX0" fmla="*/ 0 w 750627"/>
              <a:gd name="connsiteY0" fmla="*/ 322997 h 322997"/>
              <a:gd name="connsiteX1" fmla="*/ 259307 w 750627"/>
              <a:gd name="connsiteY1" fmla="*/ 36394 h 322997"/>
              <a:gd name="connsiteX2" fmla="*/ 750627 w 750627"/>
              <a:gd name="connsiteY2" fmla="*/ 104632 h 322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0627" h="322997">
                <a:moveTo>
                  <a:pt x="0" y="322997"/>
                </a:moveTo>
                <a:cubicBezTo>
                  <a:pt x="67101" y="197892"/>
                  <a:pt x="134203" y="72788"/>
                  <a:pt x="259307" y="36394"/>
                </a:cubicBezTo>
                <a:cubicBezTo>
                  <a:pt x="384412" y="0"/>
                  <a:pt x="567519" y="52316"/>
                  <a:pt x="750627" y="104632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01347468-BDCA-45FD-8F64-53EF3A1E4A27}"/>
              </a:ext>
            </a:extLst>
          </p:cNvPr>
          <p:cNvSpPr/>
          <p:nvPr/>
        </p:nvSpPr>
        <p:spPr>
          <a:xfrm>
            <a:off x="1123950" y="3395663"/>
            <a:ext cx="1162050" cy="261937"/>
          </a:xfrm>
          <a:custGeom>
            <a:avLst/>
            <a:gdLst>
              <a:gd name="connsiteX0" fmla="*/ 0 w 791570"/>
              <a:gd name="connsiteY0" fmla="*/ 0 h 259307"/>
              <a:gd name="connsiteX1" fmla="*/ 627797 w 791570"/>
              <a:gd name="connsiteY1" fmla="*/ 136477 h 259307"/>
              <a:gd name="connsiteX2" fmla="*/ 791570 w 791570"/>
              <a:gd name="connsiteY2" fmla="*/ 259307 h 259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1570" h="259307">
                <a:moveTo>
                  <a:pt x="0" y="0"/>
                </a:moveTo>
                <a:cubicBezTo>
                  <a:pt x="247934" y="46629"/>
                  <a:pt x="495869" y="93259"/>
                  <a:pt x="627797" y="136477"/>
                </a:cubicBezTo>
                <a:cubicBezTo>
                  <a:pt x="759725" y="179695"/>
                  <a:pt x="775647" y="219501"/>
                  <a:pt x="791570" y="25930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14863FDC-3682-4FF8-A412-74E3DDA5F4B1}"/>
              </a:ext>
            </a:extLst>
          </p:cNvPr>
          <p:cNvSpPr/>
          <p:nvPr/>
        </p:nvSpPr>
        <p:spPr>
          <a:xfrm>
            <a:off x="1000125" y="3462338"/>
            <a:ext cx="560388" cy="574675"/>
          </a:xfrm>
          <a:custGeom>
            <a:avLst/>
            <a:gdLst>
              <a:gd name="connsiteX0" fmla="*/ 0 w 559558"/>
              <a:gd name="connsiteY0" fmla="*/ 0 h 573206"/>
              <a:gd name="connsiteX1" fmla="*/ 191068 w 559558"/>
              <a:gd name="connsiteY1" fmla="*/ 395785 h 573206"/>
              <a:gd name="connsiteX2" fmla="*/ 559558 w 559558"/>
              <a:gd name="connsiteY2" fmla="*/ 573206 h 57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9558" h="573206">
                <a:moveTo>
                  <a:pt x="0" y="0"/>
                </a:moveTo>
                <a:cubicBezTo>
                  <a:pt x="48904" y="150125"/>
                  <a:pt x="97808" y="300251"/>
                  <a:pt x="191068" y="395785"/>
                </a:cubicBezTo>
                <a:cubicBezTo>
                  <a:pt x="284328" y="491319"/>
                  <a:pt x="421943" y="532262"/>
                  <a:pt x="559558" y="573206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2BB884C-0070-4710-AAA7-AC62C56081E9}"/>
              </a:ext>
            </a:extLst>
          </p:cNvPr>
          <p:cNvSpPr/>
          <p:nvPr/>
        </p:nvSpPr>
        <p:spPr>
          <a:xfrm>
            <a:off x="595313" y="4392613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77558DFB-999D-467E-988E-E98E61932331}"/>
              </a:ext>
            </a:extLst>
          </p:cNvPr>
          <p:cNvSpPr/>
          <p:nvPr/>
        </p:nvSpPr>
        <p:spPr>
          <a:xfrm>
            <a:off x="601663" y="3429000"/>
            <a:ext cx="236537" cy="976313"/>
          </a:xfrm>
          <a:custGeom>
            <a:avLst/>
            <a:gdLst>
              <a:gd name="connsiteX0" fmla="*/ 216089 w 284328"/>
              <a:gd name="connsiteY0" fmla="*/ 0 h 928048"/>
              <a:gd name="connsiteX1" fmla="*/ 11373 w 284328"/>
              <a:gd name="connsiteY1" fmla="*/ 450376 h 928048"/>
              <a:gd name="connsiteX2" fmla="*/ 284328 w 284328"/>
              <a:gd name="connsiteY2" fmla="*/ 928048 h 928048"/>
              <a:gd name="connsiteX3" fmla="*/ 284328 w 284328"/>
              <a:gd name="connsiteY3" fmla="*/ 928048 h 92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328" h="928048">
                <a:moveTo>
                  <a:pt x="216089" y="0"/>
                </a:moveTo>
                <a:cubicBezTo>
                  <a:pt x="108044" y="147850"/>
                  <a:pt x="0" y="295701"/>
                  <a:pt x="11373" y="450376"/>
                </a:cubicBezTo>
                <a:cubicBezTo>
                  <a:pt x="22746" y="605051"/>
                  <a:pt x="284328" y="928048"/>
                  <a:pt x="284328" y="928048"/>
                </a:cubicBezTo>
                <a:lnTo>
                  <a:pt x="284328" y="928048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AF78CB8-A4C1-4D3A-B1EC-52719E19204F}"/>
              </a:ext>
            </a:extLst>
          </p:cNvPr>
          <p:cNvSpPr/>
          <p:nvPr/>
        </p:nvSpPr>
        <p:spPr>
          <a:xfrm>
            <a:off x="3429000" y="22860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145BB89-5FAA-4FCB-8B25-C1C13B500F71}"/>
              </a:ext>
            </a:extLst>
          </p:cNvPr>
          <p:cNvCxnSpPr>
            <a:stCxn id="89" idx="2"/>
            <a:endCxn id="79" idx="7"/>
          </p:cNvCxnSpPr>
          <p:nvPr/>
        </p:nvCxnSpPr>
        <p:spPr>
          <a:xfrm rot="10800000" flipV="1">
            <a:off x="2611438" y="2476500"/>
            <a:ext cx="817562" cy="3984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8B8C6BFB-44F7-4B3F-9442-5A2AA2B7C293}"/>
              </a:ext>
            </a:extLst>
          </p:cNvPr>
          <p:cNvSpPr/>
          <p:nvPr/>
        </p:nvSpPr>
        <p:spPr>
          <a:xfrm>
            <a:off x="6400800" y="26670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CFECE2-0148-46EE-928B-5207CE173394}"/>
              </a:ext>
            </a:extLst>
          </p:cNvPr>
          <p:cNvCxnSpPr>
            <a:stCxn id="79" idx="6"/>
            <a:endCxn id="91" idx="3"/>
          </p:cNvCxnSpPr>
          <p:nvPr/>
        </p:nvCxnSpPr>
        <p:spPr>
          <a:xfrm flipV="1">
            <a:off x="2667000" y="2992438"/>
            <a:ext cx="3789363" cy="17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A4C6C18B-2C2A-4387-BC2C-61196E5B9C20}"/>
              </a:ext>
            </a:extLst>
          </p:cNvPr>
          <p:cNvSpPr/>
          <p:nvPr/>
        </p:nvSpPr>
        <p:spPr>
          <a:xfrm>
            <a:off x="1919288" y="48768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A7641A62-4F54-4755-AD0E-D48CB7798C1C}"/>
              </a:ext>
            </a:extLst>
          </p:cNvPr>
          <p:cNvSpPr/>
          <p:nvPr/>
        </p:nvSpPr>
        <p:spPr>
          <a:xfrm>
            <a:off x="990600" y="4622800"/>
            <a:ext cx="979488" cy="471488"/>
          </a:xfrm>
          <a:custGeom>
            <a:avLst/>
            <a:gdLst>
              <a:gd name="connsiteX0" fmla="*/ 0 w 873456"/>
              <a:gd name="connsiteY0" fmla="*/ 0 h 470848"/>
              <a:gd name="connsiteX1" fmla="*/ 300251 w 873456"/>
              <a:gd name="connsiteY1" fmla="*/ 409433 h 470848"/>
              <a:gd name="connsiteX2" fmla="*/ 791570 w 873456"/>
              <a:gd name="connsiteY2" fmla="*/ 368490 h 470848"/>
              <a:gd name="connsiteX3" fmla="*/ 791570 w 873456"/>
              <a:gd name="connsiteY3" fmla="*/ 382137 h 470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3456" h="470848">
                <a:moveTo>
                  <a:pt x="0" y="0"/>
                </a:moveTo>
                <a:cubicBezTo>
                  <a:pt x="84161" y="174009"/>
                  <a:pt x="168323" y="348018"/>
                  <a:pt x="300251" y="409433"/>
                </a:cubicBezTo>
                <a:cubicBezTo>
                  <a:pt x="432179" y="470848"/>
                  <a:pt x="709684" y="373039"/>
                  <a:pt x="791570" y="368490"/>
                </a:cubicBezTo>
                <a:cubicBezTo>
                  <a:pt x="873456" y="363941"/>
                  <a:pt x="832513" y="373039"/>
                  <a:pt x="791570" y="3821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6645" name="TextBox 95">
            <a:extLst>
              <a:ext uri="{FF2B5EF4-FFF2-40B4-BE49-F238E27FC236}">
                <a16:creationId xmlns:a16="http://schemas.microsoft.com/office/drawing/2014/main" id="{4E480FDC-ABA7-4C53-8B7A-2971658FF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23971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6646" name="TextBox 96">
            <a:extLst>
              <a:ext uri="{FF2B5EF4-FFF2-40B4-BE49-F238E27FC236}">
                <a16:creationId xmlns:a16="http://schemas.microsoft.com/office/drawing/2014/main" id="{AF247852-C28E-47A3-8E79-486AEF285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3825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6647" name="TextBox 98">
            <a:extLst>
              <a:ext uri="{FF2B5EF4-FFF2-40B4-BE49-F238E27FC236}">
                <a16:creationId xmlns:a16="http://schemas.microsoft.com/office/drawing/2014/main" id="{5A27CFFC-26CF-48EF-B3CC-72BBE1DC8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213" y="2667000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25</a:t>
            </a:r>
          </a:p>
        </p:txBody>
      </p:sp>
      <p:sp>
        <p:nvSpPr>
          <p:cNvPr id="26648" name="TextBox 99">
            <a:extLst>
              <a:ext uri="{FF2B5EF4-FFF2-40B4-BE49-F238E27FC236}">
                <a16:creationId xmlns:a16="http://schemas.microsoft.com/office/drawing/2014/main" id="{98DD3B03-D665-44F5-9D5C-BAC7A1908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413" y="3279775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30</a:t>
            </a:r>
          </a:p>
        </p:txBody>
      </p:sp>
      <p:sp>
        <p:nvSpPr>
          <p:cNvPr id="26649" name="TextBox 100">
            <a:extLst>
              <a:ext uri="{FF2B5EF4-FFF2-40B4-BE49-F238E27FC236}">
                <a16:creationId xmlns:a16="http://schemas.microsoft.com/office/drawing/2014/main" id="{D7C28CA8-4112-4702-B8D8-0EA19E5E1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565525"/>
            <a:ext cx="47783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35</a:t>
            </a:r>
          </a:p>
        </p:txBody>
      </p:sp>
      <p:sp>
        <p:nvSpPr>
          <p:cNvPr id="26650" name="TextBox 101">
            <a:extLst>
              <a:ext uri="{FF2B5EF4-FFF2-40B4-BE49-F238E27FC236}">
                <a16:creationId xmlns:a16="http://schemas.microsoft.com/office/drawing/2014/main" id="{0C73EAEC-CDD1-4274-906C-9778621DF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4225925"/>
            <a:ext cx="382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15</a:t>
            </a:r>
          </a:p>
        </p:txBody>
      </p:sp>
      <p:sp>
        <p:nvSpPr>
          <p:cNvPr id="26651" name="TextBox 102">
            <a:extLst>
              <a:ext uri="{FF2B5EF4-FFF2-40B4-BE49-F238E27FC236}">
                <a16:creationId xmlns:a16="http://schemas.microsoft.com/office/drawing/2014/main" id="{769F1AC9-47EE-4F3B-9526-FC34094E6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800600"/>
            <a:ext cx="4572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20</a:t>
            </a:r>
          </a:p>
        </p:txBody>
      </p:sp>
      <p:sp>
        <p:nvSpPr>
          <p:cNvPr id="26652" name="TextBox 103">
            <a:extLst>
              <a:ext uri="{FF2B5EF4-FFF2-40B4-BE49-F238E27FC236}">
                <a16:creationId xmlns:a16="http://schemas.microsoft.com/office/drawing/2014/main" id="{60FA717A-6572-42C6-B15F-196BC5653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9413" y="2784475"/>
            <a:ext cx="458787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50</a:t>
            </a:r>
          </a:p>
        </p:txBody>
      </p:sp>
      <p:sp>
        <p:nvSpPr>
          <p:cNvPr id="26653" name="TextBox 104">
            <a:extLst>
              <a:ext uri="{FF2B5EF4-FFF2-40B4-BE49-F238E27FC236}">
                <a16:creationId xmlns:a16="http://schemas.microsoft.com/office/drawing/2014/main" id="{2FCA4846-FCC6-49C9-9048-8DDC221E0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3538" y="2449513"/>
            <a:ext cx="296862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5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8E66616-55B8-4793-8F90-BD1FAE944269}"/>
              </a:ext>
            </a:extLst>
          </p:cNvPr>
          <p:cNvCxnSpPr/>
          <p:nvPr/>
        </p:nvCxnSpPr>
        <p:spPr>
          <a:xfrm>
            <a:off x="1947863" y="2413000"/>
            <a:ext cx="571500" cy="4191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31">
            <a:extLst>
              <a:ext uri="{FF2B5EF4-FFF2-40B4-BE49-F238E27FC236}">
                <a16:creationId xmlns:a16="http://schemas.microsoft.com/office/drawing/2014/main" id="{C6A1C84B-FACA-41D3-9828-06DCD06387F1}"/>
              </a:ext>
            </a:extLst>
          </p:cNvPr>
          <p:cNvSpPr/>
          <p:nvPr/>
        </p:nvSpPr>
        <p:spPr>
          <a:xfrm>
            <a:off x="1916113" y="1619250"/>
            <a:ext cx="6237287" cy="1733550"/>
          </a:xfrm>
          <a:custGeom>
            <a:avLst/>
            <a:gdLst>
              <a:gd name="connsiteX0" fmla="*/ 0 w 6237026"/>
              <a:gd name="connsiteY0" fmla="*/ 668740 h 1733266"/>
              <a:gd name="connsiteX1" fmla="*/ 3398292 w 6237026"/>
              <a:gd name="connsiteY1" fmla="*/ 177421 h 1733266"/>
              <a:gd name="connsiteX2" fmla="*/ 6237026 w 6237026"/>
              <a:gd name="connsiteY2" fmla="*/ 1733266 h 1733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37026" h="1733266">
                <a:moveTo>
                  <a:pt x="0" y="668740"/>
                </a:moveTo>
                <a:cubicBezTo>
                  <a:pt x="1179394" y="334370"/>
                  <a:pt x="2358788" y="0"/>
                  <a:pt x="3398292" y="177421"/>
                </a:cubicBezTo>
                <a:cubicBezTo>
                  <a:pt x="4437796" y="354842"/>
                  <a:pt x="5337411" y="1044054"/>
                  <a:pt x="6237026" y="1733266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6656" name="TextBox 32">
            <a:extLst>
              <a:ext uri="{FF2B5EF4-FFF2-40B4-BE49-F238E27FC236}">
                <a16:creationId xmlns:a16="http://schemas.microsoft.com/office/drawing/2014/main" id="{E5A0DB6F-424D-4996-9013-E6C47E6C3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475" y="2393950"/>
            <a:ext cx="3825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10</a:t>
            </a:r>
          </a:p>
        </p:txBody>
      </p:sp>
      <p:sp>
        <p:nvSpPr>
          <p:cNvPr id="26657" name="TextBox 33">
            <a:extLst>
              <a:ext uri="{FF2B5EF4-FFF2-40B4-BE49-F238E27FC236}">
                <a16:creationId xmlns:a16="http://schemas.microsoft.com/office/drawing/2014/main" id="{83EFDA01-7660-4849-9CD6-27E601A7D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75" y="1536700"/>
            <a:ext cx="458788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90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18BAA6A-D78A-45CE-A50F-E391BBBBE959}"/>
              </a:ext>
            </a:extLst>
          </p:cNvPr>
          <p:cNvSpPr/>
          <p:nvPr/>
        </p:nvSpPr>
        <p:spPr>
          <a:xfrm>
            <a:off x="8001000" y="3352800"/>
            <a:ext cx="457200" cy="4572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G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44BFAF9-ECF4-4804-9A40-E78EA947FBD5}"/>
              </a:ext>
            </a:extLst>
          </p:cNvPr>
          <p:cNvCxnSpPr/>
          <p:nvPr/>
        </p:nvCxnSpPr>
        <p:spPr>
          <a:xfrm>
            <a:off x="3810000" y="2438400"/>
            <a:ext cx="2590800" cy="381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60" name="TextBox 36">
            <a:extLst>
              <a:ext uri="{FF2B5EF4-FFF2-40B4-BE49-F238E27FC236}">
                <a16:creationId xmlns:a16="http://schemas.microsoft.com/office/drawing/2014/main" id="{4CAB262E-894E-43EA-B1B3-1BC6639D9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6613" y="2400300"/>
            <a:ext cx="4587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40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99B93F0-6391-44F6-8576-3C20D9D95E40}"/>
              </a:ext>
            </a:extLst>
          </p:cNvPr>
          <p:cNvCxnSpPr/>
          <p:nvPr/>
        </p:nvCxnSpPr>
        <p:spPr>
          <a:xfrm>
            <a:off x="6781800" y="2830513"/>
            <a:ext cx="1219200" cy="6746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62" name="TextBox 38">
            <a:extLst>
              <a:ext uri="{FF2B5EF4-FFF2-40B4-BE49-F238E27FC236}">
                <a16:creationId xmlns:a16="http://schemas.microsoft.com/office/drawing/2014/main" id="{073A942D-F8BB-4EED-9D39-241DD235A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990850"/>
            <a:ext cx="4572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30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08C242-0079-4413-826F-AF0BFE040D70}"/>
              </a:ext>
            </a:extLst>
          </p:cNvPr>
          <p:cNvSpPr txBox="1"/>
          <p:nvPr/>
        </p:nvSpPr>
        <p:spPr>
          <a:xfrm>
            <a:off x="3657600" y="4267200"/>
            <a:ext cx="434340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  -  A  -  B  -  F  -  K  -  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4E2AB4-394B-4C43-A628-F44D4D43F51A}"/>
              </a:ext>
            </a:extLst>
          </p:cNvPr>
          <p:cNvSpPr txBox="1"/>
          <p:nvPr/>
        </p:nvSpPr>
        <p:spPr>
          <a:xfrm>
            <a:off x="4038600" y="4933950"/>
            <a:ext cx="300037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Dengan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Total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Jarak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= 95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62000"/>
          </a:xfrm>
        </p:spPr>
        <p:txBody>
          <a:bodyPr/>
          <a:lstStyle/>
          <a:p>
            <a:r>
              <a:rPr lang="en-US" i="1" dirty="0"/>
              <a:t>Iterative Deepening A*</a:t>
            </a:r>
            <a:r>
              <a:rPr lang="en-US" dirty="0"/>
              <a:t> (IDA*)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52600"/>
            <a:ext cx="6347714" cy="4288763"/>
          </a:xfrm>
        </p:spPr>
        <p:txBody>
          <a:bodyPr>
            <a:normAutofit/>
          </a:bodyPr>
          <a:lstStyle/>
          <a:p>
            <a:r>
              <a:rPr lang="en-US" sz="2000" dirty="0"/>
              <a:t>A* yang </a:t>
            </a:r>
            <a:r>
              <a:rPr lang="en-US" sz="2000" dirty="0" err="1"/>
              <a:t>iteratif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batasan</a:t>
            </a:r>
            <a:r>
              <a:rPr lang="en-US" sz="2000" dirty="0"/>
              <a:t> </a:t>
            </a:r>
            <a:r>
              <a:rPr lang="en-US" sz="2000" dirty="0" err="1"/>
              <a:t>berupa</a:t>
            </a:r>
            <a:r>
              <a:rPr lang="en-US" sz="2000" dirty="0"/>
              <a:t> </a:t>
            </a:r>
            <a:r>
              <a:rPr lang="en-US" sz="2000" i="1" dirty="0"/>
              <a:t>f-limit</a:t>
            </a:r>
            <a:endParaRPr lang="pt-BR" sz="2000" dirty="0"/>
          </a:p>
          <a:p>
            <a:r>
              <a:rPr lang="pt-BR" sz="2000" b="1" dirty="0"/>
              <a:t>Complete </a:t>
            </a:r>
            <a:r>
              <a:rPr lang="pt-BR" sz="2000" dirty="0"/>
              <a:t>dan </a:t>
            </a:r>
            <a:r>
              <a:rPr lang="pt-BR" sz="2000" b="1" dirty="0"/>
              <a:t>optimal</a:t>
            </a:r>
            <a:endParaRPr lang="pt-BR" sz="2000" dirty="0"/>
          </a:p>
          <a:p>
            <a:r>
              <a:rPr lang="pt-BR" sz="2000" dirty="0"/>
              <a:t>Iteratif </a:t>
            </a:r>
            <a:r>
              <a:rPr lang="pt-BR" sz="2000" dirty="0">
                <a:sym typeface="Wingdings" pitchFamily="2" charset="2"/>
              </a:rPr>
              <a:t> </a:t>
            </a:r>
            <a:r>
              <a:rPr lang="pt-BR" sz="2000" i="1" dirty="0"/>
              <a:t>time complexity</a:t>
            </a:r>
            <a:r>
              <a:rPr lang="pt-BR" sz="2000" dirty="0"/>
              <a:t>-nya tinggi</a:t>
            </a:r>
          </a:p>
          <a:p>
            <a:r>
              <a:rPr lang="pt-BR" sz="2000" dirty="0"/>
              <a:t>Keuntungan: </a:t>
            </a:r>
            <a:r>
              <a:rPr lang="pt-BR" sz="2000" i="1" dirty="0"/>
              <a:t>space complexity </a:t>
            </a:r>
            <a:r>
              <a:rPr lang="pt-BR" sz="2000" dirty="0"/>
              <a:t>sangat rendah</a:t>
            </a:r>
          </a:p>
          <a:p>
            <a:r>
              <a:rPr lang="pt-BR" sz="2000" dirty="0"/>
              <a:t>Sesuai untuk </a:t>
            </a:r>
            <a:r>
              <a:rPr lang="pt-BR" sz="2000" i="1" dirty="0"/>
              <a:t>mobile systems</a:t>
            </a:r>
          </a:p>
          <a:p>
            <a:r>
              <a:rPr lang="pt-BR" sz="2000" dirty="0"/>
              <a:t>F-limit</a:t>
            </a:r>
            <a:r>
              <a:rPr lang="pt-BR" sz="2000" dirty="0">
                <a:sym typeface="Wingdings" panose="05000000000000000000" pitchFamily="2" charset="2"/>
              </a:rPr>
              <a:t>Nilai gabungan antara biaya sebenarnya dan biaya perkiraan</a:t>
            </a:r>
          </a:p>
          <a:p>
            <a:r>
              <a:rPr lang="pt-BR" sz="2000" dirty="0">
                <a:sym typeface="Wingdings" panose="05000000000000000000" pitchFamily="2" charset="2"/>
              </a:rPr>
              <a:t>Pada IDA*setiap iterasi akan mengembalikan nilai f-limit baru yang akan digunakan sebagai batasan untuk pencarian berikutnya</a:t>
            </a:r>
            <a:endParaRPr lang="id-ID" sz="2000" dirty="0"/>
          </a:p>
          <a:p>
            <a:endParaRPr lang="id-ID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D70D2-C212-41E1-919F-00E1D376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0110" y="76200"/>
            <a:ext cx="8763000" cy="678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6B44F0-DC8D-48A7-BBEE-128A37D5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8510C0-C023-46DB-8927-270F0F88F706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6347713" cy="762000"/>
          </a:xfrm>
        </p:spPr>
        <p:txBody>
          <a:bodyPr/>
          <a:lstStyle/>
          <a:p>
            <a:r>
              <a:rPr lang="en-US" dirty="0" err="1"/>
              <a:t>Penjelasan</a:t>
            </a:r>
            <a:r>
              <a:rPr lang="en-US" dirty="0"/>
              <a:t> IDA*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52600"/>
            <a:ext cx="6347714" cy="4288763"/>
          </a:xfrm>
        </p:spPr>
        <p:txBody>
          <a:bodyPr>
            <a:normAutofit/>
          </a:bodyPr>
          <a:lstStyle/>
          <a:p>
            <a:r>
              <a:rPr lang="en-US" sz="2000" dirty="0"/>
              <a:t>Pada </a:t>
            </a:r>
            <a:r>
              <a:rPr lang="en-US" sz="2000" dirty="0" err="1"/>
              <a:t>algoritma</a:t>
            </a:r>
            <a:r>
              <a:rPr lang="en-US" sz="2000" dirty="0"/>
              <a:t> IDA* </a:t>
            </a:r>
            <a:r>
              <a:rPr lang="en-US" sz="2000" dirty="0" err="1"/>
              <a:t>terdapat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</a:t>
            </a:r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 err="1"/>
              <a:t>yaitu</a:t>
            </a:r>
            <a:r>
              <a:rPr lang="en-US" sz="2000" dirty="0"/>
              <a:t> IDA* dan DFS-CONTOUR. </a:t>
            </a:r>
          </a:p>
          <a:p>
            <a:r>
              <a:rPr lang="en-US" sz="2000" dirty="0" err="1"/>
              <a:t>Fungsi</a:t>
            </a:r>
            <a:r>
              <a:rPr lang="en-US" sz="2000" dirty="0"/>
              <a:t> DFS-CONTOUR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 err="1"/>
              <a:t>rekursif</a:t>
            </a:r>
            <a:r>
              <a:rPr lang="en-US" sz="2000" dirty="0"/>
              <a:t> yang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implisit</a:t>
            </a:r>
            <a:r>
              <a:rPr lang="en-US" sz="2000" dirty="0"/>
              <a:t> </a:t>
            </a:r>
            <a:r>
              <a:rPr lang="en-US" sz="2000" dirty="0" err="1"/>
              <a:t>merepresentasikan</a:t>
            </a:r>
            <a:r>
              <a:rPr lang="en-US" sz="2000" dirty="0"/>
              <a:t> backtracking.</a:t>
            </a:r>
          </a:p>
          <a:p>
            <a:r>
              <a:rPr lang="en-US" sz="2000" dirty="0" err="1"/>
              <a:t>Katika</a:t>
            </a:r>
            <a:r>
              <a:rPr lang="en-US" sz="2000" dirty="0"/>
              <a:t> </a:t>
            </a:r>
            <a:r>
              <a:rPr lang="en-US" sz="2000" dirty="0" err="1"/>
              <a:t>pembangkitan</a:t>
            </a:r>
            <a:r>
              <a:rPr lang="en-US" sz="2000" dirty="0"/>
              <a:t> </a:t>
            </a:r>
            <a:r>
              <a:rPr lang="en-US" sz="2000" dirty="0" err="1"/>
              <a:t>simpul</a:t>
            </a:r>
            <a:r>
              <a:rPr lang="en-US" sz="2000" dirty="0"/>
              <a:t> </a:t>
            </a:r>
            <a:r>
              <a:rPr lang="en-US" sz="2000" dirty="0" err="1"/>
              <a:t>sudah</a:t>
            </a:r>
            <a:r>
              <a:rPr lang="en-US" sz="2000" dirty="0"/>
              <a:t> </a:t>
            </a:r>
            <a:r>
              <a:rPr lang="en-US" sz="2000" dirty="0" err="1"/>
              <a:t>melampui</a:t>
            </a:r>
            <a:r>
              <a:rPr lang="en-US" sz="2000" dirty="0"/>
              <a:t> </a:t>
            </a:r>
            <a:r>
              <a:rPr lang="en-US" sz="2000" dirty="0" err="1"/>
              <a:t>batas</a:t>
            </a:r>
            <a:r>
              <a:rPr lang="en-US" sz="2000" dirty="0"/>
              <a:t> f-limit,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dibangkitkan</a:t>
            </a:r>
            <a:r>
              <a:rPr lang="en-US" sz="2000" dirty="0"/>
              <a:t> </a:t>
            </a:r>
            <a:r>
              <a:rPr lang="en-US" sz="2000" dirty="0" err="1"/>
              <a:t>simpul-simpul</a:t>
            </a:r>
            <a:r>
              <a:rPr lang="en-US" sz="2000" dirty="0"/>
              <a:t> pada level </a:t>
            </a:r>
            <a:r>
              <a:rPr lang="en-US" sz="2000" dirty="0" err="1"/>
              <a:t>sebelumnya</a:t>
            </a:r>
            <a:r>
              <a:rPr lang="en-US" sz="2000" dirty="0"/>
              <a:t>.</a:t>
            </a:r>
            <a:endParaRPr lang="id-ID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D70D2-C212-41E1-919F-00E1D376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2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Daftar Pustaka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47800"/>
            <a:ext cx="6858002" cy="4593563"/>
          </a:xfrm>
        </p:spPr>
        <p:txBody>
          <a:bodyPr>
            <a:noAutofit/>
          </a:bodyPr>
          <a:lstStyle/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sz="2000" dirty="0">
                <a:latin typeface="Abadi" panose="020B0604020104020204" pitchFamily="34" charset="0"/>
              </a:rPr>
              <a:t>Russel, Stuart and Norvig, Peter. </a:t>
            </a:r>
            <a:r>
              <a:rPr lang="en-US" sz="2000" dirty="0">
                <a:latin typeface="Abadi" panose="020B0604020104020204" pitchFamily="34" charset="0"/>
              </a:rPr>
              <a:t>2010</a:t>
            </a:r>
            <a:r>
              <a:rPr lang="id-ID" sz="2000" dirty="0">
                <a:latin typeface="Abadi" panose="020B0604020104020204" pitchFamily="34" charset="0"/>
              </a:rPr>
              <a:t>. Artificial Intelligence: A Modern Approach. Prentice Hall International, Inc.</a:t>
            </a:r>
            <a:endParaRPr lang="en-US" sz="2000" dirty="0">
              <a:latin typeface="Abadi" panose="020B0604020104020204" pitchFamily="34" charset="0"/>
            </a:endParaRP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sz="2000" dirty="0">
                <a:latin typeface="Abadi" panose="020B0604020104020204" pitchFamily="34" charset="0"/>
              </a:rPr>
              <a:t>Suyanto. 2007. Artificial Intelligence: Searching, Reasoning, Planning and Learning</a:t>
            </a:r>
            <a:r>
              <a:rPr lang="en-US" sz="2000" dirty="0">
                <a:latin typeface="Abadi" panose="020B0604020104020204" pitchFamily="34" charset="0"/>
              </a:rPr>
              <a:t>.</a:t>
            </a:r>
            <a:r>
              <a:rPr lang="id-ID" sz="2000" dirty="0">
                <a:latin typeface="Abadi" panose="020B0604020104020204" pitchFamily="34" charset="0"/>
              </a:rPr>
              <a:t> Informatika, Bandung Indonesia. ISBN: 979-1153-05-1.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sz="2000" dirty="0">
              <a:latin typeface="Abadi" panose="020B0604020104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FB467C-90CD-4DA3-BC75-CFD173706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Custom 19">
      <a:majorFont>
        <a:latin typeface="Abadi"/>
        <a:ea typeface=""/>
        <a:cs typeface=""/>
      </a:majorFont>
      <a:minorFont>
        <a:latin typeface="Abadi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850</TotalTime>
  <Words>2105</Words>
  <Application>Microsoft Office PowerPoint</Application>
  <PresentationFormat>On-screen Show (4:3)</PresentationFormat>
  <Paragraphs>652</Paragraphs>
  <Slides>52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63" baseType="lpstr">
      <vt:lpstr>Abadi</vt:lpstr>
      <vt:lpstr>Arial</vt:lpstr>
      <vt:lpstr>Calibri</vt:lpstr>
      <vt:lpstr>Constantia</vt:lpstr>
      <vt:lpstr>Times New Roman</vt:lpstr>
      <vt:lpstr>Wingdings</vt:lpstr>
      <vt:lpstr>Wingdings 2</vt:lpstr>
      <vt:lpstr>Wingdings 3</vt:lpstr>
      <vt:lpstr>Facet</vt:lpstr>
      <vt:lpstr>Visio</vt:lpstr>
      <vt:lpstr>Equation</vt:lpstr>
      <vt:lpstr>Searching Part-3 </vt:lpstr>
      <vt:lpstr>Metode Heuristic Search</vt:lpstr>
      <vt:lpstr>Metode Heuristic</vt:lpstr>
      <vt:lpstr>Parameter Kinerja</vt:lpstr>
      <vt:lpstr>Heuristic (Informed)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Generate-and-Test (GT)</vt:lpstr>
      <vt:lpstr>Algoritma GT</vt:lpstr>
      <vt:lpstr>Contoh </vt:lpstr>
      <vt:lpstr>Solusinya</vt:lpstr>
      <vt:lpstr>Algoritma Pencarian G-and-T</vt:lpstr>
      <vt:lpstr>Hasil pencarian</vt:lpstr>
      <vt:lpstr>Hill Climbing (HC)</vt:lpstr>
      <vt:lpstr>Hill Climbing (HC)</vt:lpstr>
      <vt:lpstr>Algoritma Simple HC</vt:lpstr>
      <vt:lpstr>Simple HC</vt:lpstr>
      <vt:lpstr>Contoh lain</vt:lpstr>
      <vt:lpstr>Tree diagram HC</vt:lpstr>
      <vt:lpstr>Steepest-Ascent HC</vt:lpstr>
      <vt:lpstr>Steepest-Ascent HC</vt:lpstr>
      <vt:lpstr>Simulated Annealing (SA)</vt:lpstr>
      <vt:lpstr>Algoritma SA</vt:lpstr>
      <vt:lpstr>Simulated Annealing (SA)</vt:lpstr>
      <vt:lpstr>Best-First Search</vt:lpstr>
      <vt:lpstr>Greedy Best-First Search</vt:lpstr>
      <vt:lpstr>PowerPoint Presentation</vt:lpstr>
      <vt:lpstr>Langkah 1</vt:lpstr>
      <vt:lpstr>Langkah 2</vt:lpstr>
      <vt:lpstr>Langkah 3</vt:lpstr>
      <vt:lpstr>SOLUSI</vt:lpstr>
      <vt:lpstr>Algoritma A*</vt:lpstr>
      <vt:lpstr>Algoritma A*</vt:lpstr>
      <vt:lpstr>PowerPoint Presentation</vt:lpstr>
      <vt:lpstr>PowerPoint Presentation</vt:lpstr>
      <vt:lpstr>Langkah 1</vt:lpstr>
      <vt:lpstr>Langkah 2</vt:lpstr>
      <vt:lpstr>Langkah 3</vt:lpstr>
      <vt:lpstr>Langkah 4</vt:lpstr>
      <vt:lpstr>Langkah 5</vt:lpstr>
      <vt:lpstr>Langkah 6</vt:lpstr>
      <vt:lpstr>Solusi</vt:lpstr>
      <vt:lpstr>Iterative Deepening A* (IDA*)</vt:lpstr>
      <vt:lpstr>PowerPoint Presentation</vt:lpstr>
      <vt:lpstr>Penjelasan IDA*</vt:lpstr>
      <vt:lpstr>Daftar Pustaka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Searching  </dc:title>
  <dc:creator>wiharto</dc:creator>
  <cp:lastModifiedBy>wiharto</cp:lastModifiedBy>
  <cp:revision>74</cp:revision>
  <dcterms:created xsi:type="dcterms:W3CDTF">2020-09-20T12:09:40Z</dcterms:created>
  <dcterms:modified xsi:type="dcterms:W3CDTF">2024-03-14T01:36:14Z</dcterms:modified>
</cp:coreProperties>
</file>