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5" r:id="rId1"/>
  </p:sldMasterIdLst>
  <p:notesMasterIdLst>
    <p:notesMasterId r:id="rId35"/>
  </p:notesMasterIdLst>
  <p:sldIdLst>
    <p:sldId id="256" r:id="rId2"/>
    <p:sldId id="327" r:id="rId3"/>
    <p:sldId id="328" r:id="rId4"/>
    <p:sldId id="329" r:id="rId5"/>
    <p:sldId id="330" r:id="rId6"/>
    <p:sldId id="331" r:id="rId7"/>
    <p:sldId id="521" r:id="rId8"/>
    <p:sldId id="515" r:id="rId9"/>
    <p:sldId id="351" r:id="rId10"/>
    <p:sldId id="352" r:id="rId11"/>
    <p:sldId id="520" r:id="rId12"/>
    <p:sldId id="353" r:id="rId13"/>
    <p:sldId id="514" r:id="rId14"/>
    <p:sldId id="516" r:id="rId15"/>
    <p:sldId id="354" r:id="rId16"/>
    <p:sldId id="519" r:id="rId17"/>
    <p:sldId id="355" r:id="rId18"/>
    <p:sldId id="356" r:id="rId19"/>
    <p:sldId id="357" r:id="rId20"/>
    <p:sldId id="358" r:id="rId21"/>
    <p:sldId id="360" r:id="rId22"/>
    <p:sldId id="359" r:id="rId23"/>
    <p:sldId id="361" r:id="rId24"/>
    <p:sldId id="517" r:id="rId25"/>
    <p:sldId id="368" r:id="rId26"/>
    <p:sldId id="363" r:id="rId27"/>
    <p:sldId id="364" r:id="rId28"/>
    <p:sldId id="365" r:id="rId29"/>
    <p:sldId id="362" r:id="rId30"/>
    <p:sldId id="367" r:id="rId31"/>
    <p:sldId id="366" r:id="rId32"/>
    <p:sldId id="518" r:id="rId33"/>
    <p:sldId id="260" r:id="rId34"/>
  </p:sldIdLst>
  <p:sldSz cx="9144000" cy="6858000" type="screen4x3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F21D8D-821D-481A-AD4C-BD0740389CAE}" v="10" dt="2024-03-14T01:10:56.881"/>
  </p1510:revLst>
</p1510:revInfo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 autoAdjust="0"/>
    <p:restoredTop sz="94645" autoAdjust="0"/>
  </p:normalViewPr>
  <p:slideViewPr>
    <p:cSldViewPr>
      <p:cViewPr varScale="1">
        <p:scale>
          <a:sx n="77" d="100"/>
          <a:sy n="77" d="100"/>
        </p:scale>
        <p:origin x="98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56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harto" userId="26dbef6a-cfea-4e24-8e0c-5099cdaa68f0" providerId="ADAL" clId="{2CF21D8D-821D-481A-AD4C-BD0740389CAE}"/>
    <pc:docChg chg="custSel addSld modSld">
      <pc:chgData name="wiharto" userId="26dbef6a-cfea-4e24-8e0c-5099cdaa68f0" providerId="ADAL" clId="{2CF21D8D-821D-481A-AD4C-BD0740389CAE}" dt="2024-03-18T03:12:17.120" v="66" actId="113"/>
      <pc:docMkLst>
        <pc:docMk/>
      </pc:docMkLst>
      <pc:sldChg chg="modSp mod">
        <pc:chgData name="wiharto" userId="26dbef6a-cfea-4e24-8e0c-5099cdaa68f0" providerId="ADAL" clId="{2CF21D8D-821D-481A-AD4C-BD0740389CAE}" dt="2024-03-14T00:51:44.402" v="32" actId="1076"/>
        <pc:sldMkLst>
          <pc:docMk/>
          <pc:sldMk cId="0" sldId="256"/>
        </pc:sldMkLst>
        <pc:spChg chg="mod">
          <ac:chgData name="wiharto" userId="26dbef6a-cfea-4e24-8e0c-5099cdaa68f0" providerId="ADAL" clId="{2CF21D8D-821D-481A-AD4C-BD0740389CAE}" dt="2024-03-14T00:51:44.402" v="32" actId="1076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wiharto" userId="26dbef6a-cfea-4e24-8e0c-5099cdaa68f0" providerId="ADAL" clId="{2CF21D8D-821D-481A-AD4C-BD0740389CAE}" dt="2024-03-14T00:49:39.137" v="2" actId="26606"/>
          <ac:spMkLst>
            <pc:docMk/>
            <pc:sldMk cId="0" sldId="256"/>
            <ac:spMk id="3" creationId="{294180F2-1073-43BA-84C4-D6DAF80F26C2}"/>
          </ac:spMkLst>
        </pc:spChg>
        <pc:spChg chg="mod">
          <ac:chgData name="wiharto" userId="26dbef6a-cfea-4e24-8e0c-5099cdaa68f0" providerId="ADAL" clId="{2CF21D8D-821D-481A-AD4C-BD0740389CAE}" dt="2024-03-14T00:50:58.228" v="17" actId="20577"/>
          <ac:spMkLst>
            <pc:docMk/>
            <pc:sldMk cId="0" sldId="256"/>
            <ac:spMk id="6147" creationId="{00000000-0000-0000-0000-000000000000}"/>
          </ac:spMkLst>
        </pc:spChg>
        <pc:picChg chg="mod">
          <ac:chgData name="wiharto" userId="26dbef6a-cfea-4e24-8e0c-5099cdaa68f0" providerId="ADAL" clId="{2CF21D8D-821D-481A-AD4C-BD0740389CAE}" dt="2024-03-14T00:49:39.137" v="2" actId="26606"/>
          <ac:picMkLst>
            <pc:docMk/>
            <pc:sldMk cId="0" sldId="256"/>
            <ac:picMk id="6150" creationId="{9B8C49BF-E28B-4773-9D4B-A7492E2B6F9C}"/>
          </ac:picMkLst>
        </pc:pic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0" sldId="260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260"/>
            <ac:spMk id="2" creationId="{6DFB467C-90CD-4DA3-BC75-CFD17370637D}"/>
          </ac:spMkLst>
        </pc:spChg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260"/>
            <ac:spMk id="32770" creationId="{00000000-0000-0000-0000-000000000000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0" sldId="327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327"/>
            <ac:spMk id="4" creationId="{E8568FCB-2FAF-460B-A1D5-F4D1F30D22DB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0" sldId="328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328"/>
            <ac:spMk id="4" creationId="{0612891B-06D2-437A-9F5E-2F38A639CD23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0" sldId="329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329"/>
            <ac:spMk id="3" creationId="{00000000-0000-0000-0000-000000000000}"/>
          </ac:spMkLst>
        </pc:spChg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329"/>
            <ac:spMk id="4" creationId="{F1643173-7B05-4F99-B318-20A03CD540EF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0" sldId="330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330"/>
            <ac:spMk id="4" creationId="{8111CAED-C87A-47F9-AC29-4B1EC1216887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0" sldId="331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331"/>
            <ac:spMk id="3" creationId="{1A4F6F2B-2DA7-48B8-8C1D-48E170F99B0F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0" sldId="351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351"/>
            <ac:spMk id="4" creationId="{3DA2756F-0AF6-4B72-A109-DC45C5CDB0E1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0" sldId="352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352"/>
            <ac:spMk id="5" creationId="{7863A150-E86F-49FD-853A-CAB46262161E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0" sldId="353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353"/>
            <ac:spMk id="3" creationId="{7650D93A-99B6-4ADB-9BC2-DD5D335C65CF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0" sldId="354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354"/>
            <ac:spMk id="4" creationId="{F28B562D-3C68-473A-AA17-B9970032A172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0" sldId="355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355"/>
            <ac:spMk id="3" creationId="{647CE178-2E8B-41A3-9CF6-0F34D7E9FBCA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0" sldId="356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356"/>
            <ac:spMk id="4" creationId="{28BB5ACD-31E1-40B3-854F-D9AC16E15102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0" sldId="357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357"/>
            <ac:spMk id="4" creationId="{FB2FC761-A10B-49E6-85B3-1F018A02C14C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0" sldId="358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358"/>
            <ac:spMk id="2" creationId="{4E729BB3-A047-4896-A3BC-4079D57862B9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0" sldId="359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359"/>
            <ac:spMk id="3" creationId="{A47E3376-1CF1-471A-98B7-10E202F57068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0" sldId="360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360"/>
            <ac:spMk id="4" creationId="{E8997DFF-1423-426E-9D77-685B3E2481C9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0" sldId="361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361"/>
            <ac:spMk id="2" creationId="{EE3DFB19-C390-4C4E-BAE3-5D34111A1F45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0" sldId="362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362"/>
            <ac:spMk id="2" creationId="{F5DBF41C-029D-4C5C-B776-6E1412A06696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0" sldId="363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363"/>
            <ac:spMk id="4" creationId="{69F5AB79-49F6-42D5-8C90-2E5101EE2E63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0" sldId="364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364"/>
            <ac:spMk id="4" creationId="{BD2B5339-8C5A-417F-B3CF-44EBCD5FD64C}"/>
          </ac:spMkLst>
        </pc:spChg>
      </pc:sldChg>
      <pc:sldChg chg="modSp mod">
        <pc:chgData name="wiharto" userId="26dbef6a-cfea-4e24-8e0c-5099cdaa68f0" providerId="ADAL" clId="{2CF21D8D-821D-481A-AD4C-BD0740389CAE}" dt="2024-03-18T03:12:17.120" v="66" actId="113"/>
        <pc:sldMkLst>
          <pc:docMk/>
          <pc:sldMk cId="0" sldId="365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365"/>
            <ac:spMk id="7" creationId="{B31F281A-C5D3-45DF-88B1-D75DB3D494C9}"/>
          </ac:spMkLst>
        </pc:spChg>
        <pc:graphicFrameChg chg="modGraphic">
          <ac:chgData name="wiharto" userId="26dbef6a-cfea-4e24-8e0c-5099cdaa68f0" providerId="ADAL" clId="{2CF21D8D-821D-481A-AD4C-BD0740389CAE}" dt="2024-03-18T03:12:17.120" v="66" actId="113"/>
          <ac:graphicFrameMkLst>
            <pc:docMk/>
            <pc:sldMk cId="0" sldId="365"/>
            <ac:graphicFrameMk id="3" creationId="{00000000-0000-0000-0000-000000000000}"/>
          </ac:graphicFrameMkLst>
        </pc:graphicFrame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0" sldId="366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366"/>
            <ac:spMk id="4" creationId="{BB25DB53-3C85-464C-854B-58CE80BF74AE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0" sldId="367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367"/>
            <ac:spMk id="4" creationId="{FB17D84F-FB0F-4882-8976-147F2FDC2226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0" sldId="368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368"/>
            <ac:spMk id="3" creationId="{00000000-0000-0000-0000-000000000000}"/>
          </ac:spMkLst>
        </pc:spChg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0" sldId="368"/>
            <ac:spMk id="4" creationId="{FE0CAD98-72BA-4CA6-9391-563C039CFD66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3021431196" sldId="514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3021431196" sldId="514"/>
            <ac:spMk id="4" creationId="{E8DE22D9-EE59-4381-A3C0-13EA1FA57A72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444517321" sldId="516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444517321" sldId="516"/>
            <ac:spMk id="4" creationId="{63EA8697-D4DA-46C4-AD24-A00BA879154D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3915584864" sldId="517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3915584864" sldId="517"/>
            <ac:spMk id="2" creationId="{F5CB49DB-DB55-4D09-8CE9-3A330A193F0C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1364144441" sldId="518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1364144441" sldId="518"/>
            <ac:spMk id="4" creationId="{FB17D84F-FB0F-4882-8976-147F2FDC2226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3994129636" sldId="519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3994129636" sldId="519"/>
            <ac:spMk id="4" creationId="{6C36DE8B-E83D-4B25-8CB4-1ECB11660648}"/>
          </ac:spMkLst>
        </pc:spChg>
      </pc:sldChg>
      <pc:sldChg chg="modSp">
        <pc:chgData name="wiharto" userId="26dbef6a-cfea-4e24-8e0c-5099cdaa68f0" providerId="ADAL" clId="{2CF21D8D-821D-481A-AD4C-BD0740389CAE}" dt="2024-03-14T00:49:19.109" v="1"/>
        <pc:sldMkLst>
          <pc:docMk/>
          <pc:sldMk cId="1231483039" sldId="520"/>
        </pc:sldMkLst>
        <pc:spChg chg="mod">
          <ac:chgData name="wiharto" userId="26dbef6a-cfea-4e24-8e0c-5099cdaa68f0" providerId="ADAL" clId="{2CF21D8D-821D-481A-AD4C-BD0740389CAE}" dt="2024-03-14T00:49:19.109" v="1"/>
          <ac:spMkLst>
            <pc:docMk/>
            <pc:sldMk cId="1231483039" sldId="520"/>
            <ac:spMk id="3" creationId="{85BEE337-87D6-4111-BE76-7B5E4976DDA7}"/>
          </ac:spMkLst>
        </pc:spChg>
      </pc:sldChg>
      <pc:sldChg chg="addSp modSp new mod">
        <pc:chgData name="wiharto" userId="26dbef6a-cfea-4e24-8e0c-5099cdaa68f0" providerId="ADAL" clId="{2CF21D8D-821D-481A-AD4C-BD0740389CAE}" dt="2024-03-14T01:11:14.882" v="62" actId="20577"/>
        <pc:sldMkLst>
          <pc:docMk/>
          <pc:sldMk cId="1603822468" sldId="521"/>
        </pc:sldMkLst>
        <pc:spChg chg="mod">
          <ac:chgData name="wiharto" userId="26dbef6a-cfea-4e24-8e0c-5099cdaa68f0" providerId="ADAL" clId="{2CF21D8D-821D-481A-AD4C-BD0740389CAE}" dt="2024-03-14T01:11:14.882" v="62" actId="20577"/>
          <ac:spMkLst>
            <pc:docMk/>
            <pc:sldMk cId="1603822468" sldId="521"/>
            <ac:spMk id="2" creationId="{27ECD0B8-352B-7A3B-B492-6354DB8ED396}"/>
          </ac:spMkLst>
        </pc:spChg>
        <pc:picChg chg="add mod">
          <ac:chgData name="wiharto" userId="26dbef6a-cfea-4e24-8e0c-5099cdaa68f0" providerId="ADAL" clId="{2CF21D8D-821D-481A-AD4C-BD0740389CAE}" dt="2024-03-14T01:10:56.879" v="39" actId="1076"/>
          <ac:picMkLst>
            <pc:docMk/>
            <pc:sldMk cId="1603822468" sldId="521"/>
            <ac:picMk id="1026" creationId="{E0FCEC92-DFE9-8AA7-F81A-B398BE6BE48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F2F0D1-54F1-4A6D-8F3C-553F77D93855}" type="datetimeFigureOut">
              <a:rPr lang="en-ID" smtClean="0"/>
              <a:t>18/03/2024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8E361-E2EA-4EAF-830E-304FFE77AC9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9520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8E361-E2EA-4EAF-830E-304FFE77AC9A}" type="slidenum">
              <a:rPr lang="en-ID" smtClean="0"/>
              <a:t>31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8912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E19A526-783E-4345-8DB3-FD7DA428906C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95C644-29D2-4325-9687-42080E15E81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19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9C41C11-B9C6-4242-BBAB-33C31EAA9068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593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89BC29D-A645-4975-B234-8AC764DC7925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915D47-9FB9-4C3D-8312-C6300706880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156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D8A0FA5-C939-4C2F-8E97-F523B0BF4877}" type="datetime1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4FCC0-BDEE-435B-8273-B96F551D189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014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71263C-94A3-4F76-A2B4-108A51CD55FD}" type="datetime1">
              <a:rPr lang="en-US" smtClean="0"/>
              <a:t>3/18/2024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52CDE2-B0F5-40DA-983F-AE541AE1B83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935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3A0274-985F-4E5D-A1BC-88A55E84573B}" type="datetime1">
              <a:rPr lang="en-US" smtClean="0"/>
              <a:t>3/18/2024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B721A5-36D8-4C2F-A2B5-96132FA7B92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475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34A988-F8E7-427B-B831-1D62A83136DF}" type="datetime1">
              <a:rPr lang="en-US" smtClean="0"/>
              <a:t>3/18/2024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8510C0-C023-46DB-8927-270F0F88F70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106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C5BF61-328A-4FCC-9AFD-E627129CEEA5}" type="datetime1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489344-A47A-47E0-8248-6433CD4F27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465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D61AA81-A872-48C3-8BC0-4C782B7FACA8}" type="datetime1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1C99E4-6C66-43B3-8DED-FDFED141EBF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322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59EF02A-1C91-41F9-85CD-4FCDFD3DFD06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97348C-2278-4979-91F5-76EB2E301FB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69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CEF0B8-F657-41A4-975D-B0387E4C2E72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97348C-2278-4979-91F5-76EB2E301FB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2600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9EFA90-8952-4FF5-825B-E0A92B11ECF5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97348C-2278-4979-91F5-76EB2E301FB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8432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2BA0D91-7A54-458C-BD89-9B06492A80F4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97348C-2278-4979-91F5-76EB2E301FB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54872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AD555E-1109-40DD-B9E3-54AD1B2F510A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97348C-2278-4979-91F5-76EB2E301FB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211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0228AC0-637E-43D2-9494-78153B0DFF7F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206658-2488-4A26-8DE4-A83D37A309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638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56B432-C5E6-4CD2-B959-3FBA62245CE1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D21A00-107F-4C42-AC10-8EAE8F3260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95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0ACB78E-13F0-4439-9C7C-6F902E8FE4F5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C397348C-2278-4979-91F5-76EB2E301FB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627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  <p:sldLayoutId id="2147483887" r:id="rId12"/>
    <p:sldLayoutId id="2147483888" r:id="rId13"/>
    <p:sldLayoutId id="2147483889" r:id="rId14"/>
    <p:sldLayoutId id="2147483890" r:id="rId15"/>
    <p:sldLayoutId id="2147483891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3271" y="2514600"/>
            <a:ext cx="2971800" cy="1343519"/>
          </a:xfrm>
        </p:spPr>
        <p:txBody>
          <a:bodyPr>
            <a:normAutofit fontScale="90000"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5000" dirty="0"/>
              <a:t>Searching </a:t>
            </a:r>
            <a:br>
              <a:rPr lang="en-US" sz="5000" dirty="0"/>
            </a:br>
            <a:r>
              <a:rPr lang="en-US" sz="5000" dirty="0"/>
              <a:t>Part-2</a:t>
            </a:r>
            <a:endParaRPr lang="id-ID" sz="5000" dirty="0"/>
          </a:p>
        </p:txBody>
      </p:sp>
      <p:sp>
        <p:nvSpPr>
          <p:cNvPr id="6147" name="Subtitle 2"/>
          <p:cNvSpPr>
            <a:spLocks noGrp="1"/>
          </p:cNvSpPr>
          <p:nvPr>
            <p:ph type="subTitle" idx="1"/>
          </p:nvPr>
        </p:nvSpPr>
        <p:spPr>
          <a:xfrm>
            <a:off x="1130300" y="4453667"/>
            <a:ext cx="4356100" cy="1096899"/>
          </a:xfrm>
        </p:spPr>
        <p:txBody>
          <a:bodyPr>
            <a:normAutofit/>
          </a:bodyPr>
          <a:lstStyle/>
          <a:p>
            <a:pPr marR="0"/>
            <a:r>
              <a:rPr lang="en-US" dirty="0" err="1"/>
              <a:t>Pertemuan</a:t>
            </a:r>
            <a:r>
              <a:rPr lang="en-US" dirty="0"/>
              <a:t> ke-4</a:t>
            </a:r>
          </a:p>
        </p:txBody>
      </p:sp>
      <p:pic>
        <p:nvPicPr>
          <p:cNvPr id="6150" name="Graphic 70" descr="Magnifying glass">
            <a:extLst>
              <a:ext uri="{FF2B5EF4-FFF2-40B4-BE49-F238E27FC236}">
                <a16:creationId xmlns:a16="http://schemas.microsoft.com/office/drawing/2014/main" id="{9B8C49BF-E28B-4773-9D4B-A7492E2B6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1998" y="2334119"/>
            <a:ext cx="2460460" cy="246046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4180F2-1073-43BA-84C4-D6DAF80F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42997" y="6041362"/>
            <a:ext cx="51250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6D95C644-29D2-4325-9687-42080E15E814}" type="slidenum">
              <a:rPr lang="en-US" smtClean="0"/>
              <a:pPr>
                <a:spcAft>
                  <a:spcPts val="600"/>
                </a:spcAft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685800"/>
          </a:xfrm>
        </p:spPr>
        <p:txBody>
          <a:bodyPr/>
          <a:lstStyle/>
          <a:p>
            <a:r>
              <a:rPr lang="en-US" dirty="0" err="1"/>
              <a:t>Metode-metode</a:t>
            </a:r>
            <a:r>
              <a:rPr lang="en-US" dirty="0"/>
              <a:t> Searching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00200"/>
            <a:ext cx="6347714" cy="4441163"/>
          </a:xfrm>
        </p:spPr>
        <p:txBody>
          <a:bodyPr>
            <a:normAutofit/>
          </a:bodyPr>
          <a:lstStyle/>
          <a:p>
            <a:r>
              <a:rPr lang="en-US" sz="2000" b="1" i="1" dirty="0">
                <a:latin typeface="Abadi" panose="020B0604020104020204" pitchFamily="34" charset="0"/>
              </a:rPr>
              <a:t>Blind </a:t>
            </a:r>
            <a:r>
              <a:rPr lang="en-US" sz="2000" b="1" dirty="0">
                <a:latin typeface="Abadi" panose="020B0604020104020204" pitchFamily="34" charset="0"/>
              </a:rPr>
              <a:t>(</a:t>
            </a:r>
            <a:r>
              <a:rPr lang="en-US" sz="2000" b="1" i="1" dirty="0">
                <a:latin typeface="Abadi" panose="020B0604020104020204" pitchFamily="34" charset="0"/>
              </a:rPr>
              <a:t>un-informed</a:t>
            </a:r>
            <a:r>
              <a:rPr lang="en-US" sz="2000" b="1" dirty="0">
                <a:latin typeface="Abadi" panose="020B0604020104020204" pitchFamily="34" charset="0"/>
              </a:rPr>
              <a:t>)</a:t>
            </a:r>
          </a:p>
          <a:p>
            <a:pPr lvl="1"/>
            <a:r>
              <a:rPr lang="en-US" sz="2000" dirty="0" err="1">
                <a:latin typeface="Abadi" panose="020B0604020104020204" pitchFamily="34" charset="0"/>
              </a:rPr>
              <a:t>Tanpa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informasi</a:t>
            </a:r>
            <a:endParaRPr lang="en-US" sz="2000" dirty="0">
              <a:latin typeface="Abadi" panose="020B0604020104020204" pitchFamily="34" charset="0"/>
            </a:endParaRPr>
          </a:p>
          <a:p>
            <a:pPr lvl="1"/>
            <a:r>
              <a:rPr lang="en-US" sz="2000" dirty="0" err="1">
                <a:latin typeface="Abadi" panose="020B0604020104020204" pitchFamily="34" charset="0"/>
              </a:rPr>
              <a:t>Kompleksitas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tinggi</a:t>
            </a:r>
            <a:endParaRPr lang="en-US" sz="2000" dirty="0">
              <a:latin typeface="Abadi" panose="020B0604020104020204" pitchFamily="34" charset="0"/>
            </a:endParaRPr>
          </a:p>
          <a:p>
            <a:r>
              <a:rPr lang="en-US" sz="2000" b="1" i="1" dirty="0">
                <a:latin typeface="Abadi" panose="020B0604020104020204" pitchFamily="34" charset="0"/>
              </a:rPr>
              <a:t>Heuristic </a:t>
            </a:r>
            <a:r>
              <a:rPr lang="en-US" sz="2000" b="1" dirty="0">
                <a:latin typeface="Abadi" panose="020B0604020104020204" pitchFamily="34" charset="0"/>
              </a:rPr>
              <a:t>(</a:t>
            </a:r>
            <a:r>
              <a:rPr lang="en-US" sz="2000" b="1" i="1" dirty="0">
                <a:latin typeface="Abadi" panose="020B0604020104020204" pitchFamily="34" charset="0"/>
              </a:rPr>
              <a:t>informed</a:t>
            </a:r>
            <a:r>
              <a:rPr lang="en-US" sz="2000" b="1" dirty="0">
                <a:latin typeface="Abadi" panose="020B0604020104020204" pitchFamily="34" charset="0"/>
              </a:rPr>
              <a:t>)</a:t>
            </a:r>
          </a:p>
          <a:p>
            <a:pPr lvl="1"/>
            <a:r>
              <a:rPr lang="en-US" sz="2000" dirty="0" err="1">
                <a:latin typeface="Abadi" panose="020B0604020104020204" pitchFamily="34" charset="0"/>
              </a:rPr>
              <a:t>Dengan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informasi</a:t>
            </a:r>
            <a:endParaRPr lang="en-US" sz="2000" dirty="0">
              <a:latin typeface="Abadi" panose="020B0604020104020204" pitchFamily="34" charset="0"/>
            </a:endParaRPr>
          </a:p>
          <a:p>
            <a:pPr lvl="1"/>
            <a:r>
              <a:rPr lang="en-US" sz="2000" dirty="0" err="1">
                <a:latin typeface="Abadi" panose="020B0604020104020204" pitchFamily="34" charset="0"/>
              </a:rPr>
              <a:t>Kompleksitas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relatif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rendah</a:t>
            </a:r>
            <a:endParaRPr lang="id-ID" sz="2000" dirty="0">
              <a:latin typeface="Abadi" panose="020B06040201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68FCB-2FAF-460B-A1D5-F4D1F30D2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77875"/>
          </a:xfrm>
        </p:spPr>
        <p:txBody>
          <a:bodyPr/>
          <a:lstStyle/>
          <a:p>
            <a:r>
              <a:rPr lang="en-US" dirty="0"/>
              <a:t>Parameter Kinerja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52600"/>
            <a:ext cx="6347714" cy="4288763"/>
          </a:xfrm>
        </p:spPr>
        <p:txBody>
          <a:bodyPr>
            <a:noAutofit/>
          </a:bodyPr>
          <a:lstStyle/>
          <a:p>
            <a:pPr lvl="0"/>
            <a:r>
              <a:rPr lang="id-ID" sz="2000" b="1" i="1" dirty="0">
                <a:latin typeface="Abadi" panose="020B0604020104020204" pitchFamily="34" charset="0"/>
              </a:rPr>
              <a:t>Completeness</a:t>
            </a:r>
            <a:endParaRPr lang="en-US" sz="2000" dirty="0">
              <a:latin typeface="Abadi" panose="020B0604020104020204" pitchFamily="34" charset="0"/>
            </a:endParaRPr>
          </a:p>
          <a:p>
            <a:pPr lvl="1"/>
            <a:r>
              <a:rPr lang="id-ID" sz="2000" dirty="0">
                <a:latin typeface="Abadi" panose="020B0604020104020204" pitchFamily="34" charset="0"/>
              </a:rPr>
              <a:t>Apakah metode tersebut </a:t>
            </a:r>
            <a:r>
              <a:rPr lang="id-ID" sz="2000" b="1" dirty="0">
                <a:latin typeface="Abadi" panose="020B0604020104020204" pitchFamily="34" charset="0"/>
              </a:rPr>
              <a:t>menjamin penemuan solusi</a:t>
            </a:r>
            <a:r>
              <a:rPr lang="id-ID" sz="2000" dirty="0">
                <a:latin typeface="Abadi" panose="020B0604020104020204" pitchFamily="34" charset="0"/>
              </a:rPr>
              <a:t> jika solusinya memang ada?</a:t>
            </a:r>
          </a:p>
          <a:p>
            <a:pPr lvl="0"/>
            <a:r>
              <a:rPr lang="en-US" sz="2000" b="1" i="1" dirty="0">
                <a:latin typeface="Abadi" panose="020B0604020104020204" pitchFamily="34" charset="0"/>
              </a:rPr>
              <a:t>Time complexity</a:t>
            </a:r>
          </a:p>
          <a:p>
            <a:pPr lvl="1"/>
            <a:r>
              <a:rPr lang="en-US" sz="2000" dirty="0" err="1">
                <a:latin typeface="Abadi" panose="020B0604020104020204" pitchFamily="34" charset="0"/>
              </a:rPr>
              <a:t>Berapa</a:t>
            </a:r>
            <a:r>
              <a:rPr lang="en-US" sz="2000" dirty="0">
                <a:latin typeface="Abadi" panose="020B0604020104020204" pitchFamily="34" charset="0"/>
              </a:rPr>
              <a:t> lama </a:t>
            </a:r>
            <a:r>
              <a:rPr lang="en-US" sz="2000" b="1" dirty="0" err="1">
                <a:latin typeface="Abadi" panose="020B0604020104020204" pitchFamily="34" charset="0"/>
              </a:rPr>
              <a:t>waktu</a:t>
            </a:r>
            <a:r>
              <a:rPr lang="en-US" sz="2000" dirty="0">
                <a:latin typeface="Abadi" panose="020B0604020104020204" pitchFamily="34" charset="0"/>
              </a:rPr>
              <a:t> yang </a:t>
            </a:r>
            <a:r>
              <a:rPr lang="en-US" sz="2000" dirty="0" err="1">
                <a:latin typeface="Abadi" panose="020B0604020104020204" pitchFamily="34" charset="0"/>
              </a:rPr>
              <a:t>diperlukan</a:t>
            </a:r>
            <a:r>
              <a:rPr lang="en-US" sz="2000" dirty="0">
                <a:latin typeface="Abadi" panose="020B0604020104020204" pitchFamily="34" charset="0"/>
              </a:rPr>
              <a:t>?</a:t>
            </a:r>
            <a:endParaRPr lang="id-ID" sz="2000" dirty="0">
              <a:latin typeface="Abadi" panose="020B0604020104020204" pitchFamily="34" charset="0"/>
            </a:endParaRPr>
          </a:p>
          <a:p>
            <a:pPr lvl="0"/>
            <a:r>
              <a:rPr lang="en-US" sz="2000" b="1" i="1" dirty="0">
                <a:latin typeface="Abadi" panose="020B0604020104020204" pitchFamily="34" charset="0"/>
              </a:rPr>
              <a:t>Space complexity</a:t>
            </a:r>
          </a:p>
          <a:p>
            <a:pPr lvl="1"/>
            <a:r>
              <a:rPr lang="en-US" sz="2000" dirty="0" err="1">
                <a:latin typeface="Abadi" panose="020B0604020104020204" pitchFamily="34" charset="0"/>
              </a:rPr>
              <a:t>Berapa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banyak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b="1" dirty="0" err="1">
                <a:latin typeface="Abadi" panose="020B0604020104020204" pitchFamily="34" charset="0"/>
              </a:rPr>
              <a:t>memori</a:t>
            </a:r>
            <a:r>
              <a:rPr lang="en-US" sz="2000" dirty="0">
                <a:latin typeface="Abadi" panose="020B0604020104020204" pitchFamily="34" charset="0"/>
              </a:rPr>
              <a:t> yang </a:t>
            </a:r>
            <a:r>
              <a:rPr lang="en-US" sz="2000" dirty="0" err="1">
                <a:latin typeface="Abadi" panose="020B0604020104020204" pitchFamily="34" charset="0"/>
              </a:rPr>
              <a:t>diperlukan</a:t>
            </a:r>
            <a:r>
              <a:rPr lang="en-US" sz="2000" dirty="0">
                <a:latin typeface="Abadi" panose="020B0604020104020204" pitchFamily="34" charset="0"/>
              </a:rPr>
              <a:t>?</a:t>
            </a:r>
            <a:endParaRPr lang="id-ID" sz="2000" dirty="0">
              <a:latin typeface="Abadi" panose="020B0604020104020204" pitchFamily="34" charset="0"/>
            </a:endParaRPr>
          </a:p>
          <a:p>
            <a:r>
              <a:rPr lang="id-ID" sz="2000" b="1" i="1" dirty="0">
                <a:latin typeface="Abadi" panose="020B0604020104020204" pitchFamily="34" charset="0"/>
              </a:rPr>
              <a:t>Optimality</a:t>
            </a:r>
            <a:endParaRPr lang="en-US" sz="2000" b="1" i="1" dirty="0">
              <a:latin typeface="Abadi" panose="020B0604020104020204" pitchFamily="34" charset="0"/>
            </a:endParaRPr>
          </a:p>
          <a:p>
            <a:pPr lvl="1"/>
            <a:r>
              <a:rPr lang="id-ID" sz="2000" dirty="0">
                <a:latin typeface="Abadi" panose="020B0604020104020204" pitchFamily="34" charset="0"/>
              </a:rPr>
              <a:t>Apakah metode tersebut menjamin menemukan solusi yang </a:t>
            </a:r>
            <a:r>
              <a:rPr lang="id-ID" sz="2000" b="1" dirty="0">
                <a:latin typeface="Abadi" panose="020B0604020104020204" pitchFamily="34" charset="0"/>
              </a:rPr>
              <a:t>terbaik</a:t>
            </a:r>
            <a:r>
              <a:rPr lang="id-ID" sz="2000" dirty="0">
                <a:latin typeface="Abadi" panose="020B0604020104020204" pitchFamily="34" charset="0"/>
              </a:rPr>
              <a:t> jika terdapat beberapa solusi berbeda?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2891B-06D2-437A-9F5E-2F38A639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685800"/>
          </a:xfrm>
        </p:spPr>
        <p:txBody>
          <a:bodyPr/>
          <a:lstStyle/>
          <a:p>
            <a:r>
              <a:rPr lang="id-ID" i="1" dirty="0"/>
              <a:t>Blind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id-ID" i="1" dirty="0"/>
              <a:t>Un-informed</a:t>
            </a:r>
            <a:r>
              <a:rPr lang="en-US" dirty="0"/>
              <a:t>)</a:t>
            </a:r>
            <a:r>
              <a:rPr lang="id-ID" dirty="0"/>
              <a:t> </a:t>
            </a:r>
            <a:r>
              <a:rPr lang="en-US" i="1" dirty="0"/>
              <a:t>S</a:t>
            </a:r>
            <a:r>
              <a:rPr lang="id-ID" i="1" dirty="0"/>
              <a:t>earch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i="1" dirty="0">
                <a:latin typeface="Abadi" panose="020B0604020104020204" pitchFamily="34" charset="0"/>
              </a:rPr>
              <a:t>Breadth-First Search</a:t>
            </a:r>
            <a:r>
              <a:rPr lang="en-US" sz="2000" dirty="0">
                <a:latin typeface="Abadi" panose="020B0604020104020204" pitchFamily="34" charset="0"/>
              </a:rPr>
              <a:t> (BFS)</a:t>
            </a:r>
          </a:p>
          <a:p>
            <a:r>
              <a:rPr lang="en-US" sz="2000" i="1" dirty="0">
                <a:latin typeface="Abadi" panose="020B0604020104020204" pitchFamily="34" charset="0"/>
              </a:rPr>
              <a:t>Depth-First Search </a:t>
            </a:r>
            <a:r>
              <a:rPr lang="en-US" sz="2000" dirty="0">
                <a:latin typeface="Abadi" panose="020B0604020104020204" pitchFamily="34" charset="0"/>
              </a:rPr>
              <a:t>(DFS)</a:t>
            </a:r>
          </a:p>
          <a:p>
            <a:r>
              <a:rPr lang="en-US" sz="2000" i="1" dirty="0">
                <a:latin typeface="Abadi" panose="020B0604020104020204" pitchFamily="34" charset="0"/>
              </a:rPr>
              <a:t>Depth-Limited Search </a:t>
            </a:r>
            <a:r>
              <a:rPr lang="en-US" sz="2000" dirty="0">
                <a:latin typeface="Abadi" panose="020B0604020104020204" pitchFamily="34" charset="0"/>
              </a:rPr>
              <a:t>(DLS)</a:t>
            </a:r>
          </a:p>
          <a:p>
            <a:r>
              <a:rPr lang="en-US" sz="2000" i="1" dirty="0">
                <a:latin typeface="Abadi" panose="020B0604020104020204" pitchFamily="34" charset="0"/>
              </a:rPr>
              <a:t>Uniform Cost Search </a:t>
            </a:r>
            <a:r>
              <a:rPr lang="en-US" sz="2000" dirty="0">
                <a:latin typeface="Abadi" panose="020B0604020104020204" pitchFamily="34" charset="0"/>
              </a:rPr>
              <a:t>(UCS)</a:t>
            </a:r>
          </a:p>
          <a:p>
            <a:r>
              <a:rPr lang="en-US" sz="2000" i="1" dirty="0">
                <a:latin typeface="Abadi" panose="020B0604020104020204" pitchFamily="34" charset="0"/>
              </a:rPr>
              <a:t>Iterative-Deepening Search </a:t>
            </a:r>
            <a:r>
              <a:rPr lang="en-US" sz="2000" dirty="0">
                <a:latin typeface="Abadi" panose="020B0604020104020204" pitchFamily="34" charset="0"/>
              </a:rPr>
              <a:t>(IDS)</a:t>
            </a:r>
          </a:p>
          <a:p>
            <a:r>
              <a:rPr lang="en-US" sz="2000" i="1" dirty="0">
                <a:latin typeface="Abadi" panose="020B0604020104020204" pitchFamily="34" charset="0"/>
              </a:rPr>
              <a:t>Bi-Directional Search </a:t>
            </a:r>
            <a:r>
              <a:rPr lang="en-US" sz="2000" dirty="0">
                <a:latin typeface="Abadi" panose="020B0604020104020204" pitchFamily="34" charset="0"/>
              </a:rPr>
              <a:t>(BDS)</a:t>
            </a:r>
            <a:endParaRPr lang="id-ID" sz="2000" dirty="0">
              <a:latin typeface="Abadi" panose="020B06040201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43173-7B05-4F99-B318-20A03CD54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01675"/>
          </a:xfrm>
        </p:spPr>
        <p:txBody>
          <a:bodyPr/>
          <a:lstStyle/>
          <a:p>
            <a:r>
              <a:rPr lang="en-US"/>
              <a:t>Ruang Pencarian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76400"/>
            <a:ext cx="6347714" cy="4364963"/>
          </a:xfrm>
        </p:spPr>
        <p:txBody>
          <a:bodyPr>
            <a:normAutofit/>
          </a:bodyPr>
          <a:lstStyle/>
          <a:p>
            <a:r>
              <a:rPr lang="en-US" sz="2000">
                <a:latin typeface="Abadi" panose="020B0604020104020204" pitchFamily="34" charset="0"/>
              </a:rPr>
              <a:t>Penghitungan ruang pencarian:</a:t>
            </a:r>
          </a:p>
          <a:p>
            <a:pPr lvl="1"/>
            <a:r>
              <a:rPr lang="en-US" sz="2000">
                <a:latin typeface="Abadi" panose="020B0604020104020204" pitchFamily="34" charset="0"/>
              </a:rPr>
              <a:t>Faktor pencabangan atau </a:t>
            </a:r>
            <a:r>
              <a:rPr lang="en-US" sz="2000" b="1" i="1">
                <a:latin typeface="Abadi" panose="020B0604020104020204" pitchFamily="34" charset="0"/>
              </a:rPr>
              <a:t>branching factor</a:t>
            </a:r>
            <a:r>
              <a:rPr lang="en-US" sz="2000" i="1">
                <a:latin typeface="Abadi" panose="020B0604020104020204" pitchFamily="34" charset="0"/>
              </a:rPr>
              <a:t> </a:t>
            </a:r>
            <a:r>
              <a:rPr lang="en-US" sz="2000">
                <a:latin typeface="Abadi" panose="020B0604020104020204" pitchFamily="34" charset="0"/>
              </a:rPr>
              <a:t>(</a:t>
            </a:r>
            <a:r>
              <a:rPr lang="en-US" sz="2000" i="1">
                <a:latin typeface="Abadi" panose="020B0604020104020204" pitchFamily="34" charset="0"/>
              </a:rPr>
              <a:t>b</a:t>
            </a:r>
            <a:r>
              <a:rPr lang="en-US" sz="2000">
                <a:latin typeface="Abadi" panose="020B0604020104020204" pitchFamily="34" charset="0"/>
              </a:rPr>
              <a:t>)</a:t>
            </a:r>
          </a:p>
          <a:p>
            <a:pPr lvl="1"/>
            <a:r>
              <a:rPr lang="en-US" sz="2000">
                <a:latin typeface="Abadi" panose="020B0604020104020204" pitchFamily="34" charset="0"/>
              </a:rPr>
              <a:t>Kedalaman solusi atau </a:t>
            </a:r>
            <a:r>
              <a:rPr lang="en-US" sz="2000" b="1" i="1">
                <a:latin typeface="Abadi" panose="020B0604020104020204" pitchFamily="34" charset="0"/>
              </a:rPr>
              <a:t>depth</a:t>
            </a:r>
            <a:r>
              <a:rPr lang="en-US" sz="2000">
                <a:latin typeface="Abadi" panose="020B0604020104020204" pitchFamily="34" charset="0"/>
              </a:rPr>
              <a:t> (</a:t>
            </a:r>
            <a:r>
              <a:rPr lang="en-US" sz="2000" i="1">
                <a:latin typeface="Abadi" panose="020B0604020104020204" pitchFamily="34" charset="0"/>
              </a:rPr>
              <a:t>d</a:t>
            </a:r>
            <a:r>
              <a:rPr lang="en-US" sz="2000">
                <a:latin typeface="Abadi" panose="020B0604020104020204" pitchFamily="34" charset="0"/>
              </a:rPr>
              <a:t>)</a:t>
            </a:r>
          </a:p>
          <a:p>
            <a:r>
              <a:rPr lang="en-US" sz="2000">
                <a:latin typeface="Abadi" panose="020B0604020104020204" pitchFamily="34" charset="0"/>
              </a:rPr>
              <a:t>8</a:t>
            </a:r>
            <a:r>
              <a:rPr lang="en-US" sz="2000" i="1">
                <a:latin typeface="Abadi" panose="020B0604020104020204" pitchFamily="34" charset="0"/>
              </a:rPr>
              <a:t>-Puzzle </a:t>
            </a:r>
            <a:r>
              <a:rPr lang="en-US" sz="2000" i="1">
                <a:latin typeface="Abadi" panose="020B0604020104020204" pitchFamily="34" charset="0"/>
                <a:sym typeface="Wingdings" pitchFamily="2" charset="2"/>
              </a:rPr>
              <a:t> </a:t>
            </a:r>
            <a:r>
              <a:rPr lang="en-US" sz="2000">
                <a:latin typeface="Abadi" panose="020B0604020104020204" pitchFamily="34" charset="0"/>
              </a:rPr>
              <a:t> </a:t>
            </a:r>
            <a:r>
              <a:rPr lang="en-US" sz="2000" i="1">
                <a:latin typeface="Abadi" panose="020B0604020104020204" pitchFamily="34" charset="0"/>
              </a:rPr>
              <a:t>b</a:t>
            </a:r>
            <a:r>
              <a:rPr lang="en-US" sz="2000">
                <a:latin typeface="Abadi" panose="020B0604020104020204" pitchFamily="34" charset="0"/>
              </a:rPr>
              <a:t> = 2,13</a:t>
            </a:r>
          </a:p>
          <a:p>
            <a:r>
              <a:rPr lang="en-US" sz="2000">
                <a:latin typeface="Abadi" panose="020B0604020104020204" pitchFamily="34" charset="0"/>
              </a:rPr>
              <a:t>Rubik’</a:t>
            </a:r>
            <a:r>
              <a:rPr lang="en-US" sz="2000" i="1">
                <a:latin typeface="Abadi" panose="020B0604020104020204" pitchFamily="34" charset="0"/>
              </a:rPr>
              <a:t>s</a:t>
            </a:r>
            <a:r>
              <a:rPr lang="en-US" sz="2000">
                <a:latin typeface="Abadi" panose="020B0604020104020204" pitchFamily="34" charset="0"/>
              </a:rPr>
              <a:t> cube </a:t>
            </a:r>
            <a:r>
              <a:rPr lang="en-US" sz="2000">
                <a:latin typeface="Abadi" panose="020B0604020104020204" pitchFamily="34" charset="0"/>
                <a:sym typeface="Wingdings" pitchFamily="2" charset="2"/>
              </a:rPr>
              <a:t> </a:t>
            </a:r>
            <a:r>
              <a:rPr lang="en-US" sz="2000" i="1">
                <a:latin typeface="Abadi" panose="020B0604020104020204" pitchFamily="34" charset="0"/>
              </a:rPr>
              <a:t>b</a:t>
            </a:r>
            <a:r>
              <a:rPr lang="en-US" sz="2000">
                <a:latin typeface="Abadi" panose="020B0604020104020204" pitchFamily="34" charset="0"/>
              </a:rPr>
              <a:t> = 13,34</a:t>
            </a:r>
          </a:p>
          <a:p>
            <a:r>
              <a:rPr lang="en-US" sz="2000">
                <a:latin typeface="Abadi" panose="020B0604020104020204" pitchFamily="34" charset="0"/>
              </a:rPr>
              <a:t>Permainan Catur </a:t>
            </a:r>
            <a:r>
              <a:rPr lang="en-US" sz="2000">
                <a:latin typeface="Abadi" panose="020B0604020104020204" pitchFamily="34" charset="0"/>
                <a:sym typeface="Wingdings" pitchFamily="2" charset="2"/>
              </a:rPr>
              <a:t> </a:t>
            </a:r>
            <a:r>
              <a:rPr lang="en-US" sz="2000">
                <a:latin typeface="Abadi" panose="020B0604020104020204" pitchFamily="34" charset="0"/>
              </a:rPr>
              <a:t>rata-rata </a:t>
            </a:r>
            <a:r>
              <a:rPr lang="en-US" sz="2000" i="1">
                <a:latin typeface="Abadi" panose="020B0604020104020204" pitchFamily="34" charset="0"/>
              </a:rPr>
              <a:t>b =</a:t>
            </a:r>
            <a:r>
              <a:rPr lang="en-US" sz="2000">
                <a:latin typeface="Abadi" panose="020B0604020104020204" pitchFamily="34" charset="0"/>
              </a:rPr>
              <a:t> 35</a:t>
            </a:r>
            <a:endParaRPr lang="id-ID" sz="2000" dirty="0">
              <a:latin typeface="Abadi" panose="020B06040201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1CAED-C87A-47F9-AC29-4B1EC1216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990597"/>
          </a:xfrm>
        </p:spPr>
        <p:txBody>
          <a:bodyPr/>
          <a:lstStyle/>
          <a:p>
            <a:r>
              <a:rPr lang="en-US" i="1" dirty="0"/>
              <a:t>Breadth-First Search </a:t>
            </a:r>
            <a:r>
              <a:rPr lang="en-US" dirty="0"/>
              <a:t>(BFS)</a:t>
            </a:r>
            <a:endParaRPr lang="id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4F6F2B-2DA7-48B8-8C1D-48E170F99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B721A5-36D8-4C2F-A2B5-96132FA7B92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aphicFrame>
        <p:nvGraphicFramePr>
          <p:cNvPr id="28673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7157696"/>
              </p:ext>
            </p:extLst>
          </p:nvPr>
        </p:nvGraphicFramePr>
        <p:xfrm>
          <a:off x="685800" y="3815688"/>
          <a:ext cx="8243455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205764" imgH="1343025" progId="Visio.Drawing.11">
                  <p:embed/>
                </p:oleObj>
              </mc:Choice>
              <mc:Fallback>
                <p:oleObj name="Visio" r:id="rId2" imgW="4205764" imgH="1343025" progId="Visio.Drawing.11">
                  <p:embed/>
                  <p:pic>
                    <p:nvPicPr>
                      <p:cNvPr id="2867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815688"/>
                        <a:ext cx="8243455" cy="2590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952530F-E979-474A-973D-F9DFECA2FE48}"/>
              </a:ext>
            </a:extLst>
          </p:cNvPr>
          <p:cNvSpPr txBox="1">
            <a:spLocks/>
          </p:cNvSpPr>
          <p:nvPr/>
        </p:nvSpPr>
        <p:spPr>
          <a:xfrm>
            <a:off x="609598" y="1676401"/>
            <a:ext cx="7086601" cy="19050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>
                <a:latin typeface="Abadi" panose="020B0604020104020204" pitchFamily="34" charset="0"/>
              </a:rPr>
              <a:t>Pencarian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dilakukan</a:t>
            </a:r>
            <a:r>
              <a:rPr lang="en-US" sz="2000" dirty="0">
                <a:latin typeface="Abadi" panose="020B0604020104020204" pitchFamily="34" charset="0"/>
              </a:rPr>
              <a:t> pada </a:t>
            </a:r>
            <a:r>
              <a:rPr lang="en-US" sz="2000" b="1" dirty="0" err="1">
                <a:solidFill>
                  <a:srgbClr val="FF0000"/>
                </a:solidFill>
                <a:latin typeface="Abadi" panose="020B0604020104020204" pitchFamily="34" charset="0"/>
              </a:rPr>
              <a:t>semua</a:t>
            </a:r>
            <a:r>
              <a:rPr lang="en-US" sz="2000" b="1" dirty="0">
                <a:solidFill>
                  <a:srgbClr val="FF0000"/>
                </a:solidFill>
                <a:latin typeface="Abadi" panose="020B0604020104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badi" panose="020B0604020104020204" pitchFamily="34" charset="0"/>
              </a:rPr>
              <a:t>simpul</a:t>
            </a:r>
            <a:r>
              <a:rPr lang="en-US" sz="2000" b="1" dirty="0">
                <a:solidFill>
                  <a:srgbClr val="FF0000"/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dalam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badi" panose="020B0604020104020204" pitchFamily="34" charset="0"/>
              </a:rPr>
              <a:t>setiap</a:t>
            </a:r>
            <a:r>
              <a:rPr lang="en-US" sz="2000" b="1" dirty="0">
                <a:solidFill>
                  <a:srgbClr val="FF0000"/>
                </a:solidFill>
                <a:latin typeface="Abadi" panose="020B0604020104020204" pitchFamily="34" charset="0"/>
              </a:rPr>
              <a:t> level </a:t>
            </a:r>
            <a:r>
              <a:rPr lang="en-US" sz="2000" dirty="0" err="1">
                <a:latin typeface="Abadi" panose="020B0604020104020204" pitchFamily="34" charset="0"/>
              </a:rPr>
              <a:t>scara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berurutan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badi" panose="020B0604020104020204" pitchFamily="34" charset="0"/>
              </a:rPr>
              <a:t>dari</a:t>
            </a:r>
            <a:r>
              <a:rPr lang="en-US" sz="2000" b="1" dirty="0">
                <a:solidFill>
                  <a:srgbClr val="FF0000"/>
                </a:solidFill>
                <a:latin typeface="Abadi" panose="020B0604020104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badi" panose="020B0604020104020204" pitchFamily="34" charset="0"/>
              </a:rPr>
              <a:t>kiri</a:t>
            </a:r>
            <a:r>
              <a:rPr lang="en-US" sz="2000" b="1" dirty="0">
                <a:solidFill>
                  <a:srgbClr val="FF0000"/>
                </a:solidFill>
                <a:latin typeface="Abadi" panose="020B0604020104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badi" panose="020B0604020104020204" pitchFamily="34" charset="0"/>
              </a:rPr>
              <a:t>ke</a:t>
            </a:r>
            <a:r>
              <a:rPr lang="en-US" sz="2000" b="1" dirty="0">
                <a:solidFill>
                  <a:srgbClr val="FF0000"/>
                </a:solidFill>
                <a:latin typeface="Abadi" panose="020B0604020104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badi" panose="020B0604020104020204" pitchFamily="34" charset="0"/>
              </a:rPr>
              <a:t>kanan</a:t>
            </a:r>
            <a:endParaRPr lang="en-US" sz="2000" b="1" dirty="0">
              <a:solidFill>
                <a:srgbClr val="FF0000"/>
              </a:solidFill>
              <a:latin typeface="Abadi" panose="020B0604020104020204" pitchFamily="34" charset="0"/>
            </a:endParaRPr>
          </a:p>
          <a:p>
            <a:r>
              <a:rPr lang="en-US" sz="2000" dirty="0">
                <a:latin typeface="Abadi" panose="020B0604020104020204" pitchFamily="34" charset="0"/>
              </a:rPr>
              <a:t>Jika pada </a:t>
            </a:r>
            <a:r>
              <a:rPr lang="en-US" sz="2000" dirty="0" err="1">
                <a:latin typeface="Abadi" panose="020B0604020104020204" pitchFamily="34" charset="0"/>
              </a:rPr>
              <a:t>satu</a:t>
            </a:r>
            <a:r>
              <a:rPr lang="en-US" sz="2000" dirty="0">
                <a:latin typeface="Abadi" panose="020B0604020104020204" pitchFamily="34" charset="0"/>
              </a:rPr>
              <a:t> level </a:t>
            </a:r>
            <a:r>
              <a:rPr lang="en-US" sz="2000" dirty="0" err="1">
                <a:latin typeface="Abadi" panose="020B0604020104020204" pitchFamily="34" charset="0"/>
              </a:rPr>
              <a:t>belum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diketemukan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solusinya</a:t>
            </a:r>
            <a:r>
              <a:rPr lang="en-US" sz="2000" dirty="0">
                <a:latin typeface="Abadi" panose="020B0604020104020204" pitchFamily="34" charset="0"/>
              </a:rPr>
              <a:t>, </a:t>
            </a:r>
            <a:r>
              <a:rPr lang="en-US" sz="2000" dirty="0" err="1">
                <a:latin typeface="Abadi" panose="020B0604020104020204" pitchFamily="34" charset="0"/>
              </a:rPr>
              <a:t>maka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pencarian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dilanjutkan</a:t>
            </a:r>
            <a:r>
              <a:rPr lang="en-US" sz="2000" dirty="0">
                <a:latin typeface="Abadi" panose="020B0604020104020204" pitchFamily="34" charset="0"/>
              </a:rPr>
              <a:t> pada level </a:t>
            </a:r>
            <a:r>
              <a:rPr lang="en-US" sz="2000" dirty="0" err="1">
                <a:latin typeface="Abadi" panose="020B0604020104020204" pitchFamily="34" charset="0"/>
              </a:rPr>
              <a:t>berikutnya</a:t>
            </a:r>
            <a:r>
              <a:rPr lang="en-US" sz="2000" dirty="0">
                <a:latin typeface="Abadi" panose="020B0604020104020204" pitchFamily="34" charset="0"/>
              </a:rPr>
              <a:t>, </a:t>
            </a:r>
            <a:r>
              <a:rPr lang="en-US" sz="2000" dirty="0" err="1">
                <a:latin typeface="Abadi" panose="020B0604020104020204" pitchFamily="34" charset="0"/>
              </a:rPr>
              <a:t>demikian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sterusnya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sampai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ditemukan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solusinya</a:t>
            </a:r>
            <a:r>
              <a:rPr lang="en-US" sz="2000" dirty="0">
                <a:latin typeface="Abadi" panose="020B0604020104020204" pitchFamily="34" charset="0"/>
              </a:rPr>
              <a:t> (</a:t>
            </a:r>
            <a:r>
              <a:rPr lang="en-US" sz="2000" dirty="0" err="1">
                <a:latin typeface="Abadi" panose="020B0604020104020204" pitchFamily="34" charset="0"/>
              </a:rPr>
              <a:t>jika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ada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solusinya</a:t>
            </a:r>
            <a:r>
              <a:rPr lang="en-US" sz="2000" dirty="0">
                <a:latin typeface="Abadi" panose="020B0604020104020204" pitchFamily="34" charset="0"/>
              </a:rPr>
              <a:t>)</a:t>
            </a:r>
            <a:endParaRPr lang="id-ID" sz="2000" dirty="0">
              <a:latin typeface="Abadi" panose="020B0604020104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CD0B8-352B-7A3B-B492-6354DB8ED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Langkah </a:t>
            </a:r>
            <a:r>
              <a:rPr lang="en-US" dirty="0" err="1"/>
              <a:t>selanjutnya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010307-E7B9-CE8D-BCE4-EF670CE3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B721A5-36D8-4C2F-A2B5-96132FA7B92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0FCEC92-DFE9-8AA7-F81A-B398BE6BE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930400"/>
            <a:ext cx="8670482" cy="3552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3822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FAED93-0F85-4D31-9323-F192E78E5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301" y="1131994"/>
            <a:ext cx="5306804" cy="459038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350D9D-5942-4381-9D0C-A25A87076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48895" y="6411619"/>
            <a:ext cx="51250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9B721A5-36D8-4C2F-A2B5-96132FA7B928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  <a:defRPr/>
              </a:pPr>
              <a:t>8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068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Kinerja BFS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447800"/>
            <a:ext cx="6705601" cy="4593563"/>
          </a:xfrm>
        </p:spPr>
        <p:txBody>
          <a:bodyPr>
            <a:normAutofit/>
          </a:bodyPr>
          <a:lstStyle/>
          <a:p>
            <a:r>
              <a:rPr lang="id-ID" sz="2000" dirty="0">
                <a:latin typeface="Abadi" panose="020B0604020104020204" pitchFamily="34" charset="0"/>
              </a:rPr>
              <a:t>Complete 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</a:t>
            </a:r>
            <a:r>
              <a:rPr lang="en-US" sz="2000" dirty="0" err="1">
                <a:latin typeface="Abadi" panose="020B0604020104020204" pitchFamily="34" charset="0"/>
              </a:rPr>
              <a:t>Ditemukan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solusinya</a:t>
            </a:r>
            <a:endParaRPr lang="en-US" sz="2000" dirty="0">
              <a:latin typeface="Abadi" panose="020B0604020104020204" pitchFamily="34" charset="0"/>
            </a:endParaRPr>
          </a:p>
          <a:p>
            <a:r>
              <a:rPr lang="id-ID" sz="2000" dirty="0">
                <a:latin typeface="Abadi" panose="020B0604020104020204" pitchFamily="34" charset="0"/>
              </a:rPr>
              <a:t>Optimal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</a:t>
            </a:r>
            <a:r>
              <a:rPr lang="en-US" sz="2000" dirty="0">
                <a:latin typeface="Abadi" panose="020B0604020104020204" pitchFamily="34" charset="0"/>
              </a:rPr>
              <a:t>Solusi yang </a:t>
            </a:r>
            <a:r>
              <a:rPr lang="en-US" sz="2000" dirty="0" err="1">
                <a:latin typeface="Abadi" panose="020B0604020104020204" pitchFamily="34" charset="0"/>
              </a:rPr>
              <a:t>ditemukan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solusi</a:t>
            </a:r>
            <a:r>
              <a:rPr lang="en-US" sz="2000" dirty="0">
                <a:latin typeface="Abadi" panose="020B0604020104020204" pitchFamily="34" charset="0"/>
              </a:rPr>
              <a:t> yang optimal</a:t>
            </a:r>
          </a:p>
          <a:p>
            <a:pPr lvl="0"/>
            <a:r>
              <a:rPr lang="en-US" sz="2000" dirty="0">
                <a:latin typeface="Abadi" panose="020B0604020104020204" pitchFamily="34" charset="0"/>
              </a:rPr>
              <a:t>BFS </a:t>
            </a:r>
            <a:r>
              <a:rPr lang="en-US" sz="2000" dirty="0" err="1">
                <a:latin typeface="Abadi" panose="020B0604020104020204" pitchFamily="34" charset="0"/>
              </a:rPr>
              <a:t>akan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menyimpan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semua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simpul</a:t>
            </a:r>
            <a:r>
              <a:rPr lang="en-US" sz="2000" dirty="0">
                <a:latin typeface="Abadi" panose="020B0604020104020204" pitchFamily="34" charset="0"/>
              </a:rPr>
              <a:t> yang </a:t>
            </a:r>
            <a:r>
              <a:rPr lang="en-US" sz="2000" dirty="0" err="1">
                <a:latin typeface="Abadi" panose="020B0604020104020204" pitchFamily="34" charset="0"/>
              </a:rPr>
              <a:t>pernah</a:t>
            </a:r>
            <a:r>
              <a:rPr lang="en-US" sz="2000" dirty="0">
                <a:latin typeface="Abadi" panose="020B0604020104020204" pitchFamily="34" charset="0"/>
              </a:rPr>
              <a:t> di </a:t>
            </a:r>
            <a:r>
              <a:rPr lang="en-US" sz="2000" dirty="0" err="1">
                <a:latin typeface="Abadi" panose="020B0604020104020204" pitchFamily="34" charset="0"/>
              </a:rPr>
              <a:t>bangkitkannya</a:t>
            </a:r>
            <a:r>
              <a:rPr lang="en-US" sz="2000" dirty="0">
                <a:latin typeface="Abadi" panose="020B0604020104020204" pitchFamily="34" charset="0"/>
              </a:rPr>
              <a:t>.</a:t>
            </a:r>
          </a:p>
          <a:p>
            <a:pPr lvl="0"/>
            <a:r>
              <a:rPr lang="en-US" sz="2000" dirty="0" err="1">
                <a:latin typeface="Abadi" panose="020B0604020104020204" pitchFamily="34" charset="0"/>
              </a:rPr>
              <a:t>Tujuannya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dapat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melakukan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penelusuran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simpul-simpul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pada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sampai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level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bawah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.</a:t>
            </a:r>
          </a:p>
          <a:p>
            <a:pPr lvl="0"/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Jika b=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faktor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percabangan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(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jumlah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simpul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anak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yang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dimiliki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oleh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suatu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simpul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)</a:t>
            </a:r>
          </a:p>
          <a:p>
            <a:pPr lvl="0"/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Jika d=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kedalaman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solusi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,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maka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: </a:t>
            </a:r>
          </a:p>
          <a:p>
            <a:pPr lvl="0"/>
            <a:r>
              <a:rPr lang="en-US" sz="2000" b="1" dirty="0">
                <a:solidFill>
                  <a:srgbClr val="FF0000"/>
                </a:solidFill>
                <a:latin typeface="Abadi" panose="020B0604020104020204" pitchFamily="34" charset="0"/>
              </a:rPr>
              <a:t>Time complexity = </a:t>
            </a:r>
            <a:r>
              <a:rPr lang="id-ID" sz="2000" b="1" dirty="0">
                <a:solidFill>
                  <a:srgbClr val="FF0000"/>
                </a:solidFill>
                <a:latin typeface="Abadi" panose="020B0604020104020204" pitchFamily="34" charset="0"/>
              </a:rPr>
              <a:t>O(b</a:t>
            </a:r>
            <a:r>
              <a:rPr lang="id-ID" sz="2000" b="1" baseline="30000" dirty="0">
                <a:solidFill>
                  <a:srgbClr val="FF0000"/>
                </a:solidFill>
                <a:latin typeface="Abadi" panose="020B0604020104020204" pitchFamily="34" charset="0"/>
              </a:rPr>
              <a:t>d</a:t>
            </a:r>
            <a:r>
              <a:rPr lang="id-ID" sz="2000" b="1" dirty="0">
                <a:solidFill>
                  <a:srgbClr val="FF0000"/>
                </a:solidFill>
                <a:latin typeface="Abadi" panose="020B0604020104020204" pitchFamily="34" charset="0"/>
              </a:rPr>
              <a:t>)</a:t>
            </a:r>
            <a:endParaRPr lang="en-US" sz="2000" b="1" dirty="0">
              <a:solidFill>
                <a:srgbClr val="FF0000"/>
              </a:solidFill>
              <a:latin typeface="Abadi" panose="020B0604020104020204" pitchFamily="34" charset="0"/>
            </a:endParaRPr>
          </a:p>
          <a:p>
            <a:pPr lvl="0"/>
            <a:r>
              <a:rPr lang="en-US" sz="2000" b="1" dirty="0">
                <a:solidFill>
                  <a:srgbClr val="FF0000"/>
                </a:solidFill>
                <a:latin typeface="Abadi" panose="020B0604020104020204" pitchFamily="34" charset="0"/>
              </a:rPr>
              <a:t>Space complexity = </a:t>
            </a:r>
            <a:r>
              <a:rPr lang="id-ID" sz="2000" b="1" dirty="0">
                <a:solidFill>
                  <a:srgbClr val="FF0000"/>
                </a:solidFill>
                <a:latin typeface="Abadi" panose="020B0604020104020204" pitchFamily="34" charset="0"/>
              </a:rPr>
              <a:t>O(b</a:t>
            </a:r>
            <a:r>
              <a:rPr lang="id-ID" sz="2000" b="1" baseline="30000" dirty="0">
                <a:solidFill>
                  <a:srgbClr val="FF0000"/>
                </a:solidFill>
                <a:latin typeface="Abadi" panose="020B0604020104020204" pitchFamily="34" charset="0"/>
              </a:rPr>
              <a:t>d</a:t>
            </a:r>
            <a:r>
              <a:rPr lang="id-ID" sz="2000" b="1" dirty="0">
                <a:solidFill>
                  <a:srgbClr val="FF0000"/>
                </a:solidFill>
                <a:latin typeface="Abadi" panose="020B0604020104020204" pitchFamily="34" charset="0"/>
              </a:rPr>
              <a:t>)</a:t>
            </a:r>
            <a:endParaRPr lang="en-US" sz="2000" b="1" dirty="0">
              <a:solidFill>
                <a:srgbClr val="FF0000"/>
              </a:solidFill>
              <a:latin typeface="Abadi" panose="020B0604020104020204" pitchFamily="34" charset="0"/>
            </a:endParaRPr>
          </a:p>
          <a:p>
            <a:pPr lvl="0"/>
            <a:endParaRPr lang="en-US" sz="2000" dirty="0">
              <a:latin typeface="Abadi" panose="020B0604020104020204" pitchFamily="34" charset="0"/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2756F-0AF6-4B72-A109-DC45C5CDB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306341"/>
              </p:ext>
            </p:extLst>
          </p:nvPr>
        </p:nvGraphicFramePr>
        <p:xfrm>
          <a:off x="533400" y="1600200"/>
          <a:ext cx="7924800" cy="4419600"/>
        </p:xfrm>
        <a:graphic>
          <a:graphicData uri="http://schemas.openxmlformats.org/drawingml/2006/table">
            <a:tbl>
              <a:tblPr/>
              <a:tblGrid>
                <a:gridCol w="1049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95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9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934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0490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2800" b="1" i="1" spc="-30" dirty="0">
                          <a:latin typeface="Arial Narrow"/>
                          <a:ea typeface="Times New Roman"/>
                          <a:cs typeface="Times New Roman"/>
                        </a:rPr>
                        <a:t>b</a:t>
                      </a:r>
                      <a:endParaRPr lang="id-ID" sz="2800" spc="-30" dirty="0">
                        <a:latin typeface="Georgi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800" b="1" i="1" spc="-30" dirty="0">
                          <a:latin typeface="Arial Narrow"/>
                          <a:ea typeface="Times New Roman"/>
                          <a:cs typeface="Times New Roman"/>
                        </a:rPr>
                        <a:t>d</a:t>
                      </a:r>
                      <a:endParaRPr lang="id-ID" sz="2800" spc="-30" dirty="0">
                        <a:latin typeface="Georgi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457200" algn="l"/>
                        </a:tabLst>
                      </a:pPr>
                      <a:r>
                        <a:rPr lang="en-US" sz="2800" b="1" spc="-30" dirty="0" err="1">
                          <a:latin typeface="Arial Narrow"/>
                          <a:ea typeface="Times New Roman"/>
                          <a:cs typeface="Arial"/>
                        </a:rPr>
                        <a:t>Simpul</a:t>
                      </a:r>
                      <a:endParaRPr lang="id-ID" sz="2800" spc="-30" dirty="0">
                        <a:latin typeface="Georgi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457200" algn="l"/>
                        </a:tabLst>
                      </a:pPr>
                      <a:r>
                        <a:rPr lang="en-US" sz="2800" b="1" spc="-30" dirty="0" err="1">
                          <a:latin typeface="Arial Narrow"/>
                          <a:ea typeface="Times New Roman"/>
                          <a:cs typeface="Arial"/>
                        </a:rPr>
                        <a:t>Waktu</a:t>
                      </a:r>
                      <a:endParaRPr lang="id-ID" sz="2800" spc="-30" dirty="0">
                        <a:latin typeface="Georgi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457200" algn="l"/>
                        </a:tabLst>
                      </a:pPr>
                      <a:r>
                        <a:rPr lang="en-US" sz="2800" b="1" i="1" spc="-30" dirty="0">
                          <a:latin typeface="Arial Narrow"/>
                          <a:ea typeface="Times New Roman"/>
                          <a:cs typeface="Arial"/>
                        </a:rPr>
                        <a:t>Memory</a:t>
                      </a:r>
                      <a:endParaRPr lang="id-ID" sz="2800" spc="-30" dirty="0">
                        <a:latin typeface="Georgi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490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800" spc="-30">
                          <a:latin typeface="Arial Narrow"/>
                          <a:ea typeface="Times New Roman"/>
                          <a:cs typeface="Times New Roman"/>
                        </a:rPr>
                        <a:t>10</a:t>
                      </a:r>
                      <a:endParaRPr lang="id-ID" sz="2800" spc="-30">
                        <a:latin typeface="Georgi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800" spc="-30" dirty="0">
                          <a:latin typeface="Arial Narrow"/>
                          <a:ea typeface="Times New Roman"/>
                          <a:cs typeface="Times New Roman"/>
                        </a:rPr>
                        <a:t>6</a:t>
                      </a:r>
                      <a:endParaRPr lang="id-ID" sz="2800" spc="-30" dirty="0">
                        <a:latin typeface="Georgi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800" spc="-30" dirty="0">
                          <a:latin typeface="Arial Narrow"/>
                          <a:ea typeface="Times New Roman"/>
                          <a:cs typeface="Arial"/>
                        </a:rPr>
                        <a:t>10</a:t>
                      </a:r>
                      <a:r>
                        <a:rPr lang="en-US" sz="2800" spc="-30" baseline="30000" dirty="0">
                          <a:latin typeface="Arial Narrow"/>
                          <a:ea typeface="Times New Roman"/>
                          <a:cs typeface="Arial"/>
                        </a:rPr>
                        <a:t>6</a:t>
                      </a:r>
                      <a:endParaRPr lang="id-ID" sz="2800" spc="-30" dirty="0">
                        <a:latin typeface="Georgi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800" spc="-30" dirty="0">
                          <a:latin typeface="Arial Narrow"/>
                          <a:ea typeface="Times New Roman"/>
                          <a:cs typeface="Arial"/>
                        </a:rPr>
                        <a:t>1 </a:t>
                      </a:r>
                      <a:r>
                        <a:rPr lang="en-US" sz="2800" spc="-30" dirty="0" err="1">
                          <a:latin typeface="Arial Narrow"/>
                          <a:ea typeface="Times New Roman"/>
                          <a:cs typeface="Arial"/>
                        </a:rPr>
                        <a:t>detik</a:t>
                      </a:r>
                      <a:endParaRPr lang="id-ID" sz="2800" spc="-30" dirty="0">
                        <a:latin typeface="Georgi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800" spc="-30" dirty="0">
                          <a:latin typeface="Arial Narrow"/>
                          <a:ea typeface="Times New Roman"/>
                          <a:cs typeface="Arial"/>
                        </a:rPr>
                        <a:t>100 MB</a:t>
                      </a:r>
                      <a:endParaRPr lang="id-ID" sz="2800" spc="-30" dirty="0">
                        <a:latin typeface="Georgi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490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800" spc="-30">
                          <a:latin typeface="Arial Narrow"/>
                          <a:ea typeface="Times New Roman"/>
                          <a:cs typeface="Times New Roman"/>
                        </a:rPr>
                        <a:t>10</a:t>
                      </a:r>
                      <a:endParaRPr lang="id-ID" sz="2800" spc="-30">
                        <a:latin typeface="Georgi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800" spc="-30">
                          <a:latin typeface="Arial Narrow"/>
                          <a:ea typeface="Times New Roman"/>
                          <a:cs typeface="Times New Roman"/>
                        </a:rPr>
                        <a:t>8</a:t>
                      </a:r>
                      <a:endParaRPr lang="id-ID" sz="2800" spc="-30">
                        <a:latin typeface="Georgi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800" spc="-30" dirty="0">
                          <a:latin typeface="Arial Narrow"/>
                          <a:ea typeface="Times New Roman"/>
                          <a:cs typeface="Arial"/>
                        </a:rPr>
                        <a:t>10</a:t>
                      </a:r>
                      <a:r>
                        <a:rPr lang="en-US" sz="2800" spc="-30" baseline="30000" dirty="0">
                          <a:latin typeface="Arial Narrow"/>
                          <a:ea typeface="Times New Roman"/>
                          <a:cs typeface="Arial"/>
                        </a:rPr>
                        <a:t>8</a:t>
                      </a:r>
                      <a:endParaRPr lang="id-ID" sz="2800" spc="-30" dirty="0">
                        <a:latin typeface="Georgi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800" spc="-30" dirty="0">
                          <a:latin typeface="Arial Narrow"/>
                          <a:ea typeface="Times New Roman"/>
                          <a:cs typeface="Arial"/>
                        </a:rPr>
                        <a:t>100 </a:t>
                      </a:r>
                      <a:r>
                        <a:rPr lang="en-US" sz="2800" spc="-30" dirty="0" err="1">
                          <a:latin typeface="Arial Narrow"/>
                          <a:ea typeface="Times New Roman"/>
                          <a:cs typeface="Arial"/>
                        </a:rPr>
                        <a:t>detik</a:t>
                      </a:r>
                      <a:endParaRPr lang="id-ID" sz="2800" spc="-30" dirty="0">
                        <a:latin typeface="Georgi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800" spc="-30" dirty="0">
                          <a:latin typeface="Arial Narrow"/>
                          <a:ea typeface="Times New Roman"/>
                          <a:cs typeface="Arial"/>
                        </a:rPr>
                        <a:t>10 GB</a:t>
                      </a:r>
                      <a:endParaRPr lang="id-ID" sz="2800" spc="-30" dirty="0">
                        <a:latin typeface="Georgi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490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800" spc="-30">
                          <a:latin typeface="Arial Narrow"/>
                          <a:ea typeface="Times New Roman"/>
                          <a:cs typeface="Times New Roman"/>
                        </a:rPr>
                        <a:t>10</a:t>
                      </a:r>
                      <a:endParaRPr lang="id-ID" sz="2800" spc="-30">
                        <a:latin typeface="Georgi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800" spc="-30">
                          <a:latin typeface="Arial Narrow"/>
                          <a:ea typeface="Times New Roman"/>
                          <a:cs typeface="Times New Roman"/>
                        </a:rPr>
                        <a:t>14</a:t>
                      </a:r>
                      <a:endParaRPr lang="id-ID" sz="2800" spc="-30">
                        <a:latin typeface="Georgi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800" spc="-30">
                          <a:latin typeface="Arial Narrow"/>
                          <a:ea typeface="Times New Roman"/>
                          <a:cs typeface="Arial"/>
                        </a:rPr>
                        <a:t>10</a:t>
                      </a:r>
                      <a:r>
                        <a:rPr lang="en-US" sz="2800" spc="-30" baseline="30000">
                          <a:latin typeface="Arial Narrow"/>
                          <a:ea typeface="Times New Roman"/>
                          <a:cs typeface="Arial"/>
                        </a:rPr>
                        <a:t>14</a:t>
                      </a:r>
                      <a:endParaRPr lang="id-ID" sz="2800" spc="-30">
                        <a:latin typeface="Georgi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800" spc="-30" dirty="0">
                          <a:latin typeface="Arial Narrow"/>
                          <a:ea typeface="Times New Roman"/>
                          <a:cs typeface="Arial"/>
                        </a:rPr>
                        <a:t>&gt; 3 </a:t>
                      </a:r>
                      <a:r>
                        <a:rPr lang="en-US" sz="2800" spc="-30" dirty="0" err="1">
                          <a:latin typeface="Arial Narrow"/>
                          <a:ea typeface="Times New Roman"/>
                          <a:cs typeface="Arial"/>
                        </a:rPr>
                        <a:t>tahun</a:t>
                      </a:r>
                      <a:r>
                        <a:rPr lang="en-US" sz="2800" spc="-30" dirty="0">
                          <a:latin typeface="Arial Narrow"/>
                          <a:ea typeface="Times New Roman"/>
                          <a:cs typeface="Arial"/>
                        </a:rPr>
                        <a:t> </a:t>
                      </a:r>
                      <a:endParaRPr lang="id-ID" sz="2800" spc="-30" dirty="0">
                        <a:latin typeface="Georgi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800" spc="-30" dirty="0">
                          <a:latin typeface="Arial Narrow"/>
                          <a:ea typeface="Times New Roman"/>
                          <a:cs typeface="Arial"/>
                        </a:rPr>
                        <a:t>1000 TB</a:t>
                      </a:r>
                      <a:endParaRPr lang="id-ID" sz="2800" spc="-30" dirty="0">
                        <a:latin typeface="Georgia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762000"/>
          </a:xfrm>
        </p:spPr>
        <p:txBody>
          <a:bodyPr>
            <a:normAutofit/>
          </a:bodyPr>
          <a:lstStyle/>
          <a:p>
            <a:r>
              <a:rPr lang="en-US" dirty="0" err="1"/>
              <a:t>Kompleksitas</a:t>
            </a:r>
            <a:r>
              <a:rPr lang="en-US" dirty="0"/>
              <a:t> BFS</a:t>
            </a:r>
            <a:endParaRPr lang="id-ID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63A150-E86F-49FD-853A-CAB462621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B721A5-36D8-4C2F-A2B5-96132FA7B92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57200" y="6172200"/>
            <a:ext cx="8305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</a:rPr>
              <a:t>Asumsi</a:t>
            </a:r>
            <a:r>
              <a:rPr lang="en-US" dirty="0">
                <a:solidFill>
                  <a:srgbClr val="C00000"/>
                </a:solidFill>
              </a:rPr>
              <a:t>: 1 </a:t>
            </a:r>
            <a:r>
              <a:rPr lang="en-US" dirty="0" err="1">
                <a:solidFill>
                  <a:srgbClr val="C00000"/>
                </a:solidFill>
              </a:rPr>
              <a:t>simpul</a:t>
            </a:r>
            <a:r>
              <a:rPr lang="en-US" dirty="0">
                <a:solidFill>
                  <a:srgbClr val="C00000"/>
                </a:solidFill>
              </a:rPr>
              <a:t> = 100 bytes </a:t>
            </a:r>
            <a:r>
              <a:rPr lang="en-US" dirty="0" err="1">
                <a:solidFill>
                  <a:srgbClr val="C00000"/>
                </a:solidFill>
              </a:rPr>
              <a:t>dan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kecepatan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komputer</a:t>
            </a:r>
            <a:r>
              <a:rPr lang="en-US" dirty="0">
                <a:solidFill>
                  <a:srgbClr val="C00000"/>
                </a:solidFill>
              </a:rPr>
              <a:t> = 10</a:t>
            </a:r>
            <a:r>
              <a:rPr lang="en-US" baseline="30000" dirty="0">
                <a:solidFill>
                  <a:srgbClr val="C00000"/>
                </a:solidFill>
              </a:rPr>
              <a:t>6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simpul</a:t>
            </a:r>
            <a:r>
              <a:rPr lang="en-US" dirty="0">
                <a:solidFill>
                  <a:srgbClr val="C00000"/>
                </a:solidFill>
              </a:rPr>
              <a:t>/</a:t>
            </a:r>
            <a:r>
              <a:rPr lang="en-US" dirty="0" err="1">
                <a:solidFill>
                  <a:srgbClr val="C00000"/>
                </a:solidFill>
              </a:rPr>
              <a:t>detik</a:t>
            </a:r>
            <a:r>
              <a:rPr lang="en-US" dirty="0">
                <a:solidFill>
                  <a:srgbClr val="C00000"/>
                </a:solidFill>
              </a:rPr>
              <a:t>.</a:t>
            </a:r>
            <a:endParaRPr lang="id-ID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DA107-12ED-4310-ADDC-99C2EB1B3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1512"/>
            <a:ext cx="6347714" cy="685800"/>
          </a:xfrm>
        </p:spPr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BEE337-87D6-4111-BE76-7B5E4976D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B721A5-36D8-4C2F-A2B5-96132FA7B928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A73057-EFCC-4347-9C40-70C06941E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8534401" cy="555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483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61995"/>
          </a:xfrm>
        </p:spPr>
        <p:txBody>
          <a:bodyPr/>
          <a:lstStyle/>
          <a:p>
            <a:r>
              <a:rPr lang="en-US" i="1" dirty="0"/>
              <a:t>Depth</a:t>
            </a:r>
            <a:r>
              <a:rPr lang="en-US" dirty="0"/>
              <a:t>-</a:t>
            </a:r>
            <a:r>
              <a:rPr lang="en-US" i="1" dirty="0"/>
              <a:t>First</a:t>
            </a:r>
            <a:r>
              <a:rPr lang="en-US" dirty="0"/>
              <a:t> </a:t>
            </a:r>
            <a:r>
              <a:rPr lang="en-US" i="1" dirty="0"/>
              <a:t>Search</a:t>
            </a:r>
            <a:r>
              <a:rPr lang="en-US" dirty="0"/>
              <a:t> (DFS)</a:t>
            </a:r>
            <a:endParaRPr lang="id-ID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DB428DF-891B-4A6D-8DA6-3E18D0405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920" y="1469358"/>
            <a:ext cx="7194480" cy="4572003"/>
          </a:xfrm>
        </p:spPr>
        <p:txBody>
          <a:bodyPr>
            <a:normAutofit lnSpcReduction="10000"/>
          </a:bodyPr>
          <a:lstStyle/>
          <a:p>
            <a:r>
              <a:rPr lang="en-US" sz="2000" dirty="0" err="1">
                <a:latin typeface="Abadi" panose="020B0604020104020204" pitchFamily="34" charset="0"/>
              </a:rPr>
              <a:t>Pencarian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dilakukan</a:t>
            </a:r>
            <a:r>
              <a:rPr lang="en-US" sz="2000" dirty="0">
                <a:latin typeface="Abadi" panose="020B0604020104020204" pitchFamily="34" charset="0"/>
              </a:rPr>
              <a:t> pada </a:t>
            </a:r>
            <a:r>
              <a:rPr lang="en-US" sz="2000" dirty="0" err="1">
                <a:latin typeface="Abadi" panose="020B0604020104020204" pitchFamily="34" charset="0"/>
              </a:rPr>
              <a:t>suatu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simpul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dalam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badi" panose="020B0604020104020204" pitchFamily="34" charset="0"/>
              </a:rPr>
              <a:t>setiap</a:t>
            </a:r>
            <a:r>
              <a:rPr lang="en-US" sz="2000" b="1" dirty="0">
                <a:solidFill>
                  <a:srgbClr val="FF0000"/>
                </a:solidFill>
                <a:latin typeface="Abadi" panose="020B0604020104020204" pitchFamily="34" charset="0"/>
              </a:rPr>
              <a:t> leve</a:t>
            </a:r>
            <a:r>
              <a:rPr lang="en-US" sz="2000" dirty="0">
                <a:latin typeface="Abadi" panose="020B0604020104020204" pitchFamily="34" charset="0"/>
              </a:rPr>
              <a:t>l </a:t>
            </a:r>
            <a:r>
              <a:rPr lang="en-US" sz="2000" dirty="0" err="1">
                <a:latin typeface="Abadi" panose="020B0604020104020204" pitchFamily="34" charset="0"/>
              </a:rPr>
              <a:t>dari</a:t>
            </a:r>
            <a:r>
              <a:rPr lang="en-US" sz="2000" dirty="0">
                <a:latin typeface="Abadi" panose="020B0604020104020204" pitchFamily="34" charset="0"/>
              </a:rPr>
              <a:t> yang </a:t>
            </a:r>
            <a:r>
              <a:rPr lang="en-US" sz="2000" b="1" dirty="0">
                <a:solidFill>
                  <a:srgbClr val="FF0000"/>
                </a:solidFill>
                <a:latin typeface="Abadi" panose="020B0604020104020204" pitchFamily="34" charset="0"/>
              </a:rPr>
              <a:t>paling </a:t>
            </a:r>
            <a:r>
              <a:rPr lang="en-US" sz="2000" b="1" dirty="0" err="1">
                <a:solidFill>
                  <a:srgbClr val="FF0000"/>
                </a:solidFill>
                <a:latin typeface="Abadi" panose="020B0604020104020204" pitchFamily="34" charset="0"/>
              </a:rPr>
              <a:t>kiri</a:t>
            </a:r>
            <a:r>
              <a:rPr lang="en-US" sz="2000" dirty="0">
                <a:latin typeface="Abadi" panose="020B0604020104020204" pitchFamily="34" charset="0"/>
              </a:rPr>
              <a:t>.</a:t>
            </a:r>
          </a:p>
          <a:p>
            <a:r>
              <a:rPr lang="en-US" sz="2000" dirty="0">
                <a:latin typeface="Abadi" panose="020B0604020104020204" pitchFamily="34" charset="0"/>
              </a:rPr>
              <a:t>Jika pada level yang </a:t>
            </a:r>
            <a:r>
              <a:rPr lang="en-US" sz="2000" dirty="0" err="1">
                <a:latin typeface="Abadi" panose="020B0604020104020204" pitchFamily="34" charset="0"/>
              </a:rPr>
              <a:t>terdalam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belum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ditemukan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solusinya</a:t>
            </a:r>
            <a:r>
              <a:rPr lang="en-US" sz="2000" dirty="0">
                <a:latin typeface="Abadi" panose="020B0604020104020204" pitchFamily="34" charset="0"/>
              </a:rPr>
              <a:t>, </a:t>
            </a:r>
            <a:r>
              <a:rPr lang="en-US" sz="2000" dirty="0" err="1">
                <a:latin typeface="Abadi" panose="020B0604020104020204" pitchFamily="34" charset="0"/>
              </a:rPr>
              <a:t>maka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pencarian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dilanjutkan</a:t>
            </a:r>
            <a:r>
              <a:rPr lang="en-US" sz="2000" dirty="0">
                <a:latin typeface="Abadi" panose="020B0604020104020204" pitchFamily="34" charset="0"/>
              </a:rPr>
              <a:t> pada </a:t>
            </a:r>
            <a:r>
              <a:rPr lang="en-US" sz="2000" dirty="0" err="1">
                <a:latin typeface="Abadi" panose="020B0604020104020204" pitchFamily="34" charset="0"/>
              </a:rPr>
              <a:t>simpul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sebelah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kanan</a:t>
            </a:r>
            <a:r>
              <a:rPr lang="en-US" sz="2000" dirty="0">
                <a:latin typeface="Abadi" panose="020B0604020104020204" pitchFamily="34" charset="0"/>
              </a:rPr>
              <a:t> dan </a:t>
            </a:r>
            <a:r>
              <a:rPr lang="en-US" sz="2000" dirty="0" err="1">
                <a:latin typeface="Abadi" panose="020B0604020104020204" pitchFamily="34" charset="0"/>
              </a:rPr>
              <a:t>simpul</a:t>
            </a:r>
            <a:r>
              <a:rPr lang="en-US" sz="2000" dirty="0">
                <a:latin typeface="Abadi" panose="020B0604020104020204" pitchFamily="34" charset="0"/>
              </a:rPr>
              <a:t> yang </a:t>
            </a:r>
            <a:r>
              <a:rPr lang="en-US" sz="2000" dirty="0" err="1">
                <a:latin typeface="Abadi" panose="020B0604020104020204" pitchFamily="34" charset="0"/>
              </a:rPr>
              <a:t>kiri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dapat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badi" panose="020B0604020104020204" pitchFamily="34" charset="0"/>
              </a:rPr>
              <a:t>dihapus</a:t>
            </a:r>
            <a:r>
              <a:rPr lang="en-US" sz="2000" b="1" dirty="0">
                <a:solidFill>
                  <a:srgbClr val="FF0000"/>
                </a:solidFill>
                <a:latin typeface="Abadi" panose="020B0604020104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badi" panose="020B0604020104020204" pitchFamily="34" charset="0"/>
              </a:rPr>
              <a:t>dari</a:t>
            </a:r>
            <a:r>
              <a:rPr lang="en-US" sz="2000" b="1" dirty="0">
                <a:solidFill>
                  <a:srgbClr val="FF0000"/>
                </a:solidFill>
                <a:latin typeface="Abadi" panose="020B0604020104020204" pitchFamily="34" charset="0"/>
              </a:rPr>
              <a:t> memory</a:t>
            </a:r>
            <a:r>
              <a:rPr lang="en-US" sz="2000" dirty="0">
                <a:latin typeface="Abadi" panose="020B0604020104020204" pitchFamily="34" charset="0"/>
              </a:rPr>
              <a:t>.</a:t>
            </a:r>
          </a:p>
          <a:p>
            <a:r>
              <a:rPr lang="en-US" sz="2000" dirty="0">
                <a:latin typeface="Abadi" panose="020B0604020104020204" pitchFamily="34" charset="0"/>
              </a:rPr>
              <a:t>Jika pada level yang paling </a:t>
            </a:r>
            <a:r>
              <a:rPr lang="en-US" sz="2000" dirty="0" err="1">
                <a:latin typeface="Abadi" panose="020B0604020104020204" pitchFamily="34" charset="0"/>
              </a:rPr>
              <a:t>dalam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tidak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ditemukan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solusinya</a:t>
            </a:r>
            <a:r>
              <a:rPr lang="en-US" sz="2000" dirty="0">
                <a:latin typeface="Abadi" panose="020B0604020104020204" pitchFamily="34" charset="0"/>
              </a:rPr>
              <a:t>, </a:t>
            </a:r>
            <a:r>
              <a:rPr lang="en-US" sz="2000" dirty="0" err="1">
                <a:latin typeface="Abadi" panose="020B0604020104020204" pitchFamily="34" charset="0"/>
              </a:rPr>
              <a:t>maka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pencarian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dilanjutkan</a:t>
            </a:r>
            <a:r>
              <a:rPr lang="en-US" sz="2000" dirty="0">
                <a:latin typeface="Abadi" panose="020B0604020104020204" pitchFamily="34" charset="0"/>
              </a:rPr>
              <a:t> pada level </a:t>
            </a:r>
            <a:r>
              <a:rPr lang="en-US" sz="2000" dirty="0" err="1">
                <a:latin typeface="Abadi" panose="020B0604020104020204" pitchFamily="34" charset="0"/>
              </a:rPr>
              <a:t>sebelumnya</a:t>
            </a:r>
            <a:r>
              <a:rPr lang="en-US" sz="2000" dirty="0">
                <a:latin typeface="Abadi" panose="020B0604020104020204" pitchFamily="34" charset="0"/>
              </a:rPr>
              <a:t>.</a:t>
            </a:r>
          </a:p>
          <a:p>
            <a:r>
              <a:rPr lang="en-US" sz="2000" dirty="0" err="1">
                <a:latin typeface="Abadi" panose="020B0604020104020204" pitchFamily="34" charset="0"/>
              </a:rPr>
              <a:t>Demikian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seterusnya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dilakukan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dengan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cara</a:t>
            </a:r>
            <a:r>
              <a:rPr lang="en-US" sz="2000" dirty="0">
                <a:latin typeface="Abadi" panose="020B0604020104020204" pitchFamily="34" charset="0"/>
              </a:rPr>
              <a:t> yang </a:t>
            </a:r>
            <a:r>
              <a:rPr lang="en-US" sz="2000" dirty="0" err="1">
                <a:latin typeface="Abadi" panose="020B0604020104020204" pitchFamily="34" charset="0"/>
              </a:rPr>
              <a:t>sama</a:t>
            </a:r>
            <a:r>
              <a:rPr lang="en-US" sz="2000" dirty="0">
                <a:latin typeface="Abadi" panose="020B0604020104020204" pitchFamily="34" charset="0"/>
              </a:rPr>
              <a:t>, </a:t>
            </a:r>
            <a:r>
              <a:rPr lang="en-US" sz="2000" dirty="0" err="1">
                <a:latin typeface="Abadi" panose="020B0604020104020204" pitchFamily="34" charset="0"/>
              </a:rPr>
              <a:t>sampai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ditemukan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solusinya</a:t>
            </a:r>
            <a:r>
              <a:rPr lang="en-US" sz="2000" dirty="0">
                <a:latin typeface="Abadi" panose="020B0604020104020204" pitchFamily="34" charset="0"/>
              </a:rPr>
              <a:t>.</a:t>
            </a:r>
          </a:p>
          <a:p>
            <a:r>
              <a:rPr lang="en-US" sz="2000" dirty="0" err="1">
                <a:latin typeface="Abadi" panose="020B0604020104020204" pitchFamily="34" charset="0"/>
              </a:rPr>
              <a:t>Kelebihan</a:t>
            </a:r>
            <a:r>
              <a:rPr lang="en-US" sz="2000" dirty="0">
                <a:latin typeface="Abadi" panose="020B0604020104020204" pitchFamily="34" charset="0"/>
              </a:rPr>
              <a:t> DFS </a:t>
            </a:r>
            <a:r>
              <a:rPr lang="en-US" sz="2000" dirty="0" err="1">
                <a:latin typeface="Abadi" panose="020B0604020104020204" pitchFamily="34" charset="0"/>
              </a:rPr>
              <a:t>adalah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pemakaian</a:t>
            </a:r>
            <a:r>
              <a:rPr lang="en-US" sz="2000" dirty="0">
                <a:latin typeface="Abadi" panose="020B0604020104020204" pitchFamily="34" charset="0"/>
              </a:rPr>
              <a:t> memory yang </a:t>
            </a:r>
            <a:r>
              <a:rPr lang="en-US" sz="2000" dirty="0" err="1">
                <a:latin typeface="Abadi" panose="020B0604020104020204" pitchFamily="34" charset="0"/>
              </a:rPr>
              <a:t>lebih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sedikit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dibandingkan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dengan</a:t>
            </a:r>
            <a:r>
              <a:rPr lang="en-US" sz="2000" dirty="0">
                <a:latin typeface="Abadi" panose="020B0604020104020204" pitchFamily="34" charset="0"/>
              </a:rPr>
              <a:t> BFS</a:t>
            </a:r>
          </a:p>
          <a:p>
            <a:r>
              <a:rPr lang="en-US" sz="2000" dirty="0" err="1">
                <a:latin typeface="Abadi" panose="020B0604020104020204" pitchFamily="34" charset="0"/>
              </a:rPr>
              <a:t>Kelemahannya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jika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pohon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yang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dibangkitkan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mempunyai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level yang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sangat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dalam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(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tak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hingga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),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maka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tidak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ada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jaminan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menemukan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solusinya</a:t>
            </a:r>
            <a:endParaRPr lang="id-ID" sz="2000" dirty="0">
              <a:latin typeface="Abadi" panose="020B0604020104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50D93A-99B6-4ADB-9BC2-DD5D335C6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93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8CB0A-E53F-4CD7-BDA4-088C046B1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926795"/>
          </a:xfrm>
        </p:spPr>
        <p:txBody>
          <a:bodyPr/>
          <a:lstStyle/>
          <a:p>
            <a:r>
              <a:rPr lang="en-US" dirty="0" err="1"/>
              <a:t>Penelusuran</a:t>
            </a:r>
            <a:r>
              <a:rPr lang="en-US" dirty="0"/>
              <a:t> DFS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E22D9-EE59-4381-A3C0-13EA1FA57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aphicFrame>
        <p:nvGraphicFramePr>
          <p:cNvPr id="6" name="Object 1">
            <a:extLst>
              <a:ext uri="{FF2B5EF4-FFF2-40B4-BE49-F238E27FC236}">
                <a16:creationId xmlns:a16="http://schemas.microsoft.com/office/drawing/2014/main" id="{DFC5C22D-1E15-4032-827B-E1F7B84A16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8491549"/>
              </p:ext>
            </p:extLst>
          </p:nvPr>
        </p:nvGraphicFramePr>
        <p:xfrm>
          <a:off x="503057" y="2146891"/>
          <a:ext cx="8137886" cy="3174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098873" imgH="2726717" progId="Visio.Drawing.11">
                  <p:embed/>
                </p:oleObj>
              </mc:Choice>
              <mc:Fallback>
                <p:oleObj name="Visio" r:id="rId2" imgW="7098873" imgH="2726717" progId="Visio.Drawing.11">
                  <p:embed/>
                  <p:pic>
                    <p:nvPicPr>
                      <p:cNvPr id="6" name="Object 1">
                        <a:extLst>
                          <a:ext uri="{FF2B5EF4-FFF2-40B4-BE49-F238E27FC236}">
                            <a16:creationId xmlns:a16="http://schemas.microsoft.com/office/drawing/2014/main" id="{DFC5C22D-1E15-4032-827B-E1F7B84A16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057" y="2146891"/>
                        <a:ext cx="8137886" cy="31747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1431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A8697-D4DA-46C4-AD24-A00BA8791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FAC2FE-E868-4642-A55B-2DE12D377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76200"/>
            <a:ext cx="853440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517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685800"/>
          </a:xfrm>
        </p:spPr>
        <p:txBody>
          <a:bodyPr/>
          <a:lstStyle/>
          <a:p>
            <a:r>
              <a:rPr lang="en-US" dirty="0"/>
              <a:t>Kinerja </a:t>
            </a:r>
            <a:r>
              <a:rPr lang="en-US" dirty="0" err="1"/>
              <a:t>algoritma</a:t>
            </a:r>
            <a:r>
              <a:rPr lang="en-US" dirty="0"/>
              <a:t> DFS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76400"/>
            <a:ext cx="6347714" cy="43649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badi" panose="020B0604020104020204" pitchFamily="34" charset="0"/>
              </a:rPr>
              <a:t>Solusi </a:t>
            </a:r>
            <a:r>
              <a:rPr lang="en-US" sz="2000" i="1" dirty="0" err="1">
                <a:latin typeface="Abadi" panose="020B0604020104020204" pitchFamily="34" charset="0"/>
              </a:rPr>
              <a:t>tidak</a:t>
            </a:r>
            <a:r>
              <a:rPr lang="en-US" sz="2000" i="1" dirty="0">
                <a:latin typeface="Abadi" panose="020B0604020104020204" pitchFamily="34" charset="0"/>
              </a:rPr>
              <a:t> </a:t>
            </a:r>
            <a:r>
              <a:rPr lang="id-ID" sz="2000" i="1" dirty="0">
                <a:latin typeface="Abadi" panose="020B0604020104020204" pitchFamily="34" charset="0"/>
              </a:rPr>
              <a:t>Complete </a:t>
            </a:r>
            <a:endParaRPr lang="en-US" sz="2000" i="1" dirty="0">
              <a:latin typeface="Abadi" panose="020B0604020104020204" pitchFamily="34" charset="0"/>
            </a:endParaRPr>
          </a:p>
          <a:p>
            <a:r>
              <a:rPr lang="en-US" sz="2000" dirty="0">
                <a:latin typeface="Abadi" panose="020B0604020104020204" pitchFamily="34" charset="0"/>
              </a:rPr>
              <a:t>Solusi yang </a:t>
            </a:r>
            <a:r>
              <a:rPr lang="en-US" sz="2000" dirty="0" err="1">
                <a:latin typeface="Abadi" panose="020B0604020104020204" pitchFamily="34" charset="0"/>
              </a:rPr>
              <a:t>dihasilkan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i="1" dirty="0" err="1">
                <a:latin typeface="Abadi" panose="020B0604020104020204" pitchFamily="34" charset="0"/>
              </a:rPr>
              <a:t>tidak</a:t>
            </a:r>
            <a:r>
              <a:rPr lang="en-US" sz="2000" i="1" dirty="0">
                <a:latin typeface="Abadi" panose="020B0604020104020204" pitchFamily="34" charset="0"/>
              </a:rPr>
              <a:t> </a:t>
            </a:r>
            <a:r>
              <a:rPr lang="id-ID" sz="2000" i="1" dirty="0">
                <a:latin typeface="Abadi" panose="020B0604020104020204" pitchFamily="34" charset="0"/>
              </a:rPr>
              <a:t>Optimal</a:t>
            </a:r>
            <a:endParaRPr lang="en-US" sz="2000" i="1" dirty="0">
              <a:latin typeface="Abadi" panose="020B0604020104020204" pitchFamily="34" charset="0"/>
            </a:endParaRPr>
          </a:p>
          <a:p>
            <a:pPr lvl="0"/>
            <a:r>
              <a:rPr lang="en-US" sz="2000" dirty="0">
                <a:latin typeface="Abadi" panose="020B0604020104020204" pitchFamily="34" charset="0"/>
              </a:rPr>
              <a:t>Time complexity = </a:t>
            </a:r>
            <a:r>
              <a:rPr lang="id-ID" sz="2000" dirty="0">
                <a:latin typeface="Abadi" panose="020B0604020104020204" pitchFamily="34" charset="0"/>
              </a:rPr>
              <a:t>O(b</a:t>
            </a:r>
            <a:r>
              <a:rPr lang="en-US" sz="2000" baseline="30000" dirty="0">
                <a:latin typeface="Abadi" panose="020B0604020104020204" pitchFamily="34" charset="0"/>
              </a:rPr>
              <a:t>m</a:t>
            </a:r>
            <a:r>
              <a:rPr lang="id-ID" sz="2000" dirty="0">
                <a:latin typeface="Abadi" panose="020B0604020104020204" pitchFamily="34" charset="0"/>
              </a:rPr>
              <a:t>)</a:t>
            </a:r>
            <a:endParaRPr lang="en-US" sz="2000" dirty="0">
              <a:latin typeface="Abadi" panose="020B0604020104020204" pitchFamily="34" charset="0"/>
            </a:endParaRPr>
          </a:p>
          <a:p>
            <a:pPr lvl="0"/>
            <a:r>
              <a:rPr lang="en-US" sz="2000" dirty="0">
                <a:latin typeface="Abadi" panose="020B0604020104020204" pitchFamily="34" charset="0"/>
              </a:rPr>
              <a:t>Space complexity = </a:t>
            </a:r>
            <a:r>
              <a:rPr lang="id-ID" sz="2000" dirty="0">
                <a:latin typeface="Abadi" panose="020B0604020104020204" pitchFamily="34" charset="0"/>
              </a:rPr>
              <a:t>O(b</a:t>
            </a:r>
            <a:r>
              <a:rPr lang="en-US" sz="2000" dirty="0">
                <a:latin typeface="Abadi" panose="020B0604020104020204" pitchFamily="34" charset="0"/>
              </a:rPr>
              <a:t>m</a:t>
            </a:r>
            <a:r>
              <a:rPr lang="id-ID" sz="2000" dirty="0">
                <a:latin typeface="Abadi" panose="020B0604020104020204" pitchFamily="34" charset="0"/>
              </a:rPr>
              <a:t>)</a:t>
            </a:r>
            <a:endParaRPr lang="en-US" sz="2000" dirty="0">
              <a:latin typeface="Abadi" panose="020B0604020104020204" pitchFamily="34" charset="0"/>
            </a:endParaRPr>
          </a:p>
          <a:p>
            <a:pPr lvl="0">
              <a:buNone/>
            </a:pPr>
            <a:r>
              <a:rPr lang="en-US" sz="2000" dirty="0">
                <a:latin typeface="Abadi" panose="020B0604020104020204" pitchFamily="34" charset="0"/>
              </a:rPr>
              <a:t>	m </a:t>
            </a:r>
            <a:r>
              <a:rPr lang="id-ID" sz="2000" dirty="0">
                <a:latin typeface="Abadi" panose="020B0604020104020204" pitchFamily="34" charset="0"/>
              </a:rPr>
              <a:t>: 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id-ID" sz="2000" dirty="0">
                <a:latin typeface="Abadi" panose="020B0604020104020204" pitchFamily="34" charset="0"/>
              </a:rPr>
              <a:t>kedalaman maksimum pohon pencarian</a:t>
            </a:r>
            <a:r>
              <a:rPr lang="en-US" sz="2000" dirty="0">
                <a:latin typeface="Abadi" panose="020B0604020104020204" pitchFamily="34" charset="0"/>
              </a:rPr>
              <a:t>.</a:t>
            </a:r>
            <a:endParaRPr lang="id-ID" sz="2000" dirty="0">
              <a:latin typeface="Abadi" panose="020B06040201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B562D-3C68-473A-AA17-B9970032A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CF2E-1183-4479-804A-2D023D955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310488"/>
            <a:ext cx="6347713" cy="5334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6DE8B-E83D-4B25-8CB4-1ECB11660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E4F915-9513-493F-A796-6090203E9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84912"/>
            <a:ext cx="7772400" cy="547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129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685796"/>
          </a:xfrm>
        </p:spPr>
        <p:txBody>
          <a:bodyPr/>
          <a:lstStyle/>
          <a:p>
            <a:r>
              <a:rPr lang="en-US" i="1" dirty="0"/>
              <a:t>Depth</a:t>
            </a:r>
            <a:r>
              <a:rPr lang="en-US" dirty="0"/>
              <a:t>-</a:t>
            </a:r>
            <a:r>
              <a:rPr lang="en-US" i="1" dirty="0"/>
              <a:t>Limited</a:t>
            </a:r>
            <a:r>
              <a:rPr lang="en-US" dirty="0"/>
              <a:t> </a:t>
            </a:r>
            <a:r>
              <a:rPr lang="en-US" i="1" dirty="0"/>
              <a:t>Search</a:t>
            </a:r>
            <a:r>
              <a:rPr lang="en-US" dirty="0"/>
              <a:t> (DLS)</a:t>
            </a:r>
            <a:endParaRPr lang="id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7CE178-2E8B-41A3-9CF6-0F34D7E9F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B721A5-36D8-4C2F-A2B5-96132FA7B92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aphicFrame>
        <p:nvGraphicFramePr>
          <p:cNvPr id="6041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2800862"/>
              </p:ext>
            </p:extLst>
          </p:nvPr>
        </p:nvGraphicFramePr>
        <p:xfrm>
          <a:off x="628618" y="2964095"/>
          <a:ext cx="7936606" cy="388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959596" imgH="3906196" progId="Visio.Drawing.11">
                  <p:embed/>
                </p:oleObj>
              </mc:Choice>
              <mc:Fallback>
                <p:oleObj name="Visio" r:id="rId2" imgW="7959596" imgH="3906196" progId="Visio.Drawing.11">
                  <p:embed/>
                  <p:pic>
                    <p:nvPicPr>
                      <p:cNvPr id="60417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18" y="2964095"/>
                        <a:ext cx="7936606" cy="3886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E30D9A0-73D7-481B-90A3-2CEBC34092E6}"/>
              </a:ext>
            </a:extLst>
          </p:cNvPr>
          <p:cNvSpPr txBox="1">
            <a:spLocks/>
          </p:cNvSpPr>
          <p:nvPr/>
        </p:nvSpPr>
        <p:spPr>
          <a:xfrm>
            <a:off x="609598" y="1529687"/>
            <a:ext cx="7315202" cy="1442111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>
                <a:latin typeface="Abadi" panose="020B0604020104020204" pitchFamily="34" charset="0"/>
              </a:rPr>
              <a:t>DLS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mencoba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mengatasi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kelemahan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DFS (</a:t>
            </a:r>
            <a:r>
              <a:rPr lang="en-US" sz="2000" b="1" dirty="0" err="1">
                <a:latin typeface="Abadi" panose="020B0604020104020204" pitchFamily="34" charset="0"/>
                <a:sym typeface="Wingdings" panose="05000000000000000000" pitchFamily="2" charset="2"/>
              </a:rPr>
              <a:t>tidak</a:t>
            </a:r>
            <a:r>
              <a:rPr lang="en-US" sz="2000" b="1" dirty="0">
                <a:latin typeface="Abadi" panose="020B0604020104020204" pitchFamily="34" charset="0"/>
                <a:sym typeface="Wingdings" panose="05000000000000000000" pitchFamily="2" charset="2"/>
              </a:rPr>
              <a:t> complete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)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dengan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membatasi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kedalaman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maksimum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dari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suatu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jalur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solusi</a:t>
            </a:r>
            <a:endParaRPr lang="en-US" sz="2000" dirty="0">
              <a:latin typeface="Abadi" panose="020B0604020104020204" pitchFamily="34" charset="0"/>
              <a:sym typeface="Wingdings" panose="05000000000000000000" pitchFamily="2" charset="2"/>
            </a:endParaRPr>
          </a:p>
          <a:p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Sebelum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menggunakan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DLS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harus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mengetahui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dahuluberapa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level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maksimum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dari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suatu</a:t>
            </a:r>
            <a:r>
              <a:rPr lang="en-US" sz="2000" dirty="0">
                <a:latin typeface="Abadi" panose="020B0604020104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err="1">
                <a:latin typeface="Abadi" panose="020B0604020104020204" pitchFamily="34" charset="0"/>
                <a:sym typeface="Wingdings" panose="05000000000000000000" pitchFamily="2" charset="2"/>
              </a:rPr>
              <a:t>solusinya</a:t>
            </a:r>
            <a:endParaRPr lang="id-ID" sz="2000" dirty="0">
              <a:latin typeface="Abadi" panose="020B0604020104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38200"/>
          </a:xfrm>
        </p:spPr>
        <p:txBody>
          <a:bodyPr/>
          <a:lstStyle/>
          <a:p>
            <a:r>
              <a:rPr lang="en-US" dirty="0"/>
              <a:t>Kinerja DLS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600200"/>
            <a:ext cx="6553201" cy="4441163"/>
          </a:xfrm>
        </p:spPr>
        <p:txBody>
          <a:bodyPr>
            <a:normAutofit/>
          </a:bodyPr>
          <a:lstStyle/>
          <a:p>
            <a:r>
              <a:rPr lang="en-US" sz="2000" dirty="0"/>
              <a:t>Jika Batasan </a:t>
            </a:r>
            <a:r>
              <a:rPr lang="en-US" sz="2000" dirty="0" err="1"/>
              <a:t>kedalam</a:t>
            </a:r>
            <a:r>
              <a:rPr lang="en-US" sz="2000" dirty="0"/>
              <a:t> </a:t>
            </a:r>
            <a:r>
              <a:rPr lang="en-US" sz="2000" dirty="0" err="1"/>
              <a:t>terlalu</a:t>
            </a:r>
            <a:r>
              <a:rPr lang="en-US" sz="2000" dirty="0"/>
              <a:t> </a:t>
            </a:r>
            <a:r>
              <a:rPr lang="en-US" sz="2000" dirty="0" err="1"/>
              <a:t>kecil</a:t>
            </a:r>
            <a:r>
              <a:rPr lang="en-US" sz="2000" dirty="0"/>
              <a:t>, DLS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menemukan</a:t>
            </a:r>
            <a:r>
              <a:rPr lang="en-US" sz="2000" dirty="0"/>
              <a:t> </a:t>
            </a:r>
            <a:r>
              <a:rPr lang="en-US" sz="2000" dirty="0" err="1"/>
              <a:t>solusi</a:t>
            </a:r>
            <a:r>
              <a:rPr lang="en-US" sz="2000" dirty="0"/>
              <a:t> yang </a:t>
            </a:r>
            <a:r>
              <a:rPr lang="en-US" sz="2000" dirty="0" err="1"/>
              <a:t>ada</a:t>
            </a:r>
            <a:r>
              <a:rPr lang="en-US" sz="2000" dirty="0"/>
              <a:t>. </a:t>
            </a:r>
          </a:p>
          <a:p>
            <a:r>
              <a:rPr lang="en-US" sz="2000" dirty="0"/>
              <a:t>Solusi c</a:t>
            </a:r>
            <a:r>
              <a:rPr lang="id-ID" sz="2000" dirty="0"/>
              <a:t>omplete </a:t>
            </a:r>
            <a:r>
              <a:rPr lang="en-US" sz="2000" dirty="0" err="1"/>
              <a:t>jika</a:t>
            </a:r>
            <a:r>
              <a:rPr lang="en-US" sz="2000" dirty="0"/>
              <a:t> l </a:t>
            </a:r>
            <a:r>
              <a:rPr lang="en-US" sz="2000" dirty="0">
                <a:sym typeface="Symbol"/>
              </a:rPr>
              <a:t></a:t>
            </a:r>
            <a:r>
              <a:rPr lang="en-US" sz="2000" dirty="0"/>
              <a:t> d</a:t>
            </a:r>
          </a:p>
          <a:p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id-ID" sz="2000" dirty="0"/>
              <a:t>Optimal</a:t>
            </a:r>
            <a:endParaRPr lang="en-US" sz="2000" dirty="0"/>
          </a:p>
          <a:p>
            <a:pPr lvl="0"/>
            <a:r>
              <a:rPr lang="en-US" sz="2000" dirty="0"/>
              <a:t>Time complexity = </a:t>
            </a:r>
            <a:r>
              <a:rPr lang="id-ID" sz="2000" dirty="0"/>
              <a:t>O(b</a:t>
            </a:r>
            <a:r>
              <a:rPr lang="en-US" sz="2000" baseline="30000" dirty="0"/>
              <a:t>l</a:t>
            </a:r>
            <a:r>
              <a:rPr lang="id-ID" sz="2000" dirty="0"/>
              <a:t>)</a:t>
            </a:r>
            <a:endParaRPr lang="en-US" sz="2000" dirty="0"/>
          </a:p>
          <a:p>
            <a:pPr lvl="0"/>
            <a:r>
              <a:rPr lang="en-US" sz="2000" dirty="0"/>
              <a:t>Space complexity = </a:t>
            </a:r>
            <a:r>
              <a:rPr lang="id-ID" sz="2000" dirty="0"/>
              <a:t>O(b</a:t>
            </a:r>
            <a:r>
              <a:rPr lang="en-US" sz="2000" dirty="0"/>
              <a:t>l</a:t>
            </a:r>
            <a:r>
              <a:rPr lang="id-ID" sz="2000" dirty="0"/>
              <a:t>)</a:t>
            </a:r>
            <a:endParaRPr lang="en-US" sz="2000" dirty="0"/>
          </a:p>
          <a:p>
            <a:pPr lvl="0">
              <a:buNone/>
            </a:pPr>
            <a:r>
              <a:rPr lang="en-US" sz="2000" dirty="0"/>
              <a:t>	l </a:t>
            </a:r>
            <a:r>
              <a:rPr lang="id-ID" sz="2000" dirty="0"/>
              <a:t>: </a:t>
            </a:r>
            <a:r>
              <a:rPr lang="en-US" sz="2000" dirty="0"/>
              <a:t> </a:t>
            </a:r>
            <a:r>
              <a:rPr lang="en-US" sz="2000" dirty="0" err="1"/>
              <a:t>batasan</a:t>
            </a:r>
            <a:r>
              <a:rPr lang="en-US" sz="2000" dirty="0"/>
              <a:t> </a:t>
            </a:r>
            <a:r>
              <a:rPr lang="id-ID" sz="2000" dirty="0"/>
              <a:t>kedalaman</a:t>
            </a:r>
            <a:r>
              <a:rPr lang="en-US" sz="2000" dirty="0"/>
              <a:t>.</a:t>
            </a:r>
            <a:endParaRPr lang="id-ID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B5ACD-31E1-40B3-854F-D9AC16E15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685800"/>
          </a:xfrm>
        </p:spPr>
        <p:txBody>
          <a:bodyPr/>
          <a:lstStyle/>
          <a:p>
            <a:r>
              <a:rPr lang="en-US" i="1" dirty="0"/>
              <a:t>Uniform</a:t>
            </a:r>
            <a:r>
              <a:rPr lang="en-US" dirty="0"/>
              <a:t> </a:t>
            </a:r>
            <a:r>
              <a:rPr lang="en-US" i="1" dirty="0"/>
              <a:t>Cost</a:t>
            </a:r>
            <a:r>
              <a:rPr lang="en-US" dirty="0"/>
              <a:t> </a:t>
            </a:r>
            <a:r>
              <a:rPr lang="en-US" i="1" dirty="0"/>
              <a:t>Search</a:t>
            </a:r>
            <a:r>
              <a:rPr lang="en-US" dirty="0"/>
              <a:t> (UCS)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828800"/>
            <a:ext cx="6934202" cy="4212563"/>
          </a:xfrm>
        </p:spPr>
        <p:txBody>
          <a:bodyPr>
            <a:normAutofit/>
          </a:bodyPr>
          <a:lstStyle/>
          <a:p>
            <a:r>
              <a:rPr lang="id-ID" sz="2000" dirty="0">
                <a:latin typeface="Abadi" panose="020B0604020104020204" pitchFamily="34" charset="0"/>
              </a:rPr>
              <a:t>BFS menggunakan </a:t>
            </a:r>
            <a:r>
              <a:rPr lang="id-ID" sz="2000" b="1" dirty="0">
                <a:latin typeface="Abadi" panose="020B0604020104020204" pitchFamily="34" charset="0"/>
              </a:rPr>
              <a:t>urutan level </a:t>
            </a:r>
            <a:r>
              <a:rPr lang="id-ID" sz="2000" dirty="0">
                <a:latin typeface="Abadi" panose="020B0604020104020204" pitchFamily="34" charset="0"/>
              </a:rPr>
              <a:t>dari yang paling rendah sampai yang paling tinggi. </a:t>
            </a:r>
            <a:endParaRPr lang="en-US" sz="2000" dirty="0">
              <a:latin typeface="Abadi" panose="020B0604020104020204" pitchFamily="34" charset="0"/>
            </a:endParaRPr>
          </a:p>
          <a:p>
            <a:r>
              <a:rPr lang="id-ID" sz="2000" dirty="0">
                <a:latin typeface="Abadi" panose="020B0604020104020204" pitchFamily="34" charset="0"/>
              </a:rPr>
              <a:t>UCS menggunakan </a:t>
            </a:r>
            <a:r>
              <a:rPr lang="id-ID" sz="2000" b="1" dirty="0">
                <a:latin typeface="Abadi" panose="020B0604020104020204" pitchFamily="34" charset="0"/>
              </a:rPr>
              <a:t>urutan biaya</a:t>
            </a:r>
            <a:r>
              <a:rPr lang="id-ID" sz="2000" dirty="0">
                <a:latin typeface="Abadi" panose="020B0604020104020204" pitchFamily="34" charset="0"/>
              </a:rPr>
              <a:t> dari yang terkecil sampai yang terbesar. </a:t>
            </a:r>
            <a:endParaRPr lang="en-US" sz="2000" dirty="0">
              <a:latin typeface="Abadi" panose="020B0604020104020204" pitchFamily="34" charset="0"/>
            </a:endParaRPr>
          </a:p>
          <a:p>
            <a:r>
              <a:rPr lang="id-ID" sz="2000" dirty="0">
                <a:latin typeface="Abadi" panose="020B0604020104020204" pitchFamily="34" charset="0"/>
              </a:rPr>
              <a:t>UCS </a:t>
            </a:r>
            <a:r>
              <a:rPr lang="en-US" sz="2000" dirty="0" err="1">
                <a:latin typeface="Abadi" panose="020B0604020104020204" pitchFamily="34" charset="0"/>
              </a:rPr>
              <a:t>mencari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id-ID" sz="2000" dirty="0">
                <a:latin typeface="Abadi" panose="020B0604020104020204" pitchFamily="34" charset="0"/>
              </a:rPr>
              <a:t>solusi dengan total biaya terendah yang dihitung berdasarkan biaya dari simpul asal ke simpul tujuan. </a:t>
            </a:r>
            <a:endParaRPr lang="en-US" sz="2000" dirty="0">
              <a:latin typeface="Abadi" panose="020B0604020104020204" pitchFamily="34" charset="0"/>
            </a:endParaRPr>
          </a:p>
          <a:p>
            <a:r>
              <a:rPr lang="id-ID" sz="2000" i="1" dirty="0">
                <a:latin typeface="Abadi" panose="020B0604020104020204" pitchFamily="34" charset="0"/>
              </a:rPr>
              <a:t>g</a:t>
            </a:r>
            <a:r>
              <a:rPr lang="id-ID" sz="2000" dirty="0">
                <a:latin typeface="Abadi" panose="020B0604020104020204" pitchFamily="34" charset="0"/>
              </a:rPr>
              <a:t>(</a:t>
            </a:r>
            <a:r>
              <a:rPr lang="id-ID" sz="2000" i="1" dirty="0">
                <a:latin typeface="Abadi" panose="020B0604020104020204" pitchFamily="34" charset="0"/>
              </a:rPr>
              <a:t>n</a:t>
            </a:r>
            <a:r>
              <a:rPr lang="id-ID" sz="2000" dirty="0">
                <a:latin typeface="Abadi" panose="020B0604020104020204" pitchFamily="34" charset="0"/>
              </a:rPr>
              <a:t>)</a:t>
            </a:r>
            <a:r>
              <a:rPr lang="en-US" sz="2000" dirty="0">
                <a:latin typeface="Abadi" panose="020B0604020104020204" pitchFamily="34" charset="0"/>
              </a:rPr>
              <a:t> = b</a:t>
            </a:r>
            <a:r>
              <a:rPr lang="id-ID" sz="2000" dirty="0">
                <a:latin typeface="Abadi" panose="020B0604020104020204" pitchFamily="34" charset="0"/>
              </a:rPr>
              <a:t>iaya dari simpul asal ke simpul </a:t>
            </a:r>
            <a:r>
              <a:rPr lang="id-ID" sz="2000" i="1" dirty="0">
                <a:latin typeface="Abadi" panose="020B0604020104020204" pitchFamily="34" charset="0"/>
              </a:rPr>
              <a:t>n</a:t>
            </a:r>
            <a:r>
              <a:rPr lang="id-ID" sz="2000" dirty="0">
                <a:latin typeface="Abadi" panose="020B0604020104020204" pitchFamily="34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FC761-A10B-49E6-85B3-1F018A02C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729BB3-A047-4896-A3BC-4079D5786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8510C0-C023-46DB-8927-270F0F88F70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3427B65-F802-4CB3-9EC7-741961DC8B76}"/>
              </a:ext>
            </a:extLst>
          </p:cNvPr>
          <p:cNvSpPr txBox="1">
            <a:spLocks/>
          </p:cNvSpPr>
          <p:nvPr/>
        </p:nvSpPr>
        <p:spPr>
          <a:xfrm>
            <a:off x="596758" y="152400"/>
            <a:ext cx="6347713" cy="457194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i="1" dirty="0" err="1"/>
              <a:t>Contoh</a:t>
            </a:r>
            <a:r>
              <a:rPr lang="en-US" sz="3200" i="1" dirty="0"/>
              <a:t> :</a:t>
            </a:r>
            <a:endParaRPr lang="id-ID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19839E-2A98-475C-87D0-6C31F8631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1994"/>
            <a:ext cx="8915400" cy="541020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77875"/>
          </a:xfrm>
        </p:spPr>
        <p:txBody>
          <a:bodyPr/>
          <a:lstStyle/>
          <a:p>
            <a:r>
              <a:rPr lang="en-US" dirty="0"/>
              <a:t>Kinerja </a:t>
            </a:r>
            <a:r>
              <a:rPr lang="en-US" dirty="0" err="1"/>
              <a:t>Algoritma</a:t>
            </a:r>
            <a:r>
              <a:rPr lang="en-US" dirty="0"/>
              <a:t> UCS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81200"/>
            <a:ext cx="6347714" cy="4060163"/>
          </a:xfrm>
        </p:spPr>
        <p:txBody>
          <a:bodyPr>
            <a:normAutofit/>
          </a:bodyPr>
          <a:lstStyle/>
          <a:p>
            <a:r>
              <a:rPr lang="en-US" sz="2000" dirty="0" err="1">
                <a:latin typeface="Abadi" panose="020B0604020104020204" pitchFamily="34" charset="0"/>
              </a:rPr>
              <a:t>Solusinya</a:t>
            </a:r>
            <a:r>
              <a:rPr lang="en-US" sz="2000" dirty="0">
                <a:latin typeface="Abadi" panose="020B0604020104020204" pitchFamily="34" charset="0"/>
              </a:rPr>
              <a:t> yang </a:t>
            </a:r>
            <a:r>
              <a:rPr lang="en-US" sz="2000" dirty="0" err="1">
                <a:latin typeface="Abadi" panose="020B0604020104020204" pitchFamily="34" charset="0"/>
              </a:rPr>
              <a:t>dihasilkan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id-ID" sz="2000" dirty="0">
                <a:latin typeface="Abadi" panose="020B0604020104020204" pitchFamily="34" charset="0"/>
              </a:rPr>
              <a:t>Complete </a:t>
            </a:r>
            <a:endParaRPr lang="en-US" sz="2000" dirty="0">
              <a:latin typeface="Abadi" panose="020B0604020104020204" pitchFamily="34" charset="0"/>
            </a:endParaRPr>
          </a:p>
          <a:p>
            <a:r>
              <a:rPr lang="en-US" sz="2000" dirty="0" err="1">
                <a:latin typeface="Abadi" panose="020B0604020104020204" pitchFamily="34" charset="0"/>
              </a:rPr>
              <a:t>Solusinya</a:t>
            </a:r>
            <a:r>
              <a:rPr lang="en-US" sz="2000" dirty="0">
                <a:latin typeface="Abadi" panose="020B0604020104020204" pitchFamily="34" charset="0"/>
              </a:rPr>
              <a:t> yang </a:t>
            </a:r>
            <a:r>
              <a:rPr lang="en-US" sz="2000" dirty="0" err="1">
                <a:latin typeface="Abadi" panose="020B0604020104020204" pitchFamily="34" charset="0"/>
              </a:rPr>
              <a:t>diperoleh</a:t>
            </a:r>
            <a:r>
              <a:rPr lang="en-US" sz="2000" dirty="0">
                <a:latin typeface="Abadi" panose="020B0604020104020204" pitchFamily="34" charset="0"/>
              </a:rPr>
              <a:t> yang </a:t>
            </a:r>
            <a:r>
              <a:rPr lang="id-ID" sz="2000" dirty="0">
                <a:latin typeface="Abadi" panose="020B0604020104020204" pitchFamily="34" charset="0"/>
              </a:rPr>
              <a:t>Optimal</a:t>
            </a:r>
            <a:endParaRPr lang="en-US" sz="2000" dirty="0">
              <a:latin typeface="Abadi" panose="020B0604020104020204" pitchFamily="34" charset="0"/>
            </a:endParaRPr>
          </a:p>
          <a:p>
            <a:pPr lvl="0"/>
            <a:r>
              <a:rPr lang="en-US" sz="2000" dirty="0">
                <a:latin typeface="Abadi" panose="020B0604020104020204" pitchFamily="34" charset="0"/>
              </a:rPr>
              <a:t>Time complexity = </a:t>
            </a:r>
            <a:r>
              <a:rPr lang="id-ID" sz="2000" dirty="0">
                <a:latin typeface="Abadi" panose="020B0604020104020204" pitchFamily="34" charset="0"/>
              </a:rPr>
              <a:t>O(b</a:t>
            </a:r>
            <a:r>
              <a:rPr lang="en-US" sz="2000" baseline="30000" dirty="0">
                <a:latin typeface="Abadi" panose="020B0604020104020204" pitchFamily="34" charset="0"/>
              </a:rPr>
              <a:t>d</a:t>
            </a:r>
            <a:r>
              <a:rPr lang="id-ID" sz="2000" dirty="0">
                <a:latin typeface="Abadi" panose="020B0604020104020204" pitchFamily="34" charset="0"/>
              </a:rPr>
              <a:t>)</a:t>
            </a:r>
            <a:endParaRPr lang="en-US" sz="2000" dirty="0">
              <a:latin typeface="Abadi" panose="020B0604020104020204" pitchFamily="34" charset="0"/>
            </a:endParaRPr>
          </a:p>
          <a:p>
            <a:pPr lvl="0"/>
            <a:r>
              <a:rPr lang="en-US" sz="2000" dirty="0">
                <a:latin typeface="Abadi" panose="020B0604020104020204" pitchFamily="34" charset="0"/>
              </a:rPr>
              <a:t>Space complexity = </a:t>
            </a:r>
            <a:r>
              <a:rPr lang="id-ID" sz="2000" dirty="0">
                <a:latin typeface="Abadi" panose="020B0604020104020204" pitchFamily="34" charset="0"/>
              </a:rPr>
              <a:t>O(b</a:t>
            </a:r>
            <a:r>
              <a:rPr lang="en-US" sz="2000" baseline="30000" dirty="0">
                <a:latin typeface="Abadi" panose="020B0604020104020204" pitchFamily="34" charset="0"/>
              </a:rPr>
              <a:t>d</a:t>
            </a:r>
            <a:r>
              <a:rPr lang="id-ID" sz="2000" dirty="0">
                <a:latin typeface="Abadi" panose="020B0604020104020204" pitchFamily="34" charset="0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97DFF-1423-426E-9D77-685B3E248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934201" cy="762000"/>
          </a:xfrm>
        </p:spPr>
        <p:txBody>
          <a:bodyPr>
            <a:normAutofit/>
          </a:bodyPr>
          <a:lstStyle/>
          <a:p>
            <a:r>
              <a:rPr lang="en-US" i="1" dirty="0"/>
              <a:t>Iterative</a:t>
            </a:r>
            <a:r>
              <a:rPr lang="en-US" dirty="0"/>
              <a:t>-</a:t>
            </a:r>
            <a:r>
              <a:rPr lang="en-US" i="1" dirty="0"/>
              <a:t>Deepening</a:t>
            </a:r>
            <a:r>
              <a:rPr lang="en-US" dirty="0"/>
              <a:t> </a:t>
            </a:r>
            <a:r>
              <a:rPr lang="en-US" i="1" dirty="0"/>
              <a:t>Search</a:t>
            </a:r>
            <a:r>
              <a:rPr lang="en-US" dirty="0"/>
              <a:t> (IDS)</a:t>
            </a:r>
            <a:endParaRPr lang="id-ID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598" y="1676400"/>
            <a:ext cx="6858001" cy="4364963"/>
          </a:xfrm>
        </p:spPr>
        <p:txBody>
          <a:bodyPr>
            <a:normAutofit/>
          </a:bodyPr>
          <a:lstStyle/>
          <a:p>
            <a:r>
              <a:rPr lang="id-ID" sz="2000" dirty="0">
                <a:latin typeface="Abadi" panose="020B0604020104020204" pitchFamily="34" charset="0"/>
              </a:rPr>
              <a:t>BFS </a:t>
            </a:r>
            <a:r>
              <a:rPr lang="en-US" sz="2000" dirty="0">
                <a:latin typeface="Abadi" panose="020B0604020104020204" pitchFamily="34" charset="0"/>
                <a:sym typeface="Wingdings" pitchFamily="2" charset="2"/>
              </a:rPr>
              <a:t> </a:t>
            </a:r>
            <a:r>
              <a:rPr lang="id-ID" sz="2000" i="1" dirty="0">
                <a:latin typeface="Abadi" panose="020B0604020104020204" pitchFamily="34" charset="0"/>
              </a:rPr>
              <a:t>complete </a:t>
            </a:r>
            <a:r>
              <a:rPr lang="id-ID" sz="2000" dirty="0">
                <a:latin typeface="Abadi" panose="020B0604020104020204" pitchFamily="34" charset="0"/>
              </a:rPr>
              <a:t>dan </a:t>
            </a:r>
            <a:r>
              <a:rPr lang="id-ID" sz="2000" i="1" dirty="0">
                <a:latin typeface="Abadi" panose="020B0604020104020204" pitchFamily="34" charset="0"/>
              </a:rPr>
              <a:t>optimal</a:t>
            </a:r>
            <a:endParaRPr lang="en-US" sz="2000" i="1" dirty="0">
              <a:latin typeface="Abadi" panose="020B0604020104020204" pitchFamily="34" charset="0"/>
            </a:endParaRPr>
          </a:p>
          <a:p>
            <a:r>
              <a:rPr lang="id-ID" sz="2000" dirty="0">
                <a:latin typeface="Abadi" panose="020B0604020104020204" pitchFamily="34" charset="0"/>
              </a:rPr>
              <a:t>DFS </a:t>
            </a:r>
            <a:r>
              <a:rPr lang="en-US" sz="2000" dirty="0">
                <a:latin typeface="Abadi" panose="020B0604020104020204" pitchFamily="34" charset="0"/>
                <a:sym typeface="Wingdings" pitchFamily="2" charset="2"/>
              </a:rPr>
              <a:t> </a:t>
            </a:r>
            <a:r>
              <a:rPr lang="id-ID" sz="2000" i="1" dirty="0">
                <a:latin typeface="Abadi" panose="020B0604020104020204" pitchFamily="34" charset="0"/>
              </a:rPr>
              <a:t>space complexity </a:t>
            </a:r>
            <a:r>
              <a:rPr lang="id-ID" sz="2000" dirty="0">
                <a:latin typeface="Abadi" panose="020B0604020104020204" pitchFamily="34" charset="0"/>
              </a:rPr>
              <a:t>rendah</a:t>
            </a:r>
            <a:endParaRPr lang="en-US" sz="2000" dirty="0">
              <a:latin typeface="Abadi" panose="020B0604020104020204" pitchFamily="34" charset="0"/>
            </a:endParaRPr>
          </a:p>
          <a:p>
            <a:r>
              <a:rPr lang="id-ID" sz="2000" dirty="0">
                <a:latin typeface="Abadi" panose="020B0604020104020204" pitchFamily="34" charset="0"/>
              </a:rPr>
              <a:t>IDS</a:t>
            </a:r>
            <a:r>
              <a:rPr lang="en-US" sz="2000" dirty="0">
                <a:latin typeface="Abadi" panose="020B0604020104020204" pitchFamily="34" charset="0"/>
              </a:rPr>
              <a:t> = </a:t>
            </a:r>
            <a:r>
              <a:rPr lang="en-US" sz="2000" dirty="0" err="1">
                <a:latin typeface="Abadi" panose="020B0604020104020204" pitchFamily="34" charset="0"/>
              </a:rPr>
              <a:t>gabungan</a:t>
            </a:r>
            <a:r>
              <a:rPr lang="en-US" sz="2000" dirty="0">
                <a:latin typeface="Abadi" panose="020B0604020104020204" pitchFamily="34" charset="0"/>
              </a:rPr>
              <a:t> BFS dan DFS</a:t>
            </a:r>
          </a:p>
          <a:p>
            <a:r>
              <a:rPr lang="en-US" sz="2000" dirty="0">
                <a:latin typeface="Abadi" panose="020B0604020104020204" pitchFamily="34" charset="0"/>
                <a:sym typeface="Wingdings" pitchFamily="2" charset="2"/>
              </a:rPr>
              <a:t>IDS	 </a:t>
            </a:r>
            <a:r>
              <a:rPr lang="id-ID" sz="2000" dirty="0">
                <a:latin typeface="Abadi" panose="020B0604020104020204" pitchFamily="34" charset="0"/>
              </a:rPr>
              <a:t>complete</a:t>
            </a:r>
            <a:r>
              <a:rPr lang="en-US" sz="2000" dirty="0">
                <a:latin typeface="Abadi" panose="020B0604020104020204" pitchFamily="34" charset="0"/>
              </a:rPr>
              <a:t>, </a:t>
            </a:r>
            <a:r>
              <a:rPr lang="id-ID" sz="2000" dirty="0">
                <a:latin typeface="Abadi" panose="020B0604020104020204" pitchFamily="34" charset="0"/>
              </a:rPr>
              <a:t>optimal</a:t>
            </a:r>
            <a:r>
              <a:rPr lang="en-US" sz="2000" dirty="0">
                <a:latin typeface="Abadi" panose="020B0604020104020204" pitchFamily="34" charset="0"/>
              </a:rPr>
              <a:t>,</a:t>
            </a:r>
            <a:r>
              <a:rPr lang="id-ID" sz="2000" dirty="0">
                <a:latin typeface="Abadi" panose="020B0604020104020204" pitchFamily="34" charset="0"/>
              </a:rPr>
              <a:t> </a:t>
            </a:r>
            <a:r>
              <a:rPr lang="id-ID" sz="2000" i="1" dirty="0">
                <a:latin typeface="Abadi" panose="020B0604020104020204" pitchFamily="34" charset="0"/>
              </a:rPr>
              <a:t>space complexity </a:t>
            </a:r>
            <a:r>
              <a:rPr lang="id-ID" sz="2000" dirty="0">
                <a:latin typeface="Abadi" panose="020B0604020104020204" pitchFamily="34" charset="0"/>
              </a:rPr>
              <a:t>rendah. </a:t>
            </a:r>
            <a:endParaRPr lang="en-US" sz="2000" dirty="0">
              <a:latin typeface="Abadi" panose="020B0604020104020204" pitchFamily="34" charset="0"/>
            </a:endParaRPr>
          </a:p>
          <a:p>
            <a:r>
              <a:rPr lang="en-US" sz="2000" i="1" dirty="0">
                <a:latin typeface="Abadi" panose="020B0604020104020204" pitchFamily="34" charset="0"/>
              </a:rPr>
              <a:t>IDS </a:t>
            </a:r>
            <a:r>
              <a:rPr lang="en-US" sz="2000" i="1" dirty="0">
                <a:latin typeface="Abadi" panose="020B0604020104020204" pitchFamily="34" charset="0"/>
                <a:sym typeface="Wingdings" pitchFamily="2" charset="2"/>
              </a:rPr>
              <a:t> </a:t>
            </a:r>
            <a:r>
              <a:rPr lang="en-US" sz="2000" i="1" dirty="0">
                <a:latin typeface="Abadi" panose="020B0604020104020204" pitchFamily="34" charset="0"/>
              </a:rPr>
              <a:t>T</a:t>
            </a:r>
            <a:r>
              <a:rPr lang="id-ID" sz="2000" i="1" dirty="0">
                <a:latin typeface="Abadi" panose="020B0604020104020204" pitchFamily="34" charset="0"/>
              </a:rPr>
              <a:t>ime complexity</a:t>
            </a:r>
            <a:r>
              <a:rPr lang="id-ID" sz="2000" dirty="0">
                <a:latin typeface="Abadi" panose="020B0604020104020204" pitchFamily="34" charset="0"/>
              </a:rPr>
              <a:t>-nya menjadi sangat tinggi </a:t>
            </a:r>
            <a:endParaRPr lang="en-US" sz="2000" dirty="0">
              <a:latin typeface="Abadi" panose="020B0604020104020204" pitchFamily="34" charset="0"/>
            </a:endParaRPr>
          </a:p>
          <a:p>
            <a:r>
              <a:rPr lang="en-US" sz="2000" dirty="0" err="1">
                <a:latin typeface="Abadi" panose="020B0604020104020204" pitchFamily="34" charset="0"/>
              </a:rPr>
              <a:t>Mengapa</a:t>
            </a:r>
            <a:r>
              <a:rPr lang="en-US" sz="2000" dirty="0">
                <a:latin typeface="Abadi" panose="020B0604020104020204" pitchFamily="34" charset="0"/>
              </a:rPr>
              <a:t>?</a:t>
            </a:r>
          </a:p>
          <a:p>
            <a:r>
              <a:rPr lang="en-US" sz="2000" dirty="0">
                <a:latin typeface="Abadi" panose="020B0604020104020204" pitchFamily="34" charset="0"/>
              </a:rPr>
              <a:t>K</a:t>
            </a:r>
            <a:r>
              <a:rPr lang="id-ID" sz="2000" dirty="0">
                <a:latin typeface="Abadi" panose="020B0604020104020204" pitchFamily="34" charset="0"/>
              </a:rPr>
              <a:t>arena proses pencarian dilakukan secara iteratif sehingga terjadi proses penelusuran menggunakan algoritma DFS yang berulang-ulang.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7E3376-1CF1-471A-98B7-10E202F57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aphicFrame>
        <p:nvGraphicFramePr>
          <p:cNvPr id="67585" name="Object 1"/>
          <p:cNvGraphicFramePr>
            <a:graphicFrameLocks noChangeAspect="1"/>
          </p:cNvGraphicFramePr>
          <p:nvPr/>
        </p:nvGraphicFramePr>
        <p:xfrm>
          <a:off x="228600" y="838200"/>
          <a:ext cx="8643374" cy="586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774031" imgH="3241202" progId="Visio.Drawing.11">
                  <p:embed/>
                </p:oleObj>
              </mc:Choice>
              <mc:Fallback>
                <p:oleObj name="Visio" r:id="rId2" imgW="4774031" imgH="3241202" progId="Visio.Drawing.11">
                  <p:embed/>
                  <p:pic>
                    <p:nvPicPr>
                      <p:cNvPr id="6758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838200"/>
                        <a:ext cx="8643374" cy="586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3DFB19-C390-4C4E-BAE3-5D34111A1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8510C0-C023-46DB-8927-270F0F88F70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CB49DB-DB55-4D09-8CE9-3A330A193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8510C0-C023-46DB-8927-270F0F88F70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F498B1-E2B3-46B4-BFA2-AA6D5313E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76200"/>
            <a:ext cx="8153399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584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38200"/>
          </a:xfrm>
        </p:spPr>
        <p:txBody>
          <a:bodyPr/>
          <a:lstStyle/>
          <a:p>
            <a:r>
              <a:rPr lang="en-US" dirty="0"/>
              <a:t>Kinerja </a:t>
            </a:r>
            <a:r>
              <a:rPr lang="en-US" dirty="0" err="1"/>
              <a:t>algoritma</a:t>
            </a:r>
            <a:r>
              <a:rPr lang="en-US" dirty="0"/>
              <a:t> IDS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Abadi" panose="020B0604020104020204" pitchFamily="34" charset="0"/>
              </a:rPr>
              <a:t>Solusi yang </a:t>
            </a:r>
            <a:r>
              <a:rPr lang="en-US" sz="2000" dirty="0" err="1">
                <a:latin typeface="Abadi" panose="020B0604020104020204" pitchFamily="34" charset="0"/>
              </a:rPr>
              <a:t>dihasilkan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id-ID" sz="2000" dirty="0">
                <a:latin typeface="Abadi" panose="020B0604020104020204" pitchFamily="34" charset="0"/>
              </a:rPr>
              <a:t>Complete </a:t>
            </a:r>
            <a:endParaRPr lang="en-US" sz="2000" dirty="0">
              <a:latin typeface="Abadi" panose="020B0604020104020204" pitchFamily="34" charset="0"/>
            </a:endParaRPr>
          </a:p>
          <a:p>
            <a:r>
              <a:rPr lang="en-US" sz="2000" dirty="0" err="1">
                <a:latin typeface="Abadi" panose="020B0604020104020204" pitchFamily="34" charset="0"/>
              </a:rPr>
              <a:t>Solusinya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id-ID" sz="2000" dirty="0">
                <a:latin typeface="Abadi" panose="020B0604020104020204" pitchFamily="34" charset="0"/>
              </a:rPr>
              <a:t>Optimal</a:t>
            </a:r>
            <a:endParaRPr lang="en-US" sz="2000" dirty="0">
              <a:latin typeface="Abadi" panose="020B0604020104020204" pitchFamily="34" charset="0"/>
            </a:endParaRPr>
          </a:p>
          <a:p>
            <a:pPr lvl="0"/>
            <a:r>
              <a:rPr lang="en-US" sz="2000" dirty="0">
                <a:latin typeface="Abadi" panose="020B0604020104020204" pitchFamily="34" charset="0"/>
              </a:rPr>
              <a:t>Time complexity = </a:t>
            </a:r>
            <a:r>
              <a:rPr lang="id-ID" sz="2000" dirty="0">
                <a:latin typeface="Abadi" panose="020B0604020104020204" pitchFamily="34" charset="0"/>
              </a:rPr>
              <a:t>O(b</a:t>
            </a:r>
            <a:r>
              <a:rPr lang="en-US" sz="2000" baseline="30000" dirty="0">
                <a:latin typeface="Abadi" panose="020B0604020104020204" pitchFamily="34" charset="0"/>
              </a:rPr>
              <a:t>d</a:t>
            </a:r>
            <a:r>
              <a:rPr lang="id-ID" sz="2000" dirty="0">
                <a:latin typeface="Abadi" panose="020B0604020104020204" pitchFamily="34" charset="0"/>
              </a:rPr>
              <a:t>)</a:t>
            </a:r>
            <a:endParaRPr lang="en-US" sz="2000" dirty="0">
              <a:latin typeface="Abadi" panose="020B0604020104020204" pitchFamily="34" charset="0"/>
            </a:endParaRPr>
          </a:p>
          <a:p>
            <a:pPr lvl="0"/>
            <a:r>
              <a:rPr lang="en-US" sz="2000" dirty="0">
                <a:latin typeface="Abadi" panose="020B0604020104020204" pitchFamily="34" charset="0"/>
              </a:rPr>
              <a:t>Space complexity = </a:t>
            </a:r>
            <a:r>
              <a:rPr lang="id-ID" sz="2000" dirty="0">
                <a:latin typeface="Abadi" panose="020B0604020104020204" pitchFamily="34" charset="0"/>
              </a:rPr>
              <a:t>O(b</a:t>
            </a:r>
            <a:r>
              <a:rPr lang="en-US" sz="2000" dirty="0">
                <a:latin typeface="Abadi" panose="020B0604020104020204" pitchFamily="34" charset="0"/>
              </a:rPr>
              <a:t>d</a:t>
            </a:r>
            <a:r>
              <a:rPr lang="id-ID" sz="2000" dirty="0">
                <a:latin typeface="Abadi" panose="020B0604020104020204" pitchFamily="34" charset="0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CAD98-72BA-4CA6-9391-563C039CF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685800"/>
          </a:xfrm>
        </p:spPr>
        <p:txBody>
          <a:bodyPr/>
          <a:lstStyle/>
          <a:p>
            <a:r>
              <a:rPr lang="en-US" i="1" dirty="0"/>
              <a:t>Bi-directional</a:t>
            </a:r>
            <a:r>
              <a:rPr lang="en-US" dirty="0"/>
              <a:t> </a:t>
            </a:r>
            <a:r>
              <a:rPr lang="en-US" i="1" dirty="0"/>
              <a:t>Search</a:t>
            </a:r>
            <a:r>
              <a:rPr lang="en-US" dirty="0"/>
              <a:t> (BDS)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524000"/>
            <a:ext cx="7010402" cy="4517363"/>
          </a:xfrm>
        </p:spPr>
        <p:txBody>
          <a:bodyPr>
            <a:normAutofit lnSpcReduction="10000"/>
          </a:bodyPr>
          <a:lstStyle/>
          <a:p>
            <a:pPr lvl="0"/>
            <a:r>
              <a:rPr lang="en-US" sz="2000" dirty="0" err="1">
                <a:latin typeface="Abadi" panose="020B0604020104020204" pitchFamily="34" charset="0"/>
              </a:rPr>
              <a:t>Pencarian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dilakukan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dari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dua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arah</a:t>
            </a:r>
            <a:r>
              <a:rPr lang="en-US" sz="2000" dirty="0">
                <a:latin typeface="Abadi" panose="020B0604020104020204" pitchFamily="34" charset="0"/>
              </a:rPr>
              <a:t> : p</a:t>
            </a:r>
            <a:r>
              <a:rPr lang="id-ID" sz="2000" dirty="0">
                <a:latin typeface="Abadi" panose="020B0604020104020204" pitchFamily="34" charset="0"/>
              </a:rPr>
              <a:t>encarian </a:t>
            </a:r>
            <a:r>
              <a:rPr lang="id-ID" sz="2000" b="1" dirty="0">
                <a:latin typeface="Abadi" panose="020B0604020104020204" pitchFamily="34" charset="0"/>
              </a:rPr>
              <a:t>maju</a:t>
            </a:r>
            <a:r>
              <a:rPr lang="id-ID" sz="2000" dirty="0">
                <a:latin typeface="Abadi" panose="020B0604020104020204" pitchFamily="34" charset="0"/>
              </a:rPr>
              <a:t> (dari </a:t>
            </a:r>
            <a:r>
              <a:rPr lang="id-ID" sz="2000" i="1" dirty="0">
                <a:latin typeface="Abadi" panose="020B0604020104020204" pitchFamily="34" charset="0"/>
              </a:rPr>
              <a:t>start </a:t>
            </a:r>
            <a:r>
              <a:rPr lang="id-ID" sz="2000" dirty="0">
                <a:latin typeface="Abadi" panose="020B0604020104020204" pitchFamily="34" charset="0"/>
              </a:rPr>
              <a:t>ke </a:t>
            </a:r>
            <a:r>
              <a:rPr lang="id-ID" sz="2000" i="1" dirty="0">
                <a:latin typeface="Abadi" panose="020B0604020104020204" pitchFamily="34" charset="0"/>
              </a:rPr>
              <a:t>goal</a:t>
            </a:r>
            <a:r>
              <a:rPr lang="id-ID" sz="2000" dirty="0">
                <a:latin typeface="Abadi" panose="020B0604020104020204" pitchFamily="34" charset="0"/>
              </a:rPr>
              <a:t>) dan pencarian </a:t>
            </a:r>
            <a:r>
              <a:rPr lang="id-ID" sz="2000" b="1" dirty="0">
                <a:latin typeface="Abadi" panose="020B0604020104020204" pitchFamily="34" charset="0"/>
              </a:rPr>
              <a:t>mundur</a:t>
            </a:r>
            <a:r>
              <a:rPr lang="id-ID" sz="2000" dirty="0">
                <a:latin typeface="Abadi" panose="020B0604020104020204" pitchFamily="34" charset="0"/>
              </a:rPr>
              <a:t> (dari </a:t>
            </a:r>
            <a:r>
              <a:rPr lang="id-ID" sz="2000" i="1" dirty="0">
                <a:latin typeface="Abadi" panose="020B0604020104020204" pitchFamily="34" charset="0"/>
              </a:rPr>
              <a:t>goal </a:t>
            </a:r>
            <a:r>
              <a:rPr lang="id-ID" sz="2000" dirty="0">
                <a:latin typeface="Abadi" panose="020B0604020104020204" pitchFamily="34" charset="0"/>
              </a:rPr>
              <a:t>ke </a:t>
            </a:r>
            <a:r>
              <a:rPr lang="id-ID" sz="2000" i="1" dirty="0">
                <a:latin typeface="Abadi" panose="020B0604020104020204" pitchFamily="34" charset="0"/>
              </a:rPr>
              <a:t>start</a:t>
            </a:r>
            <a:r>
              <a:rPr lang="id-ID" sz="2000" dirty="0">
                <a:latin typeface="Abadi" panose="020B0604020104020204" pitchFamily="34" charset="0"/>
              </a:rPr>
              <a:t>)</a:t>
            </a:r>
            <a:r>
              <a:rPr lang="en-US" sz="2000" dirty="0">
                <a:latin typeface="Abadi" panose="020B0604020104020204" pitchFamily="34" charset="0"/>
              </a:rPr>
              <a:t>.</a:t>
            </a:r>
          </a:p>
          <a:p>
            <a:pPr lvl="0"/>
            <a:r>
              <a:rPr lang="id-ID" sz="2000" dirty="0">
                <a:latin typeface="Abadi" panose="020B0604020104020204" pitchFamily="34" charset="0"/>
              </a:rPr>
              <a:t>Ketika dua arah pencarian telah membangkitkan simpul yang sama, maka solusi telah ditemukan</a:t>
            </a:r>
            <a:r>
              <a:rPr lang="en-US" sz="2000" dirty="0">
                <a:latin typeface="Abadi" panose="020B0604020104020204" pitchFamily="34" charset="0"/>
              </a:rPr>
              <a:t>, </a:t>
            </a:r>
            <a:r>
              <a:rPr lang="en-US" sz="2000" dirty="0" err="1">
                <a:latin typeface="Abadi" panose="020B0604020104020204" pitchFamily="34" charset="0"/>
              </a:rPr>
              <a:t>yaitu</a:t>
            </a:r>
            <a:r>
              <a:rPr lang="en-US" sz="2000" dirty="0">
                <a:latin typeface="Abadi" panose="020B0604020104020204" pitchFamily="34" charset="0"/>
              </a:rPr>
              <a:t>  </a:t>
            </a:r>
            <a:r>
              <a:rPr lang="en-US" sz="2000" dirty="0" err="1">
                <a:latin typeface="Abadi" panose="020B0604020104020204" pitchFamily="34" charset="0"/>
              </a:rPr>
              <a:t>dengan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cara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mengg</a:t>
            </a:r>
            <a:r>
              <a:rPr lang="id-ID" sz="2000" dirty="0">
                <a:latin typeface="Abadi" panose="020B0604020104020204" pitchFamily="34" charset="0"/>
              </a:rPr>
              <a:t>abungkan kedua jalur yang bertemu.</a:t>
            </a:r>
            <a:endParaRPr lang="en-US" sz="2000" dirty="0">
              <a:latin typeface="Abadi" panose="020B0604020104020204" pitchFamily="34" charset="0"/>
            </a:endParaRPr>
          </a:p>
          <a:p>
            <a:pPr lvl="0"/>
            <a:r>
              <a:rPr lang="en-US" sz="2000" dirty="0">
                <a:latin typeface="Abadi" panose="020B0604020104020204" pitchFamily="34" charset="0"/>
              </a:rPr>
              <a:t>Jika </a:t>
            </a:r>
            <a:r>
              <a:rPr lang="en-US" sz="2000" dirty="0" err="1">
                <a:latin typeface="Abadi" panose="020B0604020104020204" pitchFamily="34" charset="0"/>
              </a:rPr>
              <a:t>pencarian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maju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menggunakan</a:t>
            </a:r>
            <a:r>
              <a:rPr lang="en-US" sz="2000" dirty="0">
                <a:latin typeface="Abadi" panose="020B0604020104020204" pitchFamily="34" charset="0"/>
              </a:rPr>
              <a:t> BFS dan </a:t>
            </a:r>
            <a:r>
              <a:rPr lang="en-US" sz="2000" dirty="0" err="1">
                <a:latin typeface="Abadi" panose="020B0604020104020204" pitchFamily="34" charset="0"/>
              </a:rPr>
              <a:t>pencarian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mundur</a:t>
            </a:r>
            <a:r>
              <a:rPr lang="en-US" sz="2000" dirty="0">
                <a:latin typeface="Abadi" panose="020B0604020104020204" pitchFamily="34" charset="0"/>
              </a:rPr>
              <a:t> juga </a:t>
            </a:r>
            <a:r>
              <a:rPr lang="en-US" sz="2000" dirty="0" err="1">
                <a:latin typeface="Abadi" panose="020B0604020104020204" pitchFamily="34" charset="0"/>
              </a:rPr>
              <a:t>menggunakan</a:t>
            </a:r>
            <a:r>
              <a:rPr lang="en-US" sz="2000" dirty="0">
                <a:latin typeface="Abadi" panose="020B0604020104020204" pitchFamily="34" charset="0"/>
              </a:rPr>
              <a:t> BFS, </a:t>
            </a:r>
            <a:r>
              <a:rPr lang="en-US" sz="2000" dirty="0" err="1">
                <a:latin typeface="Abadi" panose="020B0604020104020204" pitchFamily="34" charset="0"/>
              </a:rPr>
              <a:t>maka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jumlah</a:t>
            </a:r>
            <a:r>
              <a:rPr lang="en-US" sz="2000" dirty="0">
                <a:latin typeface="Abadi" panose="020B0604020104020204" pitchFamily="34" charset="0"/>
              </a:rPr>
              <a:t> Langkah yang </a:t>
            </a:r>
            <a:r>
              <a:rPr lang="en-US" sz="2000" dirty="0" err="1">
                <a:latin typeface="Abadi" panose="020B0604020104020204" pitchFamily="34" charset="0"/>
              </a:rPr>
              <a:t>diperlukan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adalah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sebanyak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b="1" dirty="0">
                <a:latin typeface="Abadi" panose="020B0604020104020204" pitchFamily="34" charset="0"/>
              </a:rPr>
              <a:t>O(2b</a:t>
            </a:r>
            <a:r>
              <a:rPr lang="en-US" b="1" baseline="30000" dirty="0">
                <a:latin typeface="Abadi" panose="020B0604020104020204" pitchFamily="34" charset="0"/>
              </a:rPr>
              <a:t>d/2 </a:t>
            </a:r>
            <a:r>
              <a:rPr lang="en-US" b="1" dirty="0">
                <a:latin typeface="Abadi" panose="020B0604020104020204" pitchFamily="34" charset="0"/>
              </a:rPr>
              <a:t>)=O(b</a:t>
            </a:r>
            <a:r>
              <a:rPr lang="en-US" b="1" baseline="30000" dirty="0">
                <a:latin typeface="Abadi" panose="020B0604020104020204" pitchFamily="34" charset="0"/>
              </a:rPr>
              <a:t>d/2</a:t>
            </a:r>
            <a:r>
              <a:rPr lang="en-US" b="1" dirty="0">
                <a:latin typeface="Abadi" panose="020B0604020104020204" pitchFamily="34" charset="0"/>
              </a:rPr>
              <a:t>)</a:t>
            </a:r>
          </a:p>
          <a:p>
            <a:pPr lvl="0"/>
            <a:r>
              <a:rPr lang="en-US" sz="2000" dirty="0">
                <a:latin typeface="Abadi" panose="020B0604020104020204" pitchFamily="34" charset="0"/>
              </a:rPr>
              <a:t>Dimana b </a:t>
            </a:r>
            <a:r>
              <a:rPr lang="en-US" sz="2000" dirty="0" err="1">
                <a:latin typeface="Abadi" panose="020B0604020104020204" pitchFamily="34" charset="0"/>
              </a:rPr>
              <a:t>adlah</a:t>
            </a:r>
            <a:r>
              <a:rPr lang="en-US" sz="2000" dirty="0">
                <a:latin typeface="Abadi" panose="020B0604020104020204" pitchFamily="34" charset="0"/>
              </a:rPr>
              <a:t> factor </a:t>
            </a:r>
            <a:r>
              <a:rPr lang="en-US" sz="2000" dirty="0" err="1">
                <a:latin typeface="Abadi" panose="020B0604020104020204" pitchFamily="34" charset="0"/>
              </a:rPr>
              <a:t>percabangan</a:t>
            </a:r>
            <a:r>
              <a:rPr lang="en-US" sz="2000" dirty="0">
                <a:latin typeface="Abadi" panose="020B0604020104020204" pitchFamily="34" charset="0"/>
              </a:rPr>
              <a:t> dan d </a:t>
            </a:r>
            <a:r>
              <a:rPr lang="en-US" sz="2000" dirty="0" err="1">
                <a:latin typeface="Abadi" panose="020B0604020104020204" pitchFamily="34" charset="0"/>
              </a:rPr>
              <a:t>adalah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kedalaman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solusi</a:t>
            </a:r>
            <a:endParaRPr lang="en-US" sz="2000" dirty="0">
              <a:latin typeface="Abadi" panose="020B0604020104020204" pitchFamily="34" charset="0"/>
            </a:endParaRPr>
          </a:p>
          <a:p>
            <a:pPr lvl="0"/>
            <a:r>
              <a:rPr lang="en-US" sz="2000" dirty="0">
                <a:latin typeface="Abadi" panose="020B0604020104020204" pitchFamily="34" charset="0"/>
              </a:rPr>
              <a:t>Jika b=10 dan d=6, </a:t>
            </a:r>
            <a:r>
              <a:rPr lang="en-US" sz="2000" dirty="0" err="1">
                <a:latin typeface="Abadi" panose="020B0604020104020204" pitchFamily="34" charset="0"/>
              </a:rPr>
              <a:t>maka</a:t>
            </a:r>
            <a:r>
              <a:rPr lang="en-US" sz="2000" dirty="0">
                <a:latin typeface="Abadi" panose="020B0604020104020204" pitchFamily="34" charset="0"/>
              </a:rPr>
              <a:t> BFS = (1+10+10</a:t>
            </a:r>
            <a:r>
              <a:rPr lang="en-US" sz="2000" baseline="30000" dirty="0">
                <a:latin typeface="Abadi" panose="020B0604020104020204" pitchFamily="34" charset="0"/>
              </a:rPr>
              <a:t>2</a:t>
            </a:r>
            <a:r>
              <a:rPr lang="en-US" sz="2000" dirty="0">
                <a:latin typeface="Abadi" panose="020B0604020104020204" pitchFamily="34" charset="0"/>
              </a:rPr>
              <a:t>+10</a:t>
            </a:r>
            <a:r>
              <a:rPr lang="en-US" sz="2000" baseline="30000" dirty="0">
                <a:latin typeface="Abadi" panose="020B0604020104020204" pitchFamily="34" charset="0"/>
              </a:rPr>
              <a:t>3</a:t>
            </a:r>
            <a:r>
              <a:rPr lang="en-US" sz="2000" dirty="0">
                <a:latin typeface="Abadi" panose="020B0604020104020204" pitchFamily="34" charset="0"/>
              </a:rPr>
              <a:t>+10</a:t>
            </a:r>
            <a:r>
              <a:rPr lang="en-US" sz="2000" baseline="30000" dirty="0">
                <a:latin typeface="Abadi" panose="020B0604020104020204" pitchFamily="34" charset="0"/>
              </a:rPr>
              <a:t>4</a:t>
            </a:r>
            <a:r>
              <a:rPr lang="en-US" sz="2000" dirty="0">
                <a:latin typeface="Abadi" panose="020B0604020104020204" pitchFamily="34" charset="0"/>
              </a:rPr>
              <a:t>+10</a:t>
            </a:r>
            <a:r>
              <a:rPr lang="en-US" sz="2000" baseline="30000" dirty="0">
                <a:latin typeface="Abadi" panose="020B0604020104020204" pitchFamily="34" charset="0"/>
              </a:rPr>
              <a:t>5</a:t>
            </a:r>
            <a:r>
              <a:rPr lang="en-US" sz="2000" dirty="0">
                <a:latin typeface="Abadi" panose="020B0604020104020204" pitchFamily="34" charset="0"/>
              </a:rPr>
              <a:t>+10</a:t>
            </a:r>
            <a:r>
              <a:rPr lang="en-US" sz="2000" baseline="30000" dirty="0">
                <a:latin typeface="Abadi" panose="020B0604020104020204" pitchFamily="34" charset="0"/>
              </a:rPr>
              <a:t>6</a:t>
            </a:r>
            <a:r>
              <a:rPr lang="en-US" sz="2000" dirty="0">
                <a:latin typeface="Abadi" panose="020B0604020104020204" pitchFamily="34" charset="0"/>
              </a:rPr>
              <a:t>)=</a:t>
            </a:r>
            <a:r>
              <a:rPr lang="en-US" sz="2000" b="1" dirty="0">
                <a:latin typeface="Abadi" panose="020B0604020104020204" pitchFamily="34" charset="0"/>
              </a:rPr>
              <a:t>1.111.111 </a:t>
            </a:r>
            <a:r>
              <a:rPr lang="en-US" sz="2000" b="1" dirty="0" err="1">
                <a:latin typeface="Abadi" panose="020B0604020104020204" pitchFamily="34" charset="0"/>
              </a:rPr>
              <a:t>simpul</a:t>
            </a:r>
            <a:r>
              <a:rPr lang="en-US" sz="2000" dirty="0">
                <a:latin typeface="Abadi" panose="020B0604020104020204" pitchFamily="34" charset="0"/>
              </a:rPr>
              <a:t>, </a:t>
            </a:r>
            <a:r>
              <a:rPr lang="en-US" sz="2000" dirty="0" err="1">
                <a:latin typeface="Abadi" panose="020B0604020104020204" pitchFamily="34" charset="0"/>
              </a:rPr>
              <a:t>sedangkag</a:t>
            </a:r>
            <a:r>
              <a:rPr lang="en-US" sz="2000" dirty="0">
                <a:latin typeface="Abadi" panose="020B0604020104020204" pitchFamily="34" charset="0"/>
              </a:rPr>
              <a:t> BDS </a:t>
            </a:r>
            <a:r>
              <a:rPr lang="en-US" sz="2000" dirty="0" err="1">
                <a:latin typeface="Abadi" panose="020B0604020104020204" pitchFamily="34" charset="0"/>
              </a:rPr>
              <a:t>hanya</a:t>
            </a:r>
            <a:r>
              <a:rPr lang="en-US" sz="2000" dirty="0">
                <a:latin typeface="Abadi" panose="020B0604020104020204" pitchFamily="34" charset="0"/>
              </a:rPr>
              <a:t> = 2*(1+10+10</a:t>
            </a:r>
            <a:r>
              <a:rPr lang="en-US" sz="2000" baseline="30000" dirty="0">
                <a:latin typeface="Abadi" panose="020B0604020104020204" pitchFamily="34" charset="0"/>
              </a:rPr>
              <a:t>2</a:t>
            </a:r>
            <a:r>
              <a:rPr lang="en-US" sz="2000" dirty="0">
                <a:latin typeface="Abadi" panose="020B0604020104020204" pitchFamily="34" charset="0"/>
              </a:rPr>
              <a:t>+10</a:t>
            </a:r>
            <a:r>
              <a:rPr lang="en-US" sz="2000" baseline="30000" dirty="0">
                <a:latin typeface="Abadi" panose="020B0604020104020204" pitchFamily="34" charset="0"/>
              </a:rPr>
              <a:t>3</a:t>
            </a:r>
            <a:r>
              <a:rPr lang="en-US" sz="2000" dirty="0">
                <a:latin typeface="Abadi" panose="020B0604020104020204" pitchFamily="34" charset="0"/>
              </a:rPr>
              <a:t>)=</a:t>
            </a:r>
            <a:r>
              <a:rPr lang="en-US" sz="2000" b="1" dirty="0">
                <a:latin typeface="Abadi" panose="020B0604020104020204" pitchFamily="34" charset="0"/>
              </a:rPr>
              <a:t>2.222 </a:t>
            </a:r>
            <a:r>
              <a:rPr lang="en-US" sz="2000" b="1" dirty="0" err="1">
                <a:latin typeface="Abadi" panose="020B0604020104020204" pitchFamily="34" charset="0"/>
              </a:rPr>
              <a:t>simpul</a:t>
            </a:r>
            <a:endParaRPr lang="en-US" sz="2000" b="1" dirty="0">
              <a:latin typeface="Abadi" panose="020B06040201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5AB79-49F6-42D5-8C90-2E5101EE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62000"/>
          </a:xfrm>
        </p:spPr>
        <p:txBody>
          <a:bodyPr/>
          <a:lstStyle/>
          <a:p>
            <a:r>
              <a:rPr lang="en-US" dirty="0" err="1"/>
              <a:t>Masalah</a:t>
            </a:r>
            <a:r>
              <a:rPr lang="en-US" dirty="0"/>
              <a:t> BDS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676400"/>
            <a:ext cx="6629401" cy="4364963"/>
          </a:xfrm>
        </p:spPr>
        <p:txBody>
          <a:bodyPr>
            <a:normAutofit/>
          </a:bodyPr>
          <a:lstStyle/>
          <a:p>
            <a:pPr lvl="0"/>
            <a:r>
              <a:rPr lang="id-ID" sz="2000" dirty="0">
                <a:latin typeface="Abadi" panose="020B0604020104020204" pitchFamily="34" charset="0"/>
              </a:rPr>
              <a:t>Pencarian mundur berarti membangkitkan </a:t>
            </a:r>
            <a:r>
              <a:rPr lang="id-ID" sz="2000" i="1" dirty="0">
                <a:latin typeface="Abadi" panose="020B0604020104020204" pitchFamily="34" charset="0"/>
              </a:rPr>
              <a:t>predecessor</a:t>
            </a:r>
            <a:r>
              <a:rPr lang="id-ID" sz="2000" dirty="0">
                <a:latin typeface="Abadi" panose="020B0604020104020204" pitchFamily="34" charset="0"/>
              </a:rPr>
              <a:t> (simpul induk/</a:t>
            </a:r>
            <a:r>
              <a:rPr lang="id-ID" sz="2000" i="1" dirty="0">
                <a:latin typeface="Abadi" panose="020B0604020104020204" pitchFamily="34" charset="0"/>
              </a:rPr>
              <a:t>parent</a:t>
            </a:r>
            <a:r>
              <a:rPr lang="id-ID" sz="2000" dirty="0">
                <a:latin typeface="Abadi" panose="020B0604020104020204" pitchFamily="34" charset="0"/>
              </a:rPr>
              <a:t>) dari suatu simpul. Pembangkitan </a:t>
            </a:r>
            <a:r>
              <a:rPr lang="id-ID" sz="2000" i="1" dirty="0">
                <a:latin typeface="Abadi" panose="020B0604020104020204" pitchFamily="34" charset="0"/>
              </a:rPr>
              <a:t>predecessor </a:t>
            </a:r>
            <a:r>
              <a:rPr lang="id-ID" sz="2000" dirty="0">
                <a:latin typeface="Abadi" panose="020B0604020104020204" pitchFamily="34" charset="0"/>
              </a:rPr>
              <a:t>berarti</a:t>
            </a:r>
            <a:r>
              <a:rPr lang="id-ID" sz="2000" i="1" dirty="0">
                <a:latin typeface="Abadi" panose="020B0604020104020204" pitchFamily="34" charset="0"/>
              </a:rPr>
              <a:t> </a:t>
            </a:r>
            <a:r>
              <a:rPr lang="id-ID" sz="2000" dirty="0">
                <a:latin typeface="Abadi" panose="020B0604020104020204" pitchFamily="34" charset="0"/>
              </a:rPr>
              <a:t>memerlukan </a:t>
            </a:r>
            <a:r>
              <a:rPr lang="id-ID" sz="2000" b="1" dirty="0">
                <a:latin typeface="Abadi" panose="020B0604020104020204" pitchFamily="34" charset="0"/>
              </a:rPr>
              <a:t>pembalikan </a:t>
            </a:r>
            <a:r>
              <a:rPr lang="en-US" sz="2000" b="1" dirty="0">
                <a:latin typeface="Abadi" panose="020B0604020104020204" pitchFamily="34" charset="0"/>
              </a:rPr>
              <a:t>operator</a:t>
            </a:r>
            <a:r>
              <a:rPr lang="id-ID" sz="2000" dirty="0">
                <a:latin typeface="Abadi" panose="020B0604020104020204" pitchFamily="34" charset="0"/>
              </a:rPr>
              <a:t>.</a:t>
            </a:r>
          </a:p>
          <a:p>
            <a:pPr lvl="0"/>
            <a:r>
              <a:rPr lang="id-ID" sz="2000" dirty="0">
                <a:latin typeface="Abadi" panose="020B0604020104020204" pitchFamily="34" charset="0"/>
              </a:rPr>
              <a:t>Apakah semua operator dapat dibalik?</a:t>
            </a:r>
            <a:endParaRPr lang="en-US" sz="2000" dirty="0">
              <a:latin typeface="Abadi" panose="020B0604020104020204" pitchFamily="34" charset="0"/>
            </a:endParaRPr>
          </a:p>
          <a:p>
            <a:pPr lvl="0"/>
            <a:r>
              <a:rPr lang="en-US" sz="2000" dirty="0" err="1">
                <a:latin typeface="Abadi" panose="020B0604020104020204" pitchFamily="34" charset="0"/>
              </a:rPr>
              <a:t>Jika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id-ID" sz="2000" dirty="0">
                <a:latin typeface="Abadi" panose="020B0604020104020204" pitchFamily="34" charset="0"/>
              </a:rPr>
              <a:t>terdapat beberapa simpul tujuan yang berbeda?</a:t>
            </a:r>
            <a:endParaRPr lang="en-US" sz="2000" dirty="0">
              <a:latin typeface="Abadi" panose="020B0604020104020204" pitchFamily="34" charset="0"/>
            </a:endParaRPr>
          </a:p>
          <a:p>
            <a:pPr lvl="1"/>
            <a:r>
              <a:rPr lang="en-US" sz="1800" dirty="0" err="1">
                <a:latin typeface="Abadi" panose="020B0604020104020204" pitchFamily="34" charset="0"/>
              </a:rPr>
              <a:t>Contoh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dalam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permainan</a:t>
            </a:r>
            <a:r>
              <a:rPr lang="en-US" sz="1800" dirty="0">
                <a:latin typeface="Abadi" panose="020B0604020104020204" pitchFamily="34" charset="0"/>
              </a:rPr>
              <a:t> </a:t>
            </a:r>
            <a:r>
              <a:rPr lang="en-US" sz="1800" dirty="0" err="1">
                <a:latin typeface="Abadi" panose="020B0604020104020204" pitchFamily="34" charset="0"/>
              </a:rPr>
              <a:t>catur</a:t>
            </a:r>
            <a:endParaRPr lang="en-US" sz="1800" dirty="0">
              <a:latin typeface="Abadi" panose="020B0604020104020204" pitchFamily="34" charset="0"/>
            </a:endParaRPr>
          </a:p>
          <a:p>
            <a:pPr lvl="0"/>
            <a:r>
              <a:rPr lang="en-US" sz="2000" dirty="0">
                <a:latin typeface="Abadi" panose="020B0604020104020204" pitchFamily="34" charset="0"/>
              </a:rPr>
              <a:t>H</a:t>
            </a:r>
            <a:r>
              <a:rPr lang="id-ID" sz="2000" dirty="0">
                <a:latin typeface="Abadi" panose="020B0604020104020204" pitchFamily="34" charset="0"/>
              </a:rPr>
              <a:t>arus selalu menguji apakah simpul</a:t>
            </a:r>
            <a:r>
              <a:rPr lang="id-ID" sz="2000" i="1" dirty="0">
                <a:latin typeface="Abadi" panose="020B0604020104020204" pitchFamily="34" charset="0"/>
              </a:rPr>
              <a:t> </a:t>
            </a:r>
            <a:r>
              <a:rPr lang="id-ID" sz="2000" dirty="0">
                <a:latin typeface="Abadi" panose="020B0604020104020204" pitchFamily="34" charset="0"/>
              </a:rPr>
              <a:t>baru yang dibangkitkan sudah pernah dibangkitkan oleh pencarian dari arah yang berlawanan.</a:t>
            </a:r>
            <a:endParaRPr lang="en-US" sz="2000" dirty="0">
              <a:latin typeface="Abadi" panose="020B0604020104020204" pitchFamily="34" charset="0"/>
            </a:endParaRPr>
          </a:p>
          <a:p>
            <a:pPr lvl="0"/>
            <a:r>
              <a:rPr lang="id-ID" sz="2000" dirty="0">
                <a:latin typeface="Abadi" panose="020B0604020104020204" pitchFamily="34" charset="0"/>
              </a:rPr>
              <a:t>Bagaimana menentukan metode pencarian untuk kedua arah tersebut?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B5339-8C5A-417F-B3CF-44EBCD5FD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395357"/>
              </p:ext>
            </p:extLst>
          </p:nvPr>
        </p:nvGraphicFramePr>
        <p:xfrm>
          <a:off x="304800" y="1562100"/>
          <a:ext cx="8534400" cy="883920"/>
        </p:xfrm>
        <a:graphic>
          <a:graphicData uri="http://schemas.openxmlformats.org/drawingml/2006/table">
            <a:tbl>
              <a:tblPr/>
              <a:tblGrid>
                <a:gridCol w="1737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84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25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630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2400" spc="-30" dirty="0"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id-ID" sz="2400" i="1" spc="-30" dirty="0"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x</a:t>
                      </a:r>
                      <a:r>
                        <a:rPr lang="id-ID" sz="2400" spc="-30" dirty="0"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,</a:t>
                      </a:r>
                      <a:r>
                        <a:rPr lang="id-ID" sz="2400" i="1" spc="-30" dirty="0"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y</a:t>
                      </a:r>
                      <a:r>
                        <a:rPr lang="id-ID" sz="2400" spc="-30" dirty="0"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)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2400" spc="-30" dirty="0"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If </a:t>
                      </a:r>
                      <a:r>
                        <a:rPr lang="id-ID" sz="2400" i="1" spc="-30" dirty="0"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x</a:t>
                      </a:r>
                      <a:r>
                        <a:rPr lang="id-ID" sz="2400" spc="-30" dirty="0"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 &lt; 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400" spc="-30" dirty="0">
                          <a:latin typeface="Abadi" panose="020B0604020104020204" pitchFamily="34" charset="0"/>
                          <a:ea typeface="Times New Roman"/>
                          <a:cs typeface="Times New Roman"/>
                          <a:sym typeface="Symbol"/>
                        </a:rPr>
                        <a:t></a:t>
                      </a:r>
                      <a:endParaRPr lang="id-ID" sz="2400" spc="-30" dirty="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2400" spc="-30" dirty="0"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(4,</a:t>
                      </a:r>
                      <a:r>
                        <a:rPr lang="id-ID" sz="2400" i="1" spc="-30" dirty="0"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y</a:t>
                      </a:r>
                      <a:r>
                        <a:rPr lang="id-ID" sz="2400" spc="-30" dirty="0"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457200" algn="l"/>
                        </a:tabLst>
                      </a:pPr>
                      <a:r>
                        <a:rPr lang="id-ID" sz="2400" spc="-30" dirty="0"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Isi penuh jurigen 4 galon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1376"/>
              </p:ext>
            </p:extLst>
          </p:nvPr>
        </p:nvGraphicFramePr>
        <p:xfrm>
          <a:off x="304800" y="2903220"/>
          <a:ext cx="8534400" cy="883920"/>
        </p:xfrm>
        <a:graphic>
          <a:graphicData uri="http://schemas.openxmlformats.org/drawingml/2006/table">
            <a:tbl>
              <a:tblPr/>
              <a:tblGrid>
                <a:gridCol w="1670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91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8392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2400" spc="-30" dirty="0"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(4,</a:t>
                      </a:r>
                      <a:r>
                        <a:rPr lang="id-ID" sz="2400" i="1" spc="-30" dirty="0"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y</a:t>
                      </a:r>
                      <a:r>
                        <a:rPr lang="id-ID" sz="2400" spc="-30" dirty="0"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400" spc="-30">
                          <a:latin typeface="Abadi" panose="020B0604020104020204" pitchFamily="34" charset="0"/>
                          <a:ea typeface="Times New Roman"/>
                          <a:cs typeface="Times New Roman"/>
                          <a:sym typeface="Symbol"/>
                        </a:rPr>
                        <a:t></a:t>
                      </a:r>
                      <a:endParaRPr lang="id-ID" sz="2400" spc="-3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2400" b="1" spc="-30" dirty="0">
                          <a:solidFill>
                            <a:srgbClr val="FF0000"/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id-ID" sz="2400" b="1" i="1" spc="-30" dirty="0">
                          <a:solidFill>
                            <a:srgbClr val="FF0000"/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x</a:t>
                      </a:r>
                      <a:r>
                        <a:rPr lang="id-ID" sz="2400" b="1" spc="-30" dirty="0">
                          <a:solidFill>
                            <a:srgbClr val="FF0000"/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,</a:t>
                      </a:r>
                      <a:r>
                        <a:rPr lang="id-ID" sz="2400" b="1" i="1" spc="-30" dirty="0">
                          <a:solidFill>
                            <a:srgbClr val="FF0000"/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y</a:t>
                      </a:r>
                      <a:r>
                        <a:rPr lang="id-ID" sz="2400" b="1" spc="-30" dirty="0">
                          <a:solidFill>
                            <a:srgbClr val="FF0000"/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)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2400" i="1" spc="-30" dirty="0"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x</a:t>
                      </a:r>
                      <a:r>
                        <a:rPr lang="id-ID" sz="2400" spc="-30" dirty="0"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 &lt; 4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457200" algn="l"/>
                        </a:tabLst>
                      </a:pPr>
                      <a:r>
                        <a:rPr lang="id-ID" sz="2400" spc="-30" dirty="0"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Kurangi air dalam jurigen 4 galon sehingga </a:t>
                      </a:r>
                      <a:r>
                        <a:rPr lang="id-ID" sz="2400" b="1" spc="-30" dirty="0">
                          <a:solidFill>
                            <a:srgbClr val="FF0000"/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menjadi </a:t>
                      </a:r>
                      <a:r>
                        <a:rPr lang="id-ID" sz="2400" b="1" i="1" spc="-30" dirty="0">
                          <a:solidFill>
                            <a:srgbClr val="FF0000"/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x</a:t>
                      </a:r>
                      <a:r>
                        <a:rPr lang="id-ID" sz="2400" b="1" spc="-30" dirty="0">
                          <a:solidFill>
                            <a:srgbClr val="FF0000"/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 galon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762000"/>
          </a:xfrm>
        </p:spPr>
        <p:txBody>
          <a:bodyPr/>
          <a:lstStyle/>
          <a:p>
            <a:r>
              <a:rPr lang="en-US" dirty="0" err="1"/>
              <a:t>Pembalikan</a:t>
            </a:r>
            <a:r>
              <a:rPr lang="en-US" dirty="0"/>
              <a:t> O</a:t>
            </a:r>
            <a:r>
              <a:rPr lang="id-ID" dirty="0"/>
              <a:t>perator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F281A-C5D3-45DF-88B1-D75DB3D49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B721A5-36D8-4C2F-A2B5-96132FA7B928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5" name="Down Arrow 4"/>
          <p:cNvSpPr/>
          <p:nvPr/>
        </p:nvSpPr>
        <p:spPr>
          <a:xfrm>
            <a:off x="4102813" y="2446020"/>
            <a:ext cx="762000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Rectangle 5"/>
          <p:cNvSpPr/>
          <p:nvPr/>
        </p:nvSpPr>
        <p:spPr>
          <a:xfrm>
            <a:off x="304800" y="4244340"/>
            <a:ext cx="8534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000" i="1" dirty="0">
                <a:latin typeface="Abadi" panose="020B0604020104020204" pitchFamily="34" charset="0"/>
              </a:rPr>
              <a:t>x</a:t>
            </a:r>
            <a:r>
              <a:rPr lang="id-ID" sz="2000" dirty="0">
                <a:latin typeface="Abadi" panose="020B0604020104020204" pitchFamily="34" charset="0"/>
              </a:rPr>
              <a:t> bisa bernilai 0, 1, 2, atau 3.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000" dirty="0">
                <a:latin typeface="Abadi" panose="020B0604020104020204" pitchFamily="34" charset="0"/>
              </a:rPr>
              <a:t>Tanpa skala ukuran, kita tidak mungkin membuang sebagian air sehingga tersisa 1, 2, atau 3 galon. </a:t>
            </a:r>
            <a:endParaRPr lang="en-US" sz="2000" dirty="0">
              <a:latin typeface="Abadi" panose="020B0604020104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id-ID" sz="2000" dirty="0">
                <a:latin typeface="Abadi" panose="020B0604020104020204" pitchFamily="34" charset="0"/>
              </a:rPr>
              <a:t>Satu-satunya cara adalah membuang semua air dari jurigen 4 galon sehingga nilai </a:t>
            </a:r>
            <a:r>
              <a:rPr lang="id-ID" sz="2000" i="1" dirty="0">
                <a:latin typeface="Abadi" panose="020B0604020104020204" pitchFamily="34" charset="0"/>
              </a:rPr>
              <a:t>x</a:t>
            </a:r>
            <a:r>
              <a:rPr lang="id-ID" sz="2000" dirty="0">
                <a:latin typeface="Abadi" panose="020B0604020104020204" pitchFamily="34" charset="0"/>
              </a:rPr>
              <a:t> yang mungkin adalah 0.</a:t>
            </a:r>
            <a:endParaRPr lang="en-US" sz="2000" dirty="0">
              <a:latin typeface="Abadi" panose="020B0604020104020204" pitchFamily="34" charset="0"/>
            </a:endParaRPr>
          </a:p>
          <a:p>
            <a:endParaRPr lang="id-ID" sz="2000" dirty="0">
              <a:latin typeface="Abadi" panose="020B0604020104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graphicFrame>
        <p:nvGraphicFramePr>
          <p:cNvPr id="69633" name="Object 1"/>
          <p:cNvGraphicFramePr>
            <a:graphicFrameLocks noChangeAspect="1"/>
          </p:cNvGraphicFramePr>
          <p:nvPr/>
        </p:nvGraphicFramePr>
        <p:xfrm>
          <a:off x="533400" y="838200"/>
          <a:ext cx="8110177" cy="556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378061" imgH="3006387" progId="Visio.Drawing.11">
                  <p:embed/>
                </p:oleObj>
              </mc:Choice>
              <mc:Fallback>
                <p:oleObj name="Visio" r:id="rId2" imgW="4378061" imgH="3006387" progId="Visio.Drawing.11">
                  <p:embed/>
                  <p:pic>
                    <p:nvPicPr>
                      <p:cNvPr id="6963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838200"/>
                        <a:ext cx="8110177" cy="556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DBF41C-029D-4C5C-B776-6E1412A06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B721A5-36D8-4C2F-A2B5-96132FA7B928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38200"/>
          </a:xfrm>
        </p:spPr>
        <p:txBody>
          <a:bodyPr/>
          <a:lstStyle/>
          <a:p>
            <a:r>
              <a:rPr lang="en-US" dirty="0"/>
              <a:t>Kinerja </a:t>
            </a:r>
            <a:r>
              <a:rPr lang="en-US" dirty="0" err="1"/>
              <a:t>Algoritma</a:t>
            </a:r>
            <a:r>
              <a:rPr lang="en-US" dirty="0"/>
              <a:t> BDS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05000"/>
            <a:ext cx="6347714" cy="4136363"/>
          </a:xfrm>
        </p:spPr>
        <p:txBody>
          <a:bodyPr>
            <a:normAutofit/>
          </a:bodyPr>
          <a:lstStyle/>
          <a:p>
            <a:r>
              <a:rPr lang="en-US" sz="2000" dirty="0" err="1">
                <a:latin typeface="Abadi" panose="020B0604020104020204" pitchFamily="34" charset="0"/>
              </a:rPr>
              <a:t>Diperoleh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solusi</a:t>
            </a:r>
            <a:r>
              <a:rPr lang="en-US" sz="2000" dirty="0">
                <a:latin typeface="Abadi" panose="020B0604020104020204" pitchFamily="34" charset="0"/>
              </a:rPr>
              <a:t> (</a:t>
            </a:r>
            <a:r>
              <a:rPr lang="id-ID" sz="2000" dirty="0">
                <a:latin typeface="Abadi" panose="020B0604020104020204" pitchFamily="34" charset="0"/>
              </a:rPr>
              <a:t>Complete </a:t>
            </a:r>
            <a:r>
              <a:rPr lang="en-US" sz="2000" dirty="0">
                <a:latin typeface="Abadi" panose="020B0604020104020204" pitchFamily="34" charset="0"/>
              </a:rPr>
              <a:t>)</a:t>
            </a:r>
          </a:p>
          <a:p>
            <a:r>
              <a:rPr lang="en-US" sz="2000" dirty="0">
                <a:latin typeface="Abadi" panose="020B0604020104020204" pitchFamily="34" charset="0"/>
              </a:rPr>
              <a:t>Solusi yang </a:t>
            </a:r>
            <a:r>
              <a:rPr lang="en-US" sz="2000" dirty="0" err="1">
                <a:latin typeface="Abadi" panose="020B0604020104020204" pitchFamily="34" charset="0"/>
              </a:rPr>
              <a:t>dihasilkan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id-ID" sz="2000" dirty="0">
                <a:latin typeface="Abadi" panose="020B0604020104020204" pitchFamily="34" charset="0"/>
              </a:rPr>
              <a:t>Optimal</a:t>
            </a:r>
            <a:endParaRPr lang="en-US" sz="2000" dirty="0">
              <a:latin typeface="Abadi" panose="020B0604020104020204" pitchFamily="34" charset="0"/>
            </a:endParaRPr>
          </a:p>
          <a:p>
            <a:pPr lvl="0"/>
            <a:r>
              <a:rPr lang="en-US" sz="2000" dirty="0">
                <a:latin typeface="Abadi" panose="020B0604020104020204" pitchFamily="34" charset="0"/>
              </a:rPr>
              <a:t>Time complexity = </a:t>
            </a:r>
            <a:r>
              <a:rPr lang="id-ID" sz="2000" dirty="0">
                <a:latin typeface="Abadi" panose="020B0604020104020204" pitchFamily="34" charset="0"/>
              </a:rPr>
              <a:t>O(b</a:t>
            </a:r>
            <a:r>
              <a:rPr lang="en-US" sz="2000" baseline="30000" dirty="0">
                <a:latin typeface="Abadi" panose="020B0604020104020204" pitchFamily="34" charset="0"/>
              </a:rPr>
              <a:t>d/2</a:t>
            </a:r>
            <a:r>
              <a:rPr lang="id-ID" sz="2000" dirty="0">
                <a:latin typeface="Abadi" panose="020B0604020104020204" pitchFamily="34" charset="0"/>
              </a:rPr>
              <a:t>)</a:t>
            </a:r>
            <a:endParaRPr lang="en-US" sz="2000" dirty="0">
              <a:latin typeface="Abadi" panose="020B0604020104020204" pitchFamily="34" charset="0"/>
            </a:endParaRPr>
          </a:p>
          <a:p>
            <a:pPr lvl="0"/>
            <a:r>
              <a:rPr lang="en-US" sz="2000" dirty="0">
                <a:latin typeface="Abadi" panose="020B0604020104020204" pitchFamily="34" charset="0"/>
              </a:rPr>
              <a:t>Space complexity = </a:t>
            </a:r>
            <a:r>
              <a:rPr lang="id-ID" sz="2000" dirty="0">
                <a:latin typeface="Abadi" panose="020B0604020104020204" pitchFamily="34" charset="0"/>
              </a:rPr>
              <a:t>O(b</a:t>
            </a:r>
            <a:r>
              <a:rPr lang="en-US" sz="2000" baseline="30000" dirty="0">
                <a:latin typeface="Abadi" panose="020B0604020104020204" pitchFamily="34" charset="0"/>
              </a:rPr>
              <a:t>d/2</a:t>
            </a:r>
            <a:r>
              <a:rPr lang="id-ID" sz="2000" dirty="0">
                <a:latin typeface="Abadi" panose="020B0604020104020204" pitchFamily="34" charset="0"/>
              </a:rPr>
              <a:t>)</a:t>
            </a:r>
            <a:endParaRPr lang="en-US" sz="2000" dirty="0">
              <a:latin typeface="Abadi" panose="020B0604020104020204" pitchFamily="34" charset="0"/>
            </a:endParaRPr>
          </a:p>
          <a:p>
            <a:pPr lvl="0"/>
            <a:r>
              <a:rPr lang="en-US" sz="2000" dirty="0" err="1">
                <a:latin typeface="Abadi" panose="020B0604020104020204" pitchFamily="34" charset="0"/>
              </a:rPr>
              <a:t>Secara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teori</a:t>
            </a:r>
            <a:r>
              <a:rPr lang="en-US" sz="2000" dirty="0">
                <a:latin typeface="Abadi" panose="020B0604020104020204" pitchFamily="34" charset="0"/>
              </a:rPr>
              <a:t> BDS </a:t>
            </a:r>
            <a:r>
              <a:rPr lang="en-US" sz="2000" dirty="0" err="1">
                <a:latin typeface="Abadi" panose="020B0604020104020204" pitchFamily="34" charset="0"/>
              </a:rPr>
              <a:t>mempunyai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harapan</a:t>
            </a:r>
            <a:r>
              <a:rPr lang="en-US" sz="2000" dirty="0">
                <a:latin typeface="Abadi" panose="020B0604020104020204" pitchFamily="34" charset="0"/>
              </a:rPr>
              <a:t> yang </a:t>
            </a:r>
            <a:r>
              <a:rPr lang="en-US" sz="2000" dirty="0" err="1">
                <a:latin typeface="Abadi" panose="020B0604020104020204" pitchFamily="34" charset="0"/>
              </a:rPr>
              <a:t>bagus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untuk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digunakan</a:t>
            </a:r>
            <a:r>
              <a:rPr lang="en-US" sz="2000" dirty="0">
                <a:latin typeface="Abadi" panose="020B0604020104020204" pitchFamily="34" charset="0"/>
              </a:rPr>
              <a:t> , </a:t>
            </a:r>
            <a:r>
              <a:rPr lang="en-US" sz="2000" dirty="0" err="1">
                <a:latin typeface="Abadi" panose="020B0604020104020204" pitchFamily="34" charset="0"/>
              </a:rPr>
              <a:t>hemat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waktu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maupun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memori</a:t>
            </a:r>
            <a:r>
              <a:rPr lang="en-US" sz="2000" dirty="0">
                <a:latin typeface="Abadi" panose="020B0604020104020204" pitchFamily="34" charset="0"/>
              </a:rPr>
              <a:t> dan </a:t>
            </a:r>
            <a:r>
              <a:rPr lang="en-US" sz="2000" dirty="0" err="1">
                <a:latin typeface="Abadi" panose="020B0604020104020204" pitchFamily="34" charset="0"/>
              </a:rPr>
              <a:t>selalu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memberikan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solusi</a:t>
            </a:r>
            <a:r>
              <a:rPr lang="en-US" sz="2000" dirty="0">
                <a:latin typeface="Abadi" panose="020B0604020104020204" pitchFamily="34" charset="0"/>
              </a:rPr>
              <a:t> yang optimal, </a:t>
            </a:r>
            <a:r>
              <a:rPr lang="en-US" sz="2000" dirty="0" err="1">
                <a:latin typeface="Abadi" panose="020B0604020104020204" pitchFamily="34" charset="0"/>
              </a:rPr>
              <a:t>jika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solusinya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memang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ada</a:t>
            </a:r>
            <a:r>
              <a:rPr lang="en-US" sz="2000" dirty="0">
                <a:latin typeface="Abadi" panose="020B0604020104020204" pitchFamily="34" charset="0"/>
              </a:rPr>
              <a:t>.</a:t>
            </a:r>
            <a:endParaRPr lang="id-ID" sz="2000" dirty="0">
              <a:latin typeface="Abadi" panose="020B06040201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7D84F-FB0F-4882-8976-147F2FDC2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609600"/>
            <a:ext cx="7086601" cy="762000"/>
          </a:xfrm>
        </p:spPr>
        <p:txBody>
          <a:bodyPr>
            <a:normAutofit/>
          </a:bodyPr>
          <a:lstStyle/>
          <a:p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pencarian</a:t>
            </a:r>
            <a:r>
              <a:rPr lang="en-US" dirty="0"/>
              <a:t> </a:t>
            </a:r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5DB53-3C85-464C-854B-58CE80BF7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B721A5-36D8-4C2F-A2B5-96132FA7B928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151641"/>
              </p:ext>
            </p:extLst>
          </p:nvPr>
        </p:nvGraphicFramePr>
        <p:xfrm>
          <a:off x="607886" y="1752600"/>
          <a:ext cx="8229601" cy="4038600"/>
        </p:xfrm>
        <a:graphic>
          <a:graphicData uri="http://schemas.openxmlformats.org/drawingml/2006/table">
            <a:tbl>
              <a:tblPr/>
              <a:tblGrid>
                <a:gridCol w="1911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3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78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8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76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07720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457200" algn="l"/>
                        </a:tabLst>
                      </a:pPr>
                      <a:r>
                        <a:rPr lang="en-US" sz="2000" spc="-30" dirty="0" err="1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Kriteria</a:t>
                      </a:r>
                      <a:endParaRPr lang="id-ID" sz="2000" spc="-30" dirty="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457200" algn="l"/>
                        </a:tabLst>
                      </a:pPr>
                      <a:r>
                        <a:rPr lang="en-US" sz="2000" spc="-30" dirty="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BFS</a:t>
                      </a:r>
                      <a:endParaRPr lang="id-ID" sz="2000" spc="-30" dirty="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457200" algn="l"/>
                        </a:tabLst>
                      </a:pPr>
                      <a:r>
                        <a:rPr lang="en-US" sz="2000" spc="-30" dirty="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UCS</a:t>
                      </a:r>
                      <a:endParaRPr lang="id-ID" sz="2000" spc="-30" dirty="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457200" algn="l"/>
                        </a:tabLst>
                      </a:pPr>
                      <a:r>
                        <a:rPr lang="en-US" sz="2000" spc="-3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DFS</a:t>
                      </a:r>
                      <a:endParaRPr lang="id-ID" sz="2000" spc="-3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15240"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457200" algn="l"/>
                        </a:tabLst>
                      </a:pPr>
                      <a:r>
                        <a:rPr lang="en-US" sz="2000" spc="-30" dirty="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DLS</a:t>
                      </a:r>
                      <a:endParaRPr lang="id-ID" sz="2000" spc="-30" dirty="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457200" algn="l"/>
                        </a:tabLst>
                      </a:pPr>
                      <a:r>
                        <a:rPr lang="en-US" sz="2000" spc="-3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IDS</a:t>
                      </a:r>
                      <a:endParaRPr lang="id-ID" sz="2000" spc="-3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457200" algn="l"/>
                        </a:tabLst>
                      </a:pPr>
                      <a:r>
                        <a:rPr lang="en-US" sz="2000" spc="-3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BDS</a:t>
                      </a:r>
                      <a:endParaRPr lang="id-ID" sz="2000" spc="-3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457200" algn="l"/>
                        </a:tabLst>
                      </a:pPr>
                      <a:r>
                        <a:rPr lang="en-US" sz="2000" spc="-30" dirty="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Time</a:t>
                      </a:r>
                      <a:endParaRPr lang="id-ID" sz="2000" spc="-30" dirty="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000" i="1" spc="-30" dirty="0" err="1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b</a:t>
                      </a:r>
                      <a:r>
                        <a:rPr lang="en-US" sz="2000" i="1" spc="-30" baseline="30000" dirty="0" err="1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d</a:t>
                      </a:r>
                      <a:endParaRPr lang="id-ID" sz="2000" spc="-30" dirty="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000" i="1" spc="-3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b</a:t>
                      </a:r>
                      <a:r>
                        <a:rPr lang="en-US" sz="2000" i="1" spc="-30" baseline="3000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d</a:t>
                      </a:r>
                      <a:endParaRPr lang="id-ID" sz="2000" spc="-3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000" i="1" spc="-3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b</a:t>
                      </a:r>
                      <a:r>
                        <a:rPr lang="en-US" sz="2000" i="1" spc="-30" baseline="3000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m</a:t>
                      </a:r>
                      <a:endParaRPr lang="id-ID" sz="2000" spc="-3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000" i="1" spc="-3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b</a:t>
                      </a:r>
                      <a:r>
                        <a:rPr lang="en-US" sz="2000" i="1" spc="-30" baseline="3000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l</a:t>
                      </a:r>
                      <a:endParaRPr lang="id-ID" sz="2000" spc="-3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000" i="1" spc="-3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b</a:t>
                      </a:r>
                      <a:r>
                        <a:rPr lang="en-US" sz="2000" i="1" spc="-30" baseline="3000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d</a:t>
                      </a:r>
                      <a:endParaRPr lang="id-ID" sz="2000" spc="-3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457200" algn="l"/>
                        </a:tabLst>
                      </a:pPr>
                      <a:r>
                        <a:rPr lang="en-US" sz="2000" i="1" spc="-3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b</a:t>
                      </a:r>
                      <a:r>
                        <a:rPr lang="en-US" sz="2000" i="1" spc="-30" baseline="3000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d/2</a:t>
                      </a:r>
                      <a:endParaRPr lang="id-ID" sz="2000" spc="-3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000" i="1" spc="-3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Space</a:t>
                      </a:r>
                      <a:endParaRPr lang="id-ID" sz="2000" spc="-3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000" i="1" spc="-3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b</a:t>
                      </a:r>
                      <a:r>
                        <a:rPr lang="en-US" sz="2000" i="1" spc="-30" baseline="3000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d</a:t>
                      </a:r>
                      <a:endParaRPr lang="id-ID" sz="2000" spc="-3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000" i="1" spc="-30" dirty="0" err="1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b</a:t>
                      </a:r>
                      <a:r>
                        <a:rPr lang="en-US" sz="2000" i="1" spc="-30" baseline="30000" dirty="0" err="1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d</a:t>
                      </a:r>
                      <a:endParaRPr lang="id-ID" sz="2000" spc="-30" dirty="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000" i="1" spc="-30" dirty="0" err="1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bm</a:t>
                      </a:r>
                      <a:endParaRPr lang="id-ID" sz="2000" spc="-30" dirty="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000" i="1" spc="-30" dirty="0" err="1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bl</a:t>
                      </a:r>
                      <a:endParaRPr lang="id-ID" sz="2000" spc="-30" dirty="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000" i="1" spc="-3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bd</a:t>
                      </a:r>
                      <a:endParaRPr lang="id-ID" sz="2000" spc="-3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000" i="1" spc="-3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b</a:t>
                      </a:r>
                      <a:r>
                        <a:rPr lang="en-US" sz="2000" i="1" spc="-30" baseline="3000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d/2</a:t>
                      </a:r>
                      <a:endParaRPr lang="id-ID" sz="2000" spc="-3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000" spc="-3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Complete?</a:t>
                      </a:r>
                      <a:endParaRPr lang="id-ID" sz="2000" spc="-3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000" spc="-3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Yes</a:t>
                      </a:r>
                      <a:endParaRPr lang="id-ID" sz="2000" spc="-3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000" spc="-3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Yes</a:t>
                      </a:r>
                      <a:endParaRPr lang="id-ID" sz="2000" spc="-3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000" spc="-3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No</a:t>
                      </a:r>
                      <a:endParaRPr lang="id-ID" sz="2000" spc="-3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000" spc="-30" dirty="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Yes, if </a:t>
                      </a:r>
                      <a:r>
                        <a:rPr lang="en-US" sz="2000" i="1" spc="-30" dirty="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l</a:t>
                      </a:r>
                      <a:r>
                        <a:rPr lang="en-US" sz="2000" spc="-30" dirty="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2000" spc="-30" dirty="0">
                          <a:latin typeface="Abadi" panose="020B0604020104020204" pitchFamily="34" charset="0"/>
                          <a:ea typeface="Times New Roman"/>
                          <a:cs typeface="Arial"/>
                          <a:sym typeface="Symbol"/>
                        </a:rPr>
                        <a:t></a:t>
                      </a:r>
                      <a:r>
                        <a:rPr lang="en-US" sz="2000" spc="-30" dirty="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2000" i="1" spc="-30" dirty="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d</a:t>
                      </a:r>
                      <a:endParaRPr lang="id-ID" sz="2000" spc="-30" dirty="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000" spc="-30" dirty="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Yes</a:t>
                      </a:r>
                      <a:endParaRPr lang="id-ID" sz="2000" spc="-30" dirty="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000" spc="-3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Yes</a:t>
                      </a:r>
                      <a:endParaRPr lang="id-ID" sz="2000" spc="-3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000" spc="-3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Optimal?</a:t>
                      </a:r>
                      <a:endParaRPr lang="id-ID" sz="2000" spc="-3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000" spc="-3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Yes</a:t>
                      </a:r>
                      <a:endParaRPr lang="id-ID" sz="2000" spc="-3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000" spc="-3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Yes</a:t>
                      </a:r>
                      <a:endParaRPr lang="id-ID" sz="2000" spc="-3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000" spc="-3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No</a:t>
                      </a:r>
                      <a:endParaRPr lang="id-ID" sz="2000" spc="-3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000" spc="-3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No</a:t>
                      </a:r>
                      <a:endParaRPr lang="id-ID" sz="2000" spc="-3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000" spc="-30" dirty="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Yes</a:t>
                      </a:r>
                      <a:endParaRPr lang="id-ID" sz="2000" spc="-30" dirty="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en-US" sz="2000" spc="-30" dirty="0">
                          <a:latin typeface="Abadi" panose="020B0604020104020204" pitchFamily="34" charset="0"/>
                          <a:ea typeface="Times New Roman"/>
                          <a:cs typeface="Arial"/>
                        </a:rPr>
                        <a:t>Yes</a:t>
                      </a:r>
                      <a:endParaRPr lang="id-ID" sz="2000" spc="-30" dirty="0">
                        <a:latin typeface="Abadi" panose="020B060402010402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38200"/>
          </a:xfrm>
        </p:spPr>
        <p:txBody>
          <a:bodyPr/>
          <a:lstStyle/>
          <a:p>
            <a:r>
              <a:rPr lang="en-US" dirty="0" err="1"/>
              <a:t>Pendalaman</a:t>
            </a:r>
            <a:r>
              <a:rPr lang="en-US" dirty="0"/>
              <a:t> </a:t>
            </a:r>
            <a:r>
              <a:rPr lang="en-US" dirty="0" err="1"/>
              <a:t>Materi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905000"/>
            <a:ext cx="6347714" cy="41363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badi" panose="020B0604020104020204" pitchFamily="34" charset="0"/>
              </a:rPr>
              <a:t>Pada </a:t>
            </a:r>
            <a:r>
              <a:rPr lang="en-US" sz="2000" dirty="0" err="1">
                <a:latin typeface="Abadi" panose="020B0604020104020204" pitchFamily="34" charset="0"/>
              </a:rPr>
              <a:t>kasus</a:t>
            </a:r>
            <a:r>
              <a:rPr lang="en-US" sz="2000" dirty="0">
                <a:latin typeface="Abadi" panose="020B0604020104020204" pitchFamily="34" charset="0"/>
              </a:rPr>
              <a:t> 8-puzzle, </a:t>
            </a:r>
            <a:r>
              <a:rPr lang="en-US" sz="2000" dirty="0" err="1">
                <a:latin typeface="Abadi" panose="020B0604020104020204" pitchFamily="34" charset="0"/>
              </a:rPr>
              <a:t>bisakah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digunakan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algoritma</a:t>
            </a:r>
            <a:r>
              <a:rPr lang="en-US" sz="2000" dirty="0">
                <a:latin typeface="Abadi" panose="020B0604020104020204" pitchFamily="34" charset="0"/>
              </a:rPr>
              <a:t> bidirectional search yang </a:t>
            </a:r>
            <a:r>
              <a:rPr lang="en-US" sz="2000" dirty="0" err="1">
                <a:latin typeface="Abadi" panose="020B0604020104020204" pitchFamily="34" charset="0"/>
              </a:rPr>
              <a:t>menggunakan</a:t>
            </a:r>
            <a:r>
              <a:rPr lang="en-US" sz="2000" dirty="0">
                <a:latin typeface="Abadi" panose="020B0604020104020204" pitchFamily="34" charset="0"/>
              </a:rPr>
              <a:t> Depth First Search (DFS) </a:t>
            </a:r>
            <a:r>
              <a:rPr lang="en-US" sz="2000" dirty="0" err="1">
                <a:latin typeface="Abadi" panose="020B0604020104020204" pitchFamily="34" charset="0"/>
              </a:rPr>
              <a:t>untuk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pencarian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maju</a:t>
            </a:r>
            <a:r>
              <a:rPr lang="en-US" sz="2000" dirty="0">
                <a:latin typeface="Abadi" panose="020B0604020104020204" pitchFamily="34" charset="0"/>
              </a:rPr>
              <a:t> dan </a:t>
            </a:r>
            <a:r>
              <a:rPr lang="en-US" sz="2000" dirty="0" err="1">
                <a:latin typeface="Abadi" panose="020B0604020104020204" pitchFamily="34" charset="0"/>
              </a:rPr>
              <a:t>mundurnya</a:t>
            </a:r>
            <a:r>
              <a:rPr lang="en-US" sz="2000" dirty="0">
                <a:latin typeface="Abadi" panose="020B0604020104020204" pitchFamily="34" charset="0"/>
              </a:rPr>
              <a:t>?</a:t>
            </a:r>
          </a:p>
          <a:p>
            <a:pPr marL="0" indent="0">
              <a:buNone/>
            </a:pPr>
            <a:r>
              <a:rPr lang="en-US" sz="2000" dirty="0">
                <a:latin typeface="Abadi" panose="020B0604020104020204" pitchFamily="34" charset="0"/>
              </a:rPr>
              <a:t>     </a:t>
            </a:r>
            <a:r>
              <a:rPr lang="en-US" sz="2000" dirty="0" err="1">
                <a:latin typeface="Abadi" panose="020B0604020104020204" pitchFamily="34" charset="0"/>
              </a:rPr>
              <a:t>Berikan</a:t>
            </a:r>
            <a:r>
              <a:rPr lang="en-US" sz="2000" dirty="0">
                <a:latin typeface="Abadi" panose="020B0604020104020204" pitchFamily="34" charset="0"/>
              </a:rPr>
              <a:t> </a:t>
            </a:r>
            <a:r>
              <a:rPr lang="en-US" sz="2000" dirty="0" err="1">
                <a:latin typeface="Abadi" panose="020B0604020104020204" pitchFamily="34" charset="0"/>
              </a:rPr>
              <a:t>alasan</a:t>
            </a:r>
            <a:r>
              <a:rPr lang="en-US" sz="2000" dirty="0">
                <a:latin typeface="Abadi" panose="020B0604020104020204" pitchFamily="34" charset="0"/>
              </a:rPr>
              <a:t> dan </a:t>
            </a:r>
            <a:r>
              <a:rPr lang="en-US" sz="2000" dirty="0" err="1">
                <a:latin typeface="Abadi" panose="020B0604020104020204" pitchFamily="34" charset="0"/>
              </a:rPr>
              <a:t>penjelasannya</a:t>
            </a:r>
            <a:r>
              <a:rPr lang="en-US" sz="2000" dirty="0">
                <a:latin typeface="Abadi" panose="020B0604020104020204" pitchFamily="34" charset="0"/>
              </a:rPr>
              <a:t>!. </a:t>
            </a:r>
            <a:endParaRPr lang="id-ID" sz="2000" dirty="0">
              <a:latin typeface="Abadi" panose="020B06040201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7D84F-FB0F-4882-8976-147F2FDC2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14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Daftar Pustaka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524000"/>
            <a:ext cx="7239001" cy="4517363"/>
          </a:xfrm>
        </p:spPr>
        <p:txBody>
          <a:bodyPr>
            <a:noAutofit/>
          </a:bodyPr>
          <a:lstStyle/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id-ID" sz="2000" dirty="0"/>
              <a:t>Russel, Stuart and Norvig, Peter. </a:t>
            </a:r>
            <a:r>
              <a:rPr lang="en-US" sz="2000" dirty="0"/>
              <a:t>2010</a:t>
            </a:r>
            <a:r>
              <a:rPr lang="id-ID" sz="2000" dirty="0"/>
              <a:t>. Artificial Intelligence: A Modern Approach. Prentice Hall International, Inc.</a:t>
            </a:r>
            <a:endParaRPr lang="en-US" sz="2000" dirty="0"/>
          </a:p>
          <a:p>
            <a:pPr marL="274320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id-ID" sz="2000" dirty="0"/>
              <a:t>Suyanto. 2007. Artificial Intelligence: Searching, Reasoning, Planning and Learning</a:t>
            </a:r>
            <a:r>
              <a:rPr lang="en-US" sz="2000" dirty="0"/>
              <a:t>.</a:t>
            </a:r>
            <a:r>
              <a:rPr lang="id-ID" sz="2000" dirty="0"/>
              <a:t> Informatika, Bandung Indonesia. ISBN: 979-1153-05-1.</a:t>
            </a:r>
          </a:p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FB467C-90CD-4DA3-BC75-CFD173706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Custom 18">
      <a:majorFont>
        <a:latin typeface="Abadi"/>
        <a:ea typeface=""/>
        <a:cs typeface=""/>
      </a:majorFont>
      <a:minorFont>
        <a:latin typeface="Abadi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227</TotalTime>
  <Words>1222</Words>
  <Application>Microsoft Office PowerPoint</Application>
  <PresentationFormat>On-screen Show (4:3)</PresentationFormat>
  <Paragraphs>226</Paragraphs>
  <Slides>33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Abadi</vt:lpstr>
      <vt:lpstr>Arial</vt:lpstr>
      <vt:lpstr>Arial Narrow</vt:lpstr>
      <vt:lpstr>Calibri</vt:lpstr>
      <vt:lpstr>Georgia</vt:lpstr>
      <vt:lpstr>Symbol</vt:lpstr>
      <vt:lpstr>Wingdings</vt:lpstr>
      <vt:lpstr>Wingdings 2</vt:lpstr>
      <vt:lpstr>Wingdings 3</vt:lpstr>
      <vt:lpstr>Facet</vt:lpstr>
      <vt:lpstr>Visio</vt:lpstr>
      <vt:lpstr>Searching  Part-2</vt:lpstr>
      <vt:lpstr>Metode-metode Searching</vt:lpstr>
      <vt:lpstr>Parameter Kinerja</vt:lpstr>
      <vt:lpstr>Blind (Un-informed) Search</vt:lpstr>
      <vt:lpstr>Ruang Pencarian</vt:lpstr>
      <vt:lpstr>Breadth-First Search (BFS)</vt:lpstr>
      <vt:lpstr>Langkah selanjutnya</vt:lpstr>
      <vt:lpstr>PowerPoint Presentation</vt:lpstr>
      <vt:lpstr>Kinerja BFS</vt:lpstr>
      <vt:lpstr>Kompleksitas BFS</vt:lpstr>
      <vt:lpstr>Contoh </vt:lpstr>
      <vt:lpstr>Depth-First Search (DFS)</vt:lpstr>
      <vt:lpstr>Penelusuran DFS</vt:lpstr>
      <vt:lpstr>PowerPoint Presentation</vt:lpstr>
      <vt:lpstr>Kinerja algoritma DFS</vt:lpstr>
      <vt:lpstr>Contoh </vt:lpstr>
      <vt:lpstr>Depth-Limited Search (DLS)</vt:lpstr>
      <vt:lpstr>Kinerja DLS</vt:lpstr>
      <vt:lpstr>Uniform Cost Search (UCS)</vt:lpstr>
      <vt:lpstr>PowerPoint Presentation</vt:lpstr>
      <vt:lpstr>Kinerja Algoritma UCS</vt:lpstr>
      <vt:lpstr>Iterative-Deepening Search (IDS)</vt:lpstr>
      <vt:lpstr>PowerPoint Presentation</vt:lpstr>
      <vt:lpstr>PowerPoint Presentation</vt:lpstr>
      <vt:lpstr>Kinerja algoritma IDS</vt:lpstr>
      <vt:lpstr>Bi-directional Search (BDS)</vt:lpstr>
      <vt:lpstr>Masalah BDS</vt:lpstr>
      <vt:lpstr>Pembalikan Operator</vt:lpstr>
      <vt:lpstr>PowerPoint Presentation</vt:lpstr>
      <vt:lpstr>Kinerja Algoritma BDS</vt:lpstr>
      <vt:lpstr>Perbandingan metode pencarian </vt:lpstr>
      <vt:lpstr>Pendalaman Materi</vt:lpstr>
      <vt:lpstr>Daftar Pustaka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Searching  </dc:title>
  <dc:creator>wiharto</dc:creator>
  <cp:lastModifiedBy>wiharto</cp:lastModifiedBy>
  <cp:revision>24</cp:revision>
  <dcterms:created xsi:type="dcterms:W3CDTF">2020-09-20T12:09:40Z</dcterms:created>
  <dcterms:modified xsi:type="dcterms:W3CDTF">2024-03-18T03:12:20Z</dcterms:modified>
</cp:coreProperties>
</file>