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90" r:id="rId3"/>
    <p:sldId id="292" r:id="rId4"/>
    <p:sldId id="294" r:id="rId5"/>
    <p:sldId id="293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277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lyan Hendrasuryawan" initials="BH" lastIdx="2" clrIdx="0">
    <p:extLst>
      <p:ext uri="{19B8F6BF-5375-455C-9EA6-DF929625EA0E}">
        <p15:presenceInfo xmlns:p15="http://schemas.microsoft.com/office/powerpoint/2012/main" userId="S::brilyan@bpklipi.id::6cc8fdd1-6bb4-48f4-8275-13f4201941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79719-90EE-4DEE-97EC-5DE16BF9FCC6}" type="datetimeFigureOut">
              <a:rPr lang="en-ID" smtClean="0"/>
              <a:t>01/06/2025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38FFF-A32B-4D5B-A182-D7C887EB803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783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79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90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14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738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37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782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806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368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001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1.png">
            <a:extLst>
              <a:ext uri="{FF2B5EF4-FFF2-40B4-BE49-F238E27FC236}">
                <a16:creationId xmlns:a16="http://schemas.microsoft.com/office/drawing/2014/main" id="{AABD62F7-89DB-3A76-32B2-AEE7CD274E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45785"/>
            <a:ext cx="2009637" cy="57606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EE7F7608-BB46-7956-CF79-07A37BBC1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952" y="1052736"/>
            <a:ext cx="543609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PENGEMBANGAN APLIKASI BERGERAK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7DDDDB-D103-5585-B926-9FC55D8163EC}"/>
              </a:ext>
            </a:extLst>
          </p:cNvPr>
          <p:cNvSpPr txBox="1"/>
          <p:nvPr/>
        </p:nvSpPr>
        <p:spPr>
          <a:xfrm>
            <a:off x="3722914" y="6165304"/>
            <a:ext cx="1698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b="1" dirty="0">
                <a:latin typeface="Arial" pitchFamily="34" charset="0"/>
                <a:cs typeface="Arial" pitchFamily="34" charset="0"/>
              </a:rPr>
              <a:t>Tim Teaching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D6501-1EE0-A607-AB03-F3DF05B01279}"/>
              </a:ext>
            </a:extLst>
          </p:cNvPr>
          <p:cNvSpPr txBox="1"/>
          <p:nvPr/>
        </p:nvSpPr>
        <p:spPr>
          <a:xfrm>
            <a:off x="1475656" y="3105835"/>
            <a:ext cx="6768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2800" b="1" i="0" dirty="0">
                <a:solidFill>
                  <a:srgbClr val="000000"/>
                </a:solidFill>
                <a:effectLst/>
              </a:rPr>
            </a:br>
            <a:r>
              <a:rPr lang="en-US" sz="2800" b="1" i="0" dirty="0">
                <a:solidFill>
                  <a:srgbClr val="000000"/>
                </a:solidFill>
                <a:effectLst/>
              </a:rPr>
              <a:t>Security</a:t>
            </a: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14400" y="1556792"/>
            <a:ext cx="87344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Permission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Setiap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Android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mengharuskan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adanya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otorisasi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sebelum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serangkaian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mengakses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SD card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daftar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kontak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Otorisasi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mengharuskan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aksi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Adanya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otorisasi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mendapatkan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pemberitahuan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terkait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apa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saja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. Daftar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apa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saja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nantinya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bentuk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disetujui</a:t>
            </a:r>
            <a:r>
              <a:rPr lang="en-ID" sz="2000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Setelah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pemberitahuan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maka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8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Permission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Terdapat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dibutuhkan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mengunduh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. Ada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mengganggu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juga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mengganggu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kenyamanan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menyebabkan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kebocoran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data.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Ada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dirasa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mengganggu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Aktivitas-aktivitas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lain: 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Penggunaan Internet secara penuh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Melakukan panggilan langsung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Mengirim SMS 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Memodifikasi atau menghapus file di storage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Memodifikasi ataupun membaca kontak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Akses terhadap lokasi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20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-1" y="1239592"/>
            <a:ext cx="91440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fi-FI" sz="2000" b="1" dirty="0">
                <a:latin typeface="Arial" panose="020B0604020202020204" pitchFamily="34" charset="0"/>
                <a:cs typeface="Arial" panose="020B0604020202020204" pitchFamily="34" charset="0"/>
              </a:rPr>
              <a:t>Penggunaan Internet secara penuh</a:t>
            </a:r>
          </a:p>
          <a:p>
            <a:pPr algn="just"/>
            <a:r>
              <a:rPr lang="en-ID" sz="1800" dirty="0" err="1">
                <a:effectLst/>
                <a:latin typeface="helvetica" panose="020B0604020202020204" pitchFamily="34" charset="0"/>
              </a:rPr>
              <a:t>Dengan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memberikan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izin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mengakses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jaringan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internet,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maka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pengguna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memberikan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kepercayaan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pada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tersebut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menggunakan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jalur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internet. Pa da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situasi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normal,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tersebut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menggunakannya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menayangkan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iklan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atau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memperoleh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informasi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dibutuhkan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dari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internet.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Namun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demikian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izin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tersebut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dapat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dieksploitasi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oleh malware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membocorkan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data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pribadi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pengguna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bila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dikombinasikan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dengan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izin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mengubah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atau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menghapus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konten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pada storage.</a:t>
            </a:r>
          </a:p>
          <a:p>
            <a:pPr algn="just"/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fi-FI" sz="2000" b="1" dirty="0">
                <a:latin typeface="Arial" panose="020B0604020202020204" pitchFamily="34" charset="0"/>
                <a:cs typeface="Arial" panose="020B0604020202020204" pitchFamily="34" charset="0"/>
              </a:rPr>
              <a:t>Melakukan panggilan langsung</a:t>
            </a:r>
          </a:p>
          <a:p>
            <a:pPr algn="just"/>
            <a:r>
              <a:rPr lang="en-ID" sz="1800" dirty="0">
                <a:effectLst/>
                <a:latin typeface="helvetica" panose="020B0604020202020204" pitchFamily="34" charset="0"/>
              </a:rPr>
              <a:t>Jika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pengguna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menginstal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sebuah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dialer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alternatif</a:t>
            </a:r>
            <a:r>
              <a:rPr lang="en-ID" sz="1800" dirty="0">
                <a:effectLst/>
                <a:latin typeface="helvetica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maka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tersebut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seca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ra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otomatis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memiliki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kemampuan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sama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melakukan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panggilan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dirty="0"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pihak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ketiga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juga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umumnya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sudah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dibekali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dengan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kemampuan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sama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secara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langsung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menghubungi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nomor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kontak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berasal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dari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seluruh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pesan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sms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masuk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Izin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diberikan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tersebut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pada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saat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sama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juga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dapat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dieksploitasi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oleh malware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memata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-matai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pembicaraan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dengan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melakukan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panggilan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secara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diam-diam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nomor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tertentu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dan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secara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ilegal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merekam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pembicaraan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tersebut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.</a:t>
            </a: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08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87422" y="1270926"/>
            <a:ext cx="9056578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fi-FI" sz="2000" b="1" dirty="0">
                <a:latin typeface="Arial" panose="020B0604020202020204" pitchFamily="34" charset="0"/>
                <a:cs typeface="Arial" panose="020B0604020202020204" pitchFamily="34" charset="0"/>
              </a:rPr>
              <a:t>Mengirim SMS </a:t>
            </a:r>
          </a:p>
          <a:p>
            <a:pPr algn="just"/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Ketika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menginstal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sms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pihak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ketiga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tentu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saja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meminta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izin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agar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mengirim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pesan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Demikian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pula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menginstal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media yang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memerlukan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login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verifikasi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sms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Akan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tetapi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menemui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meminta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izin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mengirim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pesan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meski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dasarnya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membutuhkannya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maka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menghindari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menginstal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tentu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langkah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pencegahan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ditempuh</a:t>
            </a:r>
            <a:r>
              <a:rPr lang="en-ID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fi-FI" sz="2000" b="1" dirty="0">
                <a:latin typeface="Arial" panose="020B0604020202020204" pitchFamily="34" charset="0"/>
                <a:cs typeface="Arial" panose="020B0604020202020204" pitchFamily="34" charset="0"/>
              </a:rPr>
              <a:t>Memodifikasi atau menghapus file pada storage</a:t>
            </a:r>
          </a:p>
          <a:p>
            <a:pPr algn="just"/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adanya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keleluasaan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mengubah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menghapus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dan game yang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terinstal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bebas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mengakses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perubahan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mencakup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penyimpanan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penghapusan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data. Ketika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selesai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bermain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game,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seluruh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 yang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menyangkut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bermain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otomatis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tersimpan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supaya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dipakai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lagi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nanti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ketika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melanjutkan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bermain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game. Akan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tetapi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disusupi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malware,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otorisasi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dimanfaatkan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mengupload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internet.</a:t>
            </a:r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452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-1" y="1412776"/>
            <a:ext cx="9144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fi-FI" sz="2000" b="1" dirty="0">
                <a:latin typeface="Arial" panose="020B0604020202020204" pitchFamily="34" charset="0"/>
                <a:cs typeface="Arial" panose="020B0604020202020204" pitchFamily="34" charset="0"/>
              </a:rPr>
              <a:t>Memodifikasi ataupun membaca kontak</a:t>
            </a:r>
          </a:p>
          <a:p>
            <a:pPr algn="just"/>
            <a:r>
              <a:rPr lang="en-ID" sz="1800" dirty="0" err="1">
                <a:effectLst/>
                <a:latin typeface="helvetica" panose="020B0604020202020204" pitchFamily="34" charset="0"/>
              </a:rPr>
              <a:t>Misal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ketika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menginstal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Facebook,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tentu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diminta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menyetujui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app permission 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ini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agar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dapat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melakukan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sinkronisasi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kontak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ponsel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dengan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kontak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teman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Facebook.  Hal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ini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juga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berlaku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sosial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media lain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dengan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tujuan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agar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dapat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dengan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 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mudah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menemukan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teman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berdasarkan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kontak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telepon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atau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email yang di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miliki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Demikian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pula pada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chatting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menambahkan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teman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berdasarkan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nomor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ponsel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tersimpan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dalam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kontak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Tentu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saja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izin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seperti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ini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juga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dapat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disalah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gunakan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membocorkan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informasi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pribadi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atau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lebih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buruk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lagi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menularkan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virus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atau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malware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berbahaya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kepada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seluruh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teman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kontak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.</a:t>
            </a:r>
          </a:p>
          <a:p>
            <a:pPr algn="just"/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fi-FI" sz="2000" b="1" dirty="0">
                <a:latin typeface="Arial" panose="020B0604020202020204" pitchFamily="34" charset="0"/>
                <a:cs typeface="Arial" panose="020B0604020202020204" pitchFamily="34" charset="0"/>
              </a:rPr>
              <a:t>Akses terhadap lokasi</a:t>
            </a:r>
          </a:p>
          <a:p>
            <a:pPr algn="just"/>
            <a:r>
              <a:rPr lang="en-ID" sz="1800" dirty="0">
                <a:effectLst/>
                <a:latin typeface="helvetica" panose="020B0604020202020204" pitchFamily="34" charset="0"/>
              </a:rPr>
              <a:t>Bila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menyetujui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sebuah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mengetahui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lokasi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pengguna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maka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tersebut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dapat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memanfaatkannya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memandu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pengguna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dalam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bernavigasi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Dengan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melacak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lokasi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pengguna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aplikasi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bersangkutan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juga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dapat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membantu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pengguna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check-in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lokasi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sedang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di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kunjungi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Namun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begitu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kemampuan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melacak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lokasi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ini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kerap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dimanfaatkan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memenuhi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ponsel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pengguna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dengan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pesan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sms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tawaran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diskon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atau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iklan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ajakan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berkunjung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ke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tempat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tertentu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lokasinya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ada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di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sekitar</a:t>
            </a:r>
            <a:r>
              <a:rPr lang="en-ID" sz="1800" dirty="0">
                <a:effectLst/>
                <a:latin typeface="helvetica" panose="020B0604020202020204" pitchFamily="34" charset="0"/>
              </a:rPr>
              <a:t> </a:t>
            </a:r>
            <a:r>
              <a:rPr lang="en-ID" sz="1800" dirty="0" err="1">
                <a:effectLst/>
                <a:latin typeface="helvetica" panose="020B0604020202020204" pitchFamily="34" charset="0"/>
              </a:rPr>
              <a:t>pengguna</a:t>
            </a:r>
            <a:r>
              <a:rPr lang="en-ID" sz="1800" dirty="0">
                <a:effectLst/>
                <a:latin typeface="helvetica" panose="020B0604020202020204" pitchFamily="34" charset="0"/>
              </a:rPr>
              <a:t>.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39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Meminta Permission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8D643A-C5D8-1BC3-71CB-FBAAF6B45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79" y="2074645"/>
            <a:ext cx="884729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meminta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tambahkan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&lt;uses-permission&gt;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atribut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manifes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beserta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diminta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Misalnya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mendapatkan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kamera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&lt;uses-permission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android:name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android.permission.CAMERA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"/&gt; </a:t>
            </a:r>
          </a:p>
        </p:txBody>
      </p:sp>
    </p:spTree>
    <p:extLst>
      <p:ext uri="{BB962C8B-B14F-4D97-AF65-F5344CB8AC3E}">
        <p14:creationId xmlns:p14="http://schemas.microsoft.com/office/powerpoint/2010/main" val="2321683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204765" y="1554599"/>
            <a:ext cx="3186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Contoh Permission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98258-0C70-A2D5-0216-DA69F8DE8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988" y="1268760"/>
            <a:ext cx="4132939" cy="553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005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Permission Normal dan Bahaya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611560" y="2060888"/>
            <a:ext cx="84531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effectLst/>
              </a:rPr>
              <a:t>Android </a:t>
            </a:r>
            <a:r>
              <a:rPr lang="en-ID" dirty="0" err="1">
                <a:effectLst/>
              </a:rPr>
              <a:t>mengklasifikasikan</a:t>
            </a:r>
            <a:r>
              <a:rPr lang="en-ID" dirty="0">
                <a:effectLst/>
              </a:rPr>
              <a:t> permission </a:t>
            </a:r>
            <a:r>
              <a:rPr lang="en-ID" dirty="0" err="1">
                <a:effectLst/>
              </a:rPr>
              <a:t>sebagai</a:t>
            </a:r>
            <a:r>
              <a:rPr lang="en-ID" dirty="0">
                <a:effectLst/>
              </a:rPr>
              <a:t> normal </a:t>
            </a:r>
            <a:r>
              <a:rPr lang="en-ID" dirty="0" err="1">
                <a:effectLst/>
              </a:rPr>
              <a:t>atau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berbahaya</a:t>
            </a:r>
            <a:r>
              <a:rPr lang="en-ID" dirty="0">
                <a:effectLst/>
              </a:rPr>
              <a:t>.</a:t>
            </a:r>
            <a:endParaRPr lang="en-ID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D" dirty="0">
                <a:effectLst/>
              </a:rPr>
              <a:t>Permission </a:t>
            </a:r>
            <a:r>
              <a:rPr lang="en-ID" b="1" dirty="0">
                <a:effectLst/>
              </a:rPr>
              <a:t>normal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adalah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tindakan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tidak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mempengaruhi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privasi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pengguna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atau</a:t>
            </a:r>
            <a:r>
              <a:rPr lang="en-ID" dirty="0">
                <a:effectLst/>
              </a:rPr>
              <a:t> data </a:t>
            </a:r>
            <a:r>
              <a:rPr lang="en-ID" dirty="0" err="1">
                <a:effectLst/>
              </a:rPr>
              <a:t>pengguna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seperti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menyambung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</a:t>
            </a:r>
            <a:r>
              <a:rPr lang="en-ID" dirty="0">
                <a:effectLst/>
              </a:rPr>
              <a:t> Internet.</a:t>
            </a:r>
            <a:endParaRPr lang="en-ID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D" dirty="0">
                <a:effectLst/>
              </a:rPr>
              <a:t>Permission </a:t>
            </a:r>
            <a:r>
              <a:rPr lang="en-ID" b="1" dirty="0">
                <a:effectLst/>
              </a:rPr>
              <a:t>yang </a:t>
            </a:r>
            <a:r>
              <a:rPr lang="en-ID" b="1" dirty="0" err="1">
                <a:effectLst/>
              </a:rPr>
              <a:t>berbahaya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adalah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tindakan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mempengaruhi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privasi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pengguna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atau</a:t>
            </a:r>
            <a:r>
              <a:rPr lang="en-ID" dirty="0">
                <a:effectLst/>
              </a:rPr>
              <a:t> data </a:t>
            </a:r>
            <a:r>
              <a:rPr lang="en-ID" dirty="0" err="1">
                <a:effectLst/>
              </a:rPr>
              <a:t>pengguna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seperti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izin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menulis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pesan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suara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pengguna</a:t>
            </a:r>
            <a:r>
              <a:rPr lang="en-ID" dirty="0">
                <a:effectLst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D" dirty="0"/>
          </a:p>
          <a:p>
            <a:r>
              <a:rPr lang="en-ID" dirty="0">
                <a:effectLst/>
              </a:rPr>
              <a:t>Android </a:t>
            </a:r>
            <a:r>
              <a:rPr lang="en-ID" dirty="0" err="1">
                <a:effectLst/>
              </a:rPr>
              <a:t>secara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otomatis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memberikan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izin</a:t>
            </a:r>
            <a:r>
              <a:rPr lang="en-ID" dirty="0">
                <a:effectLst/>
              </a:rPr>
              <a:t> normal </a:t>
            </a:r>
            <a:r>
              <a:rPr lang="en-ID" dirty="0" err="1">
                <a:effectLst/>
              </a:rPr>
              <a:t>tetapi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meminta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pengguna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secara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eksplisit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memberikan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izin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berbahaya</a:t>
            </a:r>
            <a:r>
              <a:rPr lang="en-ID" dirty="0">
                <a:effectLst/>
              </a:rPr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26718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611559" y="2060888"/>
            <a:ext cx="853243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Setiap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mengharapkan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responsive dan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Salah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satu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mengoptimalkan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kinerja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peluncuran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memperhatikan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memulai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startup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diluncurkan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tiga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berbeda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Cold Start, Warm Start, dan Hot Start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Status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menentukan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berapa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diperlukan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agar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terlihat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Singkatnya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cold start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berarti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dimulai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sedangkan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membawa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latar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belakang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latar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14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330221" y="2101922"/>
            <a:ext cx="8731022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b="1" dirty="0">
                <a:effectLst/>
              </a:rPr>
              <a:t>Metrik Utama untuk Menentukan Startup Aplikasi :</a:t>
            </a:r>
          </a:p>
          <a:p>
            <a:pPr algn="just"/>
            <a:endParaRPr lang="fi-FI" sz="20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 to Initial Display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 </a:t>
            </a:r>
            <a:r>
              <a:rPr lang="en-ID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TTID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):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mewakili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dibutuhkan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menampilkan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frame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pertama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kata lain, </a:t>
            </a:r>
            <a:r>
              <a:rPr lang="en-ID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TTID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memberi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tahu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sedang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dimuat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 to Fully Drawn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 </a:t>
            </a:r>
            <a:r>
              <a:rPr lang="en-ID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TTFD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):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menandakan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dibutuhkan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interaktif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sepenuhnya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TTFD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memberi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tahu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kapan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benar-benar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ID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fi-FI" b="1" dirty="0"/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628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330221" y="2101922"/>
            <a:ext cx="873102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fi-FI" b="1" dirty="0"/>
              <a:t>Cold Start</a:t>
            </a:r>
          </a:p>
          <a:p>
            <a:pPr algn="just"/>
            <a:endParaRPr lang="fi-FI" b="1" dirty="0">
              <a:effectLst/>
            </a:endParaRPr>
          </a:p>
          <a:p>
            <a:pPr algn="just"/>
            <a:r>
              <a:rPr lang="en-ID" dirty="0">
                <a:effectLst/>
              </a:rPr>
              <a:t>Cold start </a:t>
            </a:r>
            <a:r>
              <a:rPr lang="en-ID" dirty="0" err="1">
                <a:effectLst/>
              </a:rPr>
              <a:t>lebih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lambat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karena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aplikasi</a:t>
            </a:r>
            <a:r>
              <a:rPr lang="en-ID" dirty="0">
                <a:effectLst/>
              </a:rPr>
              <a:t> Anda </a:t>
            </a:r>
            <a:r>
              <a:rPr lang="en-ID" dirty="0" err="1">
                <a:effectLst/>
              </a:rPr>
              <a:t>tidak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berjalan</a:t>
            </a:r>
            <a:r>
              <a:rPr lang="en-ID" dirty="0">
                <a:effectLst/>
              </a:rPr>
              <a:t> di </a:t>
            </a:r>
            <a:r>
              <a:rPr lang="en-ID" dirty="0" err="1">
                <a:effectLst/>
              </a:rPr>
              <a:t>latar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belakang</a:t>
            </a:r>
            <a:r>
              <a:rPr lang="en-ID" dirty="0">
                <a:effectLst/>
              </a:rPr>
              <a:t>. Jadi </a:t>
            </a:r>
            <a:r>
              <a:rPr lang="en-ID" dirty="0" err="1">
                <a:effectLst/>
              </a:rPr>
              <a:t>ketika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dibuka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butuh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waktu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lebih</a:t>
            </a:r>
            <a:r>
              <a:rPr lang="en-ID" dirty="0">
                <a:effectLst/>
              </a:rPr>
              <a:t> lama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mengatur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semuanya</a:t>
            </a:r>
            <a:r>
              <a:rPr lang="en-ID" dirty="0">
                <a:effectLst/>
              </a:rPr>
              <a:t>.</a:t>
            </a:r>
          </a:p>
          <a:p>
            <a:pPr algn="just"/>
            <a:r>
              <a:rPr lang="en-ID" dirty="0"/>
              <a:t>Pada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memulai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r>
              <a:rPr lang="en-ID" dirty="0"/>
              <a:t>:</a:t>
            </a:r>
          </a:p>
          <a:p>
            <a:pPr>
              <a:buFont typeface="+mj-lt"/>
              <a:buAutoNum type="arabicPeriod"/>
            </a:pP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Muat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luncurkan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aplikasi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Menampilkan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jendela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awal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kosong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aplikasi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segera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setelah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peluncuran</a:t>
            </a:r>
            <a:r>
              <a:rPr lang="en-ID" dirty="0">
                <a:effectLst/>
              </a:rPr>
              <a:t>.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dirty="0">
                <a:effectLst/>
              </a:rPr>
              <a:t> Buat proses </a:t>
            </a:r>
            <a:r>
              <a:rPr lang="en-ID" dirty="0" err="1">
                <a:effectLst/>
              </a:rPr>
              <a:t>aplikasi</a:t>
            </a:r>
            <a:r>
              <a:rPr lang="en-ID" dirty="0">
                <a:effectLst/>
              </a:rPr>
              <a:t>.</a:t>
            </a:r>
            <a:endParaRPr lang="en-ID" dirty="0"/>
          </a:p>
          <a:p>
            <a:pPr algn="just"/>
            <a:endParaRPr lang="en-ID" dirty="0"/>
          </a:p>
          <a:p>
            <a:pPr algn="just"/>
            <a:endParaRPr lang="fi-FI" dirty="0"/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981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330221" y="2101922"/>
            <a:ext cx="873102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dirty="0" err="1">
                <a:effectLst/>
              </a:rPr>
              <a:t>Segera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setelah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sistem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membuat</a:t>
            </a:r>
            <a:r>
              <a:rPr lang="en-ID" dirty="0">
                <a:effectLst/>
              </a:rPr>
              <a:t> proses. Proses </a:t>
            </a:r>
            <a:r>
              <a:rPr lang="en-ID" dirty="0" err="1">
                <a:effectLst/>
              </a:rPr>
              <a:t>aplikasi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harus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melakukan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tahap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selanjutnya</a:t>
            </a:r>
            <a:r>
              <a:rPr lang="en-ID" dirty="0">
                <a:effectLst/>
              </a:rPr>
              <a:t>:</a:t>
            </a:r>
            <a:r>
              <a:rPr lang="en-ID" dirty="0"/>
              <a:t> </a:t>
            </a:r>
          </a:p>
          <a:p>
            <a:pPr>
              <a:buFont typeface="+mj-lt"/>
              <a:buAutoNum type="arabicPeriod"/>
            </a:pPr>
            <a:r>
              <a:rPr lang="en-ID" dirty="0">
                <a:effectLst/>
              </a:rPr>
              <a:t> Buat </a:t>
            </a:r>
            <a:r>
              <a:rPr lang="en-ID" dirty="0" err="1">
                <a:effectLst/>
              </a:rPr>
              <a:t>objek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aplikasi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Luncurkan</a:t>
            </a:r>
            <a:r>
              <a:rPr lang="en-ID" dirty="0">
                <a:effectLst/>
              </a:rPr>
              <a:t> thread </a:t>
            </a:r>
            <a:r>
              <a:rPr lang="en-ID" dirty="0" err="1">
                <a:effectLst/>
              </a:rPr>
              <a:t>utama</a:t>
            </a:r>
            <a:r>
              <a:rPr lang="en-ID" dirty="0">
                <a:effectLst/>
              </a:rPr>
              <a:t> (UI Thread)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dirty="0">
                <a:effectLst/>
              </a:rPr>
              <a:t> Buat </a:t>
            </a:r>
            <a:r>
              <a:rPr lang="en-ID" dirty="0" err="1">
                <a:effectLst/>
              </a:rPr>
              <a:t>aktivitas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utama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Memperluas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tampilan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dirty="0">
                <a:effectLst/>
              </a:rPr>
              <a:t> Tata </a:t>
            </a:r>
            <a:r>
              <a:rPr lang="en-ID" dirty="0" err="1">
                <a:effectLst/>
              </a:rPr>
              <a:t>letak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layar</a:t>
            </a:r>
            <a:endParaRPr lang="en-ID" dirty="0"/>
          </a:p>
          <a:p>
            <a:pPr algn="just"/>
            <a:endParaRPr lang="en-ID" dirty="0"/>
          </a:p>
          <a:p>
            <a:pPr algn="just"/>
            <a:endParaRPr lang="en-ID" dirty="0"/>
          </a:p>
          <a:p>
            <a:pPr algn="just"/>
            <a:endParaRPr lang="fi-FI" dirty="0"/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980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330220" y="2101922"/>
            <a:ext cx="88137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fi-FI" b="1" dirty="0"/>
              <a:t>Warm Start</a:t>
            </a:r>
          </a:p>
          <a:p>
            <a:pPr algn="just"/>
            <a:endParaRPr lang="fi-FI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Warm Start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berarti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siap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sebagian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Memang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secepat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Hot Start,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tapi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Cold Start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disiapkan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Proses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belakang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panggilan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 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  <a:p>
            <a:pPr algn="just"/>
            <a:endParaRPr lang="fi-FI" dirty="0"/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637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1" y="2094356"/>
            <a:ext cx="90646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fi-FI" b="1" dirty="0"/>
              <a:t>Hot Start</a:t>
            </a:r>
          </a:p>
          <a:p>
            <a:pPr algn="just"/>
            <a:endParaRPr lang="fi-FI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Hot start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berarti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latar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belakang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jadi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ketika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membukanya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itu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muncul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siap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Demikian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pula,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hanya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menampilkan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latar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Jika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tersimpan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memori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menghindari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pengulangan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inisialisasi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penggelembungan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tata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letak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dan rendering.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D" dirty="0"/>
          </a:p>
          <a:p>
            <a:pPr algn="just"/>
            <a:endParaRPr lang="fi-FI" dirty="0"/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555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1" y="2094356"/>
            <a:ext cx="90646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D" dirty="0"/>
          </a:p>
          <a:p>
            <a:pPr algn="just"/>
            <a:endParaRPr lang="fi-FI" dirty="0"/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22B22-4D6B-8391-53E6-246AB4B9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8" y="2120116"/>
            <a:ext cx="6940961" cy="426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97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330221" y="2069001"/>
            <a:ext cx="87344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/>
              <a:t>Android Vital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 vitals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menentukan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startup yang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berlebihan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berikut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n-ID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Cold Start	: 5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detik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lama.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Warm Start 	: 2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detik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lama.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ID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Hot Start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: 1,5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detik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lama.</a:t>
            </a:r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Melebihi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ambang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batas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berdampak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negatif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pengalaman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 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mengoptimalkan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kinerja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guna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pengalaman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lancar</a:t>
            </a:r>
            <a:r>
              <a:rPr lang="en-ID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fi-FI" dirty="0"/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365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330221" y="2069001"/>
            <a:ext cx="87344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Salah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satu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hal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perhatian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utama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developer apps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ketika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membangun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mobile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yaitu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keamanan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khususnya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mencegah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reverse engineering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Ketika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seorang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developer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mobile,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seseorang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luar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sana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mungkin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ingin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membongkar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mengetahui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kerja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fitur-fitur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menghapus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iklan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modifikasi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ulang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hanya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mereproduksi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sepenuhnya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Proses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reverse engineering </a:t>
            </a:r>
            <a:r>
              <a:rPr lang="en-ID" i="1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ekstraksi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source code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file APK.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Ekstraksi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membutuhkan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pengubahan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dex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file jar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kemudian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file jar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diubah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source code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java,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kata lain, proses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mengambil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source code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Anda. Ada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tools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tersedia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membantu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Apktool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dex2jar,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jadx-gui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  dan JAD.</a:t>
            </a:r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885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330221" y="2069001"/>
            <a:ext cx="87344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Mencegah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Reverse Engineering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Mobile 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ProGuard</a:t>
            </a:r>
            <a:endParaRPr lang="fi-FI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ProGuard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 tool cross platform open source 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ditulis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Java,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membantu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memastikan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keamanan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mobile.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ProGuard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fungsi-fungsi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source code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menyusut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Shrink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mengoptimalkan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mengacak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ditulis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 (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Obfuscation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indent="-342900" algn="just">
              <a:buFont typeface="+mj-lt"/>
              <a:buAutoNum type="arabicPeriod" startAt="2"/>
            </a:pP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Menyimpan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di server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Misalnya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perusahaan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unik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     oleh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menginginkan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dicuri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oleh orang lain.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mencegahnya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hanya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memindahkan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server dan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membiarkan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diproses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oleh server,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setelah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itu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mengakses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46B0E-DBDE-C63E-FDFD-73F637136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536793"/>
            <a:ext cx="1881452" cy="4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89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330221" y="2069001"/>
            <a:ext cx="87344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 startAt="3"/>
            </a:pP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Menghindari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penyimpanan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variable value </a:t>
            </a: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raw format (hardcoded)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Hindari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penulisan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value/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variable data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source  code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Misalnya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: “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kode_transaksi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” = “TRX123456”,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sebaiknya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disimpan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disandikan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 startAt="4"/>
            </a:pP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Mengamankan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kredensial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endParaRPr lang="en-ID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Proses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autentifikasi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dianjurkan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OTP (One Time Password)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masa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berlaku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singkat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 Nama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dan kata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sandi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pun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sebaiknya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boleh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disimpan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 startAt="5"/>
            </a:pP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Menyembunyikan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API key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Apabila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library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pihak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ketiga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biasanya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penyedia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pihak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ketiga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API Key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Disarankan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menyimpan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kunci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API di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aset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folder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apalagi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dituliskan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hardcode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kelas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Java. </a:t>
            </a:r>
          </a:p>
          <a:p>
            <a:pPr marL="342900" indent="-342900" algn="just">
              <a:buFont typeface="+mj-lt"/>
              <a:buAutoNum type="arabicPeriod" startAt="3"/>
            </a:pP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 startAt="3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67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069975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Android permission, performance, and</a:t>
            </a:r>
            <a:br>
              <a:rPr lang="en-US" sz="3200" b="1" i="0" dirty="0">
                <a:solidFill>
                  <a:srgbClr val="000000"/>
                </a:solidFill>
                <a:effectLst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</a:rPr>
              <a:t>security</a:t>
            </a:r>
            <a:r>
              <a:rPr lang="en-US" sz="3200" dirty="0"/>
              <a:t> </a:t>
            </a:r>
            <a:br>
              <a:rPr lang="en-US" sz="1400" dirty="0"/>
            </a:b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330221" y="1196752"/>
            <a:ext cx="87344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F454F-BF4E-EFC0-725B-F98CE6A0A811}"/>
              </a:ext>
            </a:extLst>
          </p:cNvPr>
          <p:cNvSpPr txBox="1"/>
          <p:nvPr/>
        </p:nvSpPr>
        <p:spPr>
          <a:xfrm>
            <a:off x="330221" y="2069001"/>
            <a:ext cx="87344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 startAt="6"/>
            </a:pP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 hashing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Selalu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lakukan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enkripsi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data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Meskipun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reverse engineering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berhasil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mengekstrak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source code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setidaknya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memerlukan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aksi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tambahan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memecahkan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enkripsi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source code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+mj-lt"/>
              <a:buAutoNum type="arabicPeriod" startAt="3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933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FCB574-4F84-6139-CA0D-8EF94565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843" y="1772816"/>
            <a:ext cx="6564313" cy="4105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791676-2319-6047-CD74-AC8635E3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8680"/>
            <a:ext cx="9144000" cy="1069975"/>
          </a:xfrm>
        </p:spPr>
        <p:txBody>
          <a:bodyPr/>
          <a:lstStyle/>
          <a:p>
            <a:pPr algn="ctr"/>
            <a:r>
              <a:rPr lang="id-ID" sz="4400" b="1" kern="0" dirty="0">
                <a:solidFill>
                  <a:srgbClr val="4985E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Terima Kasih</a:t>
            </a:r>
            <a:endParaRPr lang="en-ID" sz="4400" b="1" kern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3624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10252</TotalTime>
  <Words>1866</Words>
  <Application>Microsoft Office PowerPoint</Application>
  <PresentationFormat>On-screen Show (4:3)</PresentationFormat>
  <Paragraphs>201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helvetica</vt:lpstr>
      <vt:lpstr>Wingdings</vt:lpstr>
      <vt:lpstr>Office Theme</vt:lpstr>
      <vt:lpstr>PowerPoint Presentation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Android permission, performance, and security  </vt:lpstr>
      <vt:lpstr>Terima Kasih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Arif Rohmadi</cp:lastModifiedBy>
  <cp:revision>203</cp:revision>
  <dcterms:created xsi:type="dcterms:W3CDTF">2014-04-01T16:35:38Z</dcterms:created>
  <dcterms:modified xsi:type="dcterms:W3CDTF">2025-06-01T08:04:28Z</dcterms:modified>
</cp:coreProperties>
</file>