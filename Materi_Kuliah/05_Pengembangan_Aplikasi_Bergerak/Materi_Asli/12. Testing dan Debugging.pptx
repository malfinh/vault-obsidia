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4" r:id="rId5"/>
    <p:sldId id="282" r:id="rId6"/>
    <p:sldId id="285" r:id="rId7"/>
    <p:sldId id="283" r:id="rId8"/>
    <p:sldId id="281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9" r:id="rId17"/>
    <p:sldId id="270" r:id="rId18"/>
    <p:sldId id="271" r:id="rId19"/>
    <p:sldId id="272" r:id="rId20"/>
    <p:sldId id="275" r:id="rId21"/>
    <p:sldId id="280" r:id="rId22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0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f Rohmadi" userId="7ac86e76-d45a-43aa-833d-7b563e006102" providerId="ADAL" clId="{ED7A6759-8811-4BD6-A95E-F7D96E31DC2C}"/>
    <pc:docChg chg="undo custSel addSld delSld modSld">
      <pc:chgData name="Arif Rohmadi" userId="7ac86e76-d45a-43aa-833d-7b563e006102" providerId="ADAL" clId="{ED7A6759-8811-4BD6-A95E-F7D96E31DC2C}" dt="2026-05-14T22:29:55.200" v="126" actId="1076"/>
      <pc:docMkLst>
        <pc:docMk/>
      </pc:docMkLst>
      <pc:sldChg chg="addSp modSp mod">
        <pc:chgData name="Arif Rohmadi" userId="7ac86e76-d45a-43aa-833d-7b563e006102" providerId="ADAL" clId="{ED7A6759-8811-4BD6-A95E-F7D96E31DC2C}" dt="2026-05-14T22:20:45.586" v="44" actId="1076"/>
        <pc:sldMkLst>
          <pc:docMk/>
          <pc:sldMk cId="0" sldId="258"/>
        </pc:sldMkLst>
        <pc:spChg chg="mod">
          <ac:chgData name="Arif Rohmadi" userId="7ac86e76-d45a-43aa-833d-7b563e006102" providerId="ADAL" clId="{ED7A6759-8811-4BD6-A95E-F7D96E31DC2C}" dt="2026-05-14T22:19:26.187" v="32" actId="21"/>
          <ac:spMkLst>
            <pc:docMk/>
            <pc:sldMk cId="0" sldId="258"/>
            <ac:spMk id="14" creationId="{5407B13E-5D93-E173-CF3C-931C51F3E7D5}"/>
          </ac:spMkLst>
        </pc:spChg>
        <pc:picChg chg="add mod">
          <ac:chgData name="Arif Rohmadi" userId="7ac86e76-d45a-43aa-833d-7b563e006102" providerId="ADAL" clId="{ED7A6759-8811-4BD6-A95E-F7D96E31DC2C}" dt="2026-05-14T22:20:45.586" v="44" actId="1076"/>
          <ac:picMkLst>
            <pc:docMk/>
            <pc:sldMk cId="0" sldId="258"/>
            <ac:picMk id="4" creationId="{010C7BC0-F7E8-DCDA-CC31-96D7D9E7A3E1}"/>
          </ac:picMkLst>
        </pc:picChg>
      </pc:sldChg>
      <pc:sldChg chg="addSp modSp mod">
        <pc:chgData name="Arif Rohmadi" userId="7ac86e76-d45a-43aa-833d-7b563e006102" providerId="ADAL" clId="{ED7A6759-8811-4BD6-A95E-F7D96E31DC2C}" dt="2026-05-14T22:22:19.705" v="59" actId="1076"/>
        <pc:sldMkLst>
          <pc:docMk/>
          <pc:sldMk cId="753918347" sldId="282"/>
        </pc:sldMkLst>
        <pc:spChg chg="mod">
          <ac:chgData name="Arif Rohmadi" userId="7ac86e76-d45a-43aa-833d-7b563e006102" providerId="ADAL" clId="{ED7A6759-8811-4BD6-A95E-F7D96E31DC2C}" dt="2026-05-14T22:22:19.705" v="59" actId="1076"/>
          <ac:spMkLst>
            <pc:docMk/>
            <pc:sldMk cId="753918347" sldId="282"/>
            <ac:spMk id="14" creationId="{315E32B4-B223-BAD7-6A7B-E353DA9CDF2B}"/>
          </ac:spMkLst>
        </pc:spChg>
        <pc:picChg chg="add mod">
          <ac:chgData name="Arif Rohmadi" userId="7ac86e76-d45a-43aa-833d-7b563e006102" providerId="ADAL" clId="{ED7A6759-8811-4BD6-A95E-F7D96E31DC2C}" dt="2026-05-14T22:22:16.147" v="58" actId="1076"/>
          <ac:picMkLst>
            <pc:docMk/>
            <pc:sldMk cId="753918347" sldId="282"/>
            <ac:picMk id="3" creationId="{224DD27F-9947-6F10-688D-65FF6B990D58}"/>
          </ac:picMkLst>
        </pc:picChg>
      </pc:sldChg>
      <pc:sldChg chg="addSp delSp modSp new mod">
        <pc:chgData name="Arif Rohmadi" userId="7ac86e76-d45a-43aa-833d-7b563e006102" providerId="ADAL" clId="{ED7A6759-8811-4BD6-A95E-F7D96E31DC2C}" dt="2026-05-14T22:22:54.195" v="60" actId="20577"/>
        <pc:sldMkLst>
          <pc:docMk/>
          <pc:sldMk cId="2124816591" sldId="283"/>
        </pc:sldMkLst>
        <pc:spChg chg="add del mod">
          <ac:chgData name="Arif Rohmadi" userId="7ac86e76-d45a-43aa-833d-7b563e006102" providerId="ADAL" clId="{ED7A6759-8811-4BD6-A95E-F7D96E31DC2C}" dt="2026-05-14T22:22:54.195" v="60" actId="20577"/>
          <ac:spMkLst>
            <pc:docMk/>
            <pc:sldMk cId="2124816591" sldId="283"/>
            <ac:spMk id="2" creationId="{E42F94B8-128B-89FC-11AE-5E1C4D54C374}"/>
          </ac:spMkLst>
        </pc:spChg>
        <pc:spChg chg="add del">
          <ac:chgData name="Arif Rohmadi" userId="7ac86e76-d45a-43aa-833d-7b563e006102" providerId="ADAL" clId="{ED7A6759-8811-4BD6-A95E-F7D96E31DC2C}" dt="2026-05-14T22:14:50.351" v="3" actId="478"/>
          <ac:spMkLst>
            <pc:docMk/>
            <pc:sldMk cId="2124816591" sldId="283"/>
            <ac:spMk id="3" creationId="{748603F1-AF76-DDCB-B7BA-F152CB07C8BC}"/>
          </ac:spMkLst>
        </pc:spChg>
        <pc:picChg chg="add mod">
          <ac:chgData name="Arif Rohmadi" userId="7ac86e76-d45a-43aa-833d-7b563e006102" providerId="ADAL" clId="{ED7A6759-8811-4BD6-A95E-F7D96E31DC2C}" dt="2026-05-14T22:14:57.617" v="6" actId="1076"/>
          <ac:picMkLst>
            <pc:docMk/>
            <pc:sldMk cId="2124816591" sldId="283"/>
            <ac:picMk id="5" creationId="{8CAB9B71-27AF-1A2F-F7ED-9089BE940401}"/>
          </ac:picMkLst>
        </pc:picChg>
      </pc:sldChg>
      <pc:sldChg chg="addSp delSp modSp add mod">
        <pc:chgData name="Arif Rohmadi" userId="7ac86e76-d45a-43aa-833d-7b563e006102" providerId="ADAL" clId="{ED7A6759-8811-4BD6-A95E-F7D96E31DC2C}" dt="2026-05-14T22:29:55.200" v="126" actId="1076"/>
        <pc:sldMkLst>
          <pc:docMk/>
          <pc:sldMk cId="3026253136" sldId="284"/>
        </pc:sldMkLst>
        <pc:spChg chg="del mod">
          <ac:chgData name="Arif Rohmadi" userId="7ac86e76-d45a-43aa-833d-7b563e006102" providerId="ADAL" clId="{ED7A6759-8811-4BD6-A95E-F7D96E31DC2C}" dt="2026-05-14T22:19:51.542" v="40" actId="478"/>
          <ac:spMkLst>
            <pc:docMk/>
            <pc:sldMk cId="3026253136" sldId="284"/>
            <ac:spMk id="2" creationId="{64387936-1676-7285-02AF-A02105BD6227}"/>
          </ac:spMkLst>
        </pc:spChg>
        <pc:spChg chg="mod">
          <ac:chgData name="Arif Rohmadi" userId="7ac86e76-d45a-43aa-833d-7b563e006102" providerId="ADAL" clId="{ED7A6759-8811-4BD6-A95E-F7D96E31DC2C}" dt="2026-05-14T22:29:55.200" v="126" actId="1076"/>
          <ac:spMkLst>
            <pc:docMk/>
            <pc:sldMk cId="3026253136" sldId="284"/>
            <ac:spMk id="14" creationId="{DA66E173-3FCA-8FC7-6B44-65A2FB959C9B}"/>
          </ac:spMkLst>
        </pc:spChg>
        <pc:picChg chg="add mod">
          <ac:chgData name="Arif Rohmadi" userId="7ac86e76-d45a-43aa-833d-7b563e006102" providerId="ADAL" clId="{ED7A6759-8811-4BD6-A95E-F7D96E31DC2C}" dt="2026-05-14T22:29:10.265" v="65" actId="1076"/>
          <ac:picMkLst>
            <pc:docMk/>
            <pc:sldMk cId="3026253136" sldId="284"/>
            <ac:picMk id="4" creationId="{B0F94DE9-5433-66B7-8C67-2DBEB2EDC1DF}"/>
          </ac:picMkLst>
        </pc:picChg>
      </pc:sldChg>
      <pc:sldChg chg="add del">
        <pc:chgData name="Arif Rohmadi" userId="7ac86e76-d45a-43aa-833d-7b563e006102" providerId="ADAL" clId="{ED7A6759-8811-4BD6-A95E-F7D96E31DC2C}" dt="2026-05-14T22:19:55.088" v="42" actId="2890"/>
        <pc:sldMkLst>
          <pc:docMk/>
          <pc:sldMk cId="3191014635" sldId="285"/>
        </pc:sldMkLst>
      </pc:sldChg>
      <pc:sldChg chg="modSp add mod">
        <pc:chgData name="Arif Rohmadi" userId="7ac86e76-d45a-43aa-833d-7b563e006102" providerId="ADAL" clId="{ED7A6759-8811-4BD6-A95E-F7D96E31DC2C}" dt="2026-05-14T22:21:37.299" v="54" actId="20577"/>
        <pc:sldMkLst>
          <pc:docMk/>
          <pc:sldMk cId="4187724544" sldId="285"/>
        </pc:sldMkLst>
        <pc:spChg chg="mod">
          <ac:chgData name="Arif Rohmadi" userId="7ac86e76-d45a-43aa-833d-7b563e006102" providerId="ADAL" clId="{ED7A6759-8811-4BD6-A95E-F7D96E31DC2C}" dt="2026-05-14T22:21:37.299" v="54" actId="20577"/>
          <ac:spMkLst>
            <pc:docMk/>
            <pc:sldMk cId="4187724544" sldId="285"/>
            <ac:spMk id="14" creationId="{34ABA8FA-D892-049A-9122-C7114FFEEA6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7390" y="577180"/>
            <a:ext cx="297497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193E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95" dirty="0"/>
              <a:t>‹#›</a:t>
            </a:fld>
            <a:r>
              <a:rPr spc="-80" dirty="0"/>
              <a:t> </a:t>
            </a:r>
            <a:r>
              <a:rPr spc="-185" dirty="0"/>
              <a:t>/</a:t>
            </a:r>
            <a:r>
              <a:rPr spc="-80" dirty="0"/>
              <a:t> </a:t>
            </a:r>
            <a:r>
              <a:rPr spc="-50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93E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95" dirty="0"/>
              <a:t>‹#›</a:t>
            </a:fld>
            <a:r>
              <a:rPr spc="-80" dirty="0"/>
              <a:t> </a:t>
            </a:r>
            <a:r>
              <a:rPr spc="-185" dirty="0"/>
              <a:t>/</a:t>
            </a:r>
            <a:r>
              <a:rPr spc="-80" dirty="0"/>
              <a:t> </a:t>
            </a:r>
            <a:r>
              <a:rPr spc="-50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95" dirty="0"/>
              <a:t>‹#›</a:t>
            </a:fld>
            <a:r>
              <a:rPr spc="-80" dirty="0"/>
              <a:t> </a:t>
            </a:r>
            <a:r>
              <a:rPr spc="-185" dirty="0"/>
              <a:t>/</a:t>
            </a:r>
            <a:r>
              <a:rPr spc="-80" dirty="0"/>
              <a:t> </a:t>
            </a:r>
            <a:r>
              <a:rPr spc="-50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95" dirty="0"/>
              <a:t>‹#›</a:t>
            </a:fld>
            <a:r>
              <a:rPr spc="-80" dirty="0"/>
              <a:t> </a:t>
            </a:r>
            <a:r>
              <a:rPr spc="-185" dirty="0"/>
              <a:t>/</a:t>
            </a:r>
            <a:r>
              <a:rPr spc="-80" dirty="0"/>
              <a:t> </a:t>
            </a:r>
            <a:r>
              <a:rPr spc="-50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321140"/>
            <a:ext cx="504190" cy="1079500"/>
          </a:xfrm>
          <a:custGeom>
            <a:avLst/>
            <a:gdLst/>
            <a:ahLst/>
            <a:cxnLst/>
            <a:rect l="l" t="t" r="r" b="b"/>
            <a:pathLst>
              <a:path w="504190" h="1079500">
                <a:moveTo>
                  <a:pt x="504190" y="0"/>
                </a:moveTo>
                <a:lnTo>
                  <a:pt x="0" y="0"/>
                </a:lnTo>
                <a:lnTo>
                  <a:pt x="0" y="1079500"/>
                </a:lnTo>
                <a:lnTo>
                  <a:pt x="251460" y="1079500"/>
                </a:lnTo>
                <a:lnTo>
                  <a:pt x="504190" y="1079500"/>
                </a:lnTo>
                <a:lnTo>
                  <a:pt x="504190" y="0"/>
                </a:lnTo>
                <a:close/>
              </a:path>
            </a:pathLst>
          </a:custGeom>
          <a:solidFill>
            <a:srgbClr val="EE2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95" dirty="0"/>
              <a:t>‹#›</a:t>
            </a:fld>
            <a:r>
              <a:rPr spc="-80" dirty="0"/>
              <a:t> </a:t>
            </a:r>
            <a:r>
              <a:rPr spc="-185" dirty="0"/>
              <a:t>/</a:t>
            </a:r>
            <a:r>
              <a:rPr spc="-80" dirty="0"/>
              <a:t> </a:t>
            </a:r>
            <a:r>
              <a:rPr spc="-50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88890"/>
            <a:ext cx="504190" cy="1079500"/>
          </a:xfrm>
          <a:custGeom>
            <a:avLst/>
            <a:gdLst/>
            <a:ahLst/>
            <a:cxnLst/>
            <a:rect l="l" t="t" r="r" b="b"/>
            <a:pathLst>
              <a:path w="504190" h="1079500">
                <a:moveTo>
                  <a:pt x="504190" y="0"/>
                </a:moveTo>
                <a:lnTo>
                  <a:pt x="0" y="0"/>
                </a:lnTo>
                <a:lnTo>
                  <a:pt x="0" y="1079500"/>
                </a:lnTo>
                <a:lnTo>
                  <a:pt x="251460" y="1079500"/>
                </a:lnTo>
                <a:lnTo>
                  <a:pt x="504190" y="1079500"/>
                </a:lnTo>
                <a:lnTo>
                  <a:pt x="504190" y="0"/>
                </a:lnTo>
                <a:close/>
              </a:path>
            </a:pathLst>
          </a:custGeom>
          <a:solidFill>
            <a:srgbClr val="EE2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390" y="577180"/>
            <a:ext cx="348678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9189" y="2116420"/>
            <a:ext cx="8160384" cy="2033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193E1"/>
                </a:solidFill>
                <a:latin typeface="Lucida Sans"/>
                <a:cs typeface="Lucida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72550" y="6874299"/>
            <a:ext cx="615950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95" dirty="0"/>
              <a:t>‹#›</a:t>
            </a:fld>
            <a:r>
              <a:rPr spc="-80" dirty="0"/>
              <a:t> </a:t>
            </a:r>
            <a:r>
              <a:rPr spc="-185" dirty="0"/>
              <a:t>/</a:t>
            </a:r>
            <a:r>
              <a:rPr spc="-80" dirty="0"/>
              <a:t> </a:t>
            </a:r>
            <a:r>
              <a:rPr spc="-50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puterworld.com/article/2515435/app-development/moth-in-the-machine--debugging-the-origins-of--bug-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ckbaldwin.com/Cosc1315/Pf00120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9780" y="3924900"/>
            <a:ext cx="7458709" cy="806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00"/>
              </a:lnSpc>
              <a:spcBef>
                <a:spcPts val="100"/>
              </a:spcBef>
            </a:pPr>
            <a:r>
              <a:rPr lang="en-US" sz="4800" spc="-295" dirty="0">
                <a:solidFill>
                  <a:srgbClr val="333333"/>
                </a:solidFill>
                <a:latin typeface="Arial Black"/>
                <a:cs typeface="Arial Black"/>
              </a:rPr>
              <a:t>Testing dan Debugging</a:t>
            </a:r>
            <a:endParaRPr sz="48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36029" y="6134699"/>
            <a:ext cx="30327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95" dirty="0">
                <a:latin typeface="Lucida Sans"/>
                <a:cs typeface="Lucida Sans"/>
              </a:rPr>
              <a:t>Tim Teaching</a:t>
            </a:r>
            <a:endParaRPr sz="3200" dirty="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9189" y="1937349"/>
            <a:ext cx="1811655" cy="2011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5200"/>
              </a:lnSpc>
              <a:spcBef>
                <a:spcPts val="95"/>
              </a:spcBef>
            </a:pPr>
            <a:r>
              <a:rPr sz="2800" spc="-25" dirty="0">
                <a:latin typeface="Lucida Sans"/>
                <a:cs typeface="Lucida Sans"/>
              </a:rPr>
              <a:t>Bug </a:t>
            </a:r>
            <a:r>
              <a:rPr sz="2800" spc="-110" dirty="0">
                <a:latin typeface="Lucida Sans"/>
                <a:cs typeface="Lucida Sans"/>
              </a:rPr>
              <a:t>Debugging </a:t>
            </a:r>
            <a:r>
              <a:rPr sz="2800" spc="-10" dirty="0">
                <a:latin typeface="Lucida Sans"/>
                <a:cs typeface="Lucida Sans"/>
              </a:rPr>
              <a:t>Error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339" y="2930490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339" y="359342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339" y="4256370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189" y="4159849"/>
            <a:ext cx="4383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solidFill>
                  <a:srgbClr val="333333"/>
                </a:solidFill>
                <a:latin typeface="Lucida Sans"/>
                <a:cs typeface="Lucida Sans"/>
              </a:rPr>
              <a:t>Debugging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Android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Studio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55AD6-B065-3146-771F-A9BCFA14A6F7}"/>
              </a:ext>
            </a:extLst>
          </p:cNvPr>
          <p:cNvSpPr txBox="1"/>
          <p:nvPr/>
        </p:nvSpPr>
        <p:spPr>
          <a:xfrm>
            <a:off x="1003300" y="1464919"/>
            <a:ext cx="1811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110" dirty="0">
                <a:latin typeface="Lucida Sans"/>
                <a:cs typeface="Lucida Sans"/>
              </a:rPr>
              <a:t>Testing</a:t>
            </a:r>
            <a:endParaRPr lang="id-ID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C35C08-6F6A-DF8C-2FDA-F00C59993328}"/>
              </a:ext>
            </a:extLst>
          </p:cNvPr>
          <p:cNvSpPr txBox="1"/>
          <p:nvPr/>
        </p:nvSpPr>
        <p:spPr>
          <a:xfrm>
            <a:off x="728486" y="1617941"/>
            <a:ext cx="23988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lang="id-ID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365" dirty="0"/>
              <a:t>Testing</a:t>
            </a:r>
            <a:endParaRPr spc="-36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7B13E-5D93-E173-CF3C-931C51F3E7D5}"/>
              </a:ext>
            </a:extLst>
          </p:cNvPr>
          <p:cNvSpPr txBox="1"/>
          <p:nvPr/>
        </p:nvSpPr>
        <p:spPr>
          <a:xfrm>
            <a:off x="812800" y="1800225"/>
            <a:ext cx="84582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Lucida Sans" panose="020B0602030504020204" pitchFamily="34" charset="0"/>
              </a:rPr>
              <a:t>- Testing: </a:t>
            </a:r>
            <a:r>
              <a:rPr lang="id-ID" sz="2400" dirty="0"/>
              <a:t>proses untuk </a:t>
            </a:r>
            <a:r>
              <a:rPr lang="id-ID" sz="2400" b="1" dirty="0"/>
              <a:t>mengevaluasi suatu sistem, program, atau komponen</a:t>
            </a:r>
            <a:r>
              <a:rPr lang="id-ID" sz="2400" dirty="0"/>
              <a:t> guna memastikan bahwa </a:t>
            </a:r>
            <a:r>
              <a:rPr lang="en-US" sz="2400" dirty="0"/>
              <a:t>output</a:t>
            </a:r>
            <a:r>
              <a:rPr lang="id-ID" sz="2400" dirty="0"/>
              <a:t> yang dihasilkan sesuai dengan yang diharapkan atau memenuhi kriteria tertentu</a:t>
            </a:r>
            <a:r>
              <a:rPr lang="en-US" sz="2400" dirty="0"/>
              <a:t>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 err="1">
                <a:latin typeface="Lucida Sans" panose="020B0602030504020204" pitchFamily="34" charset="0"/>
              </a:rPr>
              <a:t>Beberapa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jenis</a:t>
            </a:r>
            <a:r>
              <a:rPr lang="en-US" sz="2400" dirty="0">
                <a:latin typeface="Lucida Sans" panose="020B0602030504020204" pitchFamily="34" charset="0"/>
              </a:rPr>
              <a:t> testing: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sz="2400" b="1" dirty="0">
                <a:latin typeface="Lucida Sans" panose="020B0602030504020204" pitchFamily="34" charset="0"/>
              </a:rPr>
              <a:t>Unit Testing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menguji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fungsi</a:t>
            </a:r>
            <a:r>
              <a:rPr lang="en-US" sz="2400" dirty="0">
                <a:latin typeface="Lucida Sans" panose="020B0602030504020204" pitchFamily="34" charset="0"/>
              </a:rPr>
              <a:t>/unit </a:t>
            </a:r>
            <a:r>
              <a:rPr lang="en-US" sz="2400" dirty="0" err="1">
                <a:latin typeface="Lucida Sans" panose="020B0602030504020204" pitchFamily="34" charset="0"/>
              </a:rPr>
              <a:t>terkecil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dari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aplikasi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secara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terpisah</a:t>
            </a:r>
            <a:r>
              <a:rPr lang="en-US" sz="2400" dirty="0">
                <a:latin typeface="Lucida Sans" panose="020B0602030504020204" pitchFamily="34" charset="0"/>
              </a:rPr>
              <a:t>.</a:t>
            </a:r>
            <a:br>
              <a:rPr lang="en-US" sz="2400" dirty="0">
                <a:latin typeface="Lucida Sans" panose="020B0602030504020204" pitchFamily="34" charset="0"/>
              </a:rPr>
            </a:br>
            <a:r>
              <a:rPr lang="en-US" sz="2400" dirty="0" err="1">
                <a:latin typeface="Lucida Sans" panose="020B0602030504020204" pitchFamily="34" charset="0"/>
              </a:rPr>
              <a:t>Contoh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menguji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apakah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fungsi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hitungTotal</a:t>
            </a:r>
            <a:r>
              <a:rPr lang="en-US" sz="2400" dirty="0">
                <a:latin typeface="Lucida Sans" panose="020B0602030504020204" pitchFamily="34" charset="0"/>
              </a:rPr>
              <a:t>() </a:t>
            </a:r>
            <a:r>
              <a:rPr lang="en-US" sz="2400" dirty="0" err="1">
                <a:latin typeface="Lucida Sans" panose="020B0602030504020204" pitchFamily="34" charset="0"/>
              </a:rPr>
              <a:t>menghasilkan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nilai</a:t>
            </a:r>
            <a:r>
              <a:rPr lang="en-US" sz="2400" dirty="0">
                <a:latin typeface="Lucida Sans" panose="020B0602030504020204" pitchFamily="34" charset="0"/>
              </a:rPr>
              <a:t> yang </a:t>
            </a:r>
            <a:r>
              <a:rPr lang="en-US" sz="2400" dirty="0" err="1">
                <a:latin typeface="Lucida Sans" panose="020B0602030504020204" pitchFamily="34" charset="0"/>
              </a:rPr>
              <a:t>benar</a:t>
            </a:r>
            <a:r>
              <a:rPr lang="en-US" sz="2400" dirty="0">
                <a:latin typeface="Lucida Sans" panose="020B0602030504020204" pitchFamily="34" charset="0"/>
              </a:rPr>
              <a:t>.</a:t>
            </a:r>
            <a:br>
              <a:rPr lang="en-US" sz="2400" dirty="0">
                <a:latin typeface="Lucida Sans" panose="020B0602030504020204" pitchFamily="34" charset="0"/>
              </a:rPr>
            </a:br>
            <a:r>
              <a:rPr lang="en-US" sz="2400" dirty="0">
                <a:latin typeface="Lucida Sans" panose="020B0602030504020204" pitchFamily="34" charset="0"/>
              </a:rPr>
              <a:t>Framework: Junit, Mockito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C7BC0-F7E8-DCDA-CC31-96D7D9E7A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5762625"/>
            <a:ext cx="6249272" cy="1724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F05E-A6D3-63DC-974B-83319E17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A66E173-3FCA-8FC7-6B44-65A2FB959C9B}"/>
              </a:ext>
            </a:extLst>
          </p:cNvPr>
          <p:cNvSpPr txBox="1"/>
          <p:nvPr/>
        </p:nvSpPr>
        <p:spPr>
          <a:xfrm>
            <a:off x="812800" y="1647825"/>
            <a:ext cx="84582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Lucida Sans" panose="020B0602030504020204" pitchFamily="34" charset="0"/>
              </a:rPr>
              <a:t>2. Integration Testing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menguji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bagaimana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berbagai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komponen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bekerjasama</a:t>
            </a:r>
            <a:r>
              <a:rPr lang="en-US" sz="2400" dirty="0">
                <a:latin typeface="Lucida Sans" panose="020B0602030504020204" pitchFamily="34" charset="0"/>
              </a:rPr>
              <a:t>. </a:t>
            </a:r>
            <a:r>
              <a:rPr lang="en-US" sz="2400" dirty="0" err="1">
                <a:latin typeface="Lucida Sans" panose="020B0602030504020204" pitchFamily="34" charset="0"/>
              </a:rPr>
              <a:t>Contoh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integrasi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antara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ViewModel</a:t>
            </a:r>
            <a:r>
              <a:rPr lang="en-US" sz="2400" dirty="0">
                <a:latin typeface="Lucida Sans" panose="020B0602030504020204" pitchFamily="34" charset="0"/>
              </a:rPr>
              <a:t> dan Repository yang </a:t>
            </a:r>
            <a:r>
              <a:rPr lang="en-US" sz="2400" dirty="0" err="1">
                <a:latin typeface="Lucida Sans" panose="020B0602030504020204" pitchFamily="34" charset="0"/>
              </a:rPr>
              <a:t>mengambil</a:t>
            </a:r>
            <a:r>
              <a:rPr lang="en-US" sz="2400" dirty="0">
                <a:latin typeface="Lucida Sans" panose="020B0602030504020204" pitchFamily="34" charset="0"/>
              </a:rPr>
              <a:t> data </a:t>
            </a:r>
            <a:r>
              <a:rPr lang="en-US" sz="2400" dirty="0" err="1">
                <a:latin typeface="Lucida Sans" panose="020B0602030504020204" pitchFamily="34" charset="0"/>
              </a:rPr>
              <a:t>dari</a:t>
            </a:r>
            <a:r>
              <a:rPr lang="en-US" sz="2400" dirty="0">
                <a:latin typeface="Lucida Sans" panose="020B0602030504020204" pitchFamily="34" charset="0"/>
              </a:rPr>
              <a:t> API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" panose="020B0602030504020204" pitchFamily="34" charset="0"/>
              </a:rPr>
              <a:t>Framework: JUnit, </a:t>
            </a:r>
            <a:r>
              <a:rPr lang="en-US" sz="2400" dirty="0" err="1">
                <a:latin typeface="Lucida Sans" panose="020B0602030504020204" pitchFamily="34" charset="0"/>
              </a:rPr>
              <a:t>MockWebServer</a:t>
            </a:r>
            <a:r>
              <a:rPr lang="en-US" sz="2400" dirty="0">
                <a:latin typeface="Lucida Sans" panose="020B0602030504020204" pitchFamily="34" charset="0"/>
              </a:rPr>
              <a:t> (</a:t>
            </a:r>
            <a:r>
              <a:rPr lang="en-US" sz="2400" dirty="0" err="1">
                <a:latin typeface="Lucida Sans" panose="020B0602030504020204" pitchFamily="34" charset="0"/>
              </a:rPr>
              <a:t>OkHttp</a:t>
            </a:r>
            <a:r>
              <a:rPr lang="en-US" sz="2400" dirty="0">
                <a:latin typeface="Lucida Sans" panose="020B0602030504020204" pitchFamily="34" charset="0"/>
              </a:rPr>
              <a:t>), Room Testing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Lucida Sans" panose="020B0602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94DE9-5433-66B7-8C67-2DBEB2ED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314825"/>
            <a:ext cx="6897862" cy="240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5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9A734-8BAD-5150-269D-1AD94DBC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15E32B4-B223-BAD7-6A7B-E353DA9CDF2B}"/>
              </a:ext>
            </a:extLst>
          </p:cNvPr>
          <p:cNvSpPr txBox="1"/>
          <p:nvPr/>
        </p:nvSpPr>
        <p:spPr>
          <a:xfrm>
            <a:off x="812800" y="1190625"/>
            <a:ext cx="84582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 startAt="3"/>
            </a:pPr>
            <a:r>
              <a:rPr lang="en-US" sz="2400" b="1" dirty="0">
                <a:latin typeface="Lucida Sans" panose="020B0602030504020204" pitchFamily="34" charset="0"/>
              </a:rPr>
              <a:t>UI Testing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menguji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antarmuka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pengguna</a:t>
            </a:r>
            <a:r>
              <a:rPr lang="en-US" sz="2400" dirty="0">
                <a:latin typeface="Lucida Sans" panose="020B0602030504020204" pitchFamily="34" charset="0"/>
              </a:rPr>
              <a:t> dan </a:t>
            </a:r>
            <a:r>
              <a:rPr lang="en-US" sz="2400" dirty="0" err="1">
                <a:latin typeface="Lucida Sans" panose="020B0602030504020204" pitchFamily="34" charset="0"/>
              </a:rPr>
              <a:t>interaksi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pengguna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terhadap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aplikasi</a:t>
            </a:r>
            <a:r>
              <a:rPr lang="en-US" sz="2400" dirty="0">
                <a:latin typeface="Lucida Sans" panose="020B060203050402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" panose="020B0602030504020204" pitchFamily="34" charset="0"/>
              </a:rPr>
              <a:t>Framework: Espresso</a:t>
            </a:r>
          </a:p>
          <a:p>
            <a:pPr>
              <a:spcAft>
                <a:spcPts val="600"/>
              </a:spcAft>
            </a:pPr>
            <a:r>
              <a:rPr lang="en-US" sz="2400" dirty="0" err="1">
                <a:latin typeface="Lucida Sans" panose="020B0602030504020204" pitchFamily="34" charset="0"/>
              </a:rPr>
              <a:t>Contoh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Klik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tombol</a:t>
            </a:r>
            <a:r>
              <a:rPr lang="en-US" sz="2400" dirty="0">
                <a:latin typeface="Lucida Sans" panose="020B0602030504020204" pitchFamily="34" charset="0"/>
              </a:rPr>
              <a:t> dan </a:t>
            </a:r>
            <a:r>
              <a:rPr lang="en-US" sz="2400" dirty="0" err="1">
                <a:latin typeface="Lucida Sans" panose="020B0602030504020204" pitchFamily="34" charset="0"/>
              </a:rPr>
              <a:t>pastikan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TextView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menampilkan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pesan</a:t>
            </a:r>
            <a:r>
              <a:rPr lang="en-US" sz="2400" dirty="0">
                <a:latin typeface="Lucida Sans" panose="020B0602030504020204" pitchFamily="34" charset="0"/>
              </a:rPr>
              <a:t> yang </a:t>
            </a:r>
            <a:r>
              <a:rPr lang="en-US" sz="2400" dirty="0" err="1">
                <a:latin typeface="Lucida Sans" panose="020B0602030504020204" pitchFamily="34" charset="0"/>
              </a:rPr>
              <a:t>benar</a:t>
            </a:r>
            <a:r>
              <a:rPr lang="en-US" sz="2400" dirty="0">
                <a:latin typeface="Lucida Sans" panose="020B0602030504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DD27F-9947-6F10-688D-65FF6B990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44" y="3469420"/>
            <a:ext cx="7287642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1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E23B-0A90-0152-AAD4-8C32BE78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4ABA8FA-D892-049A-9122-C7114FFEEA62}"/>
              </a:ext>
            </a:extLst>
          </p:cNvPr>
          <p:cNvSpPr txBox="1"/>
          <p:nvPr/>
        </p:nvSpPr>
        <p:spPr>
          <a:xfrm>
            <a:off x="850900" y="2028825"/>
            <a:ext cx="84582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 startAt="4"/>
            </a:pPr>
            <a:r>
              <a:rPr lang="en-US" sz="2400" b="1" dirty="0">
                <a:latin typeface="Lucida Sans" panose="020B0602030504020204" pitchFamily="34" charset="0"/>
              </a:rPr>
              <a:t>End-to-End (E2E) Testing</a:t>
            </a:r>
            <a:r>
              <a:rPr lang="en-US" sz="2400" dirty="0">
                <a:latin typeface="Lucida Sans" panose="020B0602030504020204" pitchFamily="34" charset="0"/>
              </a:rPr>
              <a:t>: </a:t>
            </a:r>
            <a:r>
              <a:rPr lang="en-US" sz="2400" dirty="0" err="1">
                <a:latin typeface="Lucida Sans" panose="020B0602030504020204" pitchFamily="34" charset="0"/>
              </a:rPr>
              <a:t>menguji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seluruh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alur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aplikasi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dari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awal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hingga</a:t>
            </a:r>
            <a:r>
              <a:rPr lang="en-US" sz="2400" dirty="0">
                <a:latin typeface="Lucida Sans" panose="020B0602030504020204" pitchFamily="34" charset="0"/>
              </a:rPr>
              <a:t> </a:t>
            </a:r>
            <a:r>
              <a:rPr lang="en-US" sz="2400" dirty="0" err="1">
                <a:latin typeface="Lucida Sans" panose="020B0602030504020204" pitchFamily="34" charset="0"/>
              </a:rPr>
              <a:t>akhir</a:t>
            </a:r>
            <a:endParaRPr lang="en-US" sz="2400" dirty="0">
              <a:latin typeface="Lucida Sans" panose="020B0602030504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" panose="020B0602030504020204" pitchFamily="34" charset="0"/>
              </a:rPr>
              <a:t>Tool: Appium, </a:t>
            </a:r>
            <a:r>
              <a:rPr lang="en-US" sz="2400" dirty="0" err="1">
                <a:latin typeface="Lucida Sans" panose="020B0602030504020204" pitchFamily="34" charset="0"/>
              </a:rPr>
              <a:t>UIAutomator</a:t>
            </a:r>
            <a:endParaRPr lang="en-US" sz="2400" dirty="0">
              <a:latin typeface="Lucida Sans" panose="020B0602030504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 err="1">
                <a:latin typeface="Lucida Sans" panose="020B0602030504020204" pitchFamily="34" charset="0"/>
              </a:rPr>
              <a:t>Contoh</a:t>
            </a:r>
            <a:r>
              <a:rPr lang="en-US" sz="2400" dirty="0">
                <a:latin typeface="Lucida Sans" panose="020B0602030504020204" pitchFamily="34" charset="0"/>
              </a:rPr>
              <a:t>: Login -&gt; </a:t>
            </a:r>
            <a:r>
              <a:rPr lang="en-US" sz="2400" dirty="0" err="1">
                <a:latin typeface="Lucida Sans" panose="020B0602030504020204" pitchFamily="34" charset="0"/>
              </a:rPr>
              <a:t>buka</a:t>
            </a:r>
            <a:r>
              <a:rPr lang="en-US" sz="2400" dirty="0">
                <a:latin typeface="Lucida Sans" panose="020B0602030504020204" pitchFamily="34" charset="0"/>
              </a:rPr>
              <a:t> dashboard -&gt; logout</a:t>
            </a:r>
          </a:p>
        </p:txBody>
      </p:sp>
    </p:spTree>
    <p:extLst>
      <p:ext uri="{BB962C8B-B14F-4D97-AF65-F5344CB8AC3E}">
        <p14:creationId xmlns:p14="http://schemas.microsoft.com/office/powerpoint/2010/main" val="418772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94B8-128B-89FC-11AE-5E1C4D54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90" y="577180"/>
            <a:ext cx="5706110" cy="492443"/>
          </a:xfrm>
        </p:spPr>
        <p:txBody>
          <a:bodyPr/>
          <a:lstStyle/>
          <a:p>
            <a:r>
              <a:rPr lang="en-US" sz="3200" dirty="0" err="1"/>
              <a:t>Perbandingan</a:t>
            </a:r>
            <a:r>
              <a:rPr lang="en-US" sz="3200" dirty="0"/>
              <a:t> </a:t>
            </a:r>
            <a:r>
              <a:rPr lang="en-US" sz="3200" dirty="0" err="1"/>
              <a:t>Ringkas</a:t>
            </a:r>
            <a:endParaRPr lang="id-ID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603F1-AF76-DDCB-B7BA-F152CB07C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B9B71-27AF-1A2F-F7ED-9089BE940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7" y="2116420"/>
            <a:ext cx="8659433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1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BEA4-08DA-8B7C-7592-AF81DFDA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1B5610-2A68-9C36-AAF5-D77380DD48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Bug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2971B69-0AF8-447E-0C2B-D6771F3D942B}"/>
              </a:ext>
            </a:extLst>
          </p:cNvPr>
          <p:cNvSpPr txBox="1"/>
          <p:nvPr/>
        </p:nvSpPr>
        <p:spPr>
          <a:xfrm>
            <a:off x="815339" y="2251039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EB4D02-C710-4AB9-D790-C6F653D78D4F}"/>
              </a:ext>
            </a:extLst>
          </p:cNvPr>
          <p:cNvSpPr txBox="1"/>
          <p:nvPr/>
        </p:nvSpPr>
        <p:spPr>
          <a:xfrm>
            <a:off x="1139189" y="2169760"/>
            <a:ext cx="3018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 dirty="0">
                <a:solidFill>
                  <a:srgbClr val="333333"/>
                </a:solidFill>
                <a:latin typeface="Lucida Sans"/>
                <a:cs typeface="Lucida Sans"/>
              </a:rPr>
              <a:t>Termasuk</a:t>
            </a:r>
            <a:r>
              <a:rPr sz="24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30" dirty="0">
                <a:solidFill>
                  <a:srgbClr val="333333"/>
                </a:solidFill>
                <a:latin typeface="Lucida Sans"/>
                <a:cs typeface="Lucida Sans"/>
              </a:rPr>
              <a:t>dalam</a:t>
            </a:r>
            <a:r>
              <a:rPr sz="24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Lucida Sans"/>
                <a:cs typeface="Lucida Sans"/>
              </a:rPr>
              <a:t>bug</a:t>
            </a:r>
            <a:endParaRPr sz="2400" dirty="0">
              <a:latin typeface="Lucida Sans"/>
              <a:cs typeface="Lucida San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15C18E6-2EF6-4D5A-45BB-409E80587130}"/>
              </a:ext>
            </a:extLst>
          </p:cNvPr>
          <p:cNvSpPr txBox="1"/>
          <p:nvPr/>
        </p:nvSpPr>
        <p:spPr>
          <a:xfrm>
            <a:off x="1247139" y="2455509"/>
            <a:ext cx="153035" cy="85851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800" spc="-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5FC64B8-A2D4-6A14-FEB1-0D24597203B6}"/>
              </a:ext>
            </a:extLst>
          </p:cNvPr>
          <p:cNvSpPr txBox="1"/>
          <p:nvPr/>
        </p:nvSpPr>
        <p:spPr>
          <a:xfrm>
            <a:off x="1570989" y="2534249"/>
            <a:ext cx="6368415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00"/>
              </a:lnSpc>
              <a:spcBef>
                <a:spcPts val="100"/>
              </a:spcBef>
            </a:pPr>
            <a:r>
              <a:rPr sz="2400" spc="-40" dirty="0">
                <a:solidFill>
                  <a:srgbClr val="333333"/>
                </a:solidFill>
                <a:latin typeface="Lucida Sans"/>
                <a:cs typeface="Lucida Sans"/>
              </a:rPr>
              <a:t>Incorrect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dirty="0">
                <a:solidFill>
                  <a:srgbClr val="333333"/>
                </a:solidFill>
                <a:latin typeface="Lucida Sans"/>
                <a:cs typeface="Lucida Sans"/>
              </a:rPr>
              <a:t>or</a:t>
            </a:r>
            <a:r>
              <a:rPr sz="24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55" dirty="0">
                <a:solidFill>
                  <a:srgbClr val="333333"/>
                </a:solidFill>
                <a:latin typeface="Lucida Sans"/>
                <a:cs typeface="Lucida Sans"/>
              </a:rPr>
              <a:t>unexpected</a:t>
            </a:r>
            <a:r>
              <a:rPr sz="24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75" dirty="0">
                <a:solidFill>
                  <a:srgbClr val="333333"/>
                </a:solidFill>
                <a:latin typeface="Lucida Sans"/>
                <a:cs typeface="Lucida Sans"/>
              </a:rPr>
              <a:t>result,</a:t>
            </a:r>
            <a:r>
              <a:rPr sz="24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60" dirty="0">
                <a:solidFill>
                  <a:srgbClr val="333333"/>
                </a:solidFill>
                <a:latin typeface="Lucida Sans"/>
                <a:cs typeface="Lucida Sans"/>
              </a:rPr>
              <a:t>wrong</a:t>
            </a:r>
            <a:r>
              <a:rPr sz="24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Lucida Sans"/>
                <a:cs typeface="Lucida Sans"/>
              </a:rPr>
              <a:t>values </a:t>
            </a:r>
            <a:r>
              <a:rPr sz="2400" spc="-70" dirty="0">
                <a:solidFill>
                  <a:srgbClr val="333333"/>
                </a:solidFill>
                <a:latin typeface="Lucida Sans"/>
                <a:cs typeface="Lucida Sans"/>
              </a:rPr>
              <a:t>Crashes,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80" dirty="0">
                <a:solidFill>
                  <a:srgbClr val="333333"/>
                </a:solidFill>
                <a:latin typeface="Lucida Sans"/>
                <a:cs typeface="Lucida Sans"/>
              </a:rPr>
              <a:t>exceptions,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80" dirty="0">
                <a:solidFill>
                  <a:srgbClr val="333333"/>
                </a:solidFill>
                <a:latin typeface="Lucida Sans"/>
                <a:cs typeface="Lucida Sans"/>
              </a:rPr>
              <a:t>freezes,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Lucida Sans"/>
                <a:cs typeface="Lucida Sans"/>
              </a:rPr>
              <a:t>memory</a:t>
            </a:r>
            <a:r>
              <a:rPr sz="24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Lucida Sans"/>
                <a:cs typeface="Lucida Sans"/>
              </a:rPr>
              <a:t>leaks</a:t>
            </a:r>
            <a:endParaRPr sz="2400">
              <a:latin typeface="Lucida Sans"/>
              <a:cs typeface="Lucida San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780C1C-1335-5312-3363-A96AEC048C16}"/>
              </a:ext>
            </a:extLst>
          </p:cNvPr>
          <p:cNvSpPr txBox="1"/>
          <p:nvPr/>
        </p:nvSpPr>
        <p:spPr>
          <a:xfrm>
            <a:off x="815339" y="349945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5ABBD0F-EBE7-CC85-D4F8-3D68BCC6AEB0}"/>
              </a:ext>
            </a:extLst>
          </p:cNvPr>
          <p:cNvSpPr txBox="1"/>
          <p:nvPr/>
        </p:nvSpPr>
        <p:spPr>
          <a:xfrm>
            <a:off x="1139189" y="3418170"/>
            <a:ext cx="2055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33"/>
                </a:solidFill>
                <a:latin typeface="Lucida Sans"/>
                <a:cs typeface="Lucida Sans"/>
              </a:rPr>
              <a:t>Penyebab</a:t>
            </a:r>
            <a:r>
              <a:rPr sz="24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35" dirty="0">
                <a:solidFill>
                  <a:srgbClr val="333333"/>
                </a:solidFill>
                <a:latin typeface="Lucida Sans"/>
                <a:cs typeface="Lucida Sans"/>
              </a:rPr>
              <a:t>bug</a:t>
            </a:r>
            <a:endParaRPr sz="2400">
              <a:latin typeface="Lucida Sans"/>
              <a:cs typeface="Lucida San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EAD15C3-DEA8-69C9-CBD6-4CB6E02C6C99}"/>
              </a:ext>
            </a:extLst>
          </p:cNvPr>
          <p:cNvSpPr txBox="1"/>
          <p:nvPr/>
        </p:nvSpPr>
        <p:spPr>
          <a:xfrm>
            <a:off x="1247139" y="4535770"/>
            <a:ext cx="153035" cy="858519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800" spc="-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6F0A3CF-52C0-4D46-2AF3-93DDE53BC1BA}"/>
              </a:ext>
            </a:extLst>
          </p:cNvPr>
          <p:cNvSpPr txBox="1"/>
          <p:nvPr/>
        </p:nvSpPr>
        <p:spPr>
          <a:xfrm>
            <a:off x="1247139" y="3782660"/>
            <a:ext cx="7822565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253365" indent="-323850">
              <a:lnSpc>
                <a:spcPct val="113900"/>
              </a:lnSpc>
              <a:spcBef>
                <a:spcPts val="100"/>
              </a:spcBef>
              <a:tabLst>
                <a:tab pos="335915" algn="l"/>
              </a:tabLst>
            </a:pPr>
            <a:r>
              <a:rPr sz="2700" spc="-75" baseline="15432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2700" baseline="15432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400" spc="-40" dirty="0">
                <a:solidFill>
                  <a:srgbClr val="333333"/>
                </a:solidFill>
                <a:latin typeface="Lucida Sans"/>
                <a:cs typeface="Lucida Sans"/>
              </a:rPr>
              <a:t>Kesalahan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45" dirty="0">
                <a:solidFill>
                  <a:srgbClr val="333333"/>
                </a:solidFill>
                <a:latin typeface="Lucida Sans"/>
                <a:cs typeface="Lucida Sans"/>
              </a:rPr>
              <a:t>desain</a:t>
            </a:r>
            <a:r>
              <a:rPr sz="24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Lucida Sans"/>
                <a:cs typeface="Lucida Sans"/>
              </a:rPr>
              <a:t>atau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50" dirty="0">
                <a:solidFill>
                  <a:srgbClr val="333333"/>
                </a:solidFill>
                <a:latin typeface="Lucida Sans"/>
                <a:cs typeface="Lucida Sans"/>
              </a:rPr>
              <a:t>implementasi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45" dirty="0">
                <a:solidFill>
                  <a:srgbClr val="333333"/>
                </a:solidFill>
                <a:latin typeface="Lucida Sans"/>
                <a:cs typeface="Lucida Sans"/>
              </a:rPr>
              <a:t>program</a:t>
            </a:r>
            <a:r>
              <a:rPr sz="24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Lucida Sans"/>
                <a:cs typeface="Lucida Sans"/>
              </a:rPr>
              <a:t>oleh </a:t>
            </a:r>
            <a:r>
              <a:rPr sz="2400" spc="-10" dirty="0">
                <a:solidFill>
                  <a:srgbClr val="333333"/>
                </a:solidFill>
                <a:latin typeface="Lucida Sans"/>
                <a:cs typeface="Lucida Sans"/>
              </a:rPr>
              <a:t>developer</a:t>
            </a:r>
            <a:endParaRPr sz="2400">
              <a:latin typeface="Lucida Sans"/>
              <a:cs typeface="Lucida Sans"/>
            </a:endParaRPr>
          </a:p>
          <a:p>
            <a:pPr marL="336550" marR="5080">
              <a:lnSpc>
                <a:spcPct val="113500"/>
              </a:lnSpc>
              <a:spcBef>
                <a:spcPts val="10"/>
              </a:spcBef>
            </a:pPr>
            <a:r>
              <a:rPr sz="2400" spc="-40" dirty="0">
                <a:solidFill>
                  <a:srgbClr val="333333"/>
                </a:solidFill>
                <a:latin typeface="Lucida Sans"/>
                <a:cs typeface="Lucida Sans"/>
              </a:rPr>
              <a:t>Kesalahan</a:t>
            </a:r>
            <a:r>
              <a:rPr sz="24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35" dirty="0">
                <a:solidFill>
                  <a:srgbClr val="333333"/>
                </a:solidFill>
                <a:latin typeface="Lucida Sans"/>
                <a:cs typeface="Lucida Sans"/>
              </a:rPr>
              <a:t>dalam</a:t>
            </a:r>
            <a:r>
              <a:rPr sz="24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50" dirty="0">
                <a:solidFill>
                  <a:srgbClr val="333333"/>
                </a:solidFill>
                <a:latin typeface="Lucida Sans"/>
                <a:cs typeface="Lucida Sans"/>
              </a:rPr>
              <a:t>library</a:t>
            </a:r>
            <a:r>
              <a:rPr sz="24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60" dirty="0">
                <a:solidFill>
                  <a:srgbClr val="333333"/>
                </a:solidFill>
                <a:latin typeface="Lucida Sans"/>
                <a:cs typeface="Lucida Sans"/>
              </a:rPr>
              <a:t>perangkat</a:t>
            </a:r>
            <a:r>
              <a:rPr sz="24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Lucida Sans"/>
                <a:cs typeface="Lucida Sans"/>
              </a:rPr>
              <a:t>lunak </a:t>
            </a:r>
            <a:r>
              <a:rPr sz="2400" spc="-35" dirty="0">
                <a:solidFill>
                  <a:srgbClr val="333333"/>
                </a:solidFill>
                <a:latin typeface="Lucida Sans"/>
                <a:cs typeface="Lucida Sans"/>
              </a:rPr>
              <a:t>Keterbatasan</a:t>
            </a:r>
            <a:r>
              <a:rPr sz="24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Lucida Sans"/>
                <a:cs typeface="Lucida Sans"/>
              </a:rPr>
              <a:t>dan</a:t>
            </a:r>
            <a:r>
              <a:rPr sz="24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50" dirty="0">
                <a:solidFill>
                  <a:srgbClr val="333333"/>
                </a:solidFill>
                <a:latin typeface="Lucida Sans"/>
                <a:cs typeface="Lucida Sans"/>
              </a:rPr>
              <a:t>kesalahan</a:t>
            </a:r>
            <a:r>
              <a:rPr sz="24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75" dirty="0">
                <a:solidFill>
                  <a:srgbClr val="333333"/>
                </a:solidFill>
                <a:latin typeface="Lucida Sans"/>
                <a:cs typeface="Lucida Sans"/>
              </a:rPr>
              <a:t>di</a:t>
            </a:r>
            <a:r>
              <a:rPr sz="24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60" dirty="0">
                <a:solidFill>
                  <a:srgbClr val="333333"/>
                </a:solidFill>
                <a:latin typeface="Lucida Sans"/>
                <a:cs typeface="Lucida Sans"/>
              </a:rPr>
              <a:t>level</a:t>
            </a:r>
            <a:r>
              <a:rPr sz="24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60" dirty="0">
                <a:solidFill>
                  <a:srgbClr val="333333"/>
                </a:solidFill>
                <a:latin typeface="Lucida Sans"/>
                <a:cs typeface="Lucida Sans"/>
              </a:rPr>
              <a:t>perangkat</a:t>
            </a:r>
            <a:r>
              <a:rPr sz="24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Lucida Sans"/>
                <a:cs typeface="Lucida Sans"/>
              </a:rPr>
              <a:t>keras</a:t>
            </a:r>
            <a:endParaRPr sz="2400">
              <a:latin typeface="Lucida Sans"/>
              <a:cs typeface="Lucida San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61B2565-3108-646D-9148-9D2A4570E9D4}"/>
              </a:ext>
            </a:extLst>
          </p:cNvPr>
          <p:cNvSpPr txBox="1"/>
          <p:nvPr/>
        </p:nvSpPr>
        <p:spPr>
          <a:xfrm>
            <a:off x="815339" y="557971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0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6351D0D-BE12-DF17-BF41-DC3308EA5726}"/>
              </a:ext>
            </a:extLst>
          </p:cNvPr>
          <p:cNvSpPr txBox="1"/>
          <p:nvPr/>
        </p:nvSpPr>
        <p:spPr>
          <a:xfrm>
            <a:off x="1139189" y="5498430"/>
            <a:ext cx="2947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Asal</a:t>
            </a:r>
            <a:r>
              <a:rPr sz="2400" spc="-125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sz="2400" spc="-40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mula</a:t>
            </a:r>
            <a:r>
              <a:rPr sz="2400" spc="-125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sz="2400" spc="-65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istilah</a:t>
            </a:r>
            <a:r>
              <a:rPr sz="2400" spc="-120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sz="2400" spc="-25" dirty="0">
                <a:solidFill>
                  <a:srgbClr val="5193E1"/>
                </a:solidFill>
                <a:latin typeface="Lucida Sans"/>
                <a:cs typeface="Lucida Sans"/>
                <a:hlinkClick r:id="rId2"/>
              </a:rPr>
              <a:t>bug</a:t>
            </a:r>
            <a:endParaRPr sz="2400" dirty="0">
              <a:latin typeface="Lucida Sans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0205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Debugging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1937349"/>
            <a:ext cx="6748780" cy="1792478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Mencari</a:t>
            </a:r>
            <a:r>
              <a:rPr sz="2800" spc="-18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Lucida Sans"/>
                <a:cs typeface="Lucida Sans"/>
              </a:rPr>
              <a:t>dan</a:t>
            </a:r>
            <a:r>
              <a:rPr sz="2800" spc="-17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memperbaiki</a:t>
            </a:r>
            <a:r>
              <a:rPr sz="2800" spc="-16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800" spc="-16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60" dirty="0">
                <a:solidFill>
                  <a:srgbClr val="333333"/>
                </a:solidFill>
                <a:latin typeface="Lucida Sans"/>
                <a:cs typeface="Lucida Sans"/>
              </a:rPr>
              <a:t>/</a:t>
            </a:r>
            <a:r>
              <a:rPr sz="28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bug</a:t>
            </a:r>
            <a:endParaRPr sz="2800" dirty="0">
              <a:latin typeface="Lucida Sans"/>
              <a:cs typeface="Lucida Sans"/>
            </a:endParaRPr>
          </a:p>
          <a:p>
            <a:pPr marL="12700" marR="5080">
              <a:lnSpc>
                <a:spcPct val="113399"/>
              </a:lnSpc>
              <a:spcBef>
                <a:spcPts val="1400"/>
              </a:spcBef>
            </a:pPr>
            <a:r>
              <a:rPr sz="2800" spc="-45" dirty="0" err="1">
                <a:solidFill>
                  <a:srgbClr val="333333"/>
                </a:solidFill>
                <a:latin typeface="Lucida Sans"/>
                <a:cs typeface="Lucida Sans"/>
              </a:rPr>
              <a:t>Gunakan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150" dirty="0" err="1">
                <a:solidFill>
                  <a:srgbClr val="333333"/>
                </a:solidFill>
                <a:latin typeface="Lucida Sans"/>
                <a:cs typeface="Lucida Sans"/>
              </a:rPr>
              <a:t>f</a:t>
            </a:r>
            <a:r>
              <a:rPr lang="en-US" sz="2800" spc="150" dirty="0" err="1">
                <a:solidFill>
                  <a:srgbClr val="333333"/>
                </a:solidFill>
                <a:latin typeface="Lucida Sans"/>
                <a:cs typeface="Lucida Sans"/>
              </a:rPr>
              <a:t>i</a:t>
            </a:r>
            <a:r>
              <a:rPr sz="2800" spc="150" dirty="0" err="1">
                <a:solidFill>
                  <a:srgbClr val="333333"/>
                </a:solidFill>
                <a:latin typeface="Lucida Sans"/>
                <a:cs typeface="Lucida Sans"/>
              </a:rPr>
              <a:t>tur-</a:t>
            </a:r>
            <a:r>
              <a:rPr sz="2800" dirty="0" err="1">
                <a:solidFill>
                  <a:srgbClr val="333333"/>
                </a:solidFill>
                <a:latin typeface="Lucida Sans"/>
                <a:cs typeface="Lucida Sans"/>
              </a:rPr>
              <a:t>f</a:t>
            </a:r>
            <a:r>
              <a:rPr lang="en-US" sz="2800" dirty="0" err="1">
                <a:solidFill>
                  <a:srgbClr val="333333"/>
                </a:solidFill>
                <a:latin typeface="Lucida Sans"/>
                <a:cs typeface="Lucida Sans"/>
              </a:rPr>
              <a:t>i</a:t>
            </a:r>
            <a:r>
              <a:rPr sz="2800" dirty="0" err="1">
                <a:solidFill>
                  <a:srgbClr val="333333"/>
                </a:solidFill>
                <a:latin typeface="Lucida Sans"/>
                <a:cs typeface="Lucida Sans"/>
              </a:rPr>
              <a:t>tur</a:t>
            </a:r>
            <a:r>
              <a:rPr sz="28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0" dirty="0">
                <a:solidFill>
                  <a:srgbClr val="333333"/>
                </a:solidFill>
                <a:latin typeface="Lucida Sans"/>
                <a:cs typeface="Lucida Sans"/>
              </a:rPr>
              <a:t>Android</a:t>
            </a:r>
            <a:r>
              <a:rPr sz="2800" spc="-10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45" dirty="0">
                <a:solidFill>
                  <a:srgbClr val="333333"/>
                </a:solidFill>
                <a:latin typeface="Lucida Sans"/>
                <a:cs typeface="Lucida Sans"/>
              </a:rPr>
              <a:t>Studio</a:t>
            </a:r>
            <a:r>
              <a:rPr sz="2800" spc="-10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untuk </a:t>
            </a:r>
            <a:r>
              <a:rPr sz="2800" spc="-75" dirty="0" err="1">
                <a:solidFill>
                  <a:srgbClr val="333333"/>
                </a:solidFill>
                <a:latin typeface="Lucida Sans"/>
                <a:cs typeface="Lucida Sans"/>
              </a:rPr>
              <a:t>melakukan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debugging</a:t>
            </a:r>
            <a:endParaRPr sz="2800" dirty="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339" y="2930490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4416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Jenis-</a:t>
            </a:r>
            <a:r>
              <a:rPr spc="-250" dirty="0"/>
              <a:t>jenis</a:t>
            </a:r>
            <a:r>
              <a:rPr spc="-254" dirty="0"/>
              <a:t> </a:t>
            </a:r>
            <a:r>
              <a:rPr spc="-114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1937349"/>
            <a:ext cx="2367280" cy="2011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5200"/>
              </a:lnSpc>
              <a:spcBef>
                <a:spcPts val="95"/>
              </a:spcBef>
            </a:pP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Syntax</a:t>
            </a:r>
            <a:r>
              <a:rPr sz="28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error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Runtime</a:t>
            </a:r>
            <a:r>
              <a:rPr sz="28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error </a:t>
            </a:r>
            <a:r>
              <a:rPr sz="2800" spc="-114" dirty="0">
                <a:solidFill>
                  <a:srgbClr val="333333"/>
                </a:solidFill>
                <a:latin typeface="Lucida Sans"/>
                <a:cs typeface="Lucida Sans"/>
              </a:rPr>
              <a:t>Logic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339" y="2930490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339" y="359342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4416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Jenis-</a:t>
            </a:r>
            <a:r>
              <a:rPr spc="-250" dirty="0"/>
              <a:t>jenis</a:t>
            </a:r>
            <a:r>
              <a:rPr spc="-254" dirty="0"/>
              <a:t> </a:t>
            </a:r>
            <a:r>
              <a:rPr spc="-114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5485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2168490"/>
            <a:ext cx="18484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60" dirty="0">
                <a:solidFill>
                  <a:srgbClr val="333333"/>
                </a:solidFill>
                <a:latin typeface="Lucida Sans"/>
                <a:cs typeface="Lucida Sans"/>
              </a:rPr>
              <a:t>Syntax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139" y="3907120"/>
            <a:ext cx="157480" cy="310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0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139" y="2550760"/>
            <a:ext cx="8016240" cy="1750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6550" marR="5080" indent="-323850">
              <a:lnSpc>
                <a:spcPct val="113199"/>
              </a:lnSpc>
              <a:spcBef>
                <a:spcPts val="90"/>
              </a:spcBef>
              <a:tabLst>
                <a:tab pos="335915" algn="l"/>
              </a:tabLst>
            </a:pPr>
            <a:r>
              <a:rPr sz="2775" spc="-75" baseline="1501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2775" baseline="15015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5" dirty="0">
                <a:solidFill>
                  <a:srgbClr val="333333"/>
                </a:solidFill>
                <a:latin typeface="Lucida Sans"/>
                <a:cs typeface="Lucida Sans"/>
              </a:rPr>
              <a:t>terjadi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karena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333333"/>
                </a:solidFill>
                <a:latin typeface="Lucida Sans"/>
                <a:cs typeface="Lucida Sans"/>
              </a:rPr>
              <a:t>kesalahan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333333"/>
                </a:solidFill>
                <a:latin typeface="Lucida Sans"/>
                <a:cs typeface="Lucida Sans"/>
              </a:rPr>
              <a:t>penulisan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code. </a:t>
            </a:r>
            <a:r>
              <a:rPr sz="2500" spc="-75" dirty="0">
                <a:solidFill>
                  <a:srgbClr val="333333"/>
                </a:solidFill>
                <a:latin typeface="Lucida Sans"/>
                <a:cs typeface="Lucida Sans"/>
              </a:rPr>
              <a:t>Jenis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ini</a:t>
            </a:r>
            <a:r>
              <a:rPr sz="25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90" dirty="0">
                <a:solidFill>
                  <a:srgbClr val="333333"/>
                </a:solidFill>
                <a:latin typeface="Lucida Sans"/>
                <a:cs typeface="Lucida Sans"/>
              </a:rPr>
              <a:t>langsung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60" dirty="0">
                <a:solidFill>
                  <a:srgbClr val="333333"/>
                </a:solidFill>
                <a:latin typeface="Lucida Sans"/>
                <a:cs typeface="Lucida Sans"/>
              </a:rPr>
              <a:t>terdeteksi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oleh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IDE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pada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saat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60" dirty="0">
                <a:solidFill>
                  <a:srgbClr val="333333"/>
                </a:solidFill>
                <a:latin typeface="Lucida Sans"/>
                <a:cs typeface="Lucida Sans"/>
              </a:rPr>
              <a:t>code</a:t>
            </a:r>
            <a:r>
              <a:rPr sz="25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ditulis.</a:t>
            </a:r>
            <a:endParaRPr sz="2500">
              <a:latin typeface="Lucida Sans"/>
              <a:cs typeface="Lucida Sans"/>
            </a:endParaRPr>
          </a:p>
          <a:p>
            <a:pPr marL="336550">
              <a:lnSpc>
                <a:spcPct val="100000"/>
              </a:lnSpc>
              <a:spcBef>
                <a:spcPts val="400"/>
              </a:spcBef>
            </a:pP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Contoh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5770" y="441131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2789" y="4274149"/>
            <a:ext cx="7287259" cy="175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5730">
              <a:lnSpc>
                <a:spcPct val="113300"/>
              </a:lnSpc>
              <a:spcBef>
                <a:spcPts val="100"/>
              </a:spcBef>
            </a:pP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Salah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65" dirty="0">
                <a:solidFill>
                  <a:srgbClr val="333333"/>
                </a:solidFill>
                <a:latin typeface="Lucida Sans"/>
                <a:cs typeface="Lucida Sans"/>
              </a:rPr>
              <a:t>menulis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dirty="0">
                <a:solidFill>
                  <a:srgbClr val="333333"/>
                </a:solidFill>
                <a:latin typeface="Lucida Sans"/>
                <a:cs typeface="Lucida Sans"/>
              </a:rPr>
              <a:t>nama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variabel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dan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fungsi </a:t>
            </a:r>
            <a:r>
              <a:rPr sz="2500" spc="-65" dirty="0">
                <a:solidFill>
                  <a:srgbClr val="333333"/>
                </a:solidFill>
                <a:latin typeface="Lucida Sans"/>
                <a:cs typeface="Lucida Sans"/>
              </a:rPr>
              <a:t>Kurang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menambahkan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0" dirty="0">
                <a:solidFill>
                  <a:srgbClr val="333333"/>
                </a:solidFill>
                <a:latin typeface="Lucida Sans"/>
                <a:cs typeface="Lucida Sans"/>
              </a:rPr>
              <a:t>titik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koma</a:t>
            </a:r>
            <a:endParaRPr sz="2500" dirty="0">
              <a:latin typeface="Lucida Sans"/>
              <a:cs typeface="Lucida Sans"/>
            </a:endParaRPr>
          </a:p>
          <a:p>
            <a:pPr marL="12700" marR="5080">
              <a:lnSpc>
                <a:spcPts val="3400"/>
              </a:lnSpc>
              <a:spcBef>
                <a:spcPts val="90"/>
              </a:spcBef>
            </a:pP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Salah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menggunakan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huruf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kapital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dan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huruf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kecil </a:t>
            </a:r>
            <a:r>
              <a:rPr sz="2500" spc="-25" dirty="0">
                <a:solidFill>
                  <a:srgbClr val="333333"/>
                </a:solidFill>
                <a:latin typeface="Lucida Sans"/>
                <a:cs typeface="Lucida Sans"/>
              </a:rPr>
              <a:t>pada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bahasa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pemrograman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5" dirty="0">
                <a:solidFill>
                  <a:srgbClr val="333333"/>
                </a:solidFill>
                <a:latin typeface="Lucida Sans"/>
                <a:cs typeface="Lucida Sans"/>
              </a:rPr>
              <a:t>case-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sensitive</a:t>
            </a:r>
            <a:endParaRPr sz="2500" dirty="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5770" y="484311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5770" y="527364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4416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Jenis-</a:t>
            </a:r>
            <a:r>
              <a:rPr spc="-250" dirty="0"/>
              <a:t>jenis</a:t>
            </a:r>
            <a:r>
              <a:rPr spc="-254" dirty="0"/>
              <a:t> </a:t>
            </a:r>
            <a:r>
              <a:rPr spc="-114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5485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2168490"/>
            <a:ext cx="19875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Runtime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eror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139" y="4770720"/>
            <a:ext cx="157480" cy="310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0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139" y="2550760"/>
            <a:ext cx="8101330" cy="261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6550" marR="5080" indent="-323850">
              <a:lnSpc>
                <a:spcPct val="113199"/>
              </a:lnSpc>
              <a:spcBef>
                <a:spcPts val="90"/>
              </a:spcBef>
              <a:tabLst>
                <a:tab pos="335915" algn="l"/>
              </a:tabLst>
            </a:pPr>
            <a:r>
              <a:rPr sz="2775" spc="-75" baseline="1501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2775" baseline="15015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5" dirty="0">
                <a:solidFill>
                  <a:srgbClr val="333333"/>
                </a:solidFill>
                <a:latin typeface="Lucida Sans"/>
                <a:cs typeface="Lucida Sans"/>
              </a:rPr>
              <a:t>terjadi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90" dirty="0">
                <a:solidFill>
                  <a:srgbClr val="333333"/>
                </a:solidFill>
                <a:latin typeface="Lucida Sans"/>
                <a:cs typeface="Lucida Sans"/>
              </a:rPr>
              <a:t>ketika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65" dirty="0">
                <a:solidFill>
                  <a:srgbClr val="333333"/>
                </a:solidFill>
                <a:latin typeface="Lucida Sans"/>
                <a:cs typeface="Lucida Sans"/>
              </a:rPr>
              <a:t>program</a:t>
            </a:r>
            <a:r>
              <a:rPr sz="25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dijalankan.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Tidak </a:t>
            </a:r>
            <a:r>
              <a:rPr sz="2500" spc="-60" dirty="0">
                <a:solidFill>
                  <a:srgbClr val="333333"/>
                </a:solidFill>
                <a:latin typeface="Lucida Sans"/>
                <a:cs typeface="Lucida Sans"/>
              </a:rPr>
              <a:t>terdeteksi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5" dirty="0">
                <a:solidFill>
                  <a:srgbClr val="333333"/>
                </a:solidFill>
                <a:latin typeface="Lucida Sans"/>
                <a:cs typeface="Lucida Sans"/>
              </a:rPr>
              <a:t>oleh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IDE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5" dirty="0">
                <a:solidFill>
                  <a:srgbClr val="333333"/>
                </a:solidFill>
                <a:latin typeface="Lucida Sans"/>
                <a:cs typeface="Lucida Sans"/>
              </a:rPr>
              <a:t>pada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saat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333333"/>
                </a:solidFill>
                <a:latin typeface="Lucida Sans"/>
                <a:cs typeface="Lucida Sans"/>
              </a:rPr>
              <a:t>penulisan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5" dirty="0">
                <a:solidFill>
                  <a:srgbClr val="333333"/>
                </a:solidFill>
                <a:latin typeface="Lucida Sans"/>
                <a:cs typeface="Lucida Sans"/>
              </a:rPr>
              <a:t>code,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code </a:t>
            </a:r>
            <a:r>
              <a:rPr sz="2500" spc="-50" dirty="0">
                <a:solidFill>
                  <a:srgbClr val="333333"/>
                </a:solidFill>
                <a:latin typeface="Lucida Sans"/>
                <a:cs typeface="Lucida Sans"/>
              </a:rPr>
              <a:t>sudah</a:t>
            </a:r>
            <a:r>
              <a:rPr sz="25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5" dirty="0">
                <a:solidFill>
                  <a:srgbClr val="333333"/>
                </a:solidFill>
                <a:latin typeface="Lucida Sans"/>
                <a:cs typeface="Lucida Sans"/>
              </a:rPr>
              <a:t>ditulis</a:t>
            </a:r>
            <a:r>
              <a:rPr sz="25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menggunakan</a:t>
            </a:r>
            <a:r>
              <a:rPr sz="2500" spc="-10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90" dirty="0">
                <a:solidFill>
                  <a:srgbClr val="333333"/>
                </a:solidFill>
                <a:latin typeface="Lucida Sans"/>
                <a:cs typeface="Lucida Sans"/>
              </a:rPr>
              <a:t>syntax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benar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namun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instruksi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5" dirty="0">
                <a:solidFill>
                  <a:srgbClr val="333333"/>
                </a:solidFill>
                <a:latin typeface="Lucida Sans"/>
                <a:cs typeface="Lucida Sans"/>
              </a:rPr>
              <a:t>program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5" dirty="0">
                <a:solidFill>
                  <a:srgbClr val="333333"/>
                </a:solidFill>
                <a:latin typeface="Lucida Sans"/>
                <a:cs typeface="Lucida Sans"/>
              </a:rPr>
              <a:t>tidak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dapat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5" dirty="0">
                <a:solidFill>
                  <a:srgbClr val="333333"/>
                </a:solidFill>
                <a:latin typeface="Lucida Sans"/>
                <a:cs typeface="Lucida Sans"/>
              </a:rPr>
              <a:t>dilakukan</a:t>
            </a:r>
            <a:r>
              <a:rPr sz="25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oleh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komputer.</a:t>
            </a:r>
            <a:endParaRPr sz="2500">
              <a:latin typeface="Lucida Sans"/>
              <a:cs typeface="Lucida Sans"/>
            </a:endParaRPr>
          </a:p>
          <a:p>
            <a:pPr marL="336550">
              <a:lnSpc>
                <a:spcPct val="100000"/>
              </a:lnSpc>
              <a:spcBef>
                <a:spcPts val="400"/>
              </a:spcBef>
            </a:pP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Contoh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5770" y="527364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2789" y="5136480"/>
            <a:ext cx="7071361" cy="844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2500" spc="-30" dirty="0" err="1">
                <a:solidFill>
                  <a:srgbClr val="333333"/>
                </a:solidFill>
                <a:latin typeface="Lucida Sans"/>
                <a:cs typeface="Lucida Sans"/>
              </a:rPr>
              <a:t>Membuka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145" dirty="0">
                <a:solidFill>
                  <a:srgbClr val="333333"/>
                </a:solidFill>
                <a:latin typeface="Lucida Sans"/>
                <a:cs typeface="Lucida Sans"/>
              </a:rPr>
              <a:t>f</a:t>
            </a:r>
            <a:r>
              <a:rPr lang="en-US" sz="2500" spc="145" dirty="0">
                <a:solidFill>
                  <a:srgbClr val="333333"/>
                </a:solidFill>
                <a:latin typeface="Lucida Sans"/>
                <a:cs typeface="Lucida Sans"/>
              </a:rPr>
              <a:t>i</a:t>
            </a:r>
            <a:r>
              <a:rPr sz="2500" spc="145" dirty="0">
                <a:solidFill>
                  <a:srgbClr val="333333"/>
                </a:solidFill>
                <a:latin typeface="Lucida Sans"/>
                <a:cs typeface="Lucida Sans"/>
              </a:rPr>
              <a:t>le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5" dirty="0">
                <a:solidFill>
                  <a:srgbClr val="333333"/>
                </a:solidFill>
                <a:latin typeface="Lucida Sans"/>
                <a:cs typeface="Lucida Sans"/>
              </a:rPr>
              <a:t>tidak</a:t>
            </a:r>
            <a:r>
              <a:rPr sz="25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ada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di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komputer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Pembagian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333333"/>
                </a:solidFill>
                <a:latin typeface="Lucida Sans"/>
                <a:cs typeface="Lucida Sans"/>
              </a:rPr>
              <a:t>suatu</a:t>
            </a:r>
            <a:r>
              <a:rPr sz="25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bilangan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65" dirty="0">
                <a:solidFill>
                  <a:srgbClr val="333333"/>
                </a:solidFill>
                <a:latin typeface="Lucida Sans"/>
                <a:cs typeface="Lucida Sans"/>
              </a:rPr>
              <a:t>dengan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5" dirty="0">
                <a:solidFill>
                  <a:srgbClr val="333333"/>
                </a:solidFill>
                <a:latin typeface="Lucida Sans"/>
                <a:cs typeface="Lucida Sans"/>
              </a:rPr>
              <a:t>nol</a:t>
            </a:r>
            <a:endParaRPr sz="2500" dirty="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5770" y="570544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4416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Jenis-</a:t>
            </a:r>
            <a:r>
              <a:rPr spc="-250" dirty="0"/>
              <a:t>jenis</a:t>
            </a:r>
            <a:r>
              <a:rPr spc="-254" dirty="0"/>
              <a:t> </a:t>
            </a:r>
            <a:r>
              <a:rPr spc="-114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5485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2168490"/>
            <a:ext cx="16287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10" dirty="0">
                <a:solidFill>
                  <a:srgbClr val="333333"/>
                </a:solidFill>
                <a:latin typeface="Lucida Sans"/>
                <a:cs typeface="Lucida Sans"/>
              </a:rPr>
              <a:t>Logic</a:t>
            </a:r>
            <a:r>
              <a:rPr sz="2500" spc="-10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139" y="3476590"/>
            <a:ext cx="157480" cy="310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10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139" y="2550760"/>
            <a:ext cx="8024495" cy="1318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3850">
              <a:lnSpc>
                <a:spcPct val="112999"/>
              </a:lnSpc>
              <a:spcBef>
                <a:spcPts val="100"/>
              </a:spcBef>
              <a:tabLst>
                <a:tab pos="335915" algn="l"/>
              </a:tabLst>
            </a:pPr>
            <a:r>
              <a:rPr sz="2775" spc="-75" baseline="1501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2775" baseline="15015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5" dirty="0">
                <a:solidFill>
                  <a:srgbClr val="333333"/>
                </a:solidFill>
                <a:latin typeface="Lucida Sans"/>
                <a:cs typeface="Lucida Sans"/>
              </a:rPr>
              <a:t>terjadi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karena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5" dirty="0">
                <a:solidFill>
                  <a:srgbClr val="333333"/>
                </a:solidFill>
                <a:latin typeface="Lucida Sans"/>
                <a:cs typeface="Lucida Sans"/>
              </a:rPr>
              <a:t>adanya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333333"/>
                </a:solidFill>
                <a:latin typeface="Lucida Sans"/>
                <a:cs typeface="Lucida Sans"/>
              </a:rPr>
              <a:t>kesalahan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55" dirty="0">
                <a:solidFill>
                  <a:srgbClr val="333333"/>
                </a:solidFill>
                <a:latin typeface="Lucida Sans"/>
                <a:cs typeface="Lucida Sans"/>
              </a:rPr>
              <a:t>desain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75" dirty="0">
                <a:solidFill>
                  <a:srgbClr val="333333"/>
                </a:solidFill>
                <a:latin typeface="Lucida Sans"/>
                <a:cs typeface="Lucida Sans"/>
              </a:rPr>
              <a:t>/ </a:t>
            </a:r>
            <a:r>
              <a:rPr sz="2500" spc="-105" dirty="0">
                <a:solidFill>
                  <a:srgbClr val="333333"/>
                </a:solidFill>
                <a:latin typeface="Lucida Sans"/>
                <a:cs typeface="Lucida Sans"/>
              </a:rPr>
              <a:t>logic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program.</a:t>
            </a:r>
            <a:endParaRPr sz="2500">
              <a:latin typeface="Lucida Sans"/>
              <a:cs typeface="Lucida Sans"/>
            </a:endParaRPr>
          </a:p>
          <a:p>
            <a:pPr marL="336550">
              <a:lnSpc>
                <a:spcPct val="100000"/>
              </a:lnSpc>
              <a:spcBef>
                <a:spcPts val="400"/>
              </a:spcBef>
            </a:pP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Contoh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5770" y="3980779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2789" y="3844890"/>
            <a:ext cx="6685280" cy="2612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95"/>
              </a:spcBef>
            </a:pP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Salah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menggunakan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5" dirty="0">
                <a:solidFill>
                  <a:srgbClr val="333333"/>
                </a:solidFill>
                <a:latin typeface="Lucida Sans"/>
                <a:cs typeface="Lucida Sans"/>
              </a:rPr>
              <a:t>fungsi,</a:t>
            </a:r>
            <a:r>
              <a:rPr sz="25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misalnya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menambahkan</a:t>
            </a:r>
            <a:r>
              <a:rPr sz="25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5" dirty="0">
                <a:solidFill>
                  <a:srgbClr val="333333"/>
                </a:solidFill>
                <a:latin typeface="Lucida Sans"/>
                <a:cs typeface="Lucida Sans"/>
              </a:rPr>
              <a:t>bilangan</a:t>
            </a:r>
            <a:r>
              <a:rPr sz="25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5" dirty="0">
                <a:solidFill>
                  <a:srgbClr val="333333"/>
                </a:solidFill>
                <a:latin typeface="Lucida Sans"/>
                <a:cs typeface="Lucida Sans"/>
              </a:rPr>
              <a:t>padahal</a:t>
            </a:r>
            <a:r>
              <a:rPr sz="2500" spc="-9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seharusnya mengalikan</a:t>
            </a:r>
            <a:endParaRPr sz="2500">
              <a:latin typeface="Lucida Sans"/>
              <a:cs typeface="Lucida Sans"/>
            </a:endParaRPr>
          </a:p>
          <a:p>
            <a:pPr marL="12700" marR="184150">
              <a:lnSpc>
                <a:spcPts val="3400"/>
              </a:lnSpc>
              <a:spcBef>
                <a:spcPts val="170"/>
              </a:spcBef>
            </a:pP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Membuka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5" dirty="0">
                <a:solidFill>
                  <a:srgbClr val="333333"/>
                </a:solidFill>
                <a:latin typeface="Lucida Sans"/>
                <a:cs typeface="Lucida Sans"/>
              </a:rPr>
              <a:t>data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0" dirty="0">
                <a:solidFill>
                  <a:srgbClr val="333333"/>
                </a:solidFill>
                <a:latin typeface="Lucida Sans"/>
                <a:cs typeface="Lucida Sans"/>
              </a:rPr>
              <a:t>dan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70" dirty="0">
                <a:solidFill>
                  <a:srgbClr val="333333"/>
                </a:solidFill>
                <a:latin typeface="Lucida Sans"/>
                <a:cs typeface="Lucida Sans"/>
              </a:rPr>
              <a:t>menggunakan</a:t>
            </a:r>
            <a:r>
              <a:rPr sz="25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5" dirty="0">
                <a:solidFill>
                  <a:srgbClr val="333333"/>
                </a:solidFill>
                <a:latin typeface="Lucida Sans"/>
                <a:cs typeface="Lucida Sans"/>
              </a:rPr>
              <a:t>data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dari </a:t>
            </a: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sumber</a:t>
            </a:r>
            <a:r>
              <a:rPr sz="25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35" dirty="0">
                <a:solidFill>
                  <a:srgbClr val="333333"/>
                </a:solidFill>
                <a:latin typeface="Lucida Sans"/>
                <a:cs typeface="Lucida Sans"/>
              </a:rPr>
              <a:t>data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20" dirty="0">
                <a:solidFill>
                  <a:srgbClr val="333333"/>
                </a:solidFill>
                <a:latin typeface="Lucida Sans"/>
                <a:cs typeface="Lucida Sans"/>
              </a:rPr>
              <a:t>salah</a:t>
            </a:r>
            <a:endParaRPr sz="25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2500" spc="-40" dirty="0">
                <a:solidFill>
                  <a:srgbClr val="333333"/>
                </a:solidFill>
                <a:latin typeface="Lucida Sans"/>
                <a:cs typeface="Lucida Sans"/>
              </a:rPr>
              <a:t>Menampilkan</a:t>
            </a:r>
            <a:r>
              <a:rPr sz="25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45" dirty="0">
                <a:solidFill>
                  <a:srgbClr val="333333"/>
                </a:solidFill>
                <a:latin typeface="Lucida Sans"/>
                <a:cs typeface="Lucida Sans"/>
              </a:rPr>
              <a:t>pesan</a:t>
            </a:r>
            <a:r>
              <a:rPr sz="25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8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5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500" spc="-10" dirty="0">
                <a:solidFill>
                  <a:srgbClr val="333333"/>
                </a:solidFill>
                <a:latin typeface="Lucida Sans"/>
                <a:cs typeface="Lucida Sans"/>
              </a:rPr>
              <a:t>salah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5770" y="527364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5770" y="6137240"/>
            <a:ext cx="13906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Syntax</a:t>
            </a:r>
            <a:r>
              <a:rPr spc="-315" dirty="0"/>
              <a:t> </a:t>
            </a:r>
            <a:r>
              <a:rPr spc="-130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789" y="1937349"/>
            <a:ext cx="7857490" cy="3764279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0"/>
              </a:spcBef>
            </a:pP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Contoh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:</a:t>
            </a:r>
            <a:endParaRPr sz="2800">
              <a:latin typeface="Lucida Sans"/>
              <a:cs typeface="Lucida Sans"/>
            </a:endParaRPr>
          </a:p>
          <a:p>
            <a:pPr marL="469900" marR="30480" indent="-323850">
              <a:lnSpc>
                <a:spcPct val="113199"/>
              </a:lnSpc>
              <a:spcBef>
                <a:spcPts val="1405"/>
              </a:spcBef>
              <a:tabLst>
                <a:tab pos="469265" algn="l"/>
              </a:tabLst>
            </a:pPr>
            <a:r>
              <a:rPr sz="3150" spc="-75" baseline="15873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3150" baseline="15873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Salah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0" dirty="0">
                <a:solidFill>
                  <a:srgbClr val="333333"/>
                </a:solidFill>
                <a:latin typeface="Lucida Sans"/>
                <a:cs typeface="Lucida Sans"/>
              </a:rPr>
              <a:t>menulis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0" dirty="0">
                <a:solidFill>
                  <a:srgbClr val="333333"/>
                </a:solidFill>
                <a:latin typeface="Lucida Sans"/>
                <a:cs typeface="Lucida Sans"/>
              </a:rPr>
              <a:t>string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(huruf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5" dirty="0">
                <a:solidFill>
                  <a:srgbClr val="333333"/>
                </a:solidFill>
                <a:latin typeface="Lucida Sans"/>
                <a:cs typeface="Lucida Sans"/>
              </a:rPr>
              <a:t>s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ditulis 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menggunakan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huruf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kecil),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9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benar </a:t>
            </a:r>
            <a:r>
              <a:rPr sz="2800" spc="-45" dirty="0">
                <a:solidFill>
                  <a:srgbClr val="333333"/>
                </a:solidFill>
                <a:latin typeface="Lucida Sans"/>
                <a:cs typeface="Lucida Sans"/>
              </a:rPr>
              <a:t>seharusnya</a:t>
            </a:r>
            <a:r>
              <a:rPr sz="28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String</a:t>
            </a:r>
            <a:r>
              <a:rPr sz="28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(seharusnya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S 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menggunakan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huruf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90" dirty="0">
                <a:solidFill>
                  <a:srgbClr val="333333"/>
                </a:solidFill>
                <a:latin typeface="Lucida Sans"/>
                <a:cs typeface="Lucida Sans"/>
              </a:rPr>
              <a:t>kapital).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Android</a:t>
            </a:r>
            <a:r>
              <a:rPr sz="28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Studio </a:t>
            </a:r>
            <a:r>
              <a:rPr sz="2800" spc="-60" dirty="0">
                <a:solidFill>
                  <a:srgbClr val="333333"/>
                </a:solidFill>
                <a:latin typeface="Lucida Sans"/>
                <a:cs typeface="Lucida Sans"/>
              </a:rPr>
              <a:t>mendeteksi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penulisan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0" dirty="0">
                <a:solidFill>
                  <a:srgbClr val="333333"/>
                </a:solidFill>
                <a:latin typeface="Lucida Sans"/>
                <a:cs typeface="Lucida Sans"/>
              </a:rPr>
              <a:t>syntax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tersebut </a:t>
            </a:r>
            <a:r>
              <a:rPr sz="2800" spc="-20" dirty="0">
                <a:solidFill>
                  <a:srgbClr val="333333"/>
                </a:solidFill>
                <a:latin typeface="Lucida Sans"/>
                <a:cs typeface="Lucida Sans"/>
              </a:rPr>
              <a:t>dan</a:t>
            </a:r>
            <a:r>
              <a:rPr sz="2800" spc="-17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menampilkan</a:t>
            </a:r>
            <a:r>
              <a:rPr sz="2800" spc="-16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informasinya.</a:t>
            </a:r>
            <a:endParaRPr sz="28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Syntax</a:t>
            </a:r>
            <a:r>
              <a:rPr spc="-315" dirty="0"/>
              <a:t> </a:t>
            </a:r>
            <a:r>
              <a:rPr spc="-130" dirty="0"/>
              <a:t>Error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3E8056-14F3-A491-D52A-965AF3603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4" y="1647825"/>
            <a:ext cx="9794411" cy="392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Syntax</a:t>
            </a:r>
            <a:r>
              <a:rPr spc="-315" dirty="0"/>
              <a:t> </a:t>
            </a:r>
            <a:r>
              <a:rPr spc="-130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9189" y="2172299"/>
            <a:ext cx="4934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>
                <a:solidFill>
                  <a:srgbClr val="333333"/>
                </a:solidFill>
                <a:latin typeface="Lucida Sans"/>
                <a:cs typeface="Lucida Sans"/>
              </a:rPr>
              <a:t>TIPS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mengurangi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0" dirty="0">
                <a:solidFill>
                  <a:srgbClr val="333333"/>
                </a:solidFill>
                <a:latin typeface="Lucida Sans"/>
                <a:cs typeface="Lucida Sans"/>
              </a:rPr>
              <a:t>syntax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139" y="3959190"/>
            <a:ext cx="1739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2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39" y="2776820"/>
            <a:ext cx="7789545" cy="210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0" marR="43180" indent="-323850">
              <a:lnSpc>
                <a:spcPct val="113399"/>
              </a:lnSpc>
              <a:spcBef>
                <a:spcPts val="100"/>
              </a:spcBef>
              <a:tabLst>
                <a:tab pos="361315" algn="l"/>
              </a:tabLst>
            </a:pPr>
            <a:r>
              <a:rPr sz="3150" spc="-75" baseline="15873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3150" baseline="15873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800" dirty="0">
                <a:solidFill>
                  <a:srgbClr val="333333"/>
                </a:solidFill>
                <a:latin typeface="Lucida Sans"/>
                <a:cs typeface="Lucida Sans"/>
              </a:rPr>
              <a:t>Pahami</a:t>
            </a:r>
            <a:r>
              <a:rPr sz="2800" spc="-17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40" dirty="0">
                <a:solidFill>
                  <a:srgbClr val="333333"/>
                </a:solidFill>
                <a:latin typeface="Lucida Sans"/>
                <a:cs typeface="Lucida Sans"/>
              </a:rPr>
              <a:t>dasar-</a:t>
            </a:r>
            <a:r>
              <a:rPr sz="2800" spc="-30" dirty="0">
                <a:solidFill>
                  <a:srgbClr val="333333"/>
                </a:solidFill>
                <a:latin typeface="Lucida Sans"/>
                <a:cs typeface="Lucida Sans"/>
              </a:rPr>
              <a:t>dasar</a:t>
            </a:r>
            <a:r>
              <a:rPr sz="2800" spc="-17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aturan</a:t>
            </a:r>
            <a:r>
              <a:rPr sz="2800" spc="-17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penulisan</a:t>
            </a:r>
            <a:r>
              <a:rPr sz="2800" spc="-17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5" dirty="0">
                <a:solidFill>
                  <a:srgbClr val="333333"/>
                </a:solidFill>
                <a:latin typeface="Lucida Sans"/>
                <a:cs typeface="Lucida Sans"/>
              </a:rPr>
              <a:t>syntax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code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0" dirty="0" err="1">
                <a:solidFill>
                  <a:srgbClr val="333333"/>
                </a:solidFill>
                <a:latin typeface="Lucida Sans"/>
                <a:cs typeface="Lucida Sans"/>
              </a:rPr>
              <a:t>bahasa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40" dirty="0" err="1">
                <a:solidFill>
                  <a:srgbClr val="333333"/>
                </a:solidFill>
                <a:latin typeface="Lucida Sans"/>
                <a:cs typeface="Lucida Sans"/>
              </a:rPr>
              <a:t>pemrograman</a:t>
            </a:r>
            <a:r>
              <a:rPr lang="en-US" sz="2800" spc="-16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lang="en-US" sz="2800" spc="-165" dirty="0" err="1">
                <a:solidFill>
                  <a:srgbClr val="333333"/>
                </a:solidFill>
                <a:latin typeface="Lucida Sans"/>
                <a:cs typeface="Lucida Sans"/>
              </a:rPr>
              <a:t>kotlin</a:t>
            </a:r>
            <a:endParaRPr sz="2800" dirty="0">
              <a:latin typeface="Lucida Sans"/>
              <a:cs typeface="Lucida Sans"/>
            </a:endParaRPr>
          </a:p>
          <a:p>
            <a:pPr marL="361950" marR="770255">
              <a:lnSpc>
                <a:spcPct val="113100"/>
              </a:lnSpc>
              <a:spcBef>
                <a:spcPts val="1140"/>
              </a:spcBef>
            </a:pPr>
            <a:r>
              <a:rPr sz="2800" spc="-45" dirty="0">
                <a:solidFill>
                  <a:srgbClr val="333333"/>
                </a:solidFill>
                <a:latin typeface="Lucida Sans"/>
                <a:cs typeface="Lucida Sans"/>
              </a:rPr>
              <a:t>Gunakan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85" dirty="0">
                <a:solidFill>
                  <a:srgbClr val="333333"/>
                </a:solidFill>
                <a:latin typeface="Lucida Sans"/>
                <a:cs typeface="Lucida Sans"/>
              </a:rPr>
              <a:t>fasilitas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autocomplete</a:t>
            </a:r>
            <a:r>
              <a:rPr sz="28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Lucida Sans"/>
                <a:cs typeface="Lucida Sans"/>
              </a:rPr>
              <a:t>Android </a:t>
            </a:r>
            <a:r>
              <a:rPr sz="2800" spc="-45" dirty="0">
                <a:solidFill>
                  <a:srgbClr val="333333"/>
                </a:solidFill>
                <a:latin typeface="Lucida Sans"/>
                <a:cs typeface="Lucida Sans"/>
              </a:rPr>
              <a:t>Studio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untuk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0" dirty="0" err="1">
                <a:solidFill>
                  <a:srgbClr val="333333"/>
                </a:solidFill>
                <a:latin typeface="Lucida Sans"/>
                <a:cs typeface="Lucida Sans"/>
              </a:rPr>
              <a:t>menulis</a:t>
            </a:r>
            <a:r>
              <a:rPr sz="28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code</a:t>
            </a:r>
            <a:endParaRPr sz="2400" baseline="31250" dirty="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83350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Runtime</a:t>
            </a:r>
            <a:r>
              <a:rPr spc="-320" dirty="0"/>
              <a:t> </a:t>
            </a:r>
            <a:r>
              <a:rPr spc="-165" dirty="0"/>
              <a:t>Error</a:t>
            </a:r>
            <a:r>
              <a:rPr spc="-310" dirty="0"/>
              <a:t> </a:t>
            </a:r>
            <a:r>
              <a:rPr spc="-185" dirty="0"/>
              <a:t>dan</a:t>
            </a:r>
            <a:r>
              <a:rPr spc="-315" dirty="0"/>
              <a:t> </a:t>
            </a:r>
            <a:r>
              <a:rPr spc="-400" dirty="0"/>
              <a:t>Logic</a:t>
            </a:r>
            <a:r>
              <a:rPr spc="-310" dirty="0"/>
              <a:t> </a:t>
            </a:r>
            <a:r>
              <a:rPr spc="-85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789" y="1937349"/>
            <a:ext cx="4045585" cy="4248150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0"/>
              </a:spcBef>
            </a:pP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Contoh</a:t>
            </a:r>
            <a:r>
              <a:rPr sz="28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:</a:t>
            </a:r>
            <a:endParaRPr sz="2800" dirty="0">
              <a:latin typeface="Lucida Sans"/>
              <a:cs typeface="Lucida Sans"/>
            </a:endParaRPr>
          </a:p>
          <a:p>
            <a:pPr marL="469900" marR="30480" indent="-323850">
              <a:lnSpc>
                <a:spcPct val="113199"/>
              </a:lnSpc>
              <a:spcBef>
                <a:spcPts val="1405"/>
              </a:spcBef>
              <a:tabLst>
                <a:tab pos="469265" algn="l"/>
              </a:tabLst>
            </a:pPr>
            <a:r>
              <a:rPr sz="3150" spc="-75" baseline="15873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3150" baseline="15873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Tidak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terdeteksi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kesalahan</a:t>
            </a:r>
            <a:r>
              <a:rPr sz="28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dalam </a:t>
            </a:r>
            <a:r>
              <a:rPr sz="2800" spc="-65" dirty="0">
                <a:solidFill>
                  <a:srgbClr val="333333"/>
                </a:solidFill>
                <a:latin typeface="Lucida Sans"/>
                <a:cs typeface="Lucida Sans"/>
              </a:rPr>
              <a:t>penulisan</a:t>
            </a:r>
            <a:r>
              <a:rPr sz="2800" spc="-8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Lucida Sans"/>
                <a:cs typeface="Lucida Sans"/>
              </a:rPr>
              <a:t>code, namun</a:t>
            </a:r>
            <a:r>
              <a:rPr sz="2800" spc="-18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ketika </a:t>
            </a:r>
            <a:r>
              <a:rPr sz="2800" spc="-70" dirty="0">
                <a:solidFill>
                  <a:srgbClr val="333333"/>
                </a:solidFill>
                <a:latin typeface="Lucida Sans"/>
                <a:cs typeface="Lucida Sans"/>
              </a:rPr>
              <a:t>melakukan</a:t>
            </a:r>
            <a:r>
              <a:rPr sz="28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run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program</a:t>
            </a:r>
            <a:r>
              <a:rPr sz="28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0" dirty="0">
                <a:solidFill>
                  <a:srgbClr val="333333"/>
                </a:solidFill>
                <a:latin typeface="Lucida Sans"/>
                <a:cs typeface="Lucida Sans"/>
              </a:rPr>
              <a:t>ke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emulator </a:t>
            </a:r>
            <a:r>
              <a:rPr sz="2800" spc="-65" dirty="0">
                <a:solidFill>
                  <a:srgbClr val="333333"/>
                </a:solidFill>
                <a:latin typeface="Lucida Sans"/>
                <a:cs typeface="Lucida Sans"/>
              </a:rPr>
              <a:t>terjadi</a:t>
            </a:r>
            <a:r>
              <a:rPr sz="2800" spc="-11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crash.</a:t>
            </a:r>
            <a:endParaRPr sz="2800" dirty="0">
              <a:latin typeface="Lucida Sans"/>
              <a:cs typeface="Lucida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1900520"/>
            <a:ext cx="3867150" cy="4866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83350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Runtime</a:t>
            </a:r>
            <a:r>
              <a:rPr spc="-320" dirty="0"/>
              <a:t> </a:t>
            </a:r>
            <a:r>
              <a:rPr spc="-165" dirty="0"/>
              <a:t>Error</a:t>
            </a:r>
            <a:r>
              <a:rPr spc="-310" dirty="0"/>
              <a:t> </a:t>
            </a:r>
            <a:r>
              <a:rPr spc="-185" dirty="0"/>
              <a:t>dan</a:t>
            </a:r>
            <a:r>
              <a:rPr spc="-315" dirty="0"/>
              <a:t> </a:t>
            </a:r>
            <a:r>
              <a:rPr spc="-400" dirty="0"/>
              <a:t>Logic</a:t>
            </a:r>
            <a:r>
              <a:rPr spc="-310" dirty="0"/>
              <a:t> </a:t>
            </a:r>
            <a:r>
              <a:rPr spc="-85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089" y="1937349"/>
            <a:ext cx="6520815" cy="1976120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950"/>
              </a:spcBef>
            </a:pPr>
            <a:r>
              <a:rPr sz="2800" spc="-90" dirty="0">
                <a:solidFill>
                  <a:srgbClr val="333333"/>
                </a:solidFill>
                <a:latin typeface="Lucida Sans"/>
                <a:cs typeface="Lucida Sans"/>
              </a:rPr>
              <a:t>Apa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9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5" dirty="0">
                <a:solidFill>
                  <a:srgbClr val="333333"/>
                </a:solidFill>
                <a:latin typeface="Lucida Sans"/>
                <a:cs typeface="Lucida Sans"/>
              </a:rPr>
              <a:t>harus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dilakukan?</a:t>
            </a:r>
            <a:endParaRPr sz="2800">
              <a:latin typeface="Lucida Sans"/>
              <a:cs typeface="Lucida Sans"/>
            </a:endParaRPr>
          </a:p>
          <a:p>
            <a:pPr marL="50800" marR="43180" indent="107950">
              <a:lnSpc>
                <a:spcPct val="147000"/>
              </a:lnSpc>
              <a:spcBef>
                <a:spcPts val="270"/>
              </a:spcBef>
              <a:tabLst>
                <a:tab pos="481965" algn="l"/>
              </a:tabLst>
            </a:pPr>
            <a:r>
              <a:rPr sz="3150" spc="-75" baseline="15873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3150" baseline="15873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Cari</a:t>
            </a:r>
            <a:r>
              <a:rPr sz="28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5" dirty="0">
                <a:solidFill>
                  <a:srgbClr val="333333"/>
                </a:solidFill>
                <a:latin typeface="Lucida Sans"/>
                <a:cs typeface="Lucida Sans"/>
              </a:rPr>
              <a:t>tahu</a:t>
            </a:r>
            <a:r>
              <a:rPr sz="2800" spc="-17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5" dirty="0">
                <a:solidFill>
                  <a:srgbClr val="333333"/>
                </a:solidFill>
                <a:latin typeface="Lucida Sans"/>
                <a:cs typeface="Lucida Sans"/>
              </a:rPr>
              <a:t>penyebab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terjadinya</a:t>
            </a:r>
            <a:r>
              <a:rPr sz="2800" spc="-16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crash Caranya?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339" y="3557870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139" y="5249510"/>
            <a:ext cx="1739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139" y="4068410"/>
            <a:ext cx="7529195" cy="161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121285" indent="-323850">
              <a:lnSpc>
                <a:spcPct val="113100"/>
              </a:lnSpc>
              <a:spcBef>
                <a:spcPts val="100"/>
              </a:spcBef>
              <a:tabLst>
                <a:tab pos="335915" algn="l"/>
              </a:tabLst>
            </a:pPr>
            <a:r>
              <a:rPr sz="3150" spc="-75" baseline="15873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3150" baseline="15873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Sebaiknya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Lucida Sans"/>
                <a:cs typeface="Lucida Sans"/>
              </a:rPr>
              <a:t>paham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Lucida Sans"/>
                <a:cs typeface="Lucida Sans"/>
              </a:rPr>
              <a:t>cara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kerja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60" dirty="0">
                <a:solidFill>
                  <a:srgbClr val="333333"/>
                </a:solidFill>
                <a:latin typeface="Lucida Sans"/>
                <a:cs typeface="Lucida Sans"/>
              </a:rPr>
              <a:t>program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Lucida Sans"/>
                <a:cs typeface="Lucida Sans"/>
              </a:rPr>
              <a:t>yang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dibuat</a:t>
            </a:r>
            <a:endParaRPr sz="2800">
              <a:latin typeface="Lucida Sans"/>
              <a:cs typeface="Lucida Sans"/>
            </a:endParaRPr>
          </a:p>
          <a:p>
            <a:pPr marL="336550">
              <a:lnSpc>
                <a:spcPct val="100000"/>
              </a:lnSpc>
              <a:spcBef>
                <a:spcPts val="1580"/>
              </a:spcBef>
            </a:pPr>
            <a:r>
              <a:rPr sz="2800" spc="-60" dirty="0">
                <a:solidFill>
                  <a:srgbClr val="333333"/>
                </a:solidFill>
                <a:latin typeface="Lucida Sans"/>
                <a:cs typeface="Lucida Sans"/>
              </a:rPr>
              <a:t>Lihat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333333"/>
                </a:solidFill>
                <a:latin typeface="Lucida Sans"/>
                <a:cs typeface="Lucida Sans"/>
              </a:rPr>
              <a:t>output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9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8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0" dirty="0">
                <a:solidFill>
                  <a:srgbClr val="333333"/>
                </a:solidFill>
                <a:latin typeface="Lucida Sans"/>
                <a:cs typeface="Lucida Sans"/>
              </a:rPr>
              <a:t>muncul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85" dirty="0">
                <a:solidFill>
                  <a:srgbClr val="333333"/>
                </a:solidFill>
                <a:latin typeface="Lucida Sans"/>
                <a:cs typeface="Lucida Sans"/>
              </a:rPr>
              <a:t>di</a:t>
            </a:r>
            <a:r>
              <a:rPr sz="28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Lucida Sans"/>
                <a:cs typeface="Lucida Sans"/>
              </a:rPr>
              <a:t>jendela</a:t>
            </a:r>
            <a:r>
              <a:rPr sz="28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35" dirty="0">
                <a:solidFill>
                  <a:srgbClr val="333333"/>
                </a:solidFill>
                <a:latin typeface="Lucida Sans"/>
                <a:cs typeface="Lucida Sans"/>
              </a:rPr>
              <a:t>LogCat</a:t>
            </a:r>
            <a:endParaRPr sz="2800">
              <a:latin typeface="Lucida Sans"/>
              <a:cs typeface="Lucida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776560"/>
            <a:ext cx="5855970" cy="5803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390" y="577180"/>
            <a:ext cx="83350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Runtime</a:t>
            </a:r>
            <a:r>
              <a:rPr spc="-320" dirty="0"/>
              <a:t> </a:t>
            </a:r>
            <a:r>
              <a:rPr spc="-165" dirty="0"/>
              <a:t>Error</a:t>
            </a:r>
            <a:r>
              <a:rPr spc="-310" dirty="0"/>
              <a:t> </a:t>
            </a:r>
            <a:r>
              <a:rPr spc="-185" dirty="0"/>
              <a:t>dan</a:t>
            </a:r>
            <a:r>
              <a:rPr spc="-315" dirty="0"/>
              <a:t> </a:t>
            </a:r>
            <a:r>
              <a:rPr spc="-400" dirty="0"/>
              <a:t>Logic</a:t>
            </a:r>
            <a:r>
              <a:rPr spc="-310" dirty="0"/>
              <a:t> </a:t>
            </a:r>
            <a:r>
              <a:rPr spc="-85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990" y="153983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2656" y="1282665"/>
            <a:ext cx="761873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333333"/>
                </a:solidFill>
                <a:latin typeface="Lucida Sans"/>
                <a:cs typeface="Lucida Sans"/>
              </a:rPr>
              <a:t>Pahami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Lucida Sans"/>
                <a:cs typeface="Lucida Sans"/>
              </a:rPr>
              <a:t>error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5" dirty="0">
                <a:solidFill>
                  <a:srgbClr val="333333"/>
                </a:solidFill>
                <a:latin typeface="Lucida Sans"/>
                <a:cs typeface="Lucida Sans"/>
              </a:rPr>
              <a:t>message</a:t>
            </a:r>
            <a:r>
              <a:rPr sz="28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90" dirty="0">
                <a:solidFill>
                  <a:srgbClr val="333333"/>
                </a:solidFill>
                <a:latin typeface="Lucida Sans"/>
                <a:cs typeface="Lucida Sans"/>
              </a:rPr>
              <a:t>yang</a:t>
            </a:r>
            <a:r>
              <a:rPr sz="28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70" dirty="0">
                <a:solidFill>
                  <a:srgbClr val="333333"/>
                </a:solidFill>
                <a:latin typeface="Lucida Sans"/>
                <a:cs typeface="Lucida Sans"/>
              </a:rPr>
              <a:t>muncul</a:t>
            </a:r>
            <a:r>
              <a:rPr sz="28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80" dirty="0">
                <a:solidFill>
                  <a:srgbClr val="333333"/>
                </a:solidFill>
                <a:latin typeface="Lucida Sans"/>
                <a:cs typeface="Lucida Sans"/>
              </a:rPr>
              <a:t>di</a:t>
            </a:r>
            <a:r>
              <a:rPr sz="28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800" spc="-25" dirty="0" err="1">
                <a:solidFill>
                  <a:srgbClr val="333333"/>
                </a:solidFill>
                <a:latin typeface="Lucida Sans"/>
                <a:cs typeface="Lucida Sans"/>
              </a:rPr>
              <a:t>LogCat</a:t>
            </a:r>
            <a:r>
              <a:rPr lang="en-US" sz="2800" spc="-25" dirty="0">
                <a:solidFill>
                  <a:srgbClr val="333333"/>
                </a:solidFill>
                <a:latin typeface="Lucida Sans"/>
                <a:cs typeface="Lucida Sans"/>
              </a:rPr>
              <a:t>, Lalu </a:t>
            </a:r>
            <a:r>
              <a:rPr lang="en-US" sz="2800" spc="-25" dirty="0" err="1">
                <a:solidFill>
                  <a:srgbClr val="333333"/>
                </a:solidFill>
                <a:latin typeface="Lucida Sans"/>
                <a:cs typeface="Lucida Sans"/>
              </a:rPr>
              <a:t>atasi</a:t>
            </a:r>
            <a:r>
              <a:rPr lang="en-US" sz="2800" spc="-25" dirty="0">
                <a:solidFill>
                  <a:srgbClr val="333333"/>
                </a:solidFill>
                <a:latin typeface="Lucida Sans"/>
                <a:cs typeface="Lucida Sans"/>
              </a:rPr>
              <a:t> error </a:t>
            </a:r>
            <a:r>
              <a:rPr lang="en-US" sz="2800" spc="-25" dirty="0" err="1">
                <a:solidFill>
                  <a:srgbClr val="333333"/>
                </a:solidFill>
                <a:latin typeface="Lucida Sans"/>
                <a:cs typeface="Lucida Sans"/>
              </a:rPr>
              <a:t>tersebut</a:t>
            </a:r>
            <a:endParaRPr sz="2800" dirty="0">
              <a:latin typeface="Lucida Sans"/>
              <a:cs typeface="Lucida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663F41-C47D-F3F5-4B7A-EA02FD612C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98"/>
          <a:stretch/>
        </p:blipFill>
        <p:spPr>
          <a:xfrm>
            <a:off x="588644" y="2354712"/>
            <a:ext cx="8572500" cy="37889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042" y="308623"/>
            <a:ext cx="34867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Debugging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3742" y="1359681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7592" y="1208552"/>
            <a:ext cx="7968615" cy="6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sz="2000" spc="-45" dirty="0">
                <a:solidFill>
                  <a:srgbClr val="333333"/>
                </a:solidFill>
                <a:latin typeface="Lucida Sans"/>
                <a:cs typeface="Lucida Sans"/>
              </a:rPr>
              <a:t>Untuk</a:t>
            </a:r>
            <a:r>
              <a:rPr sz="2000" spc="-15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30" dirty="0">
                <a:solidFill>
                  <a:srgbClr val="333333"/>
                </a:solidFill>
                <a:latin typeface="Lucida Sans"/>
                <a:cs typeface="Lucida Sans"/>
              </a:rPr>
              <a:t>membantu</a:t>
            </a:r>
            <a:r>
              <a:rPr sz="20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55" dirty="0">
                <a:solidFill>
                  <a:srgbClr val="333333"/>
                </a:solidFill>
                <a:latin typeface="Lucida Sans"/>
                <a:cs typeface="Lucida Sans"/>
              </a:rPr>
              <a:t>proses</a:t>
            </a:r>
            <a:r>
              <a:rPr sz="20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20" dirty="0">
                <a:solidFill>
                  <a:srgbClr val="333333"/>
                </a:solidFill>
                <a:latin typeface="Lucida Sans"/>
                <a:cs typeface="Lucida Sans"/>
              </a:rPr>
              <a:t>identifkasi</a:t>
            </a:r>
            <a:r>
              <a:rPr sz="20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55" dirty="0">
                <a:solidFill>
                  <a:srgbClr val="333333"/>
                </a:solidFill>
                <a:latin typeface="Lucida Sans"/>
                <a:cs typeface="Lucida Sans"/>
              </a:rPr>
              <a:t>error,</a:t>
            </a:r>
            <a:r>
              <a:rPr sz="20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Lucida Sans"/>
                <a:cs typeface="Lucida Sans"/>
              </a:rPr>
              <a:t>print </a:t>
            </a:r>
            <a:r>
              <a:rPr sz="2000" spc="-70" dirty="0">
                <a:solidFill>
                  <a:srgbClr val="333333"/>
                </a:solidFill>
                <a:latin typeface="Lucida Sans"/>
                <a:cs typeface="Lucida Sans"/>
              </a:rPr>
              <a:t>(tampilkan)</a:t>
            </a:r>
            <a:r>
              <a:rPr sz="20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80" dirty="0">
                <a:solidFill>
                  <a:srgbClr val="333333"/>
                </a:solidFill>
                <a:latin typeface="Lucida Sans"/>
                <a:cs typeface="Lucida Sans"/>
              </a:rPr>
              <a:t>nilai</a:t>
            </a:r>
            <a:r>
              <a:rPr sz="20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Lucida Sans"/>
                <a:cs typeface="Lucida Sans"/>
              </a:rPr>
              <a:t>variabel</a:t>
            </a:r>
            <a:endParaRPr sz="2000" dirty="0">
              <a:latin typeface="Lucida Sans"/>
              <a:cs typeface="Lucida Sans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7F938FB-E8E8-4730-DF87-30196BD562A2}"/>
              </a:ext>
            </a:extLst>
          </p:cNvPr>
          <p:cNvSpPr txBox="1"/>
          <p:nvPr/>
        </p:nvSpPr>
        <p:spPr>
          <a:xfrm>
            <a:off x="733742" y="2028825"/>
            <a:ext cx="126365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22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B726CC1D-8F2F-BDD4-6209-6C20543A6847}"/>
              </a:ext>
            </a:extLst>
          </p:cNvPr>
          <p:cNvSpPr txBox="1"/>
          <p:nvPr/>
        </p:nvSpPr>
        <p:spPr>
          <a:xfrm>
            <a:off x="1044892" y="1963204"/>
            <a:ext cx="47498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33333"/>
                </a:solidFill>
                <a:latin typeface="Lucida Sans"/>
                <a:cs typeface="Lucida Sans"/>
              </a:rPr>
              <a:t>Beri</a:t>
            </a:r>
            <a:r>
              <a:rPr sz="20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55" dirty="0">
                <a:solidFill>
                  <a:srgbClr val="333333"/>
                </a:solidFill>
                <a:latin typeface="Lucida Sans"/>
                <a:cs typeface="Lucida Sans"/>
              </a:rPr>
              <a:t>breakpoint</a:t>
            </a:r>
            <a:r>
              <a:rPr sz="20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25" dirty="0">
                <a:solidFill>
                  <a:srgbClr val="333333"/>
                </a:solidFill>
                <a:latin typeface="Lucida Sans"/>
                <a:cs typeface="Lucida Sans"/>
              </a:rPr>
              <a:t>pada</a:t>
            </a:r>
            <a:r>
              <a:rPr sz="2000" spc="-114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60" dirty="0">
                <a:solidFill>
                  <a:srgbClr val="333333"/>
                </a:solidFill>
                <a:latin typeface="Lucida Sans"/>
                <a:cs typeface="Lucida Sans"/>
              </a:rPr>
              <a:t>baris</a:t>
            </a:r>
            <a:r>
              <a:rPr sz="20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20" dirty="0">
                <a:solidFill>
                  <a:srgbClr val="333333"/>
                </a:solidFill>
                <a:latin typeface="Lucida Sans"/>
                <a:cs typeface="Lucida Sans"/>
              </a:rPr>
              <a:t>code</a:t>
            </a:r>
            <a:endParaRPr sz="2000" dirty="0">
              <a:latin typeface="Lucida Sans"/>
              <a:cs typeface="Lucida Sans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2E96CF4-B9A6-CF1A-3AFF-9FC3FAE4FCC7}"/>
              </a:ext>
            </a:extLst>
          </p:cNvPr>
          <p:cNvSpPr txBox="1"/>
          <p:nvPr/>
        </p:nvSpPr>
        <p:spPr>
          <a:xfrm>
            <a:off x="1152842" y="2345474"/>
            <a:ext cx="7694295" cy="1067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3850">
              <a:lnSpc>
                <a:spcPct val="112999"/>
              </a:lnSpc>
              <a:spcBef>
                <a:spcPts val="100"/>
              </a:spcBef>
              <a:tabLst>
                <a:tab pos="335915" algn="l"/>
              </a:tabLst>
            </a:pPr>
            <a:r>
              <a:rPr sz="2000" spc="-75" baseline="15015" dirty="0">
                <a:solidFill>
                  <a:srgbClr val="EE2828"/>
                </a:solidFill>
                <a:latin typeface="Arial"/>
                <a:cs typeface="Arial"/>
              </a:rPr>
              <a:t>–</a:t>
            </a:r>
            <a:r>
              <a:rPr sz="2000" baseline="15015" dirty="0">
                <a:solidFill>
                  <a:srgbClr val="EE2828"/>
                </a:solidFill>
                <a:latin typeface="Arial"/>
                <a:cs typeface="Arial"/>
              </a:rPr>
              <a:t>	</a:t>
            </a:r>
            <a:r>
              <a:rPr sz="2000" spc="-35" dirty="0">
                <a:solidFill>
                  <a:srgbClr val="333333"/>
                </a:solidFill>
                <a:latin typeface="Lucida Sans"/>
                <a:cs typeface="Lucida Sans"/>
              </a:rPr>
              <a:t>Dalam</a:t>
            </a:r>
            <a:r>
              <a:rPr sz="20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25" dirty="0">
                <a:solidFill>
                  <a:srgbClr val="333333"/>
                </a:solidFill>
                <a:latin typeface="Lucida Sans"/>
                <a:cs typeface="Lucida Sans"/>
              </a:rPr>
              <a:t>mode</a:t>
            </a:r>
            <a:r>
              <a:rPr sz="20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90" dirty="0">
                <a:solidFill>
                  <a:srgbClr val="333333"/>
                </a:solidFill>
                <a:latin typeface="Lucida Sans"/>
                <a:cs typeface="Lucida Sans"/>
              </a:rPr>
              <a:t>debug,</a:t>
            </a:r>
            <a:r>
              <a:rPr sz="20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55" dirty="0">
                <a:solidFill>
                  <a:srgbClr val="333333"/>
                </a:solidFill>
                <a:latin typeface="Lucida Sans"/>
                <a:cs typeface="Lucida Sans"/>
              </a:rPr>
              <a:t>program</a:t>
            </a:r>
            <a:r>
              <a:rPr sz="2000" spc="-15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65" dirty="0">
                <a:solidFill>
                  <a:srgbClr val="333333"/>
                </a:solidFill>
                <a:latin typeface="Lucida Sans"/>
                <a:cs typeface="Lucida Sans"/>
              </a:rPr>
              <a:t>bisa</a:t>
            </a:r>
            <a:r>
              <a:rPr sz="2000" spc="-14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65" dirty="0">
                <a:solidFill>
                  <a:srgbClr val="333333"/>
                </a:solidFill>
                <a:latin typeface="Lucida Sans"/>
                <a:cs typeface="Lucida Sans"/>
              </a:rPr>
              <a:t>di-</a:t>
            </a:r>
            <a:r>
              <a:rPr sz="2000" spc="-35" dirty="0">
                <a:solidFill>
                  <a:srgbClr val="333333"/>
                </a:solidFill>
                <a:latin typeface="Lucida Sans"/>
                <a:cs typeface="Lucida Sans"/>
              </a:rPr>
              <a:t>pause</a:t>
            </a:r>
            <a:r>
              <a:rPr sz="2000" spc="-14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Lucida Sans"/>
                <a:cs typeface="Lucida Sans"/>
              </a:rPr>
              <a:t>untuk </a:t>
            </a:r>
            <a:r>
              <a:rPr sz="2000" spc="-40" dirty="0">
                <a:solidFill>
                  <a:srgbClr val="333333"/>
                </a:solidFill>
                <a:latin typeface="Lucida Sans"/>
                <a:cs typeface="Lucida Sans"/>
              </a:rPr>
              <a:t>berhenti</a:t>
            </a:r>
            <a:r>
              <a:rPr sz="2000" spc="-13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85" dirty="0">
                <a:solidFill>
                  <a:srgbClr val="333333"/>
                </a:solidFill>
                <a:latin typeface="Lucida Sans"/>
                <a:cs typeface="Lucida Sans"/>
              </a:rPr>
              <a:t>di</a:t>
            </a:r>
            <a:r>
              <a:rPr sz="2000" spc="-13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Lucida Sans"/>
                <a:cs typeface="Lucida Sans"/>
              </a:rPr>
              <a:t>breakpoint</a:t>
            </a:r>
            <a:endParaRPr sz="2000" dirty="0">
              <a:latin typeface="Lucida Sans"/>
              <a:cs typeface="Lucida Sans"/>
            </a:endParaRPr>
          </a:p>
          <a:p>
            <a:pPr marL="336550">
              <a:lnSpc>
                <a:spcPct val="100000"/>
              </a:lnSpc>
              <a:spcBef>
                <a:spcPts val="400"/>
              </a:spcBef>
            </a:pPr>
            <a:r>
              <a:rPr sz="2000" spc="-50" dirty="0">
                <a:solidFill>
                  <a:srgbClr val="333333"/>
                </a:solidFill>
                <a:latin typeface="Lucida Sans"/>
                <a:cs typeface="Lucida Sans"/>
              </a:rPr>
              <a:t>Nilai</a:t>
            </a:r>
            <a:r>
              <a:rPr sz="2000" spc="-125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45" dirty="0">
                <a:solidFill>
                  <a:srgbClr val="333333"/>
                </a:solidFill>
                <a:latin typeface="Lucida Sans"/>
                <a:cs typeface="Lucida Sans"/>
              </a:rPr>
              <a:t>variabel-</a:t>
            </a:r>
            <a:r>
              <a:rPr sz="2000" spc="-40" dirty="0">
                <a:solidFill>
                  <a:srgbClr val="333333"/>
                </a:solidFill>
                <a:latin typeface="Lucida Sans"/>
                <a:cs typeface="Lucida Sans"/>
              </a:rPr>
              <a:t>variabel</a:t>
            </a:r>
            <a:r>
              <a:rPr sz="20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65" dirty="0">
                <a:solidFill>
                  <a:srgbClr val="333333"/>
                </a:solidFill>
                <a:latin typeface="Lucida Sans"/>
                <a:cs typeface="Lucida Sans"/>
              </a:rPr>
              <a:t>bisa</a:t>
            </a:r>
            <a:r>
              <a:rPr sz="2000" spc="-120" dirty="0">
                <a:solidFill>
                  <a:srgbClr val="333333"/>
                </a:solidFill>
                <a:latin typeface="Lucida Sans"/>
                <a:cs typeface="Lucida Sans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Lucida Sans"/>
                <a:cs typeface="Lucida Sans"/>
              </a:rPr>
              <a:t>dilihat</a:t>
            </a:r>
            <a:endParaRPr sz="2000" dirty="0">
              <a:latin typeface="Lucida Sans"/>
              <a:cs typeface="Lucida San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1A7151-DD6D-D3D2-4F34-9DB94BB58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42" y="3503190"/>
            <a:ext cx="6457138" cy="4059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Referensi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339" y="2267549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855">
              <a:lnSpc>
                <a:spcPct val="113100"/>
              </a:lnSpc>
              <a:spcBef>
                <a:spcPts val="100"/>
              </a:spcBef>
            </a:pPr>
            <a:r>
              <a:rPr spc="-120" dirty="0">
                <a:hlinkClick r:id="rId2"/>
              </a:rPr>
              <a:t>http://www.dickbaldwin.com/Cosc1315/Pf00120.</a:t>
            </a:r>
            <a:r>
              <a:rPr spc="-120" dirty="0"/>
              <a:t> </a:t>
            </a:r>
            <a:r>
              <a:rPr spc="-25" dirty="0">
                <a:hlinkClick r:id="rId2"/>
              </a:rPr>
              <a:t>htm</a:t>
            </a:r>
          </a:p>
          <a:p>
            <a:pPr marL="12700" marR="5080">
              <a:lnSpc>
                <a:spcPct val="113399"/>
              </a:lnSpc>
              <a:spcBef>
                <a:spcPts val="590"/>
              </a:spcBef>
            </a:pPr>
            <a:r>
              <a:rPr spc="-55" dirty="0">
                <a:solidFill>
                  <a:srgbClr val="333333"/>
                </a:solidFill>
              </a:rPr>
              <a:t>Slide</a:t>
            </a:r>
            <a:r>
              <a:rPr spc="-130" dirty="0">
                <a:solidFill>
                  <a:srgbClr val="333333"/>
                </a:solidFill>
              </a:rPr>
              <a:t> </a:t>
            </a:r>
            <a:r>
              <a:rPr spc="-75" dirty="0">
                <a:solidFill>
                  <a:srgbClr val="333333"/>
                </a:solidFill>
              </a:rPr>
              <a:t>Android</a:t>
            </a:r>
            <a:r>
              <a:rPr spc="-125" dirty="0">
                <a:solidFill>
                  <a:srgbClr val="333333"/>
                </a:solidFill>
              </a:rPr>
              <a:t> </a:t>
            </a:r>
            <a:r>
              <a:rPr spc="-40" dirty="0">
                <a:solidFill>
                  <a:srgbClr val="333333"/>
                </a:solidFill>
              </a:rPr>
              <a:t>Developer</a:t>
            </a:r>
            <a:r>
              <a:rPr spc="-135" dirty="0">
                <a:solidFill>
                  <a:srgbClr val="333333"/>
                </a:solidFill>
              </a:rPr>
              <a:t> </a:t>
            </a:r>
            <a:r>
              <a:rPr spc="-45" dirty="0">
                <a:solidFill>
                  <a:srgbClr val="333333"/>
                </a:solidFill>
              </a:rPr>
              <a:t>Fundamentals</a:t>
            </a:r>
            <a:r>
              <a:rPr spc="-130" dirty="0">
                <a:solidFill>
                  <a:srgbClr val="333333"/>
                </a:solidFill>
              </a:rPr>
              <a:t> </a:t>
            </a:r>
            <a:r>
              <a:rPr spc="-50" dirty="0">
                <a:solidFill>
                  <a:srgbClr val="333333"/>
                </a:solidFill>
              </a:rPr>
              <a:t>: </a:t>
            </a:r>
            <a:r>
              <a:rPr spc="-120" dirty="0">
                <a:solidFill>
                  <a:srgbClr val="333333"/>
                </a:solidFill>
              </a:rPr>
              <a:t>Debugging,</a:t>
            </a:r>
            <a:r>
              <a:rPr spc="-165" dirty="0">
                <a:solidFill>
                  <a:srgbClr val="333333"/>
                </a:solidFill>
              </a:rPr>
              <a:t> </a:t>
            </a:r>
            <a:r>
              <a:rPr spc="-125" dirty="0">
                <a:solidFill>
                  <a:srgbClr val="333333"/>
                </a:solidFill>
              </a:rPr>
              <a:t>Testing,</a:t>
            </a:r>
            <a:r>
              <a:rPr spc="-165" dirty="0">
                <a:solidFill>
                  <a:srgbClr val="333333"/>
                </a:solidFill>
              </a:rPr>
              <a:t> </a:t>
            </a:r>
            <a:r>
              <a:rPr spc="-20" dirty="0">
                <a:solidFill>
                  <a:srgbClr val="333333"/>
                </a:solidFill>
              </a:rPr>
              <a:t>and</a:t>
            </a:r>
            <a:r>
              <a:rPr spc="-180" dirty="0">
                <a:solidFill>
                  <a:srgbClr val="333333"/>
                </a:solidFill>
              </a:rPr>
              <a:t> </a:t>
            </a:r>
            <a:r>
              <a:rPr spc="-30" dirty="0">
                <a:solidFill>
                  <a:srgbClr val="333333"/>
                </a:solidFill>
              </a:rPr>
              <a:t>Backwards</a:t>
            </a:r>
            <a:r>
              <a:rPr spc="-170" dirty="0">
                <a:solidFill>
                  <a:srgbClr val="333333"/>
                </a:solidFill>
              </a:rPr>
              <a:t> </a:t>
            </a:r>
            <a:r>
              <a:rPr spc="-50" dirty="0">
                <a:solidFill>
                  <a:srgbClr val="333333"/>
                </a:solidFill>
              </a:rPr>
              <a:t>Compatibility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339" y="3310220"/>
            <a:ext cx="15303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245" dirty="0">
                <a:solidFill>
                  <a:srgbClr val="EE2828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193E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629</Words>
  <Application>Microsoft Office PowerPoint</Application>
  <PresentationFormat>Custom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Lucida Sans</vt:lpstr>
      <vt:lpstr>Office Theme</vt:lpstr>
      <vt:lpstr>PowerPoint Presentation</vt:lpstr>
      <vt:lpstr>Bug Debugging Error</vt:lpstr>
      <vt:lpstr>Testing</vt:lpstr>
      <vt:lpstr>PowerPoint Presentation</vt:lpstr>
      <vt:lpstr>PowerPoint Presentation</vt:lpstr>
      <vt:lpstr>PowerPoint Presentation</vt:lpstr>
      <vt:lpstr>Perbandingan Ringkas</vt:lpstr>
      <vt:lpstr>Bug</vt:lpstr>
      <vt:lpstr>Debugging</vt:lpstr>
      <vt:lpstr>Jenis-jenis Error</vt:lpstr>
      <vt:lpstr>Jenis-jenis Error</vt:lpstr>
      <vt:lpstr>Jenis-jenis Error</vt:lpstr>
      <vt:lpstr>Jenis-jenis Error</vt:lpstr>
      <vt:lpstr>Syntax Error</vt:lpstr>
      <vt:lpstr>Syntax Error</vt:lpstr>
      <vt:lpstr>Syntax Error</vt:lpstr>
      <vt:lpstr>Runtime Error dan Logic Error</vt:lpstr>
      <vt:lpstr>Runtime Error dan Logic Error</vt:lpstr>
      <vt:lpstr>Runtime Error dan Logic Error</vt:lpstr>
      <vt:lpstr>Debugging</vt:lpstr>
      <vt:lpstr>Referensi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Arif Rohmadi</cp:lastModifiedBy>
  <cp:revision>31</cp:revision>
  <dcterms:created xsi:type="dcterms:W3CDTF">2025-05-25T01:57:25Z</dcterms:created>
  <dcterms:modified xsi:type="dcterms:W3CDTF">2026-05-14T22:29:56Z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2017-12-21T00:00:00Z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5.4</vt:lpwstr>
  </property>
  <property fmtid="{D5CDD505-2E9C-101B-9397-08002B2CF9AE}" pid="5" name="LastSaved">
    <vt:filetime>2017-12-21T00:00:00Z</vt:filetime>
  </property>
</Properties>
</file>